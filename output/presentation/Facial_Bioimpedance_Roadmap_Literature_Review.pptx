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10"/>
    <p:sldId id="288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EA9E"/>
    <a:srgbClr val="72243D"/>
    <a:srgbClr val="6F263D"/>
    <a:srgbClr val="70002E"/>
    <a:srgbClr val="ED8B00"/>
    <a:srgbClr val="641E34"/>
    <a:srgbClr val="1C3D34"/>
    <a:srgbClr val="E17C00"/>
    <a:srgbClr val="FF4438"/>
    <a:srgbClr val="BBD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3" autoAdjust="0"/>
    <p:restoredTop sz="88268" autoAdjust="0"/>
  </p:normalViewPr>
  <p:slideViewPr>
    <p:cSldViewPr>
      <p:cViewPr varScale="1">
        <p:scale>
          <a:sx n="154" d="100"/>
          <a:sy n="154" d="100"/>
        </p:scale>
        <p:origin x="208" y="7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7F6E61-B534-1E47-FE20-19EC2FEBBD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B174B-ADC5-78A5-442E-871C4BFED1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9E562-C011-ED4A-9FAC-7955ECB5061D}" type="datetimeFigureOut">
              <a:rPr lang="en-VN" smtClean="0"/>
              <a:t>28/9/26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C3209-1342-4E75-9E70-709500394C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3D73-DF14-C2F9-3F17-47D2DCC90B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99A67-8819-CC4C-A3A5-1626612CE74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0136283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0C50C-F46C-8A4B-8A41-6A6FBB958D92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3D443-CBAC-934A-8506-FB4DF260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9853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Mục tiêu: tách paper đầu tiên về phân loại task khỏi mục tiêu dài hạn 3D EIT và đánh giá proof cần có.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A có precedent trực tiếp từ Liu nhưng layout khác. B cần 3D geometry, coverage và phantom. C còn đòi ground truth lâm sàng.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Reference không phải mặt trống. Phép trừ chỉ loại phần không đổi, không tự loại hình học, electrode contact hay mạch máu.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Không có hàng nào hiện tại cùng lúc chứng minh unobtrusive remote placement, 3D cơ mặt và weakness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Ba điện cực, hai kênh, bốn người. Đây là BioZ classification chứ không phải EIT tái tạo ảnh.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93% là kết quả trên study rất nhỏ với vị trí má, không được quảng bá thành kết quả của vị trí tai/hàm.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IPG là impedance plethysmography: nhìn biến thiên impedance do mạch đập/thể tích máu, khác EIT imaging.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Tăng baseline Z đi cùng hoạt động cơ; tác giả suy luận mạch hẹp lại qua model, không chứng minh mọi thay đổi đều do mạch.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FSHD là bệnh teo cơ khác stroke; nghiên cứu dùng probe đặt ngay lên cơ vòng môi.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ICC bên phải kém cho thấy dữ liệu mặt nhạy với placement/operator, vì thế cần test tháo-gắn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R_e, R_i, C_m diễn tả đường ngoài tế bào, trong tế bào và màng; giá trị forearm không thể bê sang mặt.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Đây là chứng cứ công cụ đo phổ và contraction ở tay; chỉ mượn phương pháp, không mượn kết luận về mặt.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Tín hiệu giữa hai cổ tay phản ánh nhiều thay đổi cơ thể; không được gọi là model từng cơ 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BioZ-only yếu hơn IMU ở study này; fusion tốt hơn. Cần baseline công bằng cho project mình.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iEat cố ý dùng conductive path qua tay, thức ăn, dụng cụ; rất khác đường dẫn qua cơ mặt.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Bài này nhắc rằng nhận biết task và giải thích cơ chế là hai kết quả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Atlas là sEMG, n=30 nam, 29 task. Màu đỏ là tương đối trong từng task, không so độ mạnh giữa hai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Buccinator không được đo, nên không thể trích atlas để nói puff/suck chỉ kích hoạt buccinator.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Study này chứng minh cơ tai có thể hoạt động khi cười; không chứng minh BioZ quanh tai đo được cơ má.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Nếu classifier tại tai nhận biết smile, cần kiểm tra nó dùng cơ tai tại chỗ hay thông tin từ cơ mặt phía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Cả ba giúp biện luận placement, nhưng target là deformation/airway, không xác nhận cơ mặt yếu.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Có model lưỡi và impedance cục bộ ở trán, nhưng không có model đã kiểm chứng cho toàn bộ mặt theo layout mình.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Nói đơn giản: current đi qua mọi tissue, nhưng sensor chỉ đọc điện áp ở biên. Task có thể thay nhiều thứ cùng lúc.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Equivalent circuit giải thích phổ của một vùng; FEM 3D giải quyết dòng đi qua toàn anatomy và electrodes.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So layout theo cùng ngân sách điện cực. Classification và reconstruction có hàm mục tiêu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OO là orbicularis oris. Highest chỉ trong các cơ được ghi và từng task, không phải cơ duy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Chưa nên đưa tất cả vào primary classes; chọn một core set nhỏ theo use case trước khi xem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Chưa tính practice, hướng dẫn, tháo-gắn, lỗi trial. Hold 5 giây vowel là sustained phonation chứ không phải natural 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Paper A quan trọng nhất là reliability qua buổi, tháo-gắn và người mới. Video/EMG giúp kiểm tra task thực sự thực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Bảng này là cách editor nhìn paper: claim nào đã có prior, claim nào cần experiment, claim nào phải bỏ.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Mỗi con số cần ghi paper, tissue, frequency, uncertainty, phiên bản, và phép sweep. Không có nguồn thì ghi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Không thể hứa chắc paper thứ hai. Nếu FEM cho thấy không đủ sensitivity ở layout cho phép, cần đổi placement hoặc đổi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VIETNAMESE SPEAKER NOTE</a:t>
            </a:r>
          </a:p>
          <a:p>
            <a:r>
              <a:t>Cần chốt primary classes, ngôn ngữ nguyên âm, điều kiện anterior comparator và giới hạn unobtrusive cụ thể.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9879AAEF-E912-6B61-3D33-267C007D37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" y="80030"/>
            <a:ext cx="9144000" cy="5143500"/>
          </a:xfrm>
          <a:prstGeom prst="rect">
            <a:avLst/>
          </a:prstGeom>
        </p:spPr>
      </p:pic>
      <p:sp>
        <p:nvSpPr>
          <p:cNvPr id="13" name="Title 18">
            <a:extLst>
              <a:ext uri="{FF2B5EF4-FFF2-40B4-BE49-F238E27FC236}">
                <a16:creationId xmlns:a16="http://schemas.microsoft.com/office/drawing/2014/main" id="{DC0A9285-546C-824E-BB82-80DD4A7E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9600" y="2038350"/>
            <a:ext cx="4495800" cy="829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lnSpc>
                <a:spcPct val="75000"/>
              </a:lnSpc>
              <a:defRPr sz="2800" b="1" i="1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5642" y="3316416"/>
            <a:ext cx="4636246" cy="237267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 b="0" i="1">
                <a:solidFill>
                  <a:srgbClr val="ED8B00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992057-DE82-CE83-1048-D406B6B802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476750"/>
            <a:ext cx="2222550" cy="55563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E505E-82A7-0157-0254-70D4CC4D1A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9973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circle&#10;&#10;Description automatically generated">
            <a:extLst>
              <a:ext uri="{FF2B5EF4-FFF2-40B4-BE49-F238E27FC236}">
                <a16:creationId xmlns:a16="http://schemas.microsoft.com/office/drawing/2014/main" id="{8B616AF2-B50E-3695-3202-2807D9E84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006" y="2277072"/>
            <a:ext cx="4776788" cy="237267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 b="0" i="1">
                <a:solidFill>
                  <a:srgbClr val="ED8B00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072FD1-11DC-C3F0-BEF8-DEA504D87A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4" y="4741279"/>
            <a:ext cx="1308161" cy="327040"/>
          </a:xfrm>
          <a:prstGeom prst="rect">
            <a:avLst/>
          </a:prstGeom>
        </p:spPr>
      </p:pic>
      <p:sp>
        <p:nvSpPr>
          <p:cNvPr id="6" name="Title 18">
            <a:extLst>
              <a:ext uri="{FF2B5EF4-FFF2-40B4-BE49-F238E27FC236}">
                <a16:creationId xmlns:a16="http://schemas.microsoft.com/office/drawing/2014/main" id="{C7090F5B-A517-7BC0-FFDD-BF0408BD7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932" y="1012902"/>
            <a:ext cx="4495800" cy="829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lnSpc>
                <a:spcPct val="75000"/>
              </a:lnSpc>
              <a:defRPr sz="2800" b="1" i="1" spc="0" baseline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8D7C0-FA5C-F82F-EAD9-413E832952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3152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C80A7B26-E9DE-4D5B-716A-C77938E0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181"/>
            <a:ext cx="9144000" cy="5143500"/>
          </a:xfrm>
          <a:prstGeom prst="rect">
            <a:avLst/>
          </a:prstGeom>
        </p:spPr>
      </p:pic>
      <p:sp>
        <p:nvSpPr>
          <p:cNvPr id="22" name="Title 6">
            <a:extLst>
              <a:ext uri="{FF2B5EF4-FFF2-40B4-BE49-F238E27FC236}">
                <a16:creationId xmlns:a16="http://schemas.microsoft.com/office/drawing/2014/main" id="{E5CB47AD-DA9C-5F4C-A431-84FB4D54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" y="75181"/>
            <a:ext cx="6724650" cy="514350"/>
          </a:xfrm>
        </p:spPr>
        <p:txBody>
          <a:bodyPr>
            <a:noAutofit/>
          </a:bodyPr>
          <a:lstStyle>
            <a:lvl1pPr algn="l">
              <a:defRPr sz="2800" b="1" i="0">
                <a:solidFill>
                  <a:srgbClr val="6F26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49794A0-DDCB-D348-B6F9-30E0A824A3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537" y="658812"/>
            <a:ext cx="8678863" cy="3561359"/>
          </a:xfrm>
        </p:spPr>
        <p:txBody>
          <a:bodyPr>
            <a:noAutofit/>
          </a:bodyPr>
          <a:lstStyle>
            <a:lvl1pPr marL="0" indent="0">
              <a:buClr>
                <a:srgbClr val="E17C00"/>
              </a:buClr>
              <a:buFont typeface="+mj-lt"/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Clr>
                <a:srgbClr val="E17C00"/>
              </a:buClr>
              <a:buFont typeface="+mj-lt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Clr>
                <a:srgbClr val="E17C00"/>
              </a:buClr>
              <a:buFont typeface="+mj-lt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Clr>
                <a:srgbClr val="E17C00"/>
              </a:buClr>
              <a:buFont typeface="+mj-lt"/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Clr>
                <a:srgbClr val="E17C00"/>
              </a:buClr>
              <a:buFont typeface="+mj-lt"/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F4A7B-C617-FC86-ACA8-F1B92AF151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93" y="4741279"/>
            <a:ext cx="1305543" cy="3270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12481-CA89-9155-FE1D-0551BA054F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DD1030-CAD4-D733-7034-4179F43517DF}"/>
              </a:ext>
            </a:extLst>
          </p:cNvPr>
          <p:cNvCxnSpPr/>
          <p:nvPr userDrawn="1"/>
        </p:nvCxnSpPr>
        <p:spPr>
          <a:xfrm>
            <a:off x="236537" y="514350"/>
            <a:ext cx="867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91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A84C3F7-BB03-5D49-9A2E-979137BAD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537" y="590550"/>
            <a:ext cx="8678863" cy="4114800"/>
          </a:xfrm>
        </p:spPr>
        <p:txBody>
          <a:bodyPr>
            <a:noAutofit/>
          </a:bodyPr>
          <a:lstStyle>
            <a:lvl1pPr marL="0" indent="0">
              <a:buClr>
                <a:srgbClr val="E17C00"/>
              </a:buClr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Clr>
                <a:srgbClr val="E17C00"/>
              </a:buClr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Clr>
                <a:srgbClr val="E17C00"/>
              </a:buClr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Clr>
                <a:srgbClr val="E17C00"/>
              </a:buClr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Clr>
                <a:srgbClr val="E17C00"/>
              </a:buClr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itle 6">
            <a:extLst>
              <a:ext uri="{FF2B5EF4-FFF2-40B4-BE49-F238E27FC236}">
                <a16:creationId xmlns:a16="http://schemas.microsoft.com/office/drawing/2014/main" id="{3F270E63-EF19-EF43-941B-3BBB3C082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" y="1003"/>
            <a:ext cx="6724650" cy="514350"/>
          </a:xfrm>
        </p:spPr>
        <p:txBody>
          <a:bodyPr>
            <a:noAutofit/>
          </a:bodyPr>
          <a:lstStyle>
            <a:lvl1pPr algn="l">
              <a:defRPr sz="28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4E044-CDAB-C101-E13D-D9A7A1D14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4780547"/>
            <a:ext cx="1305543" cy="32704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904D9-9C5E-DF83-0721-A260D1A567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858000" y="4780547"/>
            <a:ext cx="2057400" cy="274637"/>
          </a:xfrm>
        </p:spPr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89A14E8-45A0-83A5-AE54-DB581D14CADD}"/>
              </a:ext>
            </a:extLst>
          </p:cNvPr>
          <p:cNvCxnSpPr/>
          <p:nvPr userDrawn="1"/>
        </p:nvCxnSpPr>
        <p:spPr>
          <a:xfrm>
            <a:off x="236537" y="514350"/>
            <a:ext cx="867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7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C91AED3-4268-ECE5-4D79-7DB5522284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itle 18">
            <a:extLst>
              <a:ext uri="{FF2B5EF4-FFF2-40B4-BE49-F238E27FC236}">
                <a16:creationId xmlns:a16="http://schemas.microsoft.com/office/drawing/2014/main" id="{B7DB02B7-5B63-2F41-A757-1DC44B15B7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2491623"/>
            <a:ext cx="4800600" cy="1210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defRPr sz="7200" b="0" i="1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0DDD0E-906B-D31D-E005-FD702E298D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334" y="4400550"/>
            <a:ext cx="2222550" cy="5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4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716DC12-C22F-2EC7-952D-EAD5FAD49D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8">
            <a:extLst>
              <a:ext uri="{FF2B5EF4-FFF2-40B4-BE49-F238E27FC236}">
                <a16:creationId xmlns:a16="http://schemas.microsoft.com/office/drawing/2014/main" id="{2AEEC7FA-C7A4-884B-9AEB-71DBAF3A35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876550"/>
            <a:ext cx="6096000" cy="1210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defRPr sz="7200" b="0" i="1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8EA9F1-9F15-10BF-3C37-403A28DB91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476750"/>
            <a:ext cx="2222550" cy="5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4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494" y="199406"/>
            <a:ext cx="8771906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94" y="1200151"/>
            <a:ext cx="8771906" cy="2819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9111-1EF2-33CF-6A11-09920F227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5900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49" r:id="rId2"/>
    <p:sldLayoutId id="2147483679" r:id="rId3"/>
    <p:sldLayoutId id="2147483681" r:id="rId4"/>
    <p:sldLayoutId id="2147483687" r:id="rId5"/>
    <p:sldLayoutId id="2147483688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77" rtl="0" eaLnBrk="1" latinLnBrk="0" hangingPunct="1">
        <a:spcBef>
          <a:spcPct val="0"/>
        </a:spcBef>
        <a:buNone/>
        <a:defRPr sz="24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32" indent="-28574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49" indent="-22859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144" userDrawn="1">
          <p15:clr>
            <a:srgbClr val="F26B43"/>
          </p15:clr>
        </p15:guide>
        <p15:guide id="4" pos="5616" userDrawn="1">
          <p15:clr>
            <a:srgbClr val="F26B43"/>
          </p15:clr>
        </p15:guide>
        <p15:guide id="5" orient="horz" pos="132" userDrawn="1">
          <p15:clr>
            <a:srgbClr val="F26B43"/>
          </p15:clr>
        </p15:guide>
        <p15:guide id="6" orient="horz" pos="2964" userDrawn="1">
          <p15:clr>
            <a:srgbClr val="F26B43"/>
          </p15:clr>
        </p15:guide>
        <p15:guide id="7" pos="4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45/3745900.3746120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45/3745900.3746120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088/2057-1976/ad28cb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088/2057-1976/ad28cb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002/mus.25065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002/mus.25065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09/JSEN.2024.3359284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09/JSEN.2024.3359284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09/PerCom59722.2024.10494489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09/PerCom59722.2024.10494489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038/s41598-024-67765-5" TargetMode="Externa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038/s41598-024-67765-5" TargetMode="Externa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371/journal.pone.0254932" TargetMode="Externa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371/journal.pone.0254932" TargetMode="Externa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3390/diagnostics12010121" TargetMode="Externa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3390/diagnostics12010121" TargetMode="Externa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5664/jcsm.7714" TargetMode="Externa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371/journal.pone.0254932" TargetMode="Externa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Task recognition to 3D EIT | 30 September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FACIAL BIOIMPEDANCE</a:t>
            </a:r>
          </a:p>
          <a:p>
            <a:r>
              <a:t>RESEARCH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The research question is three different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77824"/>
            <a:ext cx="2523744" cy="309067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969264"/>
            <a:ext cx="23042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A  Few-electrode BioZ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16736"/>
            <a:ext cx="230428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Can permitted jaw/ear sites distinguish a preselected small task set across sessions and redonning?
Output: task label, not an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877824"/>
            <a:ext cx="2523744" cy="309067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969264"/>
            <a:ext cx="23042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B  3D difference 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316736"/>
            <a:ext cx="230428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222222"/>
                </a:solidFill>
                <a:latin typeface="Arial"/>
              </a:rPr>
              <a:t>Can wider 3D electrode coverage localize coarse left/right facial-region changes and reject jaw/contact confounds?
Output: coarse change map + uncertainty.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877824"/>
            <a:ext cx="2523744" cy="309067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969264"/>
            <a:ext cx="23042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C  Individual muscle deficit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1316736"/>
            <a:ext cx="230428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70" b="0">
                <a:solidFill>
                  <a:srgbClr val="222222"/>
                </a:solidFill>
                <a:latin typeface="Arial"/>
              </a:rPr>
              <a:t>Can a validated map identify a weak muscle and quantify clinically meaningful impairment?
Output: calibrated biomarker. Highest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33087"/>
            <a:ext cx="8092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11F3B"/>
                </a:solidFill>
                <a:latin typeface="Arial"/>
              </a:rPr>
              <a:t>More electrodes do not automatically yield 3D localization or a '% weak' muscle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What we measure: rest versus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3794760" cy="2148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3575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Rest state, v₀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99032"/>
            <a:ext cx="3575304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Inject current. Sense boundary voltages. Skin, bone, blood, muscle, air, fluid and electrode contact are ALL present.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960120"/>
            <a:ext cx="3794760" cy="2148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051560"/>
            <a:ext cx="3575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Task state, v₁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399032"/>
            <a:ext cx="3575304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Repeat the SAME drive/sense protocol while the participant performs a task. Anatomy, geometry, contact and blood may all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38144"/>
            <a:ext cx="7315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711F3B"/>
                </a:solidFill>
                <a:latin typeface="Arial"/>
              </a:rPr>
              <a:t>Δv = v₁ − v₀   ≠   isolated muscle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160520"/>
            <a:ext cx="8001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C5C5C"/>
                </a:solidFill>
                <a:latin typeface="Arial"/>
              </a:rPr>
              <a:t>Interpret a task-dependent boundary pattern; one voltage sign does not identify a tissue or muscle.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Prior work map: what has and has not been shown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832104"/>
          <a:ext cx="852220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813816"/>
                <a:gridCol w="2048256"/>
                <a:gridCol w="1197864"/>
                <a:gridCol w="3035808"/>
              </a:tblGrid>
              <a:tr h="4400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Study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Face?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Task recognition?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Image?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Key boundary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Liu 2025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Yes, cheek BioZ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n=4; anterior sites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Levit 2024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No; EMG + IPG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Vascular signal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Statland 2016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No; clinical EIM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Local OO probe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Schumann 2021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EMG task atlas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 EIT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Mixed activation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Ear EMG 2022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Ear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EMG task response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 EIT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Local ear signal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Kim 2019 / Piccin 2023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Lower face / neck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Airway tasks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2D / 3D airway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Not muscles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Our A → B → C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To prove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To prove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Unobtrusive sites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P1  Liu et al. 2025 — Facial Gesture BioZ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Recognize cheek puff/suck gestures from facial bioimpedance, not image reconstruction.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Obtain task information without camera or dense facial EMG.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Place three contacts on the face, derive two BioZ channels, classify temporal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20 Hz data; overlapping 20-sample windows (~1 s); Random Forest (100 trees); reported 80/20 split.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4 participants. One electrode below mouth; one on each cheek. Left/right/omni puff and suck; null also mentioned.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https://doi.org/10.1145/3745900.3746120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P1  Liu et al. 2025 — Facial Gesture BioZ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Mean accuracy 0.93 and macro-F1 0.92 in Table 1; task-dependent traces are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n=4; anterior cheek electrodes; split grouping is not reported clearly; no across-session/subject proof; no muscle imaging.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Direct precedent: a few BioZ channels can encode facial task patterns. The numbers are not transferable to our harder placement.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Closest baseline for Paper A. Replicate task definitions where useful, but test jaw/ear sites, reapplication and held-out sessions.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Puff/suck can change oral air and geometry; classification is not proof of isolated muscle conductivity.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https://doi.org/10.1145/3745900.3746120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P2  Levit et al. 2024 — soft EMG + IPG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Simultaneously observe facial muscle-related biopotentials and vascular bioimpedance (IPG).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Facial artery and interwoven muscle responses are difficult to monitor concurrently without bulky contacts.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Screen-print flexible dry electrode arrays; use one for facial sEMG and another along superficial temporal artery.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ICA on 16-contact biopotential array; four-contact IPG tracks impedance baseline and cardiac pulse.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4 healthy volunteers, ages 27–30; face and forearm comparisons; facial lip/teeth tasks and temporal artery region.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https://doi.org/10.1088/2057-1976/ad28cb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P2  Levit et al. 2024 — soft EMG + IPG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Muscle activation accompanied higher IPG baseline; artery narrowing is inferred by their model. Face pulse amplitude is less repeatable than forearm.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No direct vessel-radius measurement in every trial; n=4; local temporal-artery IPG, not EIT or task classifier.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Task–rest BioZ contains vascular and mechanical contributions. Baseline subtraction does not leave only muscle.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Add pulse/time controls; do not promise muscle-specific attribution from remote jaw/ear BioZ without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This paper supports our need to model blood vessels; it does not contradict Paper A's task-recognition aim.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https://doi.org/10.1088/2057-1976/ad28cb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P3  Statland et al. 2016 — facial EIM in FSHD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Assess EIM reliability/validity in FSHD, including direct orbicularis oris measurement.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Smaller facial muscles, hair, and operator placement can degrade measurement repeatability.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Use a smaller handheld EIM array on bilateral orbicularis oris and multiple limb/trunk 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Measure resistance/reactance/phase at 50 and 100 kHz; compare with severity/strength; test–retest ICC.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35 clinically affected FSHD participants; 18 retested within three weeks. Facial contact is local, not remote.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https://doi.org/10.1002/mus.25065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P3  Statland et al. 2016 — facial EIM in FSHD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Limb/trunk reliability generally high; facial right ICC &lt;0.5, left 0.84–0.91. Reactance related to disease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Disease=FSHD, not post-stroke dysarthria. No dynamic facial-task recognition, 3D EIT or per-muscle activation percentage.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Facial EIM is precedent, but reliability is a major challenge even with contact directly over target muscle.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Predefine redonning/session repeatability and contact-quality checks before clinical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Do not borrow its clinical correlations as proof that our ear/jaw classifier measures weakness.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https://doi.org/10.1002/mus.25065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P4  Kusche et al. 2024 — dual-channel EIM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Build a wearable two-channel impedance spectrometer for real-time muscle-contraction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Distinguish changing muscle impedance while accounting for frequency and electrode-interface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Tetrapolar local electrode pairs on two antagonistic forearm muscles; characterize instrument with phantom.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Complex magnitude and phase across 20–230 kHz; 25 spectra/s/channel; R–C–R equivalent-circuit explanation.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Four electrodes per local muscle channel; phantom calibration and initial human forearm contractions.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https://doi.org/10.1109/JSEN.2024.3359284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P4  Kusche et al. 2024 — dual-channel EIM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Phantom statistical error &lt;1% magnitude and &lt;0.4° phase; initial forearm tasks show time/frequency-dependent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Not a face model, not remote placement, not cohort-level recognition. Their optimum frequency is not 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Intra-/extracellular/membrane ideas describe frequency response; electrode contact and direction also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Use frequency/phase and bench uncertainty only if CN0565 measurement chain supports them; validate on face separately.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A circuit fitted to forearm is an effective model, not a literal map of individual facial cells.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https://doi.org/10.1109/JSEN.2024.3359284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P5  Liu et al. 2024 — iMove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Recognize six upper-body fitness activities with wrist-to-wrist BioZ and wrist IMU.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Wearable motion tracking may miss body-state cues; BioZ alone is not necessarily strongest.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Fuse BioZ+IMU; contrastive training can improve a deployed IMU-only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Leave-one-person-out evaluation; compare BioZ-only, IMU-only, fusion and BioZ-assisted training.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10 subjects across 5 days; electrodes at two wrists; left-wrist IMU; six activity classes.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https://doi.org/10.1109/PerCom59722.2024.10494489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P5  Liu et al. 2024 — iMove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Mean macro-F1: BioZ 75.36%, IMU 81.49%, fusion 89.57%, trained IMU-only 84.71%.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Upper-body movement, not face; conductive path spans the body and does not isolate a particular muscle.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A classifier can use distributed BioZ signals without reconstructing an image; modality ablations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Paper A should test BioZ against video/motion baselines, not assume BioZ is always superior.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Their cross-person split is a stronger evaluation idea than a random overlapping-window split.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https://doi.org/10.1109/PerCom59722.2024.10494489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P6  Liu et al. 2024 — iEat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Detect dining actions and food categories from wrist-to-wrist impedance.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Activity-associated impedance variations include changing external body–food conductive loops.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Treat those changes as useful features, not necessarily unwanted artifacts.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Single two-electrode impedance channel; user-independent neural model; leave-one-person/meal-out analyses.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One electrode on each wrist; 10 volunteers, 40 meals, four intake activities and seven food types.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https://doi.org/10.1038/s41598-024-67765-5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P6  Liu et al. 2024 — iEat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Mean macro-F1 86.4% for four activities, 64.2% for seven food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Not facial muscle sensing and not EIT. The external food/utensil path is central to the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Task recognition may work through geometry/contact pathways even when muscle tissue properties are not isolated.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Decide whether oral-air/jaw/contact cues are legitimate for Paper A; exclude them only if claiming intrinsic muscle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A high classifier score cannot by itself explain the physiological mechanism.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https://doi.org/10.1038/s41598-024-67765-5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P7  Schumann et al. 2021 — facial EMG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Map relative activation patterns for 29 voluntary facial tasks, not measure BioZ.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Facial muscles overlap; isolated voluntary activation is uncommon, making single-muscle labels unreliable.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Record high-channel bilateral sEMG and display normalized activity on 3D facial illustrations.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10 mimic muscle groups; 48-channel sEMG data; task-specific color normalization.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30 healthy men; 29 tasks including six German vowels, unilateral smiles, lip and cheek movements.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https://doi.org/10.1371/journal.pone.0254932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P7  Schumann et al. 2021 — facial EMG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Most tasks co-activate several sampled muscles; purse lips and one-sided smile have dominant measured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Buccinator not recorded; only men; surface EMG crosstalk; red is relative WITHIN each task, not cross-task strength.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Rename 'single-muscle anchor' to 'dominant-pattern task'. Use Table 1, not anatomy intuition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Ground truth for task design and validation EMG; not proof BioZ differentiates those muscles.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Five vowels are not inherited from this atlas: it measured six German vowels; choose language/IPA deliberately.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https://doi.org/10.1371/journal.pone.0254932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P8  Rüschenschmidt et al. 2022 — ear EMG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1  What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Develop a method for measuring all nine intrinsic/extrinsic ear muscles during facial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2  Why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Ear muscles are tiny and poorly mapped; facial tasks may activate them unexpectedly.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3  Their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Cadaver anatomy guides electrode spots; compare needle and surface EMG, then test tasks/patients.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920240"/>
            <a:ext cx="4023360" cy="1060704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011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4 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359152"/>
            <a:ext cx="38039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Video-documented facial tasks; surface and selected needle EMG; unilateral patient comparison.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72384"/>
            <a:ext cx="8247888" cy="122529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6382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5 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11296"/>
            <a:ext cx="8028431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222222"/>
                </a:solidFill>
                <a:latin typeface="Arial"/>
              </a:rPr>
              <a:t>2 cadaver hemifaces; 12 healthy people; 7 patients with postparalytic facial synkinesis.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https://doi.org/10.3390/diagnostics12010121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350" b="1">
                <a:solidFill>
                  <a:srgbClr val="711F3B"/>
                </a:solidFill>
                <a:latin typeface="Arial"/>
              </a:rPr>
              <a:t>P8  Rüschenschmidt et al. 2022 — ear EMG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6  Finding /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Multiple ear muscles activate during most facial tasks; greatest measured activation with smiling.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768096"/>
            <a:ext cx="4023360" cy="117043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Evidence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07007"/>
            <a:ext cx="3803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This is EMG, not BioZ/EIT; condition is peripheral synkinesis, not post-stroke dysarthria.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7 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Ear electrodes are not a biologically silent site. Ear-only recognition may rely on local ear co-activation.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066543"/>
            <a:ext cx="4023360" cy="11338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57984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8 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05456"/>
            <a:ext cx="38039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Record auricular EMG in a validation subset or frame result as task recognition, not remote cheek-muscle imaging.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46704"/>
            <a:ext cx="8247888" cy="9326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438144"/>
            <a:ext cx="8028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Editor's 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85616"/>
            <a:ext cx="802843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Ear placement remains promising for unobtrusiveness, but its mechanism needs a direct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Full paper: https://doi.org/10.3390/diagnostics12010121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Adjacent EIT precedent: face, neck, partial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768096"/>
            <a:ext cx="3968496" cy="11247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5953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Visentin 2017 — facial 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7"/>
            <a:ext cx="37490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8 electrodes on one side of one face; exaggerated vowels/smile; deformation-inclusive proof of concept, not validated muscle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9432" y="768096"/>
            <a:ext cx="4096512" cy="11247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859536"/>
            <a:ext cx="3877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Kim et al. 2019 — lower-face airway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207007"/>
            <a:ext cx="38770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16 electrodes guided by MRI/landmarks; 10 healthy participants; compare EIT with MRI during swallowing-induced airway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011680"/>
            <a:ext cx="3968496" cy="11247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Piccin et al. 2023 — 3D 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50592"/>
            <a:ext cx="37490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32 electrodes in two bands; CT-derived 3D neck model; target is airway, not expression muscles.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2" y="2011680"/>
            <a:ext cx="4096512" cy="11247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103120"/>
            <a:ext cx="3877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What transfers to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50592"/>
            <a:ext cx="38770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Use anatomy to target field coverage, test geometry and reconstruction. Their counts/placements do not prove our jaw/ear layout.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355848"/>
            <a:ext cx="8193024" cy="8595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5C5C"/>
                </a:solidFill>
                <a:latin typeface="Arial"/>
              </a:rPr>
              <a:t>FULL LINKS
https://tsukuba.repo.nii.ac.jp/record/43368/files/DA08090.pdf
https://doi.org/10.5664/jcsm.7714  |  https://doi.org/10.3389/frsle.2023.1238508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Other facial BioZ / tissue-model precedents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768096"/>
            <a:ext cx="3858768" cy="13898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859536"/>
            <a:ext cx="36393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Painometry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7"/>
            <a:ext cx="363931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222222"/>
                </a:solidFill>
                <a:latin typeface="Arial"/>
              </a:rPr>
              <a:t>Local corrugator-region impedance plus EEG/PPG/GSR for pain inference. Not remote facial-task recognition.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768096"/>
            <a:ext cx="4023360" cy="138988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859536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Schooling et al. 2020/21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07007"/>
            <a:ext cx="380390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Layered anisotropic tongue FEM + multifrequency Cole-type interpretation (41 ALS, 30 controls). Not facial expression.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331720"/>
            <a:ext cx="8193024" cy="95097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23160"/>
            <a:ext cx="7973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A 2026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770632"/>
            <a:ext cx="79735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222222"/>
                </a:solidFill>
                <a:latin typeface="Arial"/>
              </a:rPr>
              <a:t>Büchner et al. use sEMG + 3D video (36 healthy adults) to visualize activation on a 3D face. That is NOT 3D EIT tomography.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465576"/>
            <a:ext cx="8183879" cy="7589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C5C5C"/>
                </a:solidFill>
                <a:latin typeface="Arial"/>
              </a:rPr>
              <a:t>FULL LINKS
https://doi.org/10.1145/3386901.3389022  |  https://doi.org/10.1088/1361-6579/abcb9b
https://doi.org/10.1016/j.heliyon.2026.e45408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Beginner's tissue model: where can Δv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804672"/>
          <a:ext cx="85039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43200"/>
                <a:gridCol w="4160520"/>
              </a:tblGrid>
              <a:tr h="4251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Physical effect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Electrode + skin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Contact pressure/hydration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Can mimic task or drift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Fat / connective tissue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Depth and current path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Attenuates/redirects ROI sensitivity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Muscle cells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Extra-/intracellular + membrane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Frequency/anisotropy; contraction geometry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Blood vessels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Volume, pulse, constriction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Task-linked vascular BioZ (Levit)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Bone / teeth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Conductivity + geometry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Rest field and moving jaw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Mouth/nose air + saliva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Changing cavities/fluid paths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Strong cue in puff/suck/speech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Ear muscles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Local co-activation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Ear site is not physiologically silent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8056" y="4288536"/>
            <a:ext cx="82478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11F3B"/>
                </a:solidFill>
                <a:latin typeface="Arial"/>
              </a:rPr>
              <a:t>Each term can affect the voltage vector; anatomy at rest does not vanish after subtraction.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From equivalent circuit to 3D forward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822960"/>
            <a:ext cx="3877056" cy="255117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Material model (one effective tissue)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3657600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10" b="0">
                <a:solidFill>
                  <a:srgbClr val="222222"/>
                </a:solidFill>
                <a:latin typeface="Arial"/>
              </a:rPr>
              <a:t>Rₑ: extracellular path
Rᵢ: intracellular path
Cₘ: membrane effect
Frequency changes which pathways contribute. Cole model summarizes a broad spectrum; fit parameters are not a named facial muscle.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822960"/>
            <a:ext cx="4041648" cy="255117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914400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Anatomical + electrode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61872"/>
            <a:ext cx="3822191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A 3D mesh assigns frequency-dependent conductivity/permittivity to skin, fat, muscle, bone, blood and cavities; a complete-electrode model handles contact.
Forward solve predicts boundary voltage for a chosen current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611880"/>
            <a:ext cx="815644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10" b="1">
                <a:solidFill>
                  <a:srgbClr val="711F3B"/>
                </a:solidFill>
                <a:latin typeface="Arial"/>
              </a:rPr>
              <a:t>Material prior ≠ measured facial value. Use uncertainty ranges, anatomy registration, contact calibration and mesh-convergence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507992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5C5C5C"/>
                </a:solidFill>
                <a:latin typeface="Arial"/>
              </a:rPr>
              <a:t>https://doi.org/10.1109/JSEN.2024.3359284  |  https://doi.org/10.1088/1361-6579/abcb9b  |  https://itis.swiss/virtual-population/tissue-properties/database/low-frequency-conductivity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Placement depends on the question being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813816"/>
          <a:ext cx="8467344" cy="33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336"/>
                <a:gridCol w="2103120"/>
                <a:gridCol w="2441448"/>
                <a:gridCol w="2377440"/>
              </a:tblGrid>
              <a:tr h="671169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Layout family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Paper A: classifier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Paper B: 3D image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Specific control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Ear only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Wearable; test lower-face signal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Likely weak coverage; must test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Local ear EMG + head pose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Ear + jaw + submental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Candidate compromise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Maybe coarse lower-face ROI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Jaw/air/contact ablations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+ temple/forehead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More spatial diversity vs visibility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Potential multi-height coverage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Equal-count redistribution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6711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Anterior cheek reference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Temporary Liu-like comparator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Improves target coverage; violates final constraint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Same device/protocol where possible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33672"/>
            <a:ext cx="813816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11F3B"/>
                </a:solidFill>
                <a:latin typeface="Arial"/>
              </a:rPr>
              <a:t>Closed ring is not a theorem. Partial coverage is possible but inverse localization must be 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Anatomy-informed example: https://doi.org/10.5664/jcsm.7714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The task list: correct the muscle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8328" y="804672"/>
          <a:ext cx="8458200" cy="344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172968"/>
                <a:gridCol w="3227832"/>
              </a:tblGrid>
              <a:tr h="430911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Proposed label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Atlas Table 1 says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Editorial correction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Purse lips (T14)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Orbicularis oris highest sampled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Dominant pattern, not isolated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Unilateral smiles (T22/23)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Zygomatic highest sampled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Separate left/right + video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Lower lip protrusion (T11)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Mentalis + depressors + OO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Mixed, not single target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Lips wide, jaw shut (T20)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Inferior OO + depressor labii + mentalis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Not depressor anguli highest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Upper-lip lift (T12)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Levators + OO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Mixed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Lip press / corners down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T7 / T8: multiple muscles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Mixed activation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Cheek puff / suck (T15/16)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OO + mentalis + depressor labii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60">
                          <a:solidFill>
                            <a:srgbClr val="222222"/>
                          </a:solidFill>
                          <a:latin typeface="Arial"/>
                        </a:rPr>
                        <a:t>Buccinator was NOT sampled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8912" y="4590288"/>
            <a:ext cx="7818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5C5C"/>
                </a:solidFill>
                <a:latin typeface="Arial"/>
                <a:hlinkClick r:id="rId2"/>
              </a:rPr>
              <a:t>Source: Schumann et al., Table 1: https://doi.org/10.1371/journal.pone.0254932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Vowels, jaw and cheek: what are we actually testing?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758952"/>
            <a:ext cx="3959352" cy="1143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50392"/>
            <a:ext cx="3739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Vowels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97864"/>
            <a:ext cx="3739896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90" b="0">
                <a:solidFill>
                  <a:srgbClr val="222222"/>
                </a:solidFill>
                <a:latin typeface="Arial"/>
              </a:rPr>
              <a:t>Atlas has SIX German vowels, not a universal five-vowel battery. Specify language, IPA and sustained vs speech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758952"/>
            <a:ext cx="4041648" cy="1143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850392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Jaw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197864"/>
            <a:ext cx="3822191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Jaw-open/closed-lips is atlas T18. Wide jaw opening and clench need separate rationale; clench is a jaw control, not a facial-muscle anchor.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029968"/>
            <a:ext cx="3959352" cy="1143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8"/>
            <a:ext cx="3739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Cheek puff/suck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3739896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Useful bridge to Liu, but air volume, oral pressure, lip seal and geometry can all change BioZ. Atlas did not measure buccinator.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029968"/>
            <a:ext cx="4041648" cy="1143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121408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C51B3A"/>
                </a:solidFill>
                <a:latin typeface="Arial"/>
              </a:rPr>
              <a:t>Clinical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468880"/>
            <a:ext cx="3822191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Non-speech mimic tasks establish sensing feasibility; they do not by themselves prove dysarthria assessment or speech intelligibility.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410712"/>
            <a:ext cx="8183879" cy="694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5C5C"/>
                </a:solidFill>
                <a:latin typeface="Arial"/>
              </a:rPr>
              <a:t>Full links: https://doi.org/10.1371/journal.pone.0254932  |  https://doi.org/10.1177/00220345770560071301
https://www.asha.org/Practice-Portal/Clinical-Topics/Dysarthria-in-Adults/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Your 5 × 5 s protocol: calculated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13816"/>
            <a:ext cx="3913632" cy="25054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05256"/>
            <a:ext cx="3694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If all 19 labels are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52728"/>
            <a:ext cx="3694176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6 anchor labels + 3 mixed + 5 vowels + 3 jaw + 2 cheek = 19.
5 repetitions each = 95 trials.
5 s active each = 475 s active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813816"/>
            <a:ext cx="4005072" cy="2505456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905256"/>
            <a:ext cx="378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Timing depends on rest convention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1252728"/>
            <a:ext cx="3785615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222222"/>
                </a:solidFill>
                <a:latin typeface="Arial"/>
              </a:rPr>
              <a:t>With 5 s rest after every repetition: 475 s rest + 18 × 10 s between tasks = 1,130 s = 18 min 50 s.
Without final 5 s rest per task: 17 min 15 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57016"/>
            <a:ext cx="813816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60" b="1">
                <a:solidFill>
                  <a:srgbClr val="711F3B"/>
                </a:solidFill>
                <a:latin typeface="Arial"/>
              </a:rPr>
              <a:t>Pilot timing, fatigue, signal recovery and task quality. These numbers are a proposal—not literature-validated BioZ parameters.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Recommended study design: prespecify before classifying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77240"/>
            <a:ext cx="4023360" cy="1033271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868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Primary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16152"/>
            <a:ext cx="380390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Rest, purse lips, left smile, right smile; optional lip press or cheek puff only with a clear use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777240"/>
            <a:ext cx="4023360" cy="1033271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868680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Exploratory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216152"/>
            <a:ext cx="380390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Vowels, jaw and cheek tasks test generalization/confounds; do not select classes after test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01952"/>
            <a:ext cx="4023360" cy="1033271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993392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Data and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40864"/>
            <a:ext cx="380390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Sync BioZ with video; EMG subset (including ear if needed); record contact, pose, jaw and pulse.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01952"/>
            <a:ext cx="4023360" cy="1033271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993392"/>
            <a:ext cx="3803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340864"/>
            <a:ext cx="3803904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222222"/>
                </a:solidFill>
                <a:latin typeface="Arial"/>
              </a:rPr>
              <a:t>Split trials before windowing; report within-session, cross-session/redonning and unseen-person macro-F1 + uncertainty.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44952"/>
            <a:ext cx="8229600" cy="11887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136392"/>
            <a:ext cx="8010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A valid first-paper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483864"/>
            <a:ext cx="801014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222222"/>
                </a:solidFill>
                <a:latin typeface="Arial"/>
              </a:rPr>
              <a:t>Constrained jaw/ear placement detects a preselected set of task patterns reliably under explicit nuisance controls. Do not claim individual-muscle imaging or post-stroke diagnosis.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Proof ledger: what must the next experiment decide?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0896" y="777240"/>
          <a:ext cx="8513064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672"/>
                <a:gridCol w="1920240"/>
                <a:gridCol w="2743200"/>
                <a:gridCol w="1901952"/>
              </a:tblGrid>
              <a:tr h="512064">
                <a:tc>
                  <a:txBody>
                    <a:bodyPr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</a:rPr>
                        <a:t>Claim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</a:rPr>
                        <a:t>Present evidence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</a:rPr>
                        <a:t>Required proof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Task changes facial BioZ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Liu, Levit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Replicate at permitted sites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Supported in general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Ear/jaw recognizes tasks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No exact-layout study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Matched tasks; held-out sessions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Hypothesis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A task isolates one muscle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Atlas shows co-activation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EMG if needed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False as stated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Δv is pure muscle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Blood/air/contact pathways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Nuisance controls + model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False as stated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3D localizes facial ROIs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Airway EIT precedent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3D FEM + ground-truth phantom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Unproven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Weakness percentage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No direct evidence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Defined scale + clinical validation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>
                          <a:solidFill>
                            <a:srgbClr val="222222"/>
                          </a:solidFill>
                          <a:latin typeface="Arial"/>
                        </a:rPr>
                        <a:t>Future hypothesis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Parameter provenance: every number needs a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786384"/>
          <a:ext cx="8503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2359152"/>
                <a:gridCol w="4206240"/>
              </a:tblGrid>
              <a:tr h="44577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How to defend value</a:t>
                      </a:r>
                    </a:p>
                  </a:txBody>
                  <a:tcPr marL="54864" marR="54864">
                    <a:solidFill>
                      <a:srgbClr val="711F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Electrode count / site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Coverage and burden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Equal-budget layout ablation + FEM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Drive/sense pattern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Independent boundary views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Rank/sensitivity + bench validation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Frequency / phase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Tissue dispersion and instrument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Verified hardware sweep; held-out ablation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Tissue σ, ε, anisotropy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Material properties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IT'IS/Gabriel range, uncertainty sweep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Contact + geometry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Boundary condition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Measure/reapply/scan + nuisance test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Trial timing / effort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Physiological repeatability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Pilot plateau, fatigue and recovery</a:t>
                      </a:r>
                    </a:p>
                  </a:txBody>
                  <a:tcPr marL="54864" marR="54864" anchor="ctr">
                    <a:solidFill>
                      <a:srgbClr val="F7F1F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Mesh h / regularization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Numerical/inverse assumptions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70">
                          <a:solidFill>
                            <a:srgbClr val="222222"/>
                          </a:solidFill>
                          <a:latin typeface="Arial"/>
                        </a:rPr>
                        <a:t>Convergence, phantom error, uncertainty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4904" y="4416552"/>
            <a:ext cx="83759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5C5C5C"/>
                </a:solidFill>
                <a:latin typeface="Arial"/>
              </a:rPr>
              <a:t>Prior: https://itis.swiss/virtual-population/tissue-properties/database/low-frequency-conductivity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54864"/>
            <a:ext cx="8275320" cy="502920"/>
          </a:xfrm>
        </p:spPr>
        <p:txBody>
          <a:bodyPr lIns="0" rIns="0" tIns="0" bIns="0" wrap="none"/>
          <a:lstStyle/>
          <a:p>
            <a:pPr algn="l"/>
            <a:r>
              <a:rPr sz="2500" b="1">
                <a:solidFill>
                  <a:srgbClr val="711F3B"/>
                </a:solidFill>
                <a:latin typeface="Arial"/>
              </a:rPr>
              <a:t>Publication decision: staged, not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92" y="47548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5C5C"/>
                </a:solidFill>
                <a:latin typeface="Arial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50392"/>
            <a:ext cx="3858768" cy="304495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941832"/>
            <a:ext cx="36393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711F3B"/>
                </a:solidFill>
                <a:latin typeface="Arial"/>
              </a:rPr>
              <a:t>Paper A: feasible if signal survives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89304"/>
            <a:ext cx="3639311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10" b="0">
                <a:solidFill>
                  <a:srgbClr val="222222"/>
                </a:solidFill>
                <a:latin typeface="Arial"/>
              </a:rPr>
              <a:t>A few unobtrusive electrodes + selected task recognition + cross-session/redonning proof + clear mechanism limits.
Novelty is constrained placement and robust evaluation, not simply fewer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850392"/>
            <a:ext cx="3977639" cy="304495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941832"/>
            <a:ext cx="37581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276FBF"/>
                </a:solidFill>
                <a:latin typeface="Arial"/>
              </a:rPr>
              <a:t>Paper B: conditional and harder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1289304"/>
            <a:ext cx="3758183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Multi-plane/wider 3D EIT + coarse ROI reconstruction + identifiability + phantom truth.
Only then consider single-muscle and clinical weakness calibration as a separate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7991856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1">
                <a:solidFill>
                  <a:srgbClr val="C51B3A"/>
                </a:solidFill>
                <a:latin typeface="Arial"/>
              </a:rPr>
              <a:t>First actionable gate: bench/phantom system verification and ethics/safety review before any human current injection.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/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B31B1B"/>
      </a:accent1>
      <a:accent2>
        <a:srgbClr val="4D4F53"/>
      </a:accent2>
      <a:accent3>
        <a:srgbClr val="A2998B"/>
      </a:accent3>
      <a:accent4>
        <a:srgbClr val="EF9595"/>
      </a:accent4>
      <a:accent5>
        <a:srgbClr val="7D7364"/>
      </a:accent5>
      <a:accent6>
        <a:srgbClr val="A8B1C4"/>
      </a:accent6>
      <a:hlink>
        <a:srgbClr val="3B4558"/>
      </a:hlink>
      <a:folHlink>
        <a:srgbClr val="596784"/>
      </a:folHlink>
    </a:clrScheme>
    <a:fontScheme name="Custom 2">
      <a:majorFont>
        <a:latin typeface="Helvetica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9102808-967D-7C45-B952-F50DCD98AF33}" vid="{CF8696D2-C8CE-2B49-849F-4350B18504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d595b45-b704-43c3-be57-bb0e77264841">
      <Terms xmlns="http://schemas.microsoft.com/office/infopath/2007/PartnerControls"/>
    </lcf76f155ced4ddcb4097134ff3c332f>
    <Notes xmlns="0d595b45-b704-43c3-be57-bb0e77264841" xsi:nil="true"/>
    <TaxCatchAll xmlns="2abc551d-39a0-4a7c-9b4b-818b4828f7b9" xsi:nil="true"/>
    <Thumbnail xmlns="0d595b45-b704-43c3-be57-bb0e7726484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5214C4B94FA4EB39B73217CE01A34" ma:contentTypeVersion="16" ma:contentTypeDescription="Create a new document." ma:contentTypeScope="" ma:versionID="f3bd505754e86156a8fe163e58d0c31b">
  <xsd:schema xmlns:xsd="http://www.w3.org/2001/XMLSchema" xmlns:xs="http://www.w3.org/2001/XMLSchema" xmlns:p="http://schemas.microsoft.com/office/2006/metadata/properties" xmlns:ns2="0d595b45-b704-43c3-be57-bb0e77264841" xmlns:ns3="2abc551d-39a0-4a7c-9b4b-818b4828f7b9" targetNamespace="http://schemas.microsoft.com/office/2006/metadata/properties" ma:root="true" ma:fieldsID="d4ff4d27ef69f33c86b2855aac77e155" ns2:_="" ns3:_="">
    <xsd:import namespace="0d595b45-b704-43c3-be57-bb0e77264841"/>
    <xsd:import namespace="2abc551d-39a0-4a7c-9b4b-818b4828f7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Notes" minOccurs="0"/>
                <xsd:element ref="ns2:Thumbnai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595b45-b704-43c3-be57-bb0e772648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2dd9a6-8483-4555-a8f4-00fbe5822b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Notes" ma:index="22" nillable="true" ma:displayName="Notes" ma:format="Dropdown" ma:internalName="Notes">
      <xsd:simpleType>
        <xsd:restriction base="dms:Text">
          <xsd:maxLength value="255"/>
        </xsd:restriction>
      </xsd:simpleType>
    </xsd:element>
    <xsd:element name="Thumbnail" ma:index="23" nillable="true" ma:displayName="Thumbnail" ma:format="Thumbnail" ma:internalName="Thumbnail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c551d-39a0-4a7c-9b4b-818b4828f7b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615bc11-00f9-4c6f-83b1-a5188494ad0e}" ma:internalName="TaxCatchAll" ma:showField="CatchAllData" ma:web="2abc551d-39a0-4a7c-9b4b-818b4828f7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769373-594B-497F-B29F-9AD96F02CA37}">
  <ds:schemaRefs>
    <ds:schemaRef ds:uri="http://schemas.microsoft.com/office/2006/metadata/properties"/>
    <ds:schemaRef ds:uri="http://schemas.microsoft.com/office/infopath/2007/PartnerControls"/>
    <ds:schemaRef ds:uri="0d595b45-b704-43c3-be57-bb0e77264841"/>
    <ds:schemaRef ds:uri="2abc551d-39a0-4a7c-9b4b-818b4828f7b9"/>
  </ds:schemaRefs>
</ds:datastoreItem>
</file>

<file path=customXml/itemProps2.xml><?xml version="1.0" encoding="utf-8"?>
<ds:datastoreItem xmlns:ds="http://schemas.openxmlformats.org/officeDocument/2006/customXml" ds:itemID="{1AC2AE2E-D004-455F-9D5E-7CBDF620B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595b45-b704-43c3-be57-bb0e77264841"/>
    <ds:schemaRef ds:uri="2abc551d-39a0-4a7c-9b4b-818b4828f7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BDF0AD-F2A3-461C-AC8C-AF5A0E8760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12678</TotalTime>
  <Words>2307</Words>
  <Application>Microsoft Macintosh PowerPoint</Application>
  <PresentationFormat>On-screen Show (16:9)</PresentationFormat>
  <Paragraphs>629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Calibri</vt:lpstr>
      <vt:lpstr>Georgia</vt:lpstr>
      <vt:lpstr>Helvetica</vt:lpstr>
      <vt:lpstr>Times</vt:lpstr>
      <vt:lpstr>Office Theme</vt:lpstr>
      <vt:lpstr>WEEKLY REPORT POST STROKE REHABILITATION SYSTEM</vt:lpstr>
      <vt:lpstr>Outline</vt:lpstr>
      <vt:lpstr>1. Quick Update</vt:lpstr>
      <vt:lpstr>2. Literature Review Paper – Background</vt:lpstr>
      <vt:lpstr>2. Literature Review Paper – Background</vt:lpstr>
      <vt:lpstr>2. Literature Review Paper – Background</vt:lpstr>
      <vt:lpstr>2. Literature Review Paper – Background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Future</vt:lpstr>
      <vt:lpstr>3. Active Sensing – Background</vt:lpstr>
      <vt:lpstr>3. Active Sensing – Background</vt:lpstr>
      <vt:lpstr>3. Active Sensing – Background</vt:lpstr>
      <vt:lpstr>3. Active Sensing – Background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Future</vt:lpstr>
      <vt:lpstr>References</vt:lpstr>
      <vt:lpstr>Thank you</vt:lpstr>
      <vt:lpstr>3. Active Sensing – Progress</vt:lpstr>
      <vt:lpstr>3. Active Sensing – Progress</vt:lpstr>
      <vt:lpstr>3. Active Sensing – Progress</vt:lpstr>
      <vt:lpstr>3. Active Sensing – Progress</vt:lpstr>
      <vt:lpstr>Symbols</vt:lpstr>
      <vt:lpstr>Symbols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Clive D. Howard</dc:creator>
  <cp:lastModifiedBy>Vu Ngoc Thanh Sang</cp:lastModifiedBy>
  <cp:revision>113</cp:revision>
  <dcterms:created xsi:type="dcterms:W3CDTF">2020-01-14T16:59:52Z</dcterms:created>
  <dcterms:modified xsi:type="dcterms:W3CDTF">2026-09-28T14:56:57Z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0x01010077C5214C4B94FA4EB39B73217CE01A34</vt:lpwstr>
  </property>
  <property fmtid="{D5CDD505-2E9C-101B-9397-08002B2CF9AE}" pid="3" name="MediaServiceImageTags">
    <vt:lpwstr/>
  </property>
</Properties>
</file>