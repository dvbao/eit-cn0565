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27"/>
  </p:notesMasterIdLst>
  <p:handoutMasterIdLst>
    <p:handoutMasterId r:id="rId28"/>
  </p:handoutMasterIdLst>
  <p:sldIdLst>
    <p:sldId id="273" r:id="rId5"/>
    <p:sldId id="276" r:id="rId6"/>
    <p:sldId id="620" r:id="rId7"/>
    <p:sldId id="647" r:id="rId8"/>
    <p:sldId id="663" r:id="rId9"/>
    <p:sldId id="666" r:id="rId10"/>
    <p:sldId id="667" r:id="rId11"/>
    <p:sldId id="668" r:id="rId12"/>
    <p:sldId id="669" r:id="rId13"/>
    <p:sldId id="670" r:id="rId14"/>
    <p:sldId id="677" r:id="rId33"/>
    <p:sldId id="678" r:id="rId34"/>
    <p:sldId id="679" r:id="rId35"/>
    <p:sldId id="680" r:id="rId36"/>
    <p:sldId id="681" r:id="rId37"/>
    <p:sldId id="682" r:id="rId38"/>
    <p:sldId id="664" r:id="rId15"/>
    <p:sldId id="665" r:id="rId16"/>
    <p:sldId id="671" r:id="rId17"/>
    <p:sldId id="672" r:id="rId18"/>
    <p:sldId id="674" r:id="rId19"/>
    <p:sldId id="673" r:id="rId20"/>
    <p:sldId id="675" r:id="rId21"/>
    <p:sldId id="676" r:id="rId22"/>
    <p:sldId id="257" r:id="rId23"/>
    <p:sldId id="258" r:id="rId24"/>
    <p:sldId id="275" r:id="rId25"/>
    <p:sldId id="266" r:id="rId26"/>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1EA9E"/>
    <a:srgbClr val="72243D"/>
    <a:srgbClr val="6F263D"/>
    <a:srgbClr val="70002E"/>
    <a:srgbClr val="ED8B00"/>
    <a:srgbClr val="641E34"/>
    <a:srgbClr val="1C3D34"/>
    <a:srgbClr val="E17C00"/>
    <a:srgbClr val="FF4438"/>
    <a:srgbClr val="BBDD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475" autoAdjust="0"/>
    <p:restoredTop sz="88215" autoAdjust="0"/>
  </p:normalViewPr>
  <p:slideViewPr>
    <p:cSldViewPr>
      <p:cViewPr>
        <p:scale>
          <a:sx n="140" d="100"/>
          <a:sy n="140" d="100"/>
        </p:scale>
        <p:origin x="1152" y="280"/>
      </p:cViewPr>
      <p:guideLst>
        <p:guide orient="horz" pos="1620"/>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notesMaster" Target="notesMasters/notesMaster1.xml"/><Relationship Id="rId28" Type="http://schemas.openxmlformats.org/officeDocument/2006/relationships/handoutMaster" Target="handoutMasters/handout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 Id="rId33" Type="http://schemas.openxmlformats.org/officeDocument/2006/relationships/slide" Target="slides/slide23.xml"/><Relationship Id="rId34" Type="http://schemas.openxmlformats.org/officeDocument/2006/relationships/slide" Target="slides/slide24.xml"/><Relationship Id="rId35" Type="http://schemas.openxmlformats.org/officeDocument/2006/relationships/slide" Target="slides/slide25.xml"/><Relationship Id="rId36" Type="http://schemas.openxmlformats.org/officeDocument/2006/relationships/slide" Target="slides/slide26.xml"/><Relationship Id="rId37" Type="http://schemas.openxmlformats.org/officeDocument/2006/relationships/slide" Target="slides/slide27.xml"/><Relationship Id="rId38" Type="http://schemas.openxmlformats.org/officeDocument/2006/relationships/slide" Target="slides/slide2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v>Reviews</c:v>
          </c:tx>
          <c:spPr>
            <a:solidFill>
              <a:srgbClr val="72243D"/>
            </a:solidFill>
          </c:spPr>
          <c:invertIfNegative val="1"/>
          <c:dPt>
            <c:idx val="0"/>
            <c:invertIfNegative val="0"/>
            <c:bubble3D val="0"/>
            <c:spPr>
              <a:solidFill>
                <a:srgbClr val="C9BEB7"/>
              </a:solidFill>
            </c:spPr>
            <c:extLst>
              <c:ext xmlns:c16="http://schemas.microsoft.com/office/drawing/2014/chart" uri="{C3380CC4-5D6E-409C-BE32-E72D297353CC}">
                <c16:uniqueId val="{00000001-8432-B546-BBA6-9A66BDE9AEC4}"/>
              </c:ext>
            </c:extLst>
          </c:dPt>
          <c:dPt>
            <c:idx val="1"/>
            <c:invertIfNegative val="0"/>
            <c:bubble3D val="0"/>
            <c:spPr>
              <a:solidFill>
                <a:srgbClr val="AFAFAF"/>
              </a:solidFill>
            </c:spPr>
            <c:extLst>
              <c:ext xmlns:c16="http://schemas.microsoft.com/office/drawing/2014/chart" uri="{C3380CC4-5D6E-409C-BE32-E72D297353CC}">
                <c16:uniqueId val="{00000003-8432-B546-BBA6-9A66BDE9AEC4}"/>
              </c:ext>
            </c:extLst>
          </c:dPt>
          <c:dPt>
            <c:idx val="2"/>
            <c:invertIfNegative val="0"/>
            <c:bubble3D val="0"/>
            <c:spPr>
              <a:solidFill>
                <a:srgbClr val="A78492"/>
              </a:solidFill>
            </c:spPr>
            <c:extLst>
              <c:ext xmlns:c16="http://schemas.microsoft.com/office/drawing/2014/chart" uri="{C3380CC4-5D6E-409C-BE32-E72D297353CC}">
                <c16:uniqueId val="{00000005-8432-B546-BBA6-9A66BDE9AEC4}"/>
              </c:ext>
            </c:extLst>
          </c:dPt>
          <c:dPt>
            <c:idx val="3"/>
            <c:invertIfNegative val="0"/>
            <c:bubble3D val="0"/>
            <c:spPr>
              <a:solidFill>
                <a:srgbClr val="E17C00"/>
              </a:solidFill>
            </c:spPr>
            <c:extLst>
              <c:ext xmlns:c16="http://schemas.microsoft.com/office/drawing/2014/chart" uri="{C3380CC4-5D6E-409C-BE32-E72D297353CC}">
                <c16:uniqueId val="{00000007-8432-B546-BBA6-9A66BDE9AEC4}"/>
              </c:ext>
            </c:extLst>
          </c:dPt>
          <c:dPt>
            <c:idx val="4"/>
            <c:invertIfNegative val="0"/>
            <c:bubble3D val="0"/>
            <c:extLst>
              <c:ext xmlns:c16="http://schemas.microsoft.com/office/drawing/2014/chart" uri="{C3380CC4-5D6E-409C-BE32-E72D297353CC}">
                <c16:uniqueId val="{00000008-8432-B546-BBA6-9A66BDE9AEC4}"/>
              </c:ext>
            </c:extLst>
          </c:dPt>
          <c:dLbls>
            <c:spPr>
              <a:noFill/>
              <a:ln>
                <a:noFill/>
              </a:ln>
              <a:effectLst/>
            </c:spPr>
            <c:txPr>
              <a:bodyPr anchorCtr="1"/>
              <a:lstStyle/>
              <a:p>
                <a:pPr>
                  <a:defRPr sz="975" b="1">
                    <a:solidFill>
                      <a:srgbClr val="303030"/>
                    </a:solidFill>
                    <a:latin typeface="Arial"/>
                    <a:ea typeface="Arial"/>
                    <a:cs typeface="Arial"/>
                  </a:defRPr>
                </a:pPr>
                <a:endParaRPr lang="en-V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Data'!$A$2:$A$6</c:f>
              <c:strCache>
                <c:ptCount val="5"/>
                <c:pt idx="0">
                  <c:v>Foundational source</c:v>
                </c:pt>
                <c:pt idx="1">
                  <c:v>Adjacent topical review</c:v>
                </c:pt>
                <c:pt idx="2">
                  <c:v>Structural analog</c:v>
                </c:pt>
                <c:pt idx="3">
                  <c:v>Narrow direct predecessor</c:v>
                </c:pt>
                <c:pt idx="4">
                  <c:v>Direct competitor</c:v>
                </c:pt>
              </c:strCache>
            </c:strRef>
          </c:cat>
          <c:val>
            <c:numRef>
              <c:f>'Chart Data'!$B$2:$B$6</c:f>
              <c:numCache>
                <c:formatCode>General</c:formatCode>
                <c:ptCount val="5"/>
                <c:pt idx="0">
                  <c:v>1</c:v>
                </c:pt>
                <c:pt idx="1">
                  <c:v>16</c:v>
                </c:pt>
                <c:pt idx="2">
                  <c:v>6</c:v>
                </c:pt>
                <c:pt idx="3">
                  <c:v>12</c:v>
                </c:pt>
                <c:pt idx="4">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9-8432-B546-BBA6-9A66BDE9AEC4}"/>
            </c:ext>
          </c:extLst>
        </c:ser>
        <c:dLbls>
          <c:dLblPos val="outEnd"/>
          <c:showLegendKey val="0"/>
          <c:showVal val="1"/>
          <c:showCatName val="0"/>
          <c:showSerName val="0"/>
          <c:showPercent val="0"/>
          <c:showBubbleSize val="0"/>
        </c:dLbls>
        <c:gapWidth val="42"/>
        <c:axId val="48650112"/>
        <c:axId val="48672768"/>
      </c:barChart>
      <c:catAx>
        <c:axId val="48650112"/>
        <c:scaling>
          <c:orientation val="minMax"/>
        </c:scaling>
        <c:delete val="0"/>
        <c:axPos val="l"/>
        <c:majorGridlines>
          <c:spPr>
            <a:ln w="9525">
              <a:solidFill>
                <a:srgbClr val="ECE9E7"/>
              </a:solidFill>
              <a:prstDash val="solid"/>
            </a:ln>
          </c:spPr>
        </c:majorGridlines>
        <c:numFmt formatCode="General" sourceLinked="1"/>
        <c:majorTickMark val="none"/>
        <c:minorTickMark val="none"/>
        <c:tickLblPos val="nextTo"/>
        <c:spPr>
          <a:ln w="9525">
            <a:solidFill>
              <a:srgbClr val="D9D5D3"/>
            </a:solidFill>
            <a:prstDash val="solid"/>
          </a:ln>
        </c:spPr>
        <c:txPr>
          <a:bodyPr anchorCtr="1"/>
          <a:lstStyle/>
          <a:p>
            <a:pPr>
              <a:defRPr sz="788">
                <a:solidFill>
                  <a:srgbClr val="666666"/>
                </a:solidFill>
                <a:latin typeface="Arial"/>
                <a:ea typeface="Arial"/>
                <a:cs typeface="Arial"/>
              </a:defRPr>
            </a:pPr>
            <a:endParaRPr lang="en-VN"/>
          </a:p>
        </c:txPr>
        <c:crossAx val="48672768"/>
        <c:crosses val="autoZero"/>
        <c:auto val="1"/>
        <c:lblAlgn val="ctr"/>
        <c:lblOffset val="100"/>
        <c:noMultiLvlLbl val="1"/>
      </c:catAx>
      <c:valAx>
        <c:axId val="48672768"/>
        <c:scaling>
          <c:orientation val="minMax"/>
        </c:scaling>
        <c:delete val="0"/>
        <c:axPos val="b"/>
        <c:numFmt formatCode="General" sourceLinked="1"/>
        <c:majorTickMark val="none"/>
        <c:minorTickMark val="none"/>
        <c:tickLblPos val="nextTo"/>
        <c:spPr>
          <a:ln w="9525">
            <a:solidFill>
              <a:srgbClr val="D9D5D3"/>
            </a:solidFill>
            <a:prstDash val="solid"/>
          </a:ln>
        </c:spPr>
        <c:txPr>
          <a:bodyPr anchorCtr="1"/>
          <a:lstStyle/>
          <a:p>
            <a:pPr>
              <a:defRPr sz="900">
                <a:solidFill>
                  <a:srgbClr val="303030"/>
                </a:solidFill>
                <a:latin typeface="Arial"/>
                <a:ea typeface="Arial"/>
                <a:cs typeface="Arial"/>
              </a:defRPr>
            </a:pPr>
            <a:endParaRPr lang="en-VN"/>
          </a:p>
        </c:txPr>
        <c:crossAx val="48650112"/>
        <c:crosses val="autoZero"/>
        <c:crossBetween val="between"/>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Week 5 (Sep 20)</c:v>
                </c:pt>
              </c:strCache>
            </c:strRef>
          </c:tx>
          <c:spPr>
            <a:solidFill>
              <a:srgbClr val="A8A299"/>
            </a:solidFill>
          </c:spPr>
          <c:cat>
            <c:strRef>
              <c:f>Sheet1!$A$2:$A$3</c:f>
              <c:strCache>
                <c:ptCount val="2"/>
                <c:pt idx="0">
                  <c:v>Individual Studies</c:v>
                </c:pt>
                <c:pt idx="1">
                  <c:v>Existing Reviews</c:v>
                </c:pt>
              </c:strCache>
            </c:strRef>
          </c:cat>
          <c:val>
            <c:numRef>
              <c:f>Sheet1!$B$2:$B$3</c:f>
              <c:numCache>
                <c:formatCode>General</c:formatCode>
                <c:ptCount val="2"/>
                <c:pt idx="0">
                  <c:v>49</c:v>
                </c:pt>
                <c:pt idx="1">
                  <c:v>35</c:v>
                </c:pt>
              </c:numCache>
            </c:numRef>
          </c:val>
        </c:ser>
        <c:ser>
          <c:idx val="1"/>
          <c:order val="1"/>
          <c:tx>
            <c:strRef>
              <c:f>Sheet1!$C$1</c:f>
              <c:strCache>
                <c:ptCount val="1"/>
                <c:pt idx="0">
                  <c:v>Week 6 (Sep 27)</c:v>
                </c:pt>
              </c:strCache>
            </c:strRef>
          </c:tx>
          <c:spPr>
            <a:solidFill>
              <a:srgbClr val="72243D"/>
            </a:solidFill>
          </c:spPr>
          <c:cat>
            <c:strRef>
              <c:f>Sheet1!$A$2:$A$3</c:f>
              <c:strCache>
                <c:ptCount val="2"/>
                <c:pt idx="0">
                  <c:v>Individual Studies</c:v>
                </c:pt>
                <c:pt idx="1">
                  <c:v>Existing Reviews</c:v>
                </c:pt>
              </c:strCache>
            </c:strRef>
          </c:cat>
          <c:val>
            <c:numRef>
              <c:f>Sheet1!$C$2:$C$3</c:f>
              <c:numCache>
                <c:formatCode>General</c:formatCode>
                <c:ptCount val="2"/>
                <c:pt idx="0">
                  <c:v>123</c:v>
                </c:pt>
                <c:pt idx="1">
                  <c:v>37</c:v>
                </c:pt>
              </c:numCache>
            </c:numRef>
          </c:val>
        </c:ser>
        <c:dLbls>
          <c:numFmt formatCode="0" sourceLinked="0"/>
          <c:txPr>
            <a:bodyPr/>
            <a:lstStyle/>
            <a:p>
              <a:pPr>
                <a:defRPr sz="850" b="1">
                  <a:solidFill>
                    <a:srgbClr val="303030"/>
                  </a:solidFill>
                </a:defRPr>
              </a:pPr>
            </a:p>
          </c:txPr>
          <c:dLblPos val="outEnd"/>
          <c:showLegendKey val="0"/>
          <c:showVal val="1"/>
          <c:showCatName val="0"/>
          <c:showSerName val="0"/>
          <c:showPercent val="0"/>
          <c:showBubbleSize val="0"/>
          <c:showLeaderLines val="1"/>
        </c:dLbls>
        <c:gapWidth val="60"/>
        <c:overlap val="-10"/>
        <c:axId val="-2068027336"/>
        <c:axId val="-2113994440"/>
      </c:barChart>
      <c:catAx>
        <c:axId val="-2068027336"/>
        <c:scaling>
          <c:orientation val="minMax"/>
        </c:scaling>
        <c:delete val="0"/>
        <c:axPos val="b"/>
        <c:majorTickMark val="out"/>
        <c:minorTickMark val="none"/>
        <c:tickLblPos val="nextTo"/>
        <c:spPr>
          <a:ln>
            <a:solidFill>
              <a:srgbClr val="DEDEE0"/>
            </a:solidFill>
          </a:ln>
        </c:spPr>
        <c:txPr>
          <a:bodyPr/>
          <a:lstStyle/>
          <a:p>
            <a:pPr>
              <a:defRPr sz="900">
                <a:solidFill>
                  <a:srgbClr val="303030"/>
                </a:solidFill>
                <a:latin typeface="Arial"/>
              </a:defRPr>
            </a:pPr>
          </a:p>
        </c:txPr>
        <c:crossAx val="-2113994440"/>
        <c:crosses val="autoZero"/>
        <c:auto val="1"/>
        <c:lblAlgn val="ctr"/>
        <c:lblOffset val="100"/>
        <c:noMultiLvlLbl val="0"/>
      </c:catAx>
      <c:valAx>
        <c:axId val="-2113994440"/>
        <c:scaling/>
        <c:delete val="0"/>
        <c:axPos val="l"/>
        <c:majorGridlines>
          <c:spPr>
            <a:ln w="6350">
              <a:solidFill>
                <a:srgbClr val="DEDEE0"/>
              </a:solidFill>
            </a:ln>
          </c:spPr>
        </c:majorGridlines>
        <c:majorTickMark val="out"/>
        <c:minorTickMark val="none"/>
        <c:tickLblPos val="nextTo"/>
        <c:spPr>
          <a:ln>
            <a:solidFill>
              <a:srgbClr val="DEDEE0"/>
            </a:solidFill>
          </a:ln>
        </c:spPr>
        <c:txPr>
          <a:bodyPr/>
          <a:lstStyle/>
          <a:p>
            <a:pPr>
              <a:defRPr sz="900">
                <a:solidFill>
                  <a:srgbClr val="7D7364"/>
                </a:solidFill>
              </a:defRPr>
            </a:pPr>
          </a:p>
        </c:txPr>
        <c:crossAx val="-2068027336"/>
        <c:crosses val="autoZero"/>
      </c:valAx>
    </c:plotArea>
    <c:legend>
      <c:legendPos val="b"/>
      <c:overlay val="0"/>
      <c:txPr>
        <a:bodyPr/>
        <a:lstStyle/>
        <a:p>
          <a:pPr>
            <a:defRPr sz="900">
              <a:solidFill>
                <a:srgbClr val="303030"/>
              </a:solidFill>
              <a:latin typeface="Arial"/>
            </a:defRPr>
          </a:pPr>
        </a:p>
      </c:txPr>
    </c:legend>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Week 5 (Sep 20)</c:v>
                </c:pt>
              </c:strCache>
            </c:strRef>
          </c:tx>
          <c:spPr>
            <a:solidFill>
              <a:srgbClr val="A8A299"/>
            </a:solidFill>
          </c:spPr>
          <c:cat>
            <c:strRef>
              <c:f>Sheet1!$A$2:$A$6</c:f>
              <c:strCache>
                <c:ptCount val="5"/>
                <c:pt idx="0">
                  <c:v>Respiration</c:v>
                </c:pt>
                <c:pt idx="1">
                  <c:v>Phonation</c:v>
                </c:pt>
                <c:pt idx="2">
                  <c:v>Resonance</c:v>
                </c:pt>
                <c:pt idx="3">
                  <c:v>Articulation</c:v>
                </c:pt>
                <c:pt idx="4">
                  <c:v>Prosody</c:v>
                </c:pt>
              </c:strCache>
            </c:strRef>
          </c:cat>
          <c:val>
            <c:numRef>
              <c:f>Sheet1!$B$2:$B$6</c:f>
              <c:numCache>
                <c:formatCode>General</c:formatCode>
                <c:ptCount val="5"/>
                <c:pt idx="0">
                  <c:v>15</c:v>
                </c:pt>
                <c:pt idx="1">
                  <c:v>25</c:v>
                </c:pt>
                <c:pt idx="2">
                  <c:v>9</c:v>
                </c:pt>
                <c:pt idx="3">
                  <c:v>41</c:v>
                </c:pt>
                <c:pt idx="4">
                  <c:v>18</c:v>
                </c:pt>
              </c:numCache>
            </c:numRef>
          </c:val>
        </c:ser>
        <c:ser>
          <c:idx val="1"/>
          <c:order val="1"/>
          <c:tx>
            <c:strRef>
              <c:f>Sheet1!$C$1</c:f>
              <c:strCache>
                <c:ptCount val="1"/>
                <c:pt idx="0">
                  <c:v>Week 6 (Sep 27)</c:v>
                </c:pt>
              </c:strCache>
            </c:strRef>
          </c:tx>
          <c:spPr>
            <a:solidFill>
              <a:srgbClr val="72243D"/>
            </a:solidFill>
          </c:spPr>
          <c:cat>
            <c:strRef>
              <c:f>Sheet1!$A$2:$A$6</c:f>
              <c:strCache>
                <c:ptCount val="5"/>
                <c:pt idx="0">
                  <c:v>Respiration</c:v>
                </c:pt>
                <c:pt idx="1">
                  <c:v>Phonation</c:v>
                </c:pt>
                <c:pt idx="2">
                  <c:v>Resonance</c:v>
                </c:pt>
                <c:pt idx="3">
                  <c:v>Articulation</c:v>
                </c:pt>
                <c:pt idx="4">
                  <c:v>Prosody</c:v>
                </c:pt>
              </c:strCache>
            </c:strRef>
          </c:cat>
          <c:val>
            <c:numRef>
              <c:f>Sheet1!$C$2:$C$6</c:f>
              <c:numCache>
                <c:formatCode>General</c:formatCode>
                <c:ptCount val="5"/>
                <c:pt idx="0">
                  <c:v>24</c:v>
                </c:pt>
                <c:pt idx="1">
                  <c:v>51</c:v>
                </c:pt>
                <c:pt idx="2">
                  <c:v>20</c:v>
                </c:pt>
                <c:pt idx="3">
                  <c:v>92</c:v>
                </c:pt>
                <c:pt idx="4">
                  <c:v>22</c:v>
                </c:pt>
              </c:numCache>
            </c:numRef>
          </c:val>
        </c:ser>
        <c:dLbls>
          <c:numFmt formatCode="0" sourceLinked="0"/>
          <c:txPr>
            <a:bodyPr/>
            <a:lstStyle/>
            <a:p>
              <a:pPr>
                <a:defRPr sz="850" b="1">
                  <a:solidFill>
                    <a:srgbClr val="303030"/>
                  </a:solidFill>
                </a:defRPr>
              </a:pPr>
            </a:p>
          </c:txPr>
          <c:dLblPos val="outEnd"/>
          <c:showLegendKey val="0"/>
          <c:showVal val="1"/>
          <c:showCatName val="0"/>
          <c:showSerName val="0"/>
          <c:showPercent val="0"/>
          <c:showBubbleSize val="0"/>
          <c:showLeaderLines val="1"/>
        </c:dLbls>
        <c:gapWidth val="60"/>
        <c:overlap val="-10"/>
        <c:axId val="-2068027336"/>
        <c:axId val="-2113994440"/>
      </c:barChart>
      <c:catAx>
        <c:axId val="-2068027336"/>
        <c:scaling>
          <c:orientation val="minMax"/>
        </c:scaling>
        <c:delete val="0"/>
        <c:axPos val="b"/>
        <c:majorTickMark val="out"/>
        <c:minorTickMark val="none"/>
        <c:tickLblPos val="nextTo"/>
        <c:spPr>
          <a:ln>
            <a:solidFill>
              <a:srgbClr val="DEDEE0"/>
            </a:solidFill>
          </a:ln>
        </c:spPr>
        <c:txPr>
          <a:bodyPr/>
          <a:lstStyle/>
          <a:p>
            <a:pPr>
              <a:defRPr sz="900">
                <a:solidFill>
                  <a:srgbClr val="303030"/>
                </a:solidFill>
                <a:latin typeface="Arial"/>
              </a:defRPr>
            </a:pPr>
          </a:p>
        </c:txPr>
        <c:crossAx val="-2113994440"/>
        <c:crosses val="autoZero"/>
        <c:auto val="1"/>
        <c:lblAlgn val="ctr"/>
        <c:lblOffset val="100"/>
        <c:noMultiLvlLbl val="0"/>
      </c:catAx>
      <c:valAx>
        <c:axId val="-2113994440"/>
        <c:scaling/>
        <c:delete val="0"/>
        <c:axPos val="l"/>
        <c:majorGridlines>
          <c:spPr>
            <a:ln w="6350">
              <a:solidFill>
                <a:srgbClr val="DEDEE0"/>
              </a:solidFill>
            </a:ln>
          </c:spPr>
        </c:majorGridlines>
        <c:majorTickMark val="out"/>
        <c:minorTickMark val="none"/>
        <c:tickLblPos val="nextTo"/>
        <c:spPr>
          <a:ln>
            <a:solidFill>
              <a:srgbClr val="DEDEE0"/>
            </a:solidFill>
          </a:ln>
        </c:spPr>
        <c:txPr>
          <a:bodyPr/>
          <a:lstStyle/>
          <a:p>
            <a:pPr>
              <a:defRPr sz="900">
                <a:solidFill>
                  <a:srgbClr val="7D7364"/>
                </a:solidFill>
              </a:defRPr>
            </a:pPr>
          </a:p>
        </c:txPr>
        <c:crossAx val="-2068027336"/>
        <c:crosses val="autoZero"/>
      </c:valAx>
    </c:plotArea>
    <c:legend>
      <c:legendPos val="b"/>
      <c:overlay val="0"/>
      <c:txPr>
        <a:bodyPr/>
        <a:lstStyle/>
        <a:p>
          <a:pPr>
            <a:defRPr sz="900">
              <a:solidFill>
                <a:srgbClr val="303030"/>
              </a:solidFill>
              <a:latin typeface="Arial"/>
            </a:defRPr>
          </a:pPr>
        </a:p>
      </c:txPr>
    </c:legend>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Week 5 (Sep 20)</c:v>
                </c:pt>
              </c:strCache>
            </c:strRef>
          </c:tx>
          <c:spPr>
            <a:solidFill>
              <a:srgbClr val="A8A299"/>
            </a:solidFill>
          </c:spPr>
          <c:cat>
            <c:strRef>
              <c:f>Sheet1!$A$2:$A$9</c:f>
              <c:strCache>
                <c:ptCount val="8"/>
                <c:pt idx="0">
                  <c:v>Acoustic</c:v>
                </c:pt>
                <c:pt idx="1">
                  <c:v>Aerodynamic</c:v>
                </c:pt>
                <c:pt idx="2">
                  <c:v>EGG</c:v>
                </c:pt>
                <c:pt idx="3">
                  <c:v>Resp.
motion</c:v>
                </c:pt>
                <c:pt idx="4">
                  <c:v>EPG</c:v>
                </c:pt>
                <c:pt idx="5">
                  <c:v>UTI</c:v>
                </c:pt>
                <c:pt idx="6">
                  <c:v>EMA/kin.</c:v>
                </c:pt>
                <c:pt idx="7">
                  <c:v>sEMG</c:v>
                </c:pt>
              </c:strCache>
            </c:strRef>
          </c:cat>
          <c:val>
            <c:numRef>
              <c:f>Sheet1!$B$2:$B$9</c:f>
              <c:numCache>
                <c:formatCode>General</c:formatCode>
                <c:ptCount val="8"/>
                <c:pt idx="0">
                  <c:v>65</c:v>
                </c:pt>
                <c:pt idx="1">
                  <c:v>12</c:v>
                </c:pt>
                <c:pt idx="2">
                  <c:v>4</c:v>
                </c:pt>
                <c:pt idx="3">
                  <c:v>4</c:v>
                </c:pt>
                <c:pt idx="4">
                  <c:v>4</c:v>
                </c:pt>
                <c:pt idx="5">
                  <c:v>1</c:v>
                </c:pt>
                <c:pt idx="6">
                  <c:v>10</c:v>
                </c:pt>
                <c:pt idx="7">
                  <c:v>8</c:v>
                </c:pt>
              </c:numCache>
            </c:numRef>
          </c:val>
        </c:ser>
        <c:ser>
          <c:idx val="1"/>
          <c:order val="1"/>
          <c:tx>
            <c:strRef>
              <c:f>Sheet1!$C$1</c:f>
              <c:strCache>
                <c:ptCount val="1"/>
                <c:pt idx="0">
                  <c:v>Week 6 (Sep 27)</c:v>
                </c:pt>
              </c:strCache>
            </c:strRef>
          </c:tx>
          <c:spPr>
            <a:solidFill>
              <a:srgbClr val="72243D"/>
            </a:solidFill>
          </c:spPr>
          <c:cat>
            <c:strRef>
              <c:f>Sheet1!$A$2:$A$9</c:f>
              <c:strCache>
                <c:ptCount val="8"/>
                <c:pt idx="0">
                  <c:v>Acoustic</c:v>
                </c:pt>
                <c:pt idx="1">
                  <c:v>Aerodynamic</c:v>
                </c:pt>
                <c:pt idx="2">
                  <c:v>EGG</c:v>
                </c:pt>
                <c:pt idx="3">
                  <c:v>Resp.
motion</c:v>
                </c:pt>
                <c:pt idx="4">
                  <c:v>EPG</c:v>
                </c:pt>
                <c:pt idx="5">
                  <c:v>UTI</c:v>
                </c:pt>
                <c:pt idx="6">
                  <c:v>EMA/kin.</c:v>
                </c:pt>
                <c:pt idx="7">
                  <c:v>sEMG</c:v>
                </c:pt>
              </c:strCache>
            </c:strRef>
          </c:cat>
          <c:val>
            <c:numRef>
              <c:f>Sheet1!$C$2:$C$9</c:f>
              <c:numCache>
                <c:formatCode>General</c:formatCode>
                <c:ptCount val="8"/>
                <c:pt idx="0">
                  <c:v>123</c:v>
                </c:pt>
                <c:pt idx="1">
                  <c:v>16</c:v>
                </c:pt>
                <c:pt idx="2">
                  <c:v>8</c:v>
                </c:pt>
                <c:pt idx="3">
                  <c:v>5</c:v>
                </c:pt>
                <c:pt idx="4">
                  <c:v>13</c:v>
                </c:pt>
                <c:pt idx="5">
                  <c:v>5</c:v>
                </c:pt>
                <c:pt idx="6">
                  <c:v>24</c:v>
                </c:pt>
                <c:pt idx="7">
                  <c:v>15</c:v>
                </c:pt>
              </c:numCache>
            </c:numRef>
          </c:val>
        </c:ser>
        <c:dLbls>
          <c:numFmt formatCode="0" sourceLinked="0"/>
          <c:txPr>
            <a:bodyPr/>
            <a:lstStyle/>
            <a:p>
              <a:pPr>
                <a:defRPr sz="850" b="1">
                  <a:solidFill>
                    <a:srgbClr val="303030"/>
                  </a:solidFill>
                </a:defRPr>
              </a:pPr>
            </a:p>
          </c:txPr>
          <c:dLblPos val="outEnd"/>
          <c:showLegendKey val="0"/>
          <c:showVal val="1"/>
          <c:showCatName val="0"/>
          <c:showSerName val="0"/>
          <c:showPercent val="0"/>
          <c:showBubbleSize val="0"/>
          <c:showLeaderLines val="1"/>
        </c:dLbls>
        <c:gapWidth val="60"/>
        <c:overlap val="-10"/>
        <c:axId val="-2068027336"/>
        <c:axId val="-2113994440"/>
      </c:barChart>
      <c:catAx>
        <c:axId val="-2068027336"/>
        <c:scaling>
          <c:orientation val="minMax"/>
        </c:scaling>
        <c:delete val="0"/>
        <c:axPos val="b"/>
        <c:majorTickMark val="out"/>
        <c:minorTickMark val="none"/>
        <c:tickLblPos val="nextTo"/>
        <c:spPr>
          <a:ln>
            <a:solidFill>
              <a:srgbClr val="DEDEE0"/>
            </a:solidFill>
          </a:ln>
        </c:spPr>
        <c:txPr>
          <a:bodyPr/>
          <a:lstStyle/>
          <a:p>
            <a:pPr>
              <a:defRPr sz="900">
                <a:solidFill>
                  <a:srgbClr val="303030"/>
                </a:solidFill>
                <a:latin typeface="Arial"/>
              </a:defRPr>
            </a:pPr>
          </a:p>
        </c:txPr>
        <c:crossAx val="-2113994440"/>
        <c:crosses val="autoZero"/>
        <c:auto val="1"/>
        <c:lblAlgn val="ctr"/>
        <c:lblOffset val="100"/>
        <c:noMultiLvlLbl val="0"/>
      </c:catAx>
      <c:valAx>
        <c:axId val="-2113994440"/>
        <c:scaling/>
        <c:delete val="0"/>
        <c:axPos val="l"/>
        <c:majorGridlines>
          <c:spPr>
            <a:ln w="6350">
              <a:solidFill>
                <a:srgbClr val="DEDEE0"/>
              </a:solidFill>
            </a:ln>
          </c:spPr>
        </c:majorGridlines>
        <c:majorTickMark val="out"/>
        <c:minorTickMark val="none"/>
        <c:tickLblPos val="nextTo"/>
        <c:spPr>
          <a:ln>
            <a:solidFill>
              <a:srgbClr val="DEDEE0"/>
            </a:solidFill>
          </a:ln>
        </c:spPr>
        <c:txPr>
          <a:bodyPr/>
          <a:lstStyle/>
          <a:p>
            <a:pPr>
              <a:defRPr sz="900">
                <a:solidFill>
                  <a:srgbClr val="7D7364"/>
                </a:solidFill>
              </a:defRPr>
            </a:pPr>
          </a:p>
        </c:txPr>
        <c:crossAx val="-2068027336"/>
        <c:crosses val="autoZero"/>
      </c:valAx>
    </c:plotArea>
    <c:legend>
      <c:legendPos val="b"/>
      <c:overlay val="0"/>
      <c:txPr>
        <a:bodyPr/>
        <a:lstStyle/>
        <a:p>
          <a:pPr>
            <a:defRPr sz="900">
              <a:solidFill>
                <a:srgbClr val="303030"/>
              </a:solidFill>
              <a:latin typeface="Arial"/>
            </a:defRPr>
          </a:pPr>
        </a:p>
      </c:txPr>
    </c:legend>
    <c:dispBlanksAs val="gap"/>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Week 5 (Sep 20)</c:v>
                </c:pt>
              </c:strCache>
            </c:strRef>
          </c:tx>
          <c:spPr>
            <a:solidFill>
              <a:srgbClr val="A8A299"/>
            </a:solidFill>
          </c:spPr>
          <c:cat>
            <c:strRef>
              <c:f>Sheet1!$A$2:$A$7</c:f>
              <c:strCache>
                <c:ptCount val="6"/>
                <c:pt idx="0">
                  <c:v>Parkinson</c:v>
                </c:pt>
                <c:pt idx="1">
                  <c:v>ALS/MND</c:v>
                </c:pt>
                <c:pt idx="2">
                  <c:v>Stroke</c:v>
                </c:pt>
                <c:pt idx="3">
                  <c:v>Mult.
sclerosis</c:v>
                </c:pt>
                <c:pt idx="4">
                  <c:v>Ataxia/
cerebellar</c:v>
                </c:pt>
                <c:pt idx="5">
                  <c:v>TBI/
concussion</c:v>
                </c:pt>
              </c:strCache>
            </c:strRef>
          </c:cat>
          <c:val>
            <c:numRef>
              <c:f>Sheet1!$B$2:$B$7</c:f>
              <c:numCache>
                <c:formatCode>General</c:formatCode>
                <c:ptCount val="6"/>
                <c:pt idx="0">
                  <c:v>35</c:v>
                </c:pt>
                <c:pt idx="1">
                  <c:v>16</c:v>
                </c:pt>
                <c:pt idx="2">
                  <c:v>4</c:v>
                </c:pt>
                <c:pt idx="3">
                  <c:v>4</c:v>
                </c:pt>
                <c:pt idx="4">
                  <c:v>4</c:v>
                </c:pt>
                <c:pt idx="5">
                  <c:v>5</c:v>
                </c:pt>
              </c:numCache>
            </c:numRef>
          </c:val>
        </c:ser>
        <c:ser>
          <c:idx val="1"/>
          <c:order val="1"/>
          <c:tx>
            <c:strRef>
              <c:f>Sheet1!$C$1</c:f>
              <c:strCache>
                <c:ptCount val="1"/>
                <c:pt idx="0">
                  <c:v>Week 6 (Sep 27)</c:v>
                </c:pt>
              </c:strCache>
            </c:strRef>
          </c:tx>
          <c:spPr>
            <a:solidFill>
              <a:srgbClr val="72243D"/>
            </a:solidFill>
          </c:spPr>
          <c:cat>
            <c:strRef>
              <c:f>Sheet1!$A$2:$A$7</c:f>
              <c:strCache>
                <c:ptCount val="6"/>
                <c:pt idx="0">
                  <c:v>Parkinson</c:v>
                </c:pt>
                <c:pt idx="1">
                  <c:v>ALS/MND</c:v>
                </c:pt>
                <c:pt idx="2">
                  <c:v>Stroke</c:v>
                </c:pt>
                <c:pt idx="3">
                  <c:v>Mult.
sclerosis</c:v>
                </c:pt>
                <c:pt idx="4">
                  <c:v>Ataxia/
cerebellar</c:v>
                </c:pt>
                <c:pt idx="5">
                  <c:v>TBI/
concussion</c:v>
                </c:pt>
              </c:strCache>
            </c:strRef>
          </c:cat>
          <c:val>
            <c:numRef>
              <c:f>Sheet1!$C$2:$C$7</c:f>
              <c:numCache>
                <c:formatCode>General</c:formatCode>
                <c:ptCount val="6"/>
                <c:pt idx="0">
                  <c:v>61</c:v>
                </c:pt>
                <c:pt idx="1">
                  <c:v>32</c:v>
                </c:pt>
                <c:pt idx="2">
                  <c:v>28</c:v>
                </c:pt>
                <c:pt idx="3">
                  <c:v>6</c:v>
                </c:pt>
                <c:pt idx="4">
                  <c:v>14</c:v>
                </c:pt>
                <c:pt idx="5">
                  <c:v>3</c:v>
                </c:pt>
              </c:numCache>
            </c:numRef>
          </c:val>
        </c:ser>
        <c:dLbls>
          <c:numFmt formatCode="0" sourceLinked="0"/>
          <c:txPr>
            <a:bodyPr/>
            <a:lstStyle/>
            <a:p>
              <a:pPr>
                <a:defRPr sz="850" b="1">
                  <a:solidFill>
                    <a:srgbClr val="303030"/>
                  </a:solidFill>
                </a:defRPr>
              </a:pPr>
            </a:p>
          </c:txPr>
          <c:dLblPos val="outEnd"/>
          <c:showLegendKey val="0"/>
          <c:showVal val="1"/>
          <c:showCatName val="0"/>
          <c:showSerName val="0"/>
          <c:showPercent val="0"/>
          <c:showBubbleSize val="0"/>
          <c:showLeaderLines val="1"/>
        </c:dLbls>
        <c:gapWidth val="60"/>
        <c:overlap val="-10"/>
        <c:axId val="-2068027336"/>
        <c:axId val="-2113994440"/>
      </c:barChart>
      <c:catAx>
        <c:axId val="-2068027336"/>
        <c:scaling>
          <c:orientation val="minMax"/>
        </c:scaling>
        <c:delete val="0"/>
        <c:axPos val="b"/>
        <c:majorTickMark val="out"/>
        <c:minorTickMark val="none"/>
        <c:tickLblPos val="nextTo"/>
        <c:spPr>
          <a:ln>
            <a:solidFill>
              <a:srgbClr val="DEDEE0"/>
            </a:solidFill>
          </a:ln>
        </c:spPr>
        <c:txPr>
          <a:bodyPr/>
          <a:lstStyle/>
          <a:p>
            <a:pPr>
              <a:defRPr sz="900">
                <a:solidFill>
                  <a:srgbClr val="303030"/>
                </a:solidFill>
                <a:latin typeface="Arial"/>
              </a:defRPr>
            </a:pPr>
          </a:p>
        </c:txPr>
        <c:crossAx val="-2113994440"/>
        <c:crosses val="autoZero"/>
        <c:auto val="1"/>
        <c:lblAlgn val="ctr"/>
        <c:lblOffset val="100"/>
        <c:noMultiLvlLbl val="0"/>
      </c:catAx>
      <c:valAx>
        <c:axId val="-2113994440"/>
        <c:scaling/>
        <c:delete val="0"/>
        <c:axPos val="l"/>
        <c:majorGridlines>
          <c:spPr>
            <a:ln w="6350">
              <a:solidFill>
                <a:srgbClr val="DEDEE0"/>
              </a:solidFill>
            </a:ln>
          </c:spPr>
        </c:majorGridlines>
        <c:majorTickMark val="out"/>
        <c:minorTickMark val="none"/>
        <c:tickLblPos val="nextTo"/>
        <c:spPr>
          <a:ln>
            <a:solidFill>
              <a:srgbClr val="DEDEE0"/>
            </a:solidFill>
          </a:ln>
        </c:spPr>
        <c:txPr>
          <a:bodyPr/>
          <a:lstStyle/>
          <a:p>
            <a:pPr>
              <a:defRPr sz="900">
                <a:solidFill>
                  <a:srgbClr val="7D7364"/>
                </a:solidFill>
              </a:defRPr>
            </a:pPr>
          </a:p>
        </c:txPr>
        <c:crossAx val="-2068027336"/>
        <c:crosses val="autoZero"/>
      </c:valAx>
    </c:plotArea>
    <c:legend>
      <c:legendPos val="b"/>
      <c:overlay val="0"/>
      <c:txPr>
        <a:bodyPr/>
        <a:lstStyle/>
        <a:p>
          <a:pPr>
            <a:defRPr sz="900">
              <a:solidFill>
                <a:srgbClr val="303030"/>
              </a:solidFill>
              <a:latin typeface="Arial"/>
            </a:defRPr>
          </a:pPr>
        </a:p>
      </c:txPr>
    </c:legend>
    <c:dispBlanksAs val="gap"/>
  </c:chart>
  <c:txPr>
    <a:bodyPr/>
    <a:lstStyle/>
    <a:p>
      <a:pPr>
        <a:defRPr sz="1800"/>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D7F6E61-B534-1E47-FE20-19EC2FEBBD2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VN"/>
          </a:p>
        </p:txBody>
      </p:sp>
      <p:sp>
        <p:nvSpPr>
          <p:cNvPr id="3" name="Date Placeholder 2">
            <a:extLst>
              <a:ext uri="{FF2B5EF4-FFF2-40B4-BE49-F238E27FC236}">
                <a16:creationId xmlns:a16="http://schemas.microsoft.com/office/drawing/2014/main" id="{203B174B-ADC5-78A5-442E-871C4BFED13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4F9E562-C011-ED4A-9FAC-7955ECB5061D}" type="datetimeFigureOut">
              <a:rPr lang="en-VN" smtClean="0"/>
              <a:t>20/9/26</a:t>
            </a:fld>
            <a:endParaRPr lang="en-VN"/>
          </a:p>
        </p:txBody>
      </p:sp>
      <p:sp>
        <p:nvSpPr>
          <p:cNvPr id="4" name="Footer Placeholder 3">
            <a:extLst>
              <a:ext uri="{FF2B5EF4-FFF2-40B4-BE49-F238E27FC236}">
                <a16:creationId xmlns:a16="http://schemas.microsoft.com/office/drawing/2014/main" id="{EEAC3209-1342-4E75-9E70-709500394C7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VN"/>
          </a:p>
        </p:txBody>
      </p:sp>
      <p:sp>
        <p:nvSpPr>
          <p:cNvPr id="5" name="Slide Number Placeholder 4">
            <a:extLst>
              <a:ext uri="{FF2B5EF4-FFF2-40B4-BE49-F238E27FC236}">
                <a16:creationId xmlns:a16="http://schemas.microsoft.com/office/drawing/2014/main" id="{E10C3D73-DF14-C2F9-3F17-47D2DCC90B2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A799A67-8819-CC4C-A3A5-1626612CE741}" type="slidenum">
              <a:rPr lang="en-VN" smtClean="0"/>
              <a:t>‹#›</a:t>
            </a:fld>
            <a:endParaRPr lang="en-VN"/>
          </a:p>
        </p:txBody>
      </p:sp>
    </p:spTree>
    <p:extLst>
      <p:ext uri="{BB962C8B-B14F-4D97-AF65-F5344CB8AC3E}">
        <p14:creationId xmlns:p14="http://schemas.microsoft.com/office/powerpoint/2010/main" val="4001362838"/>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070C50C-F46C-8A4B-8A41-6A6FBB958D92}" type="datetimeFigureOut">
              <a:rPr lang="en-US" smtClean="0"/>
              <a:t>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153D443-CBAC-934A-8506-FB4DF260D863}" type="slidenum">
              <a:rPr lang="en-US" smtClean="0"/>
              <a:t>‹#›</a:t>
            </a:fld>
            <a:endParaRPr lang="en-US"/>
          </a:p>
        </p:txBody>
      </p:sp>
    </p:spTree>
    <p:extLst>
      <p:ext uri="{BB962C8B-B14F-4D97-AF65-F5344CB8AC3E}">
        <p14:creationId xmlns:p14="http://schemas.microsoft.com/office/powerpoint/2010/main" val="756898537"/>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dirty="0"/>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3153D443-CBAC-934A-8506-FB4DF260D863}" type="slidenum">
              <a:rPr lang="en-US" smtClean="0"/>
              <a:t>2</a:t>
            </a:fld>
            <a:endParaRPr lang="en-US"/>
          </a:p>
        </p:txBody>
      </p:sp>
    </p:spTree>
    <p:extLst>
      <p:ext uri="{BB962C8B-B14F-4D97-AF65-F5344CB8AC3E}">
        <p14:creationId xmlns:p14="http://schemas.microsoft.com/office/powerpoint/2010/main" val="32166791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B86FE5-9D99-26A3-BD5E-0F2A6779AE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BCC945-B69F-85A2-0EA2-C54B044372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881AED-4E9E-724F-3F2E-84A0C621FD8D}"/>
              </a:ext>
            </a:extLst>
          </p:cNvPr>
          <p:cNvSpPr>
            <a:spLocks noGrp="1"/>
          </p:cNvSpPr>
          <p:nvPr>
            <p:ph type="body" idx="1"/>
          </p:nvPr>
        </p:nvSpPr>
        <p:spPr/>
        <p:txBody>
          <a:bodyPr/>
          <a:lstStyle/>
          <a:p>
            <a:pPr>
              <a:buNone/>
            </a:pPr>
            <a:endParaRPr lang="en-VN" dirty="0"/>
          </a:p>
        </p:txBody>
      </p:sp>
      <p:sp>
        <p:nvSpPr>
          <p:cNvPr id="4" name="Slide Number Placeholder 3">
            <a:extLst>
              <a:ext uri="{FF2B5EF4-FFF2-40B4-BE49-F238E27FC236}">
                <a16:creationId xmlns:a16="http://schemas.microsoft.com/office/drawing/2014/main" id="{31080EC7-6179-7A1E-B69A-38C7E9D4DB6F}"/>
              </a:ext>
            </a:extLst>
          </p:cNvPr>
          <p:cNvSpPr>
            <a:spLocks noGrp="1"/>
          </p:cNvSpPr>
          <p:nvPr>
            <p:ph type="sldNum" sz="quarter" idx="5"/>
          </p:nvPr>
        </p:nvSpPr>
        <p:spPr/>
        <p:txBody>
          <a:bodyPr/>
          <a:lstStyle/>
          <a:p>
            <a:fld id="{3153D443-CBAC-934A-8506-FB4DF260D863}" type="slidenum">
              <a:rPr lang="en-US" smtClean="0"/>
              <a:t>4</a:t>
            </a:fld>
            <a:endParaRPr lang="en-US"/>
          </a:p>
        </p:txBody>
      </p:sp>
      <p:sp>
        <p:nvSpPr>
          <p:cNvPr id="5" name="Footer Placeholder 4">
            <a:extLst>
              <a:ext uri="{FF2B5EF4-FFF2-40B4-BE49-F238E27FC236}">
                <a16:creationId xmlns:a16="http://schemas.microsoft.com/office/drawing/2014/main" id="{45E853C3-D49D-C583-2C7D-FE4639021E91}"/>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18529014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B2A860-ADF8-47D8-C64B-9E26F52BD7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23F27E-BC51-2164-AFB5-FDB33F168C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059C8B-EA95-3CE4-A7FF-5B8C9A58F1D7}"/>
              </a:ext>
            </a:extLst>
          </p:cNvPr>
          <p:cNvSpPr>
            <a:spLocks noGrp="1"/>
          </p:cNvSpPr>
          <p:nvPr>
            <p:ph type="body" idx="1"/>
          </p:nvPr>
        </p:nvSpPr>
        <p:spPr/>
        <p:txBody>
          <a:bodyPr/>
          <a:lstStyle/>
          <a:p>
            <a:pPr>
              <a:buNone/>
            </a:pPr>
            <a:endParaRPr lang="en-VN" dirty="0"/>
          </a:p>
        </p:txBody>
      </p:sp>
      <p:sp>
        <p:nvSpPr>
          <p:cNvPr id="4" name="Slide Number Placeholder 3">
            <a:extLst>
              <a:ext uri="{FF2B5EF4-FFF2-40B4-BE49-F238E27FC236}">
                <a16:creationId xmlns:a16="http://schemas.microsoft.com/office/drawing/2014/main" id="{3068854F-B33B-2F81-7C99-48CA80308FDC}"/>
              </a:ext>
            </a:extLst>
          </p:cNvPr>
          <p:cNvSpPr>
            <a:spLocks noGrp="1"/>
          </p:cNvSpPr>
          <p:nvPr>
            <p:ph type="sldNum" sz="quarter" idx="5"/>
          </p:nvPr>
        </p:nvSpPr>
        <p:spPr/>
        <p:txBody>
          <a:bodyPr/>
          <a:lstStyle/>
          <a:p>
            <a:fld id="{3153D443-CBAC-934A-8506-FB4DF260D863}" type="slidenum">
              <a:rPr lang="en-US" smtClean="0"/>
              <a:t>5</a:t>
            </a:fld>
            <a:endParaRPr lang="en-US"/>
          </a:p>
        </p:txBody>
      </p:sp>
      <p:sp>
        <p:nvSpPr>
          <p:cNvPr id="5" name="Footer Placeholder 4">
            <a:extLst>
              <a:ext uri="{FF2B5EF4-FFF2-40B4-BE49-F238E27FC236}">
                <a16:creationId xmlns:a16="http://schemas.microsoft.com/office/drawing/2014/main" id="{0060BE4A-86D7-88AE-35F3-C1BE6E3DCA17}"/>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31049868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187E82-C69F-F4B4-DA36-9CAA7FAFAE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0C38A6-0EDB-6F3D-B672-E6626B4AA4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758A7B-E065-6DD4-CBD3-24DA1D1A76A2}"/>
              </a:ext>
            </a:extLst>
          </p:cNvPr>
          <p:cNvSpPr>
            <a:spLocks noGrp="1"/>
          </p:cNvSpPr>
          <p:nvPr>
            <p:ph type="body" idx="1"/>
          </p:nvPr>
        </p:nvSpPr>
        <p:spPr/>
        <p:txBody>
          <a:bodyPr/>
          <a:lstStyle/>
          <a:p>
            <a:pPr>
              <a:buNone/>
            </a:pPr>
            <a:endParaRPr lang="en-VN" dirty="0"/>
          </a:p>
        </p:txBody>
      </p:sp>
      <p:sp>
        <p:nvSpPr>
          <p:cNvPr id="4" name="Slide Number Placeholder 3">
            <a:extLst>
              <a:ext uri="{FF2B5EF4-FFF2-40B4-BE49-F238E27FC236}">
                <a16:creationId xmlns:a16="http://schemas.microsoft.com/office/drawing/2014/main" id="{EA7C8503-37C2-51CA-3EDA-AC287A335641}"/>
              </a:ext>
            </a:extLst>
          </p:cNvPr>
          <p:cNvSpPr>
            <a:spLocks noGrp="1"/>
          </p:cNvSpPr>
          <p:nvPr>
            <p:ph type="sldNum" sz="quarter" idx="5"/>
          </p:nvPr>
        </p:nvSpPr>
        <p:spPr/>
        <p:txBody>
          <a:bodyPr/>
          <a:lstStyle/>
          <a:p>
            <a:fld id="{3153D443-CBAC-934A-8506-FB4DF260D863}" type="slidenum">
              <a:rPr lang="en-US" smtClean="0"/>
              <a:t>6</a:t>
            </a:fld>
            <a:endParaRPr lang="en-US"/>
          </a:p>
        </p:txBody>
      </p:sp>
      <p:sp>
        <p:nvSpPr>
          <p:cNvPr id="5" name="Footer Placeholder 4">
            <a:extLst>
              <a:ext uri="{FF2B5EF4-FFF2-40B4-BE49-F238E27FC236}">
                <a16:creationId xmlns:a16="http://schemas.microsoft.com/office/drawing/2014/main" id="{89834F61-F413-7D14-FF3B-862F353FF1B4}"/>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32035375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9D7641-CD57-B071-7E30-E09E60F7DD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DC1844-027A-78FF-3091-7E6C3CCC4D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03B2CE-D9B2-AEE9-1594-ED7438AB5404}"/>
              </a:ext>
            </a:extLst>
          </p:cNvPr>
          <p:cNvSpPr>
            <a:spLocks noGrp="1"/>
          </p:cNvSpPr>
          <p:nvPr>
            <p:ph type="body" idx="1"/>
          </p:nvPr>
        </p:nvSpPr>
        <p:spPr/>
        <p:txBody>
          <a:bodyPr/>
          <a:lstStyle/>
          <a:p>
            <a:pPr>
              <a:buNone/>
            </a:pPr>
            <a:endParaRPr lang="en-VN" dirty="0"/>
          </a:p>
        </p:txBody>
      </p:sp>
      <p:sp>
        <p:nvSpPr>
          <p:cNvPr id="4" name="Slide Number Placeholder 3">
            <a:extLst>
              <a:ext uri="{FF2B5EF4-FFF2-40B4-BE49-F238E27FC236}">
                <a16:creationId xmlns:a16="http://schemas.microsoft.com/office/drawing/2014/main" id="{6394B388-A981-6B03-89F3-2F94106C3A71}"/>
              </a:ext>
            </a:extLst>
          </p:cNvPr>
          <p:cNvSpPr>
            <a:spLocks noGrp="1"/>
          </p:cNvSpPr>
          <p:nvPr>
            <p:ph type="sldNum" sz="quarter" idx="5"/>
          </p:nvPr>
        </p:nvSpPr>
        <p:spPr/>
        <p:txBody>
          <a:bodyPr/>
          <a:lstStyle/>
          <a:p>
            <a:fld id="{3153D443-CBAC-934A-8506-FB4DF260D863}" type="slidenum">
              <a:rPr lang="en-US" smtClean="0"/>
              <a:t>7</a:t>
            </a:fld>
            <a:endParaRPr lang="en-US"/>
          </a:p>
        </p:txBody>
      </p:sp>
      <p:sp>
        <p:nvSpPr>
          <p:cNvPr id="5" name="Footer Placeholder 4">
            <a:extLst>
              <a:ext uri="{FF2B5EF4-FFF2-40B4-BE49-F238E27FC236}">
                <a16:creationId xmlns:a16="http://schemas.microsoft.com/office/drawing/2014/main" id="{9143E25B-2EE6-F888-E640-8C46BB5A4604}"/>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7162433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89FAB3-4FD1-D9EF-9A03-DFC2E76DB2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9991A2-A694-9A72-1F28-B70F2F540B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1AB588-A1C2-4E12-0D4C-1A1DC36754D8}"/>
              </a:ext>
            </a:extLst>
          </p:cNvPr>
          <p:cNvSpPr>
            <a:spLocks noGrp="1"/>
          </p:cNvSpPr>
          <p:nvPr>
            <p:ph type="body" idx="1"/>
          </p:nvPr>
        </p:nvSpPr>
        <p:spPr/>
        <p:txBody>
          <a:bodyPr/>
          <a:lstStyle/>
          <a:p>
            <a:pPr>
              <a:buNone/>
            </a:pPr>
            <a:endParaRPr lang="en-VN" dirty="0"/>
          </a:p>
        </p:txBody>
      </p:sp>
      <p:sp>
        <p:nvSpPr>
          <p:cNvPr id="4" name="Slide Number Placeholder 3">
            <a:extLst>
              <a:ext uri="{FF2B5EF4-FFF2-40B4-BE49-F238E27FC236}">
                <a16:creationId xmlns:a16="http://schemas.microsoft.com/office/drawing/2014/main" id="{6E652C7E-0D6C-5C15-22F1-5785C2E5CE2C}"/>
              </a:ext>
            </a:extLst>
          </p:cNvPr>
          <p:cNvSpPr>
            <a:spLocks noGrp="1"/>
          </p:cNvSpPr>
          <p:nvPr>
            <p:ph type="sldNum" sz="quarter" idx="5"/>
          </p:nvPr>
        </p:nvSpPr>
        <p:spPr/>
        <p:txBody>
          <a:bodyPr/>
          <a:lstStyle/>
          <a:p>
            <a:fld id="{3153D443-CBAC-934A-8506-FB4DF260D863}" type="slidenum">
              <a:rPr lang="en-US" smtClean="0"/>
              <a:t>8</a:t>
            </a:fld>
            <a:endParaRPr lang="en-US"/>
          </a:p>
        </p:txBody>
      </p:sp>
      <p:sp>
        <p:nvSpPr>
          <p:cNvPr id="5" name="Footer Placeholder 4">
            <a:extLst>
              <a:ext uri="{FF2B5EF4-FFF2-40B4-BE49-F238E27FC236}">
                <a16:creationId xmlns:a16="http://schemas.microsoft.com/office/drawing/2014/main" id="{54740EA6-B05E-F11A-5766-345EC37CBCF7}"/>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8126146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3FA6BA-2906-0AFF-0C12-51BBC4311E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B72CB7-D577-C941-39C5-8B0B53E045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13FB3F-7B76-CDC9-B1AE-3BFC513F48C1}"/>
              </a:ext>
            </a:extLst>
          </p:cNvPr>
          <p:cNvSpPr>
            <a:spLocks noGrp="1"/>
          </p:cNvSpPr>
          <p:nvPr>
            <p:ph type="body" idx="1"/>
          </p:nvPr>
        </p:nvSpPr>
        <p:spPr/>
        <p:txBody>
          <a:bodyPr/>
          <a:lstStyle/>
          <a:p>
            <a:pPr>
              <a:buNone/>
            </a:pPr>
            <a:endParaRPr lang="en-VN" dirty="0"/>
          </a:p>
        </p:txBody>
      </p:sp>
      <p:sp>
        <p:nvSpPr>
          <p:cNvPr id="4" name="Slide Number Placeholder 3">
            <a:extLst>
              <a:ext uri="{FF2B5EF4-FFF2-40B4-BE49-F238E27FC236}">
                <a16:creationId xmlns:a16="http://schemas.microsoft.com/office/drawing/2014/main" id="{12CBC1B1-1DFA-6BF2-320C-8BBD37DD5272}"/>
              </a:ext>
            </a:extLst>
          </p:cNvPr>
          <p:cNvSpPr>
            <a:spLocks noGrp="1"/>
          </p:cNvSpPr>
          <p:nvPr>
            <p:ph type="sldNum" sz="quarter" idx="5"/>
          </p:nvPr>
        </p:nvSpPr>
        <p:spPr/>
        <p:txBody>
          <a:bodyPr/>
          <a:lstStyle/>
          <a:p>
            <a:fld id="{3153D443-CBAC-934A-8506-FB4DF260D863}" type="slidenum">
              <a:rPr lang="en-US" smtClean="0"/>
              <a:t>9</a:t>
            </a:fld>
            <a:endParaRPr lang="en-US"/>
          </a:p>
        </p:txBody>
      </p:sp>
      <p:sp>
        <p:nvSpPr>
          <p:cNvPr id="5" name="Footer Placeholder 4">
            <a:extLst>
              <a:ext uri="{FF2B5EF4-FFF2-40B4-BE49-F238E27FC236}">
                <a16:creationId xmlns:a16="http://schemas.microsoft.com/office/drawing/2014/main" id="{F89A6D2A-F345-1404-C60C-58667A927348}"/>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39483635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E99486-93AB-4294-BF1B-83C2C4C86A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571ECB-4301-2CC2-EBC9-061969CF18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89D871-FA01-D2DD-A556-A4899A9B1F31}"/>
              </a:ext>
            </a:extLst>
          </p:cNvPr>
          <p:cNvSpPr>
            <a:spLocks noGrp="1"/>
          </p:cNvSpPr>
          <p:nvPr>
            <p:ph type="body" idx="1"/>
          </p:nvPr>
        </p:nvSpPr>
        <p:spPr/>
        <p:txBody>
          <a:bodyPr/>
          <a:lstStyle/>
          <a:p>
            <a:pPr>
              <a:buNone/>
            </a:pPr>
            <a:endParaRPr lang="en-VN" dirty="0"/>
          </a:p>
        </p:txBody>
      </p:sp>
      <p:sp>
        <p:nvSpPr>
          <p:cNvPr id="4" name="Slide Number Placeholder 3">
            <a:extLst>
              <a:ext uri="{FF2B5EF4-FFF2-40B4-BE49-F238E27FC236}">
                <a16:creationId xmlns:a16="http://schemas.microsoft.com/office/drawing/2014/main" id="{CD730560-EE79-8270-6D11-3C7D9E1C6786}"/>
              </a:ext>
            </a:extLst>
          </p:cNvPr>
          <p:cNvSpPr>
            <a:spLocks noGrp="1"/>
          </p:cNvSpPr>
          <p:nvPr>
            <p:ph type="sldNum" sz="quarter" idx="5"/>
          </p:nvPr>
        </p:nvSpPr>
        <p:spPr/>
        <p:txBody>
          <a:bodyPr/>
          <a:lstStyle/>
          <a:p>
            <a:fld id="{3153D443-CBAC-934A-8506-FB4DF260D863}" type="slidenum">
              <a:rPr lang="en-US" smtClean="0"/>
              <a:t>10</a:t>
            </a:fld>
            <a:endParaRPr lang="en-US"/>
          </a:p>
        </p:txBody>
      </p:sp>
      <p:sp>
        <p:nvSpPr>
          <p:cNvPr id="5" name="Footer Placeholder 4">
            <a:extLst>
              <a:ext uri="{FF2B5EF4-FFF2-40B4-BE49-F238E27FC236}">
                <a16:creationId xmlns:a16="http://schemas.microsoft.com/office/drawing/2014/main" id="{E0C5C14A-5DE8-527F-FA87-82B49D5BFE87}"/>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14561095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145B36-12C7-7AA2-3B01-AC01CCCE2C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ED5B07-4F6C-FD66-10FE-C93A8AC28A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42D898-CF92-0460-A72D-643A687256CD}"/>
              </a:ext>
            </a:extLst>
          </p:cNvPr>
          <p:cNvSpPr>
            <a:spLocks noGrp="1"/>
          </p:cNvSpPr>
          <p:nvPr>
            <p:ph type="body" idx="1"/>
          </p:nvPr>
        </p:nvSpPr>
        <p:spPr/>
        <p:txBody>
          <a:bodyPr/>
          <a:lstStyle/>
          <a:p>
            <a:pPr>
              <a:buNone/>
            </a:pPr>
            <a:endParaRPr lang="en-VN" dirty="0"/>
          </a:p>
        </p:txBody>
      </p:sp>
      <p:sp>
        <p:nvSpPr>
          <p:cNvPr id="4" name="Slide Number Placeholder 3">
            <a:extLst>
              <a:ext uri="{FF2B5EF4-FFF2-40B4-BE49-F238E27FC236}">
                <a16:creationId xmlns:a16="http://schemas.microsoft.com/office/drawing/2014/main" id="{4C877242-D125-A571-69F5-3BA804565FF4}"/>
              </a:ext>
            </a:extLst>
          </p:cNvPr>
          <p:cNvSpPr>
            <a:spLocks noGrp="1"/>
          </p:cNvSpPr>
          <p:nvPr>
            <p:ph type="sldNum" sz="quarter" idx="5"/>
          </p:nvPr>
        </p:nvSpPr>
        <p:spPr/>
        <p:txBody>
          <a:bodyPr/>
          <a:lstStyle/>
          <a:p>
            <a:fld id="{3153D443-CBAC-934A-8506-FB4DF260D863}" type="slidenum">
              <a:rPr lang="en-US" smtClean="0"/>
              <a:t>11</a:t>
            </a:fld>
            <a:endParaRPr lang="en-US"/>
          </a:p>
        </p:txBody>
      </p:sp>
      <p:sp>
        <p:nvSpPr>
          <p:cNvPr id="5" name="Footer Placeholder 4">
            <a:extLst>
              <a:ext uri="{FF2B5EF4-FFF2-40B4-BE49-F238E27FC236}">
                <a16:creationId xmlns:a16="http://schemas.microsoft.com/office/drawing/2014/main" id="{6E02D66E-7E6A-439A-CB3A-7C44A0D14C26}"/>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42775409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F0F642-2FEE-AE33-870F-6542A9886F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EA3DB1-8D61-05A0-89EA-1BBC4F08A9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C4F693-6CB3-0336-82CA-07D3BC87E38D}"/>
              </a:ext>
            </a:extLst>
          </p:cNvPr>
          <p:cNvSpPr>
            <a:spLocks noGrp="1"/>
          </p:cNvSpPr>
          <p:nvPr>
            <p:ph type="body" idx="1"/>
          </p:nvPr>
        </p:nvSpPr>
        <p:spPr/>
        <p:txBody>
          <a:bodyPr/>
          <a:lstStyle/>
          <a:p>
            <a:pPr>
              <a:buNone/>
            </a:pPr>
            <a:endParaRPr lang="en-VN" dirty="0"/>
          </a:p>
        </p:txBody>
      </p:sp>
      <p:sp>
        <p:nvSpPr>
          <p:cNvPr id="4" name="Slide Number Placeholder 3">
            <a:extLst>
              <a:ext uri="{FF2B5EF4-FFF2-40B4-BE49-F238E27FC236}">
                <a16:creationId xmlns:a16="http://schemas.microsoft.com/office/drawing/2014/main" id="{35F9AADA-B43F-6A4E-579C-AD9E9AB97D9B}"/>
              </a:ext>
            </a:extLst>
          </p:cNvPr>
          <p:cNvSpPr>
            <a:spLocks noGrp="1"/>
          </p:cNvSpPr>
          <p:nvPr>
            <p:ph type="sldNum" sz="quarter" idx="5"/>
          </p:nvPr>
        </p:nvSpPr>
        <p:spPr/>
        <p:txBody>
          <a:bodyPr/>
          <a:lstStyle/>
          <a:p>
            <a:fld id="{3153D443-CBAC-934A-8506-FB4DF260D863}" type="slidenum">
              <a:rPr lang="en-US" smtClean="0"/>
              <a:t>12</a:t>
            </a:fld>
            <a:endParaRPr lang="en-US"/>
          </a:p>
        </p:txBody>
      </p:sp>
      <p:sp>
        <p:nvSpPr>
          <p:cNvPr id="5" name="Footer Placeholder 4">
            <a:extLst>
              <a:ext uri="{FF2B5EF4-FFF2-40B4-BE49-F238E27FC236}">
                <a16:creationId xmlns:a16="http://schemas.microsoft.com/office/drawing/2014/main" id="{D0F40FD7-7443-752D-3E0C-3FAB0C0E951F}"/>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5473525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C59D61-CCF7-11E5-E5AA-870E92A3BE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586FEF-5999-3ED7-2916-29ED54FA66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834F23-77EA-E353-E01D-E9225BF568BF}"/>
              </a:ext>
            </a:extLst>
          </p:cNvPr>
          <p:cNvSpPr>
            <a:spLocks noGrp="1"/>
          </p:cNvSpPr>
          <p:nvPr>
            <p:ph type="body" idx="1"/>
          </p:nvPr>
        </p:nvSpPr>
        <p:spPr/>
        <p:txBody>
          <a:bodyPr/>
          <a:lstStyle/>
          <a:p>
            <a:pPr>
              <a:buNone/>
            </a:pPr>
            <a:endParaRPr lang="en-VN" dirty="0"/>
          </a:p>
        </p:txBody>
      </p:sp>
      <p:sp>
        <p:nvSpPr>
          <p:cNvPr id="4" name="Slide Number Placeholder 3">
            <a:extLst>
              <a:ext uri="{FF2B5EF4-FFF2-40B4-BE49-F238E27FC236}">
                <a16:creationId xmlns:a16="http://schemas.microsoft.com/office/drawing/2014/main" id="{2B0A577B-BDAB-87D8-25DD-3B421A286C94}"/>
              </a:ext>
            </a:extLst>
          </p:cNvPr>
          <p:cNvSpPr>
            <a:spLocks noGrp="1"/>
          </p:cNvSpPr>
          <p:nvPr>
            <p:ph type="sldNum" sz="quarter" idx="5"/>
          </p:nvPr>
        </p:nvSpPr>
        <p:spPr/>
        <p:txBody>
          <a:bodyPr/>
          <a:lstStyle/>
          <a:p>
            <a:fld id="{3153D443-CBAC-934A-8506-FB4DF260D863}" type="slidenum">
              <a:rPr lang="en-US" smtClean="0"/>
              <a:t>13</a:t>
            </a:fld>
            <a:endParaRPr lang="en-US"/>
          </a:p>
        </p:txBody>
      </p:sp>
      <p:sp>
        <p:nvSpPr>
          <p:cNvPr id="5" name="Footer Placeholder 4">
            <a:extLst>
              <a:ext uri="{FF2B5EF4-FFF2-40B4-BE49-F238E27FC236}">
                <a16:creationId xmlns:a16="http://schemas.microsoft.com/office/drawing/2014/main" id="{2096FB5F-A70F-434D-DB21-0C10829E8D70}"/>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15682060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9273CE-A02F-41C9-8A79-CCE5009C8A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99CD66-5A48-E321-01CB-92AA628A44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63FC66-1D6D-F460-851C-1688B2BC46CC}"/>
              </a:ext>
            </a:extLst>
          </p:cNvPr>
          <p:cNvSpPr>
            <a:spLocks noGrp="1"/>
          </p:cNvSpPr>
          <p:nvPr>
            <p:ph type="body" idx="1"/>
          </p:nvPr>
        </p:nvSpPr>
        <p:spPr/>
        <p:txBody>
          <a:bodyPr/>
          <a:lstStyle/>
          <a:p>
            <a:pPr>
              <a:buNone/>
            </a:pPr>
            <a:endParaRPr lang="en-VN" dirty="0"/>
          </a:p>
        </p:txBody>
      </p:sp>
      <p:sp>
        <p:nvSpPr>
          <p:cNvPr id="4" name="Slide Number Placeholder 3">
            <a:extLst>
              <a:ext uri="{FF2B5EF4-FFF2-40B4-BE49-F238E27FC236}">
                <a16:creationId xmlns:a16="http://schemas.microsoft.com/office/drawing/2014/main" id="{7A4DC14F-0CC2-C32C-1998-E7154D97E106}"/>
              </a:ext>
            </a:extLst>
          </p:cNvPr>
          <p:cNvSpPr>
            <a:spLocks noGrp="1"/>
          </p:cNvSpPr>
          <p:nvPr>
            <p:ph type="sldNum" sz="quarter" idx="5"/>
          </p:nvPr>
        </p:nvSpPr>
        <p:spPr/>
        <p:txBody>
          <a:bodyPr/>
          <a:lstStyle/>
          <a:p>
            <a:fld id="{3153D443-CBAC-934A-8506-FB4DF260D863}" type="slidenum">
              <a:rPr lang="en-US" smtClean="0"/>
              <a:t>14</a:t>
            </a:fld>
            <a:endParaRPr lang="en-US"/>
          </a:p>
        </p:txBody>
      </p:sp>
      <p:sp>
        <p:nvSpPr>
          <p:cNvPr id="5" name="Footer Placeholder 4">
            <a:extLst>
              <a:ext uri="{FF2B5EF4-FFF2-40B4-BE49-F238E27FC236}">
                <a16:creationId xmlns:a16="http://schemas.microsoft.com/office/drawing/2014/main" id="{C6B29E57-ECCE-9BB7-4205-B6193BB48A84}"/>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18985483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471E8-ABED-E95C-3C6F-31CF2A2A72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19CD3D-B592-E1D3-566E-11360062C7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E47A51-FB3F-6F05-2C73-48542B8CFD47}"/>
              </a:ext>
            </a:extLst>
          </p:cNvPr>
          <p:cNvSpPr>
            <a:spLocks noGrp="1"/>
          </p:cNvSpPr>
          <p:nvPr>
            <p:ph type="body" idx="1"/>
          </p:nvPr>
        </p:nvSpPr>
        <p:spPr/>
        <p:txBody>
          <a:bodyPr/>
          <a:lstStyle/>
          <a:p>
            <a:pPr>
              <a:buNone/>
            </a:pPr>
            <a:endParaRPr lang="en-VN" dirty="0"/>
          </a:p>
        </p:txBody>
      </p:sp>
      <p:sp>
        <p:nvSpPr>
          <p:cNvPr id="4" name="Slide Number Placeholder 3">
            <a:extLst>
              <a:ext uri="{FF2B5EF4-FFF2-40B4-BE49-F238E27FC236}">
                <a16:creationId xmlns:a16="http://schemas.microsoft.com/office/drawing/2014/main" id="{042BF3A5-D647-490A-BC4C-B1F31C191F7E}"/>
              </a:ext>
            </a:extLst>
          </p:cNvPr>
          <p:cNvSpPr>
            <a:spLocks noGrp="1"/>
          </p:cNvSpPr>
          <p:nvPr>
            <p:ph type="sldNum" sz="quarter" idx="5"/>
          </p:nvPr>
        </p:nvSpPr>
        <p:spPr/>
        <p:txBody>
          <a:bodyPr/>
          <a:lstStyle/>
          <a:p>
            <a:fld id="{3153D443-CBAC-934A-8506-FB4DF260D863}" type="slidenum">
              <a:rPr lang="en-US" smtClean="0"/>
              <a:t>15</a:t>
            </a:fld>
            <a:endParaRPr lang="en-US"/>
          </a:p>
        </p:txBody>
      </p:sp>
      <p:sp>
        <p:nvSpPr>
          <p:cNvPr id="5" name="Footer Placeholder 4">
            <a:extLst>
              <a:ext uri="{FF2B5EF4-FFF2-40B4-BE49-F238E27FC236}">
                <a16:creationId xmlns:a16="http://schemas.microsoft.com/office/drawing/2014/main" id="{B4CD71F3-E8FE-BFB2-871E-717F5AEC45C9}"/>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33233255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435A2B-2B91-F009-6788-EEE2BAC44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CAA980-18D7-9A9C-9E96-305215B2B5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7C8D70-5F33-CA86-462D-2FF6EC03AFA0}"/>
              </a:ext>
            </a:extLst>
          </p:cNvPr>
          <p:cNvSpPr>
            <a:spLocks noGrp="1"/>
          </p:cNvSpPr>
          <p:nvPr>
            <p:ph type="body" idx="1"/>
          </p:nvPr>
        </p:nvSpPr>
        <p:spPr/>
        <p:txBody>
          <a:bodyPr/>
          <a:lstStyle/>
          <a:p>
            <a:pPr>
              <a:buNone/>
            </a:pPr>
            <a:endParaRPr lang="en-VN" dirty="0"/>
          </a:p>
        </p:txBody>
      </p:sp>
      <p:sp>
        <p:nvSpPr>
          <p:cNvPr id="4" name="Slide Number Placeholder 3">
            <a:extLst>
              <a:ext uri="{FF2B5EF4-FFF2-40B4-BE49-F238E27FC236}">
                <a16:creationId xmlns:a16="http://schemas.microsoft.com/office/drawing/2014/main" id="{2A376F44-B1BF-99A1-B68E-340341483BF3}"/>
              </a:ext>
            </a:extLst>
          </p:cNvPr>
          <p:cNvSpPr>
            <a:spLocks noGrp="1"/>
          </p:cNvSpPr>
          <p:nvPr>
            <p:ph type="sldNum" sz="quarter" idx="5"/>
          </p:nvPr>
        </p:nvSpPr>
        <p:spPr/>
        <p:txBody>
          <a:bodyPr/>
          <a:lstStyle/>
          <a:p>
            <a:fld id="{3153D443-CBAC-934A-8506-FB4DF260D863}" type="slidenum">
              <a:rPr lang="en-US" smtClean="0"/>
              <a:t>16</a:t>
            </a:fld>
            <a:endParaRPr lang="en-US"/>
          </a:p>
        </p:txBody>
      </p:sp>
      <p:sp>
        <p:nvSpPr>
          <p:cNvPr id="5" name="Footer Placeholder 4">
            <a:extLst>
              <a:ext uri="{FF2B5EF4-FFF2-40B4-BE49-F238E27FC236}">
                <a16:creationId xmlns:a16="http://schemas.microsoft.com/office/drawing/2014/main" id="{6BC3B0AF-3C53-BD54-F771-ED1B7C4F11BB}"/>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21062046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A1AF0D-5913-8C47-764C-EC6B580281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E5301C-3F15-A133-1E2F-50A0C85E06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B67AE7-9DDD-C3D2-4D71-D8B609946093}"/>
              </a:ext>
            </a:extLst>
          </p:cNvPr>
          <p:cNvSpPr>
            <a:spLocks noGrp="1"/>
          </p:cNvSpPr>
          <p:nvPr>
            <p:ph type="body" idx="1"/>
          </p:nvPr>
        </p:nvSpPr>
        <p:spPr/>
        <p:txBody>
          <a:bodyPr/>
          <a:lstStyle/>
          <a:p>
            <a:pPr>
              <a:buNone/>
            </a:pPr>
            <a:endParaRPr lang="en-VN" dirty="0"/>
          </a:p>
        </p:txBody>
      </p:sp>
      <p:sp>
        <p:nvSpPr>
          <p:cNvPr id="4" name="Slide Number Placeholder 3">
            <a:extLst>
              <a:ext uri="{FF2B5EF4-FFF2-40B4-BE49-F238E27FC236}">
                <a16:creationId xmlns:a16="http://schemas.microsoft.com/office/drawing/2014/main" id="{CB803A04-B24F-A8A4-26E8-5DD4C29E9A64}"/>
              </a:ext>
            </a:extLst>
          </p:cNvPr>
          <p:cNvSpPr>
            <a:spLocks noGrp="1"/>
          </p:cNvSpPr>
          <p:nvPr>
            <p:ph type="sldNum" sz="quarter" idx="5"/>
          </p:nvPr>
        </p:nvSpPr>
        <p:spPr/>
        <p:txBody>
          <a:bodyPr/>
          <a:lstStyle/>
          <a:p>
            <a:fld id="{3153D443-CBAC-934A-8506-FB4DF260D863}" type="slidenum">
              <a:rPr lang="en-US" smtClean="0"/>
              <a:t>17</a:t>
            </a:fld>
            <a:endParaRPr lang="en-US"/>
          </a:p>
        </p:txBody>
      </p:sp>
      <p:sp>
        <p:nvSpPr>
          <p:cNvPr id="5" name="Footer Placeholder 4">
            <a:extLst>
              <a:ext uri="{FF2B5EF4-FFF2-40B4-BE49-F238E27FC236}">
                <a16:creationId xmlns:a16="http://schemas.microsoft.com/office/drawing/2014/main" id="{D25E495D-1DB1-7B98-13E9-3F9CD38C91CF}"/>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35408746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E6A9BA-1CE4-83E8-92C5-D2CCA9D5CB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5DF99E-D8D0-A866-F51B-7FCAD2FF8F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C5B559-3200-BBE1-E969-358AB13F7BCA}"/>
              </a:ext>
            </a:extLst>
          </p:cNvPr>
          <p:cNvSpPr>
            <a:spLocks noGrp="1"/>
          </p:cNvSpPr>
          <p:nvPr>
            <p:ph type="body" idx="1"/>
          </p:nvPr>
        </p:nvSpPr>
        <p:spPr/>
        <p:txBody>
          <a:bodyPr/>
          <a:lstStyle/>
          <a:p>
            <a:pPr>
              <a:buNone/>
            </a:pPr>
            <a:endParaRPr lang="en-VN" dirty="0"/>
          </a:p>
        </p:txBody>
      </p:sp>
      <p:sp>
        <p:nvSpPr>
          <p:cNvPr id="4" name="Slide Number Placeholder 3">
            <a:extLst>
              <a:ext uri="{FF2B5EF4-FFF2-40B4-BE49-F238E27FC236}">
                <a16:creationId xmlns:a16="http://schemas.microsoft.com/office/drawing/2014/main" id="{E8ED0511-7969-5BD0-FF46-C45F22AFB4AE}"/>
              </a:ext>
            </a:extLst>
          </p:cNvPr>
          <p:cNvSpPr>
            <a:spLocks noGrp="1"/>
          </p:cNvSpPr>
          <p:nvPr>
            <p:ph type="sldNum" sz="quarter" idx="5"/>
          </p:nvPr>
        </p:nvSpPr>
        <p:spPr/>
        <p:txBody>
          <a:bodyPr/>
          <a:lstStyle/>
          <a:p>
            <a:fld id="{3153D443-CBAC-934A-8506-FB4DF260D863}" type="slidenum">
              <a:rPr lang="en-US" smtClean="0"/>
              <a:t>18</a:t>
            </a:fld>
            <a:endParaRPr lang="en-US"/>
          </a:p>
        </p:txBody>
      </p:sp>
      <p:sp>
        <p:nvSpPr>
          <p:cNvPr id="5" name="Footer Placeholder 4">
            <a:extLst>
              <a:ext uri="{FF2B5EF4-FFF2-40B4-BE49-F238E27FC236}">
                <a16:creationId xmlns:a16="http://schemas.microsoft.com/office/drawing/2014/main" id="{E7C5D727-220E-1120-62A3-226E6F677BB7}"/>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18024642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e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em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emf"/></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emf"/></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1">
    <p:spTree>
      <p:nvGrpSpPr>
        <p:cNvPr id="1" name=""/>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9879AAEF-E912-6B61-3D33-267C007D376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084" y="80030"/>
            <a:ext cx="9144000" cy="5143500"/>
          </a:xfrm>
          <a:prstGeom prst="rect">
            <a:avLst/>
          </a:prstGeom>
        </p:spPr>
      </p:pic>
      <p:sp>
        <p:nvSpPr>
          <p:cNvPr id="13" name="Title 18">
            <a:extLst>
              <a:ext uri="{FF2B5EF4-FFF2-40B4-BE49-F238E27FC236}">
                <a16:creationId xmlns:a16="http://schemas.microsoft.com/office/drawing/2014/main" id="{DC0A9285-546C-824E-BB82-80DD4A7E5723}"/>
              </a:ext>
            </a:extLst>
          </p:cNvPr>
          <p:cNvSpPr>
            <a:spLocks noGrp="1"/>
          </p:cNvSpPr>
          <p:nvPr>
            <p:ph type="title" hasCustomPrompt="1"/>
          </p:nvPr>
        </p:nvSpPr>
        <p:spPr>
          <a:xfrm>
            <a:off x="4419600" y="2038350"/>
            <a:ext cx="4495800" cy="829533"/>
          </a:xfrm>
          <a:noFill/>
        </p:spPr>
        <p:txBody>
          <a:bodyPr lIns="182880" tIns="182880" rIns="182880" anchor="ctr">
            <a:noAutofit/>
          </a:bodyPr>
          <a:lstStyle>
            <a:lvl1pPr algn="l">
              <a:lnSpc>
                <a:spcPct val="75000"/>
              </a:lnSpc>
              <a:defRPr sz="2800" b="1" i="1" spc="0" baseline="0">
                <a:solidFill>
                  <a:schemeClr val="bg1"/>
                </a:solidFill>
                <a:latin typeface="Arial" panose="020B0604020202020204" pitchFamily="34" charset="0"/>
                <a:cs typeface="Arial" panose="020B0604020202020204" pitchFamily="34" charset="0"/>
              </a:defRPr>
            </a:lvl1pPr>
          </a:lstStyle>
          <a:p>
            <a:r>
              <a:rPr lang="en-US" dirty="0"/>
              <a:t>CLICK TO </a:t>
            </a:r>
            <a:br>
              <a:rPr lang="en-US" dirty="0"/>
            </a:br>
            <a:r>
              <a:rPr lang="en-US" dirty="0"/>
              <a:t>ADD TITLE</a:t>
            </a:r>
          </a:p>
        </p:txBody>
      </p:sp>
      <p:sp>
        <p:nvSpPr>
          <p:cNvPr id="3" name="Text Placeholder 2">
            <a:extLst>
              <a:ext uri="{FF2B5EF4-FFF2-40B4-BE49-F238E27FC236}">
                <a16:creationId xmlns:a16="http://schemas.microsoft.com/office/drawing/2014/main" id="{47470F22-3D51-8D47-9BDC-3F4D49D359C4}"/>
              </a:ext>
            </a:extLst>
          </p:cNvPr>
          <p:cNvSpPr>
            <a:spLocks noGrp="1"/>
          </p:cNvSpPr>
          <p:nvPr>
            <p:ph type="body" sz="quarter" idx="13" hasCustomPrompt="1"/>
          </p:nvPr>
        </p:nvSpPr>
        <p:spPr>
          <a:xfrm>
            <a:off x="4435642" y="3316416"/>
            <a:ext cx="4636246" cy="237267"/>
          </a:xfrm>
        </p:spPr>
        <p:txBody>
          <a:bodyPr lIns="182880" tIns="0" rIns="182880" bIns="0">
            <a:noAutofit/>
          </a:bodyPr>
          <a:lstStyle>
            <a:lvl1pPr marL="0" indent="0">
              <a:buNone/>
              <a:defRPr sz="1800" b="0" i="1">
                <a:solidFill>
                  <a:srgbClr val="ED8B00"/>
                </a:solidFill>
                <a:latin typeface="Georgia" panose="02040502050405020303" pitchFamily="18" charset="0"/>
                <a:cs typeface="Arial" panose="020B0604020202020204" pitchFamily="34" charset="0"/>
              </a:defRPr>
            </a:lvl1pPr>
          </a:lstStyle>
          <a:p>
            <a:pPr lvl="0"/>
            <a:r>
              <a:rPr lang="en-US" dirty="0"/>
              <a:t>Click to add text</a:t>
            </a:r>
          </a:p>
        </p:txBody>
      </p:sp>
      <p:pic>
        <p:nvPicPr>
          <p:cNvPr id="2" name="Picture 1">
            <a:extLst>
              <a:ext uri="{FF2B5EF4-FFF2-40B4-BE49-F238E27FC236}">
                <a16:creationId xmlns:a16="http://schemas.microsoft.com/office/drawing/2014/main" id="{2B992057-DE82-CE83-1048-D406B6B802A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781800" y="4476750"/>
            <a:ext cx="2222550" cy="555638"/>
          </a:xfrm>
          <a:prstGeom prst="rect">
            <a:avLst/>
          </a:prstGeom>
        </p:spPr>
      </p:pic>
      <p:sp>
        <p:nvSpPr>
          <p:cNvPr id="7" name="Slide Number Placeholder 6">
            <a:extLst>
              <a:ext uri="{FF2B5EF4-FFF2-40B4-BE49-F238E27FC236}">
                <a16:creationId xmlns:a16="http://schemas.microsoft.com/office/drawing/2014/main" id="{5E0E505E-82A7-0157-0254-70D4CC4D1A8F}"/>
              </a:ext>
            </a:extLst>
          </p:cNvPr>
          <p:cNvSpPr>
            <a:spLocks noGrp="1"/>
          </p:cNvSpPr>
          <p:nvPr>
            <p:ph type="sldNum" sz="quarter" idx="15"/>
          </p:nvPr>
        </p:nvSpPr>
        <p:spPr/>
        <p:txBody>
          <a:bodyPr/>
          <a:lstStyle/>
          <a:p>
            <a:fld id="{0AF20276-0DC3-B247-B3AE-8A6E2F85407E}" type="slidenum">
              <a:rPr lang="en-VN" smtClean="0"/>
              <a:t>‹#›</a:t>
            </a:fld>
            <a:endParaRPr lang="en-VN"/>
          </a:p>
        </p:txBody>
      </p:sp>
    </p:spTree>
    <p:extLst>
      <p:ext uri="{BB962C8B-B14F-4D97-AF65-F5344CB8AC3E}">
        <p14:creationId xmlns:p14="http://schemas.microsoft.com/office/powerpoint/2010/main" val="26997313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pic>
        <p:nvPicPr>
          <p:cNvPr id="5" name="Picture 4" descr="Shape, circle&#10;&#10;Description automatically generated">
            <a:extLst>
              <a:ext uri="{FF2B5EF4-FFF2-40B4-BE49-F238E27FC236}">
                <a16:creationId xmlns:a16="http://schemas.microsoft.com/office/drawing/2014/main" id="{8B616AF2-B50E-3695-3202-2807D9E8415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3" name="Text Placeholder 2">
            <a:extLst>
              <a:ext uri="{FF2B5EF4-FFF2-40B4-BE49-F238E27FC236}">
                <a16:creationId xmlns:a16="http://schemas.microsoft.com/office/drawing/2014/main" id="{47470F22-3D51-8D47-9BDC-3F4D49D359C4}"/>
              </a:ext>
            </a:extLst>
          </p:cNvPr>
          <p:cNvSpPr>
            <a:spLocks noGrp="1"/>
          </p:cNvSpPr>
          <p:nvPr>
            <p:ph type="body" sz="quarter" idx="13" hasCustomPrompt="1"/>
          </p:nvPr>
        </p:nvSpPr>
        <p:spPr>
          <a:xfrm>
            <a:off x="585006" y="2277072"/>
            <a:ext cx="4776788" cy="237267"/>
          </a:xfrm>
        </p:spPr>
        <p:txBody>
          <a:bodyPr lIns="182880" tIns="0" rIns="182880" bIns="0">
            <a:noAutofit/>
          </a:bodyPr>
          <a:lstStyle>
            <a:lvl1pPr marL="0" indent="0">
              <a:buNone/>
              <a:defRPr sz="1800" b="0" i="1">
                <a:solidFill>
                  <a:srgbClr val="ED8B00"/>
                </a:solidFill>
                <a:latin typeface="Georgia" panose="02040502050405020303" pitchFamily="18" charset="0"/>
                <a:cs typeface="Arial" panose="020B0604020202020204" pitchFamily="34" charset="0"/>
              </a:defRPr>
            </a:lvl1pPr>
          </a:lstStyle>
          <a:p>
            <a:pPr lvl="0"/>
            <a:r>
              <a:rPr lang="en-US" dirty="0"/>
              <a:t>Click to add text</a:t>
            </a:r>
          </a:p>
        </p:txBody>
      </p:sp>
      <p:pic>
        <p:nvPicPr>
          <p:cNvPr id="7" name="Picture 6">
            <a:extLst>
              <a:ext uri="{FF2B5EF4-FFF2-40B4-BE49-F238E27FC236}">
                <a16:creationId xmlns:a16="http://schemas.microsoft.com/office/drawing/2014/main" id="{EB072FD1-11DC-C3F0-BEF8-DEA504D87A8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1584" y="4741279"/>
            <a:ext cx="1308161" cy="327040"/>
          </a:xfrm>
          <a:prstGeom prst="rect">
            <a:avLst/>
          </a:prstGeom>
        </p:spPr>
      </p:pic>
      <p:sp>
        <p:nvSpPr>
          <p:cNvPr id="6" name="Title 18">
            <a:extLst>
              <a:ext uri="{FF2B5EF4-FFF2-40B4-BE49-F238E27FC236}">
                <a16:creationId xmlns:a16="http://schemas.microsoft.com/office/drawing/2014/main" id="{C7090F5B-A517-7BC0-FFDD-BF0408BD71D5}"/>
              </a:ext>
            </a:extLst>
          </p:cNvPr>
          <p:cNvSpPr>
            <a:spLocks noGrp="1"/>
          </p:cNvSpPr>
          <p:nvPr>
            <p:ph type="title" hasCustomPrompt="1"/>
          </p:nvPr>
        </p:nvSpPr>
        <p:spPr>
          <a:xfrm>
            <a:off x="556932" y="1012902"/>
            <a:ext cx="4495800" cy="829533"/>
          </a:xfrm>
          <a:noFill/>
        </p:spPr>
        <p:txBody>
          <a:bodyPr lIns="182880" tIns="182880" rIns="182880" anchor="ctr">
            <a:noAutofit/>
          </a:bodyPr>
          <a:lstStyle>
            <a:lvl1pPr algn="l">
              <a:lnSpc>
                <a:spcPct val="75000"/>
              </a:lnSpc>
              <a:defRPr sz="2800" b="1" i="1" spc="0" baseline="0">
                <a:solidFill>
                  <a:srgbClr val="72243D"/>
                </a:solidFill>
                <a:latin typeface="Arial" panose="020B0604020202020204" pitchFamily="34" charset="0"/>
                <a:cs typeface="Arial" panose="020B0604020202020204" pitchFamily="34" charset="0"/>
              </a:defRPr>
            </a:lvl1pPr>
          </a:lstStyle>
          <a:p>
            <a:r>
              <a:rPr lang="en-US" dirty="0"/>
              <a:t>CLICK TO </a:t>
            </a:r>
            <a:br>
              <a:rPr lang="en-US" dirty="0"/>
            </a:br>
            <a:r>
              <a:rPr lang="en-US" dirty="0"/>
              <a:t>ADD TITLE</a:t>
            </a:r>
          </a:p>
        </p:txBody>
      </p:sp>
      <p:sp>
        <p:nvSpPr>
          <p:cNvPr id="4" name="Slide Number Placeholder 3">
            <a:extLst>
              <a:ext uri="{FF2B5EF4-FFF2-40B4-BE49-F238E27FC236}">
                <a16:creationId xmlns:a16="http://schemas.microsoft.com/office/drawing/2014/main" id="{68F8D7C0-FA5C-F82F-EAD9-413E83295217}"/>
              </a:ext>
            </a:extLst>
          </p:cNvPr>
          <p:cNvSpPr>
            <a:spLocks noGrp="1"/>
          </p:cNvSpPr>
          <p:nvPr>
            <p:ph type="sldNum" sz="quarter" idx="15"/>
          </p:nvPr>
        </p:nvSpPr>
        <p:spPr/>
        <p:txBody>
          <a:bodyPr/>
          <a:lstStyle/>
          <a:p>
            <a:fld id="{0AF20276-0DC3-B247-B3AE-8A6E2F85407E}" type="slidenum">
              <a:rPr lang="en-VN" smtClean="0"/>
              <a:t>‹#›</a:t>
            </a:fld>
            <a:endParaRPr lang="en-VN"/>
          </a:p>
        </p:txBody>
      </p:sp>
    </p:spTree>
    <p:extLst>
      <p:ext uri="{BB962C8B-B14F-4D97-AF65-F5344CB8AC3E}">
        <p14:creationId xmlns:p14="http://schemas.microsoft.com/office/powerpoint/2010/main" val="24315266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 Slide 2-A">
    <p:spTree>
      <p:nvGrpSpPr>
        <p:cNvPr id="1" name=""/>
        <p:cNvGrpSpPr/>
        <p:nvPr/>
      </p:nvGrpSpPr>
      <p:grpSpPr>
        <a:xfrm>
          <a:off x="0" y="0"/>
          <a:ext cx="0" cy="0"/>
          <a:chOff x="0" y="0"/>
          <a:chExt cx="0" cy="0"/>
        </a:xfrm>
      </p:grpSpPr>
      <p:pic>
        <p:nvPicPr>
          <p:cNvPr id="6" name="Picture 5" descr="A picture containing text&#10;&#10;Description automatically generated">
            <a:extLst>
              <a:ext uri="{FF2B5EF4-FFF2-40B4-BE49-F238E27FC236}">
                <a16:creationId xmlns:a16="http://schemas.microsoft.com/office/drawing/2014/main" id="{C80A7B26-E9DE-4D5B-716A-C77938E07FD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75181"/>
            <a:ext cx="9144000" cy="5143500"/>
          </a:xfrm>
          <a:prstGeom prst="rect">
            <a:avLst/>
          </a:prstGeom>
        </p:spPr>
      </p:pic>
      <p:sp>
        <p:nvSpPr>
          <p:cNvPr id="22" name="Title 6">
            <a:extLst>
              <a:ext uri="{FF2B5EF4-FFF2-40B4-BE49-F238E27FC236}">
                <a16:creationId xmlns:a16="http://schemas.microsoft.com/office/drawing/2014/main" id="{E5CB47AD-DA9C-5F4C-A431-84FB4D547F0E}"/>
              </a:ext>
            </a:extLst>
          </p:cNvPr>
          <p:cNvSpPr>
            <a:spLocks noGrp="1"/>
          </p:cNvSpPr>
          <p:nvPr>
            <p:ph type="title" hasCustomPrompt="1"/>
          </p:nvPr>
        </p:nvSpPr>
        <p:spPr>
          <a:xfrm>
            <a:off x="236537" y="75181"/>
            <a:ext cx="6724650" cy="514350"/>
          </a:xfrm>
        </p:spPr>
        <p:txBody>
          <a:bodyPr>
            <a:noAutofit/>
          </a:bodyPr>
          <a:lstStyle>
            <a:lvl1pPr algn="l">
              <a:defRPr sz="2800" b="1" i="0">
                <a:solidFill>
                  <a:srgbClr val="6F263D"/>
                </a:solidFill>
                <a:latin typeface="Arial" panose="020B0604020202020204" pitchFamily="34" charset="0"/>
                <a:cs typeface="Arial" panose="020B0604020202020204" pitchFamily="34" charset="0"/>
              </a:defRPr>
            </a:lvl1pPr>
          </a:lstStyle>
          <a:p>
            <a:r>
              <a:rPr lang="en-US" dirty="0"/>
              <a:t>CLICK TO ADD TEXT</a:t>
            </a:r>
          </a:p>
        </p:txBody>
      </p:sp>
      <p:sp>
        <p:nvSpPr>
          <p:cNvPr id="12" name="Text Placeholder 2">
            <a:extLst>
              <a:ext uri="{FF2B5EF4-FFF2-40B4-BE49-F238E27FC236}">
                <a16:creationId xmlns:a16="http://schemas.microsoft.com/office/drawing/2014/main" id="{649794A0-DDCB-D348-B6F9-30E0A824A3F4}"/>
              </a:ext>
            </a:extLst>
          </p:cNvPr>
          <p:cNvSpPr>
            <a:spLocks noGrp="1"/>
          </p:cNvSpPr>
          <p:nvPr>
            <p:ph type="body" sz="quarter" idx="13" hasCustomPrompt="1"/>
          </p:nvPr>
        </p:nvSpPr>
        <p:spPr>
          <a:xfrm>
            <a:off x="236537" y="658812"/>
            <a:ext cx="8678863" cy="3561359"/>
          </a:xfrm>
        </p:spPr>
        <p:txBody>
          <a:bodyPr>
            <a:noAutofit/>
          </a:bodyPr>
          <a:lstStyle>
            <a:lvl1pPr marL="0" indent="0">
              <a:buClr>
                <a:srgbClr val="E17C00"/>
              </a:buClr>
              <a:buFont typeface="+mj-lt"/>
              <a:buNone/>
              <a:defRPr sz="1600" b="1" i="0">
                <a:solidFill>
                  <a:schemeClr val="tx1"/>
                </a:solidFill>
                <a:latin typeface="Arial" panose="020B0604020202020204" pitchFamily="34" charset="0"/>
                <a:cs typeface="Arial" panose="020B0604020202020204" pitchFamily="34" charset="0"/>
              </a:defRPr>
            </a:lvl1pPr>
            <a:lvl2pPr marL="457188" indent="0">
              <a:buClr>
                <a:srgbClr val="E17C00"/>
              </a:buClr>
              <a:buFont typeface="+mj-lt"/>
              <a:buNone/>
              <a:defRPr sz="1400">
                <a:solidFill>
                  <a:schemeClr val="tx1"/>
                </a:solidFill>
                <a:latin typeface="Arial" panose="020B0604020202020204" pitchFamily="34" charset="0"/>
                <a:cs typeface="Arial" panose="020B0604020202020204" pitchFamily="34" charset="0"/>
              </a:defRPr>
            </a:lvl2pPr>
            <a:lvl3pPr marL="914377" indent="0">
              <a:buClr>
                <a:srgbClr val="E17C00"/>
              </a:buClr>
              <a:buFont typeface="+mj-lt"/>
              <a:buNone/>
              <a:defRPr sz="1200">
                <a:solidFill>
                  <a:schemeClr val="tx1"/>
                </a:solidFill>
                <a:latin typeface="Arial" panose="020B0604020202020204" pitchFamily="34" charset="0"/>
                <a:cs typeface="Arial" panose="020B0604020202020204" pitchFamily="34" charset="0"/>
              </a:defRPr>
            </a:lvl3pPr>
            <a:lvl4pPr marL="1371566" indent="0">
              <a:buClr>
                <a:srgbClr val="E17C00"/>
              </a:buClr>
              <a:buFont typeface="+mj-lt"/>
              <a:buNone/>
              <a:defRPr sz="1100">
                <a:solidFill>
                  <a:schemeClr val="tx1"/>
                </a:solidFill>
                <a:latin typeface="Arial" panose="020B0604020202020204" pitchFamily="34" charset="0"/>
                <a:cs typeface="Arial" panose="020B0604020202020204" pitchFamily="34" charset="0"/>
              </a:defRPr>
            </a:lvl4pPr>
            <a:lvl5pPr marL="1828755" indent="0">
              <a:buClr>
                <a:srgbClr val="E17C00"/>
              </a:buClr>
              <a:buFont typeface="+mj-lt"/>
              <a:buNone/>
              <a:defRPr sz="1100">
                <a:solidFill>
                  <a:schemeClr val="tx1"/>
                </a:solidFill>
                <a:latin typeface="Arial" panose="020B0604020202020204" pitchFamily="34" charset="0"/>
                <a:cs typeface="Arial" panose="020B0604020202020204" pitchFamily="34" charset="0"/>
              </a:defRPr>
            </a:lvl5pPr>
          </a:lstStyle>
          <a:p>
            <a:pPr lvl="0"/>
            <a:r>
              <a:rPr lang="en-US" dirty="0"/>
              <a:t>Click to add list</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 name="Picture 1">
            <a:extLst>
              <a:ext uri="{FF2B5EF4-FFF2-40B4-BE49-F238E27FC236}">
                <a16:creationId xmlns:a16="http://schemas.microsoft.com/office/drawing/2014/main" id="{EB2F4A7B-C617-FC86-ACA8-F1B92AF15106}"/>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02893" y="4741279"/>
            <a:ext cx="1305543" cy="327040"/>
          </a:xfrm>
          <a:prstGeom prst="rect">
            <a:avLst/>
          </a:prstGeom>
        </p:spPr>
      </p:pic>
      <p:sp>
        <p:nvSpPr>
          <p:cNvPr id="4" name="Slide Number Placeholder 3">
            <a:extLst>
              <a:ext uri="{FF2B5EF4-FFF2-40B4-BE49-F238E27FC236}">
                <a16:creationId xmlns:a16="http://schemas.microsoft.com/office/drawing/2014/main" id="{30212481-CA89-9155-FE1D-0551BA054F15}"/>
              </a:ext>
            </a:extLst>
          </p:cNvPr>
          <p:cNvSpPr>
            <a:spLocks noGrp="1"/>
          </p:cNvSpPr>
          <p:nvPr>
            <p:ph type="sldNum" sz="quarter" idx="15"/>
          </p:nvPr>
        </p:nvSpPr>
        <p:spPr/>
        <p:txBody>
          <a:bodyPr/>
          <a:lstStyle/>
          <a:p>
            <a:fld id="{0AF20276-0DC3-B247-B3AE-8A6E2F85407E}" type="slidenum">
              <a:rPr lang="en-VN" smtClean="0"/>
              <a:t>‹#›</a:t>
            </a:fld>
            <a:endParaRPr lang="en-VN"/>
          </a:p>
        </p:txBody>
      </p:sp>
      <p:cxnSp>
        <p:nvCxnSpPr>
          <p:cNvPr id="5" name="Straight Connector 4">
            <a:extLst>
              <a:ext uri="{FF2B5EF4-FFF2-40B4-BE49-F238E27FC236}">
                <a16:creationId xmlns:a16="http://schemas.microsoft.com/office/drawing/2014/main" id="{55DD1030-CAD4-D733-7034-4179F43517DF}"/>
              </a:ext>
            </a:extLst>
          </p:cNvPr>
          <p:cNvCxnSpPr/>
          <p:nvPr userDrawn="1"/>
        </p:nvCxnSpPr>
        <p:spPr>
          <a:xfrm>
            <a:off x="236537" y="514350"/>
            <a:ext cx="8678863"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89172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Slide 2-B">
    <p:spTree>
      <p:nvGrpSpPr>
        <p:cNvPr id="1" name=""/>
        <p:cNvGrpSpPr/>
        <p:nvPr/>
      </p:nvGrpSpPr>
      <p:grpSpPr>
        <a:xfrm>
          <a:off x="0" y="0"/>
          <a:ext cx="0" cy="0"/>
          <a:chOff x="0" y="0"/>
          <a:chExt cx="0" cy="0"/>
        </a:xfrm>
      </p:grpSpPr>
      <p:sp>
        <p:nvSpPr>
          <p:cNvPr id="23" name="Text Placeholder 2">
            <a:extLst>
              <a:ext uri="{FF2B5EF4-FFF2-40B4-BE49-F238E27FC236}">
                <a16:creationId xmlns:a16="http://schemas.microsoft.com/office/drawing/2014/main" id="{DA84C3F7-BB03-5D49-9A2E-979137BADE88}"/>
              </a:ext>
            </a:extLst>
          </p:cNvPr>
          <p:cNvSpPr>
            <a:spLocks noGrp="1"/>
          </p:cNvSpPr>
          <p:nvPr>
            <p:ph type="body" sz="quarter" idx="13" hasCustomPrompt="1"/>
          </p:nvPr>
        </p:nvSpPr>
        <p:spPr>
          <a:xfrm>
            <a:off x="236537" y="590550"/>
            <a:ext cx="8678863" cy="4114800"/>
          </a:xfrm>
        </p:spPr>
        <p:txBody>
          <a:bodyPr>
            <a:noAutofit/>
          </a:bodyPr>
          <a:lstStyle>
            <a:lvl1pPr marL="0" indent="0">
              <a:buClr>
                <a:srgbClr val="E17C00"/>
              </a:buClr>
              <a:buNone/>
              <a:defRPr sz="1600" b="1" i="0">
                <a:solidFill>
                  <a:schemeClr val="tx1"/>
                </a:solidFill>
                <a:latin typeface="Arial" panose="020B0604020202020204" pitchFamily="34" charset="0"/>
                <a:cs typeface="Arial" panose="020B0604020202020204" pitchFamily="34" charset="0"/>
              </a:defRPr>
            </a:lvl1pPr>
            <a:lvl2pPr marL="457188" indent="0">
              <a:buClr>
                <a:srgbClr val="E17C00"/>
              </a:buClr>
              <a:buNone/>
              <a:defRPr sz="1400">
                <a:solidFill>
                  <a:schemeClr val="tx1"/>
                </a:solidFill>
                <a:latin typeface="Arial" panose="020B0604020202020204" pitchFamily="34" charset="0"/>
                <a:cs typeface="Arial" panose="020B0604020202020204" pitchFamily="34" charset="0"/>
              </a:defRPr>
            </a:lvl2pPr>
            <a:lvl3pPr marL="914377" indent="0">
              <a:buClr>
                <a:srgbClr val="E17C00"/>
              </a:buClr>
              <a:buNone/>
              <a:defRPr sz="1200">
                <a:solidFill>
                  <a:schemeClr val="tx1"/>
                </a:solidFill>
                <a:latin typeface="Arial" panose="020B0604020202020204" pitchFamily="34" charset="0"/>
                <a:cs typeface="Arial" panose="020B0604020202020204" pitchFamily="34" charset="0"/>
              </a:defRPr>
            </a:lvl3pPr>
            <a:lvl4pPr marL="1371566" indent="0">
              <a:buClr>
                <a:srgbClr val="E17C00"/>
              </a:buClr>
              <a:buNone/>
              <a:defRPr sz="1100">
                <a:solidFill>
                  <a:schemeClr val="tx1"/>
                </a:solidFill>
                <a:latin typeface="Arial" panose="020B0604020202020204" pitchFamily="34" charset="0"/>
                <a:cs typeface="Arial" panose="020B0604020202020204" pitchFamily="34" charset="0"/>
              </a:defRPr>
            </a:lvl4pPr>
            <a:lvl5pPr marL="1828755" indent="0">
              <a:buClr>
                <a:srgbClr val="E17C00"/>
              </a:buClr>
              <a:buNone/>
              <a:defRPr sz="1100">
                <a:solidFill>
                  <a:schemeClr val="tx1"/>
                </a:solidFill>
                <a:latin typeface="Arial" panose="020B0604020202020204" pitchFamily="34" charset="0"/>
                <a:cs typeface="Arial" panose="020B0604020202020204" pitchFamily="34" charset="0"/>
              </a:defRPr>
            </a:lvl5pPr>
          </a:lstStyle>
          <a:p>
            <a:pPr lvl="0"/>
            <a:r>
              <a:rPr lang="en-US" dirty="0"/>
              <a:t>Click to add list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4" name="Title 6">
            <a:extLst>
              <a:ext uri="{FF2B5EF4-FFF2-40B4-BE49-F238E27FC236}">
                <a16:creationId xmlns:a16="http://schemas.microsoft.com/office/drawing/2014/main" id="{3F270E63-EF19-EF43-941B-3BBB3C082F24}"/>
              </a:ext>
            </a:extLst>
          </p:cNvPr>
          <p:cNvSpPr>
            <a:spLocks noGrp="1"/>
          </p:cNvSpPr>
          <p:nvPr>
            <p:ph type="title" hasCustomPrompt="1"/>
          </p:nvPr>
        </p:nvSpPr>
        <p:spPr>
          <a:xfrm>
            <a:off x="236537" y="1003"/>
            <a:ext cx="6724650" cy="514350"/>
          </a:xfrm>
        </p:spPr>
        <p:txBody>
          <a:bodyPr>
            <a:noAutofit/>
          </a:bodyPr>
          <a:lstStyle>
            <a:lvl1pPr algn="l">
              <a:defRPr sz="2800" b="1" i="0">
                <a:solidFill>
                  <a:srgbClr val="72243D"/>
                </a:solidFill>
                <a:latin typeface="Arial" panose="020B0604020202020204" pitchFamily="34" charset="0"/>
                <a:cs typeface="Arial" panose="020B0604020202020204" pitchFamily="34" charset="0"/>
              </a:defRPr>
            </a:lvl1pPr>
          </a:lstStyle>
          <a:p>
            <a:r>
              <a:rPr lang="en-US" dirty="0"/>
              <a:t>CLICK TO ADD TEXT</a:t>
            </a:r>
          </a:p>
        </p:txBody>
      </p:sp>
      <p:pic>
        <p:nvPicPr>
          <p:cNvPr id="5" name="Picture 4">
            <a:extLst>
              <a:ext uri="{FF2B5EF4-FFF2-40B4-BE49-F238E27FC236}">
                <a16:creationId xmlns:a16="http://schemas.microsoft.com/office/drawing/2014/main" id="{8FA4E044-CDAB-C101-E13D-D9A7A1D14D0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76200" y="4780547"/>
            <a:ext cx="1305543" cy="327040"/>
          </a:xfrm>
          <a:prstGeom prst="rect">
            <a:avLst/>
          </a:prstGeom>
        </p:spPr>
      </p:pic>
      <p:sp>
        <p:nvSpPr>
          <p:cNvPr id="3" name="Slide Number Placeholder 2">
            <a:extLst>
              <a:ext uri="{FF2B5EF4-FFF2-40B4-BE49-F238E27FC236}">
                <a16:creationId xmlns:a16="http://schemas.microsoft.com/office/drawing/2014/main" id="{970904D9-9C5E-DF83-0721-A260D1A567EA}"/>
              </a:ext>
            </a:extLst>
          </p:cNvPr>
          <p:cNvSpPr>
            <a:spLocks noGrp="1"/>
          </p:cNvSpPr>
          <p:nvPr>
            <p:ph type="sldNum" sz="quarter" idx="15"/>
          </p:nvPr>
        </p:nvSpPr>
        <p:spPr>
          <a:xfrm>
            <a:off x="6858000" y="4780547"/>
            <a:ext cx="2057400" cy="274637"/>
          </a:xfrm>
        </p:spPr>
        <p:txBody>
          <a:bodyPr/>
          <a:lstStyle/>
          <a:p>
            <a:fld id="{0AF20276-0DC3-B247-B3AE-8A6E2F85407E}" type="slidenum">
              <a:rPr lang="en-VN" smtClean="0"/>
              <a:t>‹#›</a:t>
            </a:fld>
            <a:endParaRPr lang="en-VN"/>
          </a:p>
        </p:txBody>
      </p:sp>
      <p:cxnSp>
        <p:nvCxnSpPr>
          <p:cNvPr id="2" name="Straight Connector 1">
            <a:extLst>
              <a:ext uri="{FF2B5EF4-FFF2-40B4-BE49-F238E27FC236}">
                <a16:creationId xmlns:a16="http://schemas.microsoft.com/office/drawing/2014/main" id="{889A14E8-45A0-83A5-AE54-DB581D14CADD}"/>
              </a:ext>
            </a:extLst>
          </p:cNvPr>
          <p:cNvCxnSpPr/>
          <p:nvPr userDrawn="1"/>
        </p:nvCxnSpPr>
        <p:spPr>
          <a:xfrm>
            <a:off x="236537" y="514350"/>
            <a:ext cx="8678863"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878753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losing Slide 1">
    <p:spTree>
      <p:nvGrpSpPr>
        <p:cNvPr id="1" name=""/>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4C91AED3-4268-ECE5-4D79-7DB55222849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10" name="Title 18">
            <a:extLst>
              <a:ext uri="{FF2B5EF4-FFF2-40B4-BE49-F238E27FC236}">
                <a16:creationId xmlns:a16="http://schemas.microsoft.com/office/drawing/2014/main" id="{B7DB02B7-5B63-2F41-A757-1DC44B15B767}"/>
              </a:ext>
            </a:extLst>
          </p:cNvPr>
          <p:cNvSpPr>
            <a:spLocks noGrp="1"/>
          </p:cNvSpPr>
          <p:nvPr>
            <p:ph type="title" hasCustomPrompt="1"/>
          </p:nvPr>
        </p:nvSpPr>
        <p:spPr>
          <a:xfrm>
            <a:off x="4038600" y="2491623"/>
            <a:ext cx="4800600" cy="1210533"/>
          </a:xfrm>
          <a:noFill/>
        </p:spPr>
        <p:txBody>
          <a:bodyPr lIns="182880" tIns="182880" rIns="182880" anchor="ctr">
            <a:noAutofit/>
          </a:bodyPr>
          <a:lstStyle>
            <a:lvl1pPr algn="l">
              <a:defRPr sz="7200" b="0" i="1" baseline="0">
                <a:solidFill>
                  <a:schemeClr val="bg1"/>
                </a:solidFill>
                <a:latin typeface="Georgia" panose="02040502050405020303" pitchFamily="18" charset="0"/>
              </a:defRPr>
            </a:lvl1pPr>
          </a:lstStyle>
          <a:p>
            <a:r>
              <a:rPr lang="en-US" dirty="0"/>
              <a:t>Thank You</a:t>
            </a:r>
          </a:p>
        </p:txBody>
      </p:sp>
      <p:pic>
        <p:nvPicPr>
          <p:cNvPr id="2" name="Picture 1">
            <a:extLst>
              <a:ext uri="{FF2B5EF4-FFF2-40B4-BE49-F238E27FC236}">
                <a16:creationId xmlns:a16="http://schemas.microsoft.com/office/drawing/2014/main" id="{8D0DDD0E-906B-D31D-E005-FD702E298DB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712334" y="4400550"/>
            <a:ext cx="2222550" cy="555638"/>
          </a:xfrm>
          <a:prstGeom prst="rect">
            <a:avLst/>
          </a:prstGeom>
        </p:spPr>
      </p:pic>
    </p:spTree>
    <p:extLst>
      <p:ext uri="{BB962C8B-B14F-4D97-AF65-F5344CB8AC3E}">
        <p14:creationId xmlns:p14="http://schemas.microsoft.com/office/powerpoint/2010/main" val="4500459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Slide 2">
    <p:spTree>
      <p:nvGrpSpPr>
        <p:cNvPr id="1" name=""/>
        <p:cNvGrpSpPr/>
        <p:nvPr/>
      </p:nvGrpSpPr>
      <p:grpSpPr>
        <a:xfrm>
          <a:off x="0" y="0"/>
          <a:ext cx="0" cy="0"/>
          <a:chOff x="0" y="0"/>
          <a:chExt cx="0" cy="0"/>
        </a:xfrm>
      </p:grpSpPr>
      <p:pic>
        <p:nvPicPr>
          <p:cNvPr id="5" name="Picture 4" descr="Background pattern&#10;&#10;Description automatically generated">
            <a:extLst>
              <a:ext uri="{FF2B5EF4-FFF2-40B4-BE49-F238E27FC236}">
                <a16:creationId xmlns:a16="http://schemas.microsoft.com/office/drawing/2014/main" id="{9716DC12-C22F-2EC7-952D-EAD5FAD49D3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11" name="Title 18">
            <a:extLst>
              <a:ext uri="{FF2B5EF4-FFF2-40B4-BE49-F238E27FC236}">
                <a16:creationId xmlns:a16="http://schemas.microsoft.com/office/drawing/2014/main" id="{2AEEC7FA-C7A4-884B-9AEB-71DBAF3A35B5}"/>
              </a:ext>
            </a:extLst>
          </p:cNvPr>
          <p:cNvSpPr>
            <a:spLocks noGrp="1"/>
          </p:cNvSpPr>
          <p:nvPr>
            <p:ph type="title" hasCustomPrompt="1"/>
          </p:nvPr>
        </p:nvSpPr>
        <p:spPr>
          <a:xfrm>
            <a:off x="381000" y="2876550"/>
            <a:ext cx="6096000" cy="1210533"/>
          </a:xfrm>
          <a:noFill/>
        </p:spPr>
        <p:txBody>
          <a:bodyPr lIns="182880" tIns="182880" rIns="182880" anchor="ctr">
            <a:noAutofit/>
          </a:bodyPr>
          <a:lstStyle>
            <a:lvl1pPr algn="l">
              <a:defRPr sz="7200" b="0" i="1" baseline="0">
                <a:solidFill>
                  <a:schemeClr val="bg1"/>
                </a:solidFill>
                <a:latin typeface="Georgia" panose="02040502050405020303" pitchFamily="18" charset="0"/>
              </a:defRPr>
            </a:lvl1pPr>
          </a:lstStyle>
          <a:p>
            <a:r>
              <a:rPr lang="en-US" dirty="0"/>
              <a:t>Thank You</a:t>
            </a:r>
          </a:p>
        </p:txBody>
      </p:sp>
      <p:pic>
        <p:nvPicPr>
          <p:cNvPr id="2" name="Picture 1">
            <a:extLst>
              <a:ext uri="{FF2B5EF4-FFF2-40B4-BE49-F238E27FC236}">
                <a16:creationId xmlns:a16="http://schemas.microsoft.com/office/drawing/2014/main" id="{6E8EA9F1-9F15-10BF-3C37-403A28DB916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781800" y="4476750"/>
            <a:ext cx="2222550" cy="555638"/>
          </a:xfrm>
          <a:prstGeom prst="rect">
            <a:avLst/>
          </a:prstGeom>
        </p:spPr>
      </p:pic>
    </p:spTree>
    <p:extLst>
      <p:ext uri="{BB962C8B-B14F-4D97-AF65-F5344CB8AC3E}">
        <p14:creationId xmlns:p14="http://schemas.microsoft.com/office/powerpoint/2010/main" val="41893457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43494" y="199406"/>
            <a:ext cx="8771906" cy="85725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143494" y="1200151"/>
            <a:ext cx="8771906" cy="2819399"/>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39FD9111-1EF2-33CF-6A11-09920F2275E2}"/>
              </a:ext>
            </a:extLst>
          </p:cNvPr>
          <p:cNvSpPr>
            <a:spLocks noGrp="1"/>
          </p:cNvSpPr>
          <p:nvPr>
            <p:ph type="sldNum" sz="quarter" idx="4"/>
          </p:nvPr>
        </p:nvSpPr>
        <p:spPr>
          <a:xfrm>
            <a:off x="6457950" y="4767263"/>
            <a:ext cx="2057400" cy="274637"/>
          </a:xfrm>
          <a:prstGeom prst="rect">
            <a:avLst/>
          </a:prstGeom>
        </p:spPr>
        <p:txBody>
          <a:bodyPr vert="horz" lIns="91440" tIns="45720" rIns="91440" bIns="45720" rtlCol="0" anchor="ctr"/>
          <a:lstStyle>
            <a:lvl1pPr algn="r">
              <a:defRPr sz="1200">
                <a:solidFill>
                  <a:schemeClr val="tx1">
                    <a:tint val="82000"/>
                  </a:schemeClr>
                </a:solidFill>
              </a:defRPr>
            </a:lvl1pPr>
          </a:lstStyle>
          <a:p>
            <a:fld id="{0AF20276-0DC3-B247-B3AE-8A6E2F85407E}" type="slidenum">
              <a:rPr lang="en-VN" smtClean="0"/>
              <a:t>‹#›</a:t>
            </a:fld>
            <a:endParaRPr lang="en-VN"/>
          </a:p>
        </p:txBody>
      </p:sp>
    </p:spTree>
    <p:extLst>
      <p:ext uri="{BB962C8B-B14F-4D97-AF65-F5344CB8AC3E}">
        <p14:creationId xmlns:p14="http://schemas.microsoft.com/office/powerpoint/2010/main" val="1459005253"/>
      </p:ext>
    </p:extLst>
  </p:cSld>
  <p:clrMap bg1="lt1" tx1="dk1" bg2="lt2" tx2="dk2" accent1="accent1" accent2="accent2" accent3="accent3" accent4="accent4" accent5="accent5" accent6="accent6" hlink="hlink" folHlink="folHlink"/>
  <p:sldLayoutIdLst>
    <p:sldLayoutId id="2147483676" r:id="rId1"/>
    <p:sldLayoutId id="2147483649" r:id="rId2"/>
    <p:sldLayoutId id="2147483679" r:id="rId3"/>
    <p:sldLayoutId id="2147483681" r:id="rId4"/>
    <p:sldLayoutId id="2147483687" r:id="rId5"/>
    <p:sldLayoutId id="2147483688" r:id="rId6"/>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377" rtl="0" eaLnBrk="1" latinLnBrk="0" hangingPunct="1">
        <a:spcBef>
          <a:spcPct val="0"/>
        </a:spcBef>
        <a:buNone/>
        <a:defRPr sz="2400" b="1" i="0" kern="1200">
          <a:solidFill>
            <a:schemeClr val="tx1"/>
          </a:solidFill>
          <a:latin typeface="Arial" panose="020B0604020202020204" pitchFamily="34" charset="0"/>
          <a:ea typeface="+mj-ea"/>
          <a:cs typeface="Arial" panose="020B0604020202020204" pitchFamily="34" charset="0"/>
        </a:defRPr>
      </a:lvl1pPr>
    </p:titleStyle>
    <p:bodyStyle>
      <a:lvl1pPr marL="342891" indent="-342891" algn="l" defTabSz="914377" rtl="0" eaLnBrk="1" latinLnBrk="0" hangingPunct="1">
        <a:spcBef>
          <a:spcPct val="20000"/>
        </a:spcBef>
        <a:buClr>
          <a:srgbClr val="F93822"/>
        </a:buClr>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1pPr>
      <a:lvl2pPr marL="742932" indent="-285744" algn="l" defTabSz="914377" rtl="0" eaLnBrk="1" latinLnBrk="0" hangingPunct="1">
        <a:spcBef>
          <a:spcPct val="20000"/>
        </a:spcBef>
        <a:buClr>
          <a:srgbClr val="F93822"/>
        </a:buClr>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2pPr>
      <a:lvl3pPr marL="1142971" indent="-228594" algn="l" defTabSz="914377" rtl="0" eaLnBrk="1" latinLnBrk="0" hangingPunct="1">
        <a:spcBef>
          <a:spcPct val="20000"/>
        </a:spcBef>
        <a:buClr>
          <a:srgbClr val="F93822"/>
        </a:buClr>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3pPr>
      <a:lvl4pPr marL="1600160" indent="-228594" algn="l" defTabSz="914377" rtl="0" eaLnBrk="1" latinLnBrk="0" hangingPunct="1">
        <a:spcBef>
          <a:spcPct val="20000"/>
        </a:spcBef>
        <a:buClr>
          <a:srgbClr val="F93822"/>
        </a:buClr>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4pPr>
      <a:lvl5pPr marL="2057349" indent="-228594" algn="l" defTabSz="914377" rtl="0" eaLnBrk="1" latinLnBrk="0" hangingPunct="1">
        <a:spcBef>
          <a:spcPct val="20000"/>
        </a:spcBef>
        <a:buClr>
          <a:srgbClr val="F93822"/>
        </a:buClr>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guide id="3" pos="144" userDrawn="1">
          <p15:clr>
            <a:srgbClr val="F26B43"/>
          </p15:clr>
        </p15:guide>
        <p15:guide id="4" pos="5616" userDrawn="1">
          <p15:clr>
            <a:srgbClr val="F26B43"/>
          </p15:clr>
        </p15:guide>
        <p15:guide id="5" orient="horz" pos="132" userDrawn="1">
          <p15:clr>
            <a:srgbClr val="F26B43"/>
          </p15:clr>
        </p15:guide>
        <p15:guide id="6" orient="horz" pos="2964" userDrawn="1">
          <p15:clr>
            <a:srgbClr val="F26B43"/>
          </p15:clr>
        </p15:guide>
        <p15:guide id="7" pos="48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chart" Target="../charts/char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9.png"/><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D9B8AC8-A3A6-9DC1-72FD-53FA5580E610}"/>
              </a:ext>
            </a:extLst>
          </p:cNvPr>
          <p:cNvSpPr>
            <a:spLocks noGrp="1"/>
          </p:cNvSpPr>
          <p:nvPr>
            <p:ph type="body" sz="quarter" idx="13"/>
          </p:nvPr>
        </p:nvSpPr>
        <p:spPr/>
        <p:txBody>
          <a:bodyPr/>
          <a:lstStyle/>
          <a:p>
            <a:r>
              <a:rPr lang="en-VN" sz="1800" i="1" dirty="0"/>
              <a:t>WEEK 6 – September </a:t>
            </a:r>
            <a:r>
              <a:rPr lang="en-VN" dirty="0"/>
              <a:t>27</a:t>
            </a:r>
            <a:r>
              <a:rPr lang="en-VN" sz="1800" i="1" dirty="0"/>
              <a:t>th 2026</a:t>
            </a:r>
            <a:endParaRPr lang="en-US" dirty="0"/>
          </a:p>
        </p:txBody>
      </p:sp>
      <p:sp>
        <p:nvSpPr>
          <p:cNvPr id="3" name="Title 2">
            <a:extLst>
              <a:ext uri="{FF2B5EF4-FFF2-40B4-BE49-F238E27FC236}">
                <a16:creationId xmlns:a16="http://schemas.microsoft.com/office/drawing/2014/main" id="{5755A3C6-573A-780A-A43A-254D066FD7CC}"/>
              </a:ext>
            </a:extLst>
          </p:cNvPr>
          <p:cNvSpPr>
            <a:spLocks noGrp="1"/>
          </p:cNvSpPr>
          <p:nvPr>
            <p:ph type="title"/>
          </p:nvPr>
        </p:nvSpPr>
        <p:spPr>
          <a:xfrm>
            <a:off x="152400" y="1047750"/>
            <a:ext cx="7672668" cy="829533"/>
          </a:xfrm>
        </p:spPr>
        <p:txBody>
          <a:bodyPr/>
          <a:lstStyle/>
          <a:p>
            <a:r>
              <a:rPr lang="en-VN" sz="3600" dirty="0"/>
              <a:t>WEEKLY REPORT</a:t>
            </a:r>
            <a:br>
              <a:rPr lang="en-VN" sz="3600" dirty="0"/>
            </a:br>
            <a:r>
              <a:rPr lang="en-VN" sz="2400" dirty="0"/>
              <a:t>POST STROKE REHABILITATION SYSTEM</a:t>
            </a:r>
          </a:p>
        </p:txBody>
      </p:sp>
      <p:sp>
        <p:nvSpPr>
          <p:cNvPr id="5" name="Slide Number Placeholder 4">
            <a:extLst>
              <a:ext uri="{FF2B5EF4-FFF2-40B4-BE49-F238E27FC236}">
                <a16:creationId xmlns:a16="http://schemas.microsoft.com/office/drawing/2014/main" id="{F10B16B7-6554-020D-1F57-1C55BD1232EF}"/>
              </a:ext>
            </a:extLst>
          </p:cNvPr>
          <p:cNvSpPr>
            <a:spLocks noGrp="1"/>
          </p:cNvSpPr>
          <p:nvPr>
            <p:ph type="sldNum" sz="quarter" idx="15"/>
          </p:nvPr>
        </p:nvSpPr>
        <p:spPr/>
        <p:txBody>
          <a:bodyPr/>
          <a:lstStyle/>
          <a:p>
            <a:fld id="{0AF20276-0DC3-B247-B3AE-8A6E2F85407E}" type="slidenum">
              <a:rPr lang="en-VN" smtClean="0"/>
              <a:t>1</a:t>
            </a:fld>
            <a:endParaRPr lang="en-VN"/>
          </a:p>
        </p:txBody>
      </p:sp>
    </p:spTree>
    <p:extLst>
      <p:ext uri="{BB962C8B-B14F-4D97-AF65-F5344CB8AC3E}">
        <p14:creationId xmlns:p14="http://schemas.microsoft.com/office/powerpoint/2010/main" val="36811416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86B6B19-1C8F-148A-F8F5-5C2336A550AC}"/>
              </a:ext>
            </a:extLst>
          </p:cNvPr>
          <p:cNvSpPr>
            <a:spLocks noGrp="1"/>
          </p:cNvSpPr>
          <p:nvPr>
            <p:ph type="body" sz="quarter" idx="13"/>
          </p:nvPr>
        </p:nvSpPr>
        <p:spPr/>
        <p:txBody>
          <a:bodyPr/>
          <a:lstStyle/>
          <a:p>
            <a:pPr marL="342900" indent="-342900">
              <a:buClr>
                <a:schemeClr val="tx1"/>
              </a:buClr>
              <a:buFont typeface="+mj-lt"/>
              <a:buAutoNum type="arabicPeriod"/>
            </a:pPr>
            <a:r>
              <a:rPr lang="en-VN" dirty="0"/>
              <a:t>Quick Update</a:t>
            </a:r>
          </a:p>
          <a:p>
            <a:pPr marL="342900" indent="-342900">
              <a:buClr>
                <a:schemeClr val="tx1"/>
              </a:buClr>
              <a:buFont typeface="+mj-lt"/>
              <a:buAutoNum type="arabicPeriod"/>
            </a:pPr>
            <a:r>
              <a:rPr lang="en-VN" dirty="0"/>
              <a:t>Literature Review Paper</a:t>
            </a:r>
          </a:p>
          <a:p>
            <a:pPr marL="342900" indent="-342900">
              <a:buClr>
                <a:schemeClr val="tx1"/>
              </a:buClr>
              <a:buFont typeface="+mj-lt"/>
              <a:buAutoNum type="arabicPeriod"/>
            </a:pPr>
            <a:r>
              <a:rPr lang="en-VN" dirty="0"/>
              <a:t>Active Sensing</a:t>
            </a:r>
          </a:p>
          <a:p>
            <a:pPr marL="342900" indent="-342900">
              <a:buClr>
                <a:schemeClr val="tx1"/>
              </a:buClr>
              <a:buFont typeface="+mj-lt"/>
              <a:buAutoNum type="arabicPeriod"/>
            </a:pPr>
            <a:endParaRPr lang="en-VN" dirty="0"/>
          </a:p>
          <a:p>
            <a:pPr marL="342900" indent="-342900">
              <a:buClr>
                <a:schemeClr val="tx1"/>
              </a:buClr>
              <a:buFont typeface="+mj-lt"/>
              <a:buAutoNum type="arabicPeriod"/>
            </a:pPr>
            <a:endParaRPr lang="en-VN" dirty="0"/>
          </a:p>
        </p:txBody>
      </p:sp>
      <p:sp>
        <p:nvSpPr>
          <p:cNvPr id="3" name="Title 2">
            <a:extLst>
              <a:ext uri="{FF2B5EF4-FFF2-40B4-BE49-F238E27FC236}">
                <a16:creationId xmlns:a16="http://schemas.microsoft.com/office/drawing/2014/main" id="{8663823F-6E3A-14C2-0D67-A62F485F3A23}"/>
              </a:ext>
            </a:extLst>
          </p:cNvPr>
          <p:cNvSpPr>
            <a:spLocks noGrp="1"/>
          </p:cNvSpPr>
          <p:nvPr>
            <p:ph type="title"/>
          </p:nvPr>
        </p:nvSpPr>
        <p:spPr/>
        <p:txBody>
          <a:bodyPr/>
          <a:lstStyle/>
          <a:p>
            <a:r>
              <a:rPr lang="en-VN" dirty="0"/>
              <a:t>Agenda</a:t>
            </a:r>
          </a:p>
        </p:txBody>
      </p:sp>
      <p:sp>
        <p:nvSpPr>
          <p:cNvPr id="5" name="Slide Number Placeholder 4">
            <a:extLst>
              <a:ext uri="{FF2B5EF4-FFF2-40B4-BE49-F238E27FC236}">
                <a16:creationId xmlns:a16="http://schemas.microsoft.com/office/drawing/2014/main" id="{15482289-40B2-C584-AE02-A3FEB872A6BD}"/>
              </a:ext>
            </a:extLst>
          </p:cNvPr>
          <p:cNvSpPr>
            <a:spLocks noGrp="1"/>
          </p:cNvSpPr>
          <p:nvPr>
            <p:ph type="sldNum" sz="quarter" idx="15"/>
          </p:nvPr>
        </p:nvSpPr>
        <p:spPr/>
        <p:txBody>
          <a:bodyPr/>
          <a:lstStyle/>
          <a:p>
            <a:fld id="{0AF20276-0DC3-B247-B3AE-8A6E2F85407E}" type="slidenum">
              <a:rPr lang="en-VN" smtClean="0"/>
              <a:t>2</a:t>
            </a:fld>
            <a:endParaRPr lang="en-VN"/>
          </a:p>
        </p:txBody>
      </p:sp>
    </p:spTree>
    <p:extLst>
      <p:ext uri="{BB962C8B-B14F-4D97-AF65-F5344CB8AC3E}">
        <p14:creationId xmlns:p14="http://schemas.microsoft.com/office/powerpoint/2010/main" val="15448729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5296F5-60BC-3F11-3536-60CDB0EEA45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0764014-59CC-6F54-DDE9-DBDC845C4416}"/>
              </a:ext>
            </a:extLst>
          </p:cNvPr>
          <p:cNvSpPr>
            <a:spLocks noGrp="1"/>
          </p:cNvSpPr>
          <p:nvPr>
            <p:ph type="title"/>
          </p:nvPr>
        </p:nvSpPr>
        <p:spPr>
          <a:xfrm>
            <a:off x="236536" y="1003"/>
            <a:ext cx="8450263" cy="514350"/>
          </a:xfrm>
        </p:spPr>
        <p:txBody>
          <a:bodyPr/>
          <a:lstStyle/>
          <a:p>
            <a:r>
              <a:rPr lang="en-VN" dirty="0"/>
              <a:t>1. Quick Update</a:t>
            </a:r>
          </a:p>
        </p:txBody>
      </p:sp>
      <p:sp>
        <p:nvSpPr>
          <p:cNvPr id="10" name="Slide Number Placeholder 9">
            <a:extLst>
              <a:ext uri="{FF2B5EF4-FFF2-40B4-BE49-F238E27FC236}">
                <a16:creationId xmlns:a16="http://schemas.microsoft.com/office/drawing/2014/main" id="{B87E998C-AEBE-C1CE-9D16-4BEEE027EA78}"/>
              </a:ext>
            </a:extLst>
          </p:cNvPr>
          <p:cNvSpPr>
            <a:spLocks noGrp="1"/>
          </p:cNvSpPr>
          <p:nvPr>
            <p:ph type="sldNum" sz="quarter" idx="15"/>
          </p:nvPr>
        </p:nvSpPr>
        <p:spPr/>
        <p:txBody>
          <a:bodyPr/>
          <a:lstStyle/>
          <a:p>
            <a:fld id="{0AF20276-0DC3-B247-B3AE-8A6E2F85407E}" type="slidenum">
              <a:rPr lang="en-VN" smtClean="0"/>
              <a:t>3</a:t>
            </a:fld>
            <a:endParaRPr lang="en-VN"/>
          </a:p>
        </p:txBody>
      </p:sp>
      <p:sp>
        <p:nvSpPr>
          <p:cNvPr id="7" name="Text Placeholder 6">
            <a:extLst>
              <a:ext uri="{FF2B5EF4-FFF2-40B4-BE49-F238E27FC236}">
                <a16:creationId xmlns:a16="http://schemas.microsoft.com/office/drawing/2014/main" id="{767512C5-2DA5-42D5-1135-E63C80A626BD}"/>
              </a:ext>
            </a:extLst>
          </p:cNvPr>
          <p:cNvSpPr>
            <a:spLocks noGrp="1"/>
          </p:cNvSpPr>
          <p:nvPr>
            <p:ph type="body" sz="quarter" idx="13"/>
          </p:nvPr>
        </p:nvSpPr>
        <p:spPr/>
        <p:txBody>
          <a:bodyPr/>
          <a:lstStyle/>
          <a:p>
            <a:pPr marL="342900" indent="-342900">
              <a:buAutoNum type="arabicPeriod"/>
            </a:pPr>
            <a:r>
              <a:rPr lang="en-VN" dirty="0"/>
              <a:t>Review paper summary</a:t>
            </a:r>
          </a:p>
          <a:p>
            <a:pPr marL="342900" indent="-342900">
              <a:buAutoNum type="arabicPeriod"/>
            </a:pPr>
            <a:r>
              <a:rPr lang="en-VN" dirty="0"/>
              <a:t>Pipeline for measurement</a:t>
            </a:r>
          </a:p>
        </p:txBody>
      </p:sp>
    </p:spTree>
    <p:extLst>
      <p:ext uri="{BB962C8B-B14F-4D97-AF65-F5344CB8AC3E}">
        <p14:creationId xmlns:p14="http://schemas.microsoft.com/office/powerpoint/2010/main" val="14146514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D85C64-655B-8EC8-2180-8D3D8930338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1D3D771-B92B-967F-1C0E-438A2E23A6FC}"/>
              </a:ext>
            </a:extLst>
          </p:cNvPr>
          <p:cNvSpPr>
            <a:spLocks noGrp="1"/>
          </p:cNvSpPr>
          <p:nvPr>
            <p:ph type="title"/>
          </p:nvPr>
        </p:nvSpPr>
        <p:spPr>
          <a:xfrm>
            <a:off x="236536" y="1003"/>
            <a:ext cx="8450263" cy="514350"/>
          </a:xfrm>
        </p:spPr>
        <p:txBody>
          <a:bodyPr/>
          <a:lstStyle/>
          <a:p>
            <a:r>
              <a:rPr lang="en-VN" dirty="0"/>
              <a:t>2. Literature Review Paper – Background</a:t>
            </a:r>
          </a:p>
        </p:txBody>
      </p:sp>
      <p:sp>
        <p:nvSpPr>
          <p:cNvPr id="22" name="Slide Number Placeholder 21">
            <a:extLst>
              <a:ext uri="{FF2B5EF4-FFF2-40B4-BE49-F238E27FC236}">
                <a16:creationId xmlns:a16="http://schemas.microsoft.com/office/drawing/2014/main" id="{3A7E10A3-80C8-EEDF-482F-304E99C6A672}"/>
              </a:ext>
            </a:extLst>
          </p:cNvPr>
          <p:cNvSpPr>
            <a:spLocks noGrp="1"/>
          </p:cNvSpPr>
          <p:nvPr>
            <p:ph type="sldNum" sz="quarter" idx="15"/>
          </p:nvPr>
        </p:nvSpPr>
        <p:spPr/>
        <p:txBody>
          <a:bodyPr/>
          <a:lstStyle/>
          <a:p>
            <a:fld id="{0AF20276-0DC3-B247-B3AE-8A6E2F85407E}" type="slidenum">
              <a:rPr lang="en-VN" smtClean="0"/>
              <a:t>4</a:t>
            </a:fld>
            <a:endParaRPr lang="en-VN"/>
          </a:p>
        </p:txBody>
      </p:sp>
      <p:sp>
        <p:nvSpPr>
          <p:cNvPr id="5" name="Text Placeholder 6">
            <a:extLst>
              <a:ext uri="{FF2B5EF4-FFF2-40B4-BE49-F238E27FC236}">
                <a16:creationId xmlns:a16="http://schemas.microsoft.com/office/drawing/2014/main" id="{D824A26F-8A37-AD5A-B6E0-3BDF1156F0C4}"/>
              </a:ext>
            </a:extLst>
          </p:cNvPr>
          <p:cNvSpPr>
            <a:spLocks noGrp="1"/>
          </p:cNvSpPr>
          <p:nvPr>
            <p:ph type="body" sz="quarter" idx="13"/>
          </p:nvPr>
        </p:nvSpPr>
        <p:spPr>
          <a:xfrm>
            <a:off x="762000" y="895350"/>
            <a:ext cx="3954463" cy="514350"/>
          </a:xfrm>
        </p:spPr>
        <p:txBody>
          <a:bodyPr/>
          <a:lstStyle/>
          <a:p>
            <a:r>
              <a:rPr lang="en-VN" b="0" dirty="0"/>
              <a:t>Spreadsheet to keep track with papers</a:t>
            </a:r>
          </a:p>
        </p:txBody>
      </p:sp>
    </p:spTree>
    <p:extLst>
      <p:ext uri="{BB962C8B-B14F-4D97-AF65-F5344CB8AC3E}">
        <p14:creationId xmlns:p14="http://schemas.microsoft.com/office/powerpoint/2010/main" val="25799847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C6CD74-E3DE-8558-8380-B56DC2D5947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8BC6BD2-D08C-C0DB-630D-72B5F0628968}"/>
              </a:ext>
            </a:extLst>
          </p:cNvPr>
          <p:cNvSpPr>
            <a:spLocks noGrp="1"/>
          </p:cNvSpPr>
          <p:nvPr>
            <p:ph type="title"/>
          </p:nvPr>
        </p:nvSpPr>
        <p:spPr>
          <a:xfrm>
            <a:off x="236536" y="1003"/>
            <a:ext cx="8450263" cy="514350"/>
          </a:xfrm>
        </p:spPr>
        <p:txBody>
          <a:bodyPr/>
          <a:lstStyle/>
          <a:p>
            <a:r>
              <a:rPr lang="en-VN" dirty="0"/>
              <a:t>2. Literature Review Paper – Progress</a:t>
            </a:r>
          </a:p>
        </p:txBody>
      </p:sp>
      <p:sp>
        <p:nvSpPr>
          <p:cNvPr id="22" name="Slide Number Placeholder 21">
            <a:extLst>
              <a:ext uri="{FF2B5EF4-FFF2-40B4-BE49-F238E27FC236}">
                <a16:creationId xmlns:a16="http://schemas.microsoft.com/office/drawing/2014/main" id="{550BCC9F-B61B-0E30-26D1-C3C4FD404F82}"/>
              </a:ext>
            </a:extLst>
          </p:cNvPr>
          <p:cNvSpPr>
            <a:spLocks noGrp="1"/>
          </p:cNvSpPr>
          <p:nvPr>
            <p:ph type="sldNum" sz="quarter" idx="15"/>
          </p:nvPr>
        </p:nvSpPr>
        <p:spPr/>
        <p:txBody>
          <a:bodyPr/>
          <a:lstStyle/>
          <a:p>
            <a:fld id="{0AF20276-0DC3-B247-B3AE-8A6E2F85407E}" type="slidenum">
              <a:rPr lang="en-VN" smtClean="0"/>
              <a:t>5</a:t>
            </a:fld>
            <a:endParaRPr lang="en-VN"/>
          </a:p>
        </p:txBody>
      </p:sp>
      <p:graphicFrame>
        <p:nvGraphicFramePr>
          <p:cNvPr id="4" name="Table 3">
            <a:extLst>
              <a:ext uri="{FF2B5EF4-FFF2-40B4-BE49-F238E27FC236}">
                <a16:creationId xmlns:a16="http://schemas.microsoft.com/office/drawing/2014/main" id="{9FCBE9C9-395E-43C1-22C0-9FBE026F10F8}"/>
              </a:ext>
            </a:extLst>
          </p:cNvPr>
          <p:cNvGraphicFramePr/>
          <p:nvPr>
            <p:extLst>
              <p:ext uri="{D42A27DB-BD31-4B8C-83A1-F6EECF244321}">
                <p14:modId xmlns:p14="http://schemas.microsoft.com/office/powerpoint/2010/main" val="3906812732"/>
              </p:ext>
            </p:extLst>
          </p:nvPr>
        </p:nvGraphicFramePr>
        <p:xfrm>
          <a:off x="400050" y="1123950"/>
          <a:ext cx="7753350" cy="2819400"/>
        </p:xfrm>
        <a:graphic>
          <a:graphicData uri="http://schemas.openxmlformats.org/drawingml/2006/table">
            <a:tbl>
              <a:tblPr/>
              <a:tblGrid>
                <a:gridCol w="1897673">
                  <a:extLst>
                    <a:ext uri="{9D8B030D-6E8A-4147-A177-3AD203B41FA5}">
                      <a16:colId xmlns:a16="http://schemas.microsoft.com/office/drawing/2014/main" val="20000"/>
                    </a:ext>
                  </a:extLst>
                </a:gridCol>
                <a:gridCol w="1951892">
                  <a:extLst>
                    <a:ext uri="{9D8B030D-6E8A-4147-A177-3AD203B41FA5}">
                      <a16:colId xmlns:a16="http://schemas.microsoft.com/office/drawing/2014/main" val="20001"/>
                    </a:ext>
                  </a:extLst>
                </a:gridCol>
                <a:gridCol w="3903785">
                  <a:extLst>
                    <a:ext uri="{9D8B030D-6E8A-4147-A177-3AD203B41FA5}">
                      <a16:colId xmlns:a16="http://schemas.microsoft.com/office/drawing/2014/main" val="20002"/>
                    </a:ext>
                  </a:extLst>
                </a:gridCol>
              </a:tblGrid>
              <a:tr h="704850">
                <a:tc>
                  <a:txBody>
                    <a:bodyPr/>
                    <a:lstStyle/>
                    <a:p>
                      <a:r>
                        <a:rPr sz="915" b="1">
                          <a:solidFill>
                            <a:srgbClr val="FFFFFF"/>
                          </a:solidFill>
                          <a:latin typeface="Arial"/>
                          <a:ea typeface="Arial"/>
                          <a:cs typeface="Arial"/>
                        </a:rPr>
                        <a:t>Sheet</a:t>
                      </a:r>
                    </a:p>
                  </a:txBody>
                  <a:tcPr anchor="ctr">
                    <a:solidFill>
                      <a:srgbClr val="72243D"/>
                    </a:solidFill>
                  </a:tcPr>
                </a:tc>
                <a:tc>
                  <a:txBody>
                    <a:bodyPr/>
                    <a:lstStyle/>
                    <a:p>
                      <a:r>
                        <a:rPr sz="915" b="1">
                          <a:solidFill>
                            <a:srgbClr val="FFFFFF"/>
                          </a:solidFill>
                          <a:latin typeface="Arial"/>
                          <a:ea typeface="Arial"/>
                          <a:cs typeface="Arial"/>
                        </a:rPr>
                        <a:t>Unit of record</a:t>
                      </a:r>
                    </a:p>
                  </a:txBody>
                  <a:tcPr anchor="ctr">
                    <a:solidFill>
                      <a:srgbClr val="72243D"/>
                    </a:solidFill>
                  </a:tcPr>
                </a:tc>
                <a:tc>
                  <a:txBody>
                    <a:bodyPr/>
                    <a:lstStyle/>
                    <a:p>
                      <a:r>
                        <a:rPr sz="915" b="1">
                          <a:solidFill>
                            <a:srgbClr val="FFFFFF"/>
                          </a:solidFill>
                          <a:latin typeface="Arial"/>
                          <a:ea typeface="Arial"/>
                          <a:cs typeface="Arial"/>
                        </a:rPr>
                        <a:t>Question answered</a:t>
                      </a:r>
                    </a:p>
                  </a:txBody>
                  <a:tcPr anchor="ctr">
                    <a:solidFill>
                      <a:srgbClr val="72243D"/>
                    </a:solidFill>
                  </a:tcPr>
                </a:tc>
                <a:extLst>
                  <a:ext uri="{0D108BD9-81ED-4DB2-BD59-A6C34878D82A}">
                    <a16:rowId xmlns:a16="http://schemas.microsoft.com/office/drawing/2014/main" val="10000"/>
                  </a:ext>
                </a:extLst>
              </a:tr>
              <a:tr h="704850">
                <a:tc>
                  <a:txBody>
                    <a:bodyPr/>
                    <a:lstStyle/>
                    <a:p>
                      <a:r>
                        <a:rPr sz="915" b="1">
                          <a:solidFill>
                            <a:srgbClr val="72243D"/>
                          </a:solidFill>
                          <a:latin typeface="Arial"/>
                          <a:ea typeface="Arial"/>
                          <a:cs typeface="Arial"/>
                        </a:rPr>
                        <a:t>Individual Studies</a:t>
                      </a:r>
                    </a:p>
                  </a:txBody>
                  <a:tcPr anchor="ctr">
                    <a:solidFill>
                      <a:srgbClr val="F4E9ED"/>
                    </a:solidFill>
                  </a:tcPr>
                </a:tc>
                <a:tc>
                  <a:txBody>
                    <a:bodyPr/>
                    <a:lstStyle/>
                    <a:p>
                      <a:r>
                        <a:rPr sz="915">
                          <a:solidFill>
                            <a:srgbClr val="303030"/>
                          </a:solidFill>
                          <a:latin typeface="Arial"/>
                          <a:ea typeface="Arial"/>
                          <a:cs typeface="Arial"/>
                        </a:rPr>
                        <a:t>One study-level claim</a:t>
                      </a:r>
                    </a:p>
                  </a:txBody>
                  <a:tcPr anchor="ctr"/>
                </a:tc>
                <a:tc>
                  <a:txBody>
                    <a:bodyPr/>
                    <a:lstStyle/>
                    <a:p>
                      <a:r>
                        <a:rPr sz="915">
                          <a:solidFill>
                            <a:srgbClr val="303030"/>
                          </a:solidFill>
                          <a:latin typeface="Arial"/>
                          <a:ea typeface="Arial"/>
                          <a:cs typeface="Arial"/>
                        </a:rPr>
                        <a:t>What was measured, how, in whom, and for which tested endpoint?</a:t>
                      </a:r>
                    </a:p>
                  </a:txBody>
                  <a:tcPr anchor="ctr"/>
                </a:tc>
                <a:extLst>
                  <a:ext uri="{0D108BD9-81ED-4DB2-BD59-A6C34878D82A}">
                    <a16:rowId xmlns:a16="http://schemas.microsoft.com/office/drawing/2014/main" val="10001"/>
                  </a:ext>
                </a:extLst>
              </a:tr>
              <a:tr h="704850">
                <a:tc>
                  <a:txBody>
                    <a:bodyPr/>
                    <a:lstStyle/>
                    <a:p>
                      <a:r>
                        <a:rPr sz="915" b="1">
                          <a:solidFill>
                            <a:srgbClr val="72243D"/>
                          </a:solidFill>
                          <a:latin typeface="Arial"/>
                          <a:ea typeface="Arial"/>
                          <a:cs typeface="Arial"/>
                        </a:rPr>
                        <a:t>Existing Reviews</a:t>
                      </a:r>
                    </a:p>
                  </a:txBody>
                  <a:tcPr anchor="ctr">
                    <a:solidFill>
                      <a:srgbClr val="F4E9ED"/>
                    </a:solidFill>
                  </a:tcPr>
                </a:tc>
                <a:tc>
                  <a:txBody>
                    <a:bodyPr/>
                    <a:lstStyle/>
                    <a:p>
                      <a:r>
                        <a:rPr sz="915">
                          <a:solidFill>
                            <a:srgbClr val="303030"/>
                          </a:solidFill>
                          <a:latin typeface="Arial"/>
                          <a:ea typeface="Arial"/>
                          <a:cs typeface="Arial"/>
                        </a:rPr>
                        <a:t>One prior review</a:t>
                      </a:r>
                    </a:p>
                  </a:txBody>
                  <a:tcPr anchor="ctr"/>
                </a:tc>
                <a:tc>
                  <a:txBody>
                    <a:bodyPr/>
                    <a:lstStyle/>
                    <a:p>
                      <a:r>
                        <a:rPr sz="915" dirty="0">
                          <a:solidFill>
                            <a:srgbClr val="303030"/>
                          </a:solidFill>
                          <a:latin typeface="Arial"/>
                          <a:ea typeface="Arial"/>
                          <a:cs typeface="Arial"/>
                        </a:rPr>
                        <a:t>What literature has already been synthesized, with which scope and method?</a:t>
                      </a:r>
                    </a:p>
                  </a:txBody>
                  <a:tcPr anchor="ctr"/>
                </a:tc>
                <a:extLst>
                  <a:ext uri="{0D108BD9-81ED-4DB2-BD59-A6C34878D82A}">
                    <a16:rowId xmlns:a16="http://schemas.microsoft.com/office/drawing/2014/main" val="10002"/>
                  </a:ext>
                </a:extLst>
              </a:tr>
              <a:tr h="704850">
                <a:tc>
                  <a:txBody>
                    <a:bodyPr/>
                    <a:lstStyle/>
                    <a:p>
                      <a:r>
                        <a:rPr sz="915" b="1">
                          <a:solidFill>
                            <a:srgbClr val="72243D"/>
                          </a:solidFill>
                          <a:latin typeface="Arial"/>
                          <a:ea typeface="Arial"/>
                          <a:cs typeface="Arial"/>
                        </a:rPr>
                        <a:t>Paper Tracker</a:t>
                      </a:r>
                    </a:p>
                  </a:txBody>
                  <a:tcPr anchor="ctr">
                    <a:solidFill>
                      <a:srgbClr val="F4E9ED"/>
                    </a:solidFill>
                  </a:tcPr>
                </a:tc>
                <a:tc>
                  <a:txBody>
                    <a:bodyPr/>
                    <a:lstStyle/>
                    <a:p>
                      <a:r>
                        <a:rPr sz="915">
                          <a:solidFill>
                            <a:srgbClr val="303030"/>
                          </a:solidFill>
                          <a:latin typeface="Arial"/>
                          <a:ea typeface="Arial"/>
                          <a:cs typeface="Arial"/>
                        </a:rPr>
                        <a:t>One PDF/file</a:t>
                      </a:r>
                    </a:p>
                  </a:txBody>
                  <a:tcPr anchor="ctr"/>
                </a:tc>
                <a:tc>
                  <a:txBody>
                    <a:bodyPr/>
                    <a:lstStyle/>
                    <a:p>
                      <a:r>
                        <a:rPr lang="vi-VN" sz="915" dirty="0">
                          <a:solidFill>
                            <a:srgbClr val="303030"/>
                          </a:solidFill>
                          <a:latin typeface="Arial"/>
                          <a:ea typeface="Arial"/>
                          <a:cs typeface="Arial"/>
                        </a:rPr>
                        <a:t>How many papers? </a:t>
                      </a:r>
                      <a:endParaRPr sz="915" dirty="0">
                        <a:solidFill>
                          <a:srgbClr val="303030"/>
                        </a:solidFill>
                        <a:latin typeface="Arial"/>
                        <a:ea typeface="Arial"/>
                        <a:cs typeface="Arial"/>
                      </a:endParaRPr>
                    </a:p>
                  </a:txBody>
                  <a:tcPr anchor="ct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0088443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884D2F-6AC0-768A-22B4-019F8F731EB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EDA3CDF-20A9-C97C-207C-014BBFEC5F6A}"/>
              </a:ext>
            </a:extLst>
          </p:cNvPr>
          <p:cNvSpPr>
            <a:spLocks noGrp="1"/>
          </p:cNvSpPr>
          <p:nvPr>
            <p:ph type="title"/>
          </p:nvPr>
        </p:nvSpPr>
        <p:spPr>
          <a:xfrm>
            <a:off x="236536" y="1003"/>
            <a:ext cx="8450263" cy="514350"/>
          </a:xfrm>
        </p:spPr>
        <p:txBody>
          <a:bodyPr/>
          <a:lstStyle/>
          <a:p>
            <a:r>
              <a:rPr lang="en-VN" dirty="0"/>
              <a:t>2. Literature Review Paper – Progress</a:t>
            </a:r>
          </a:p>
        </p:txBody>
      </p:sp>
      <p:sp>
        <p:nvSpPr>
          <p:cNvPr id="22" name="Slide Number Placeholder 21">
            <a:extLst>
              <a:ext uri="{FF2B5EF4-FFF2-40B4-BE49-F238E27FC236}">
                <a16:creationId xmlns:a16="http://schemas.microsoft.com/office/drawing/2014/main" id="{069BCD31-4871-A6BA-C201-E93CA084A136}"/>
              </a:ext>
            </a:extLst>
          </p:cNvPr>
          <p:cNvSpPr>
            <a:spLocks noGrp="1"/>
          </p:cNvSpPr>
          <p:nvPr>
            <p:ph type="sldNum" sz="quarter" idx="15"/>
          </p:nvPr>
        </p:nvSpPr>
        <p:spPr/>
        <p:txBody>
          <a:bodyPr/>
          <a:lstStyle/>
          <a:p>
            <a:fld id="{0AF20276-0DC3-B247-B3AE-8A6E2F85407E}" type="slidenum">
              <a:rPr lang="en-VN" smtClean="0"/>
              <a:t>6</a:t>
            </a:fld>
            <a:endParaRPr lang="en-VN"/>
          </a:p>
        </p:txBody>
      </p:sp>
      <p:graphicFrame>
        <p:nvGraphicFramePr>
          <p:cNvPr id="2" name="Table 1">
            <a:extLst>
              <a:ext uri="{FF2B5EF4-FFF2-40B4-BE49-F238E27FC236}">
                <a16:creationId xmlns:a16="http://schemas.microsoft.com/office/drawing/2014/main" id="{543D3FE0-8145-6AA3-AF1B-85491549E61E}"/>
              </a:ext>
            </a:extLst>
          </p:cNvPr>
          <p:cNvGraphicFramePr/>
          <p:nvPr>
            <p:extLst>
              <p:ext uri="{D42A27DB-BD31-4B8C-83A1-F6EECF244321}">
                <p14:modId xmlns:p14="http://schemas.microsoft.com/office/powerpoint/2010/main" val="3933878989"/>
              </p:ext>
            </p:extLst>
          </p:nvPr>
        </p:nvGraphicFramePr>
        <p:xfrm>
          <a:off x="381000" y="933450"/>
          <a:ext cx="8305800" cy="3381376"/>
        </p:xfrm>
        <a:graphic>
          <a:graphicData uri="http://schemas.openxmlformats.org/drawingml/2006/table">
            <a:tbl>
              <a:tblPr/>
              <a:tblGrid>
                <a:gridCol w="2214880">
                  <a:extLst>
                    <a:ext uri="{9D8B030D-6E8A-4147-A177-3AD203B41FA5}">
                      <a16:colId xmlns:a16="http://schemas.microsoft.com/office/drawing/2014/main" val="20000"/>
                    </a:ext>
                  </a:extLst>
                </a:gridCol>
                <a:gridCol w="3876040">
                  <a:extLst>
                    <a:ext uri="{9D8B030D-6E8A-4147-A177-3AD203B41FA5}">
                      <a16:colId xmlns:a16="http://schemas.microsoft.com/office/drawing/2014/main" val="20002"/>
                    </a:ext>
                  </a:extLst>
                </a:gridCol>
                <a:gridCol w="2214880">
                  <a:extLst>
                    <a:ext uri="{9D8B030D-6E8A-4147-A177-3AD203B41FA5}">
                      <a16:colId xmlns:a16="http://schemas.microsoft.com/office/drawing/2014/main" val="20003"/>
                    </a:ext>
                  </a:extLst>
                </a:gridCol>
              </a:tblGrid>
              <a:tr h="422672">
                <a:tc>
                  <a:txBody>
                    <a:bodyPr/>
                    <a:lstStyle/>
                    <a:p>
                      <a:r>
                        <a:rPr sz="870" b="1">
                          <a:solidFill>
                            <a:srgbClr val="FFFFFF"/>
                          </a:solidFill>
                          <a:latin typeface="Arial"/>
                          <a:ea typeface="Arial"/>
                          <a:cs typeface="Arial"/>
                        </a:rPr>
                        <a:t>Group</a:t>
                      </a:r>
                    </a:p>
                  </a:txBody>
                  <a:tcPr anchor="ctr">
                    <a:solidFill>
                      <a:srgbClr val="72243D"/>
                    </a:solidFill>
                  </a:tcPr>
                </a:tc>
                <a:tc>
                  <a:txBody>
                    <a:bodyPr/>
                    <a:lstStyle/>
                    <a:p>
                      <a:r>
                        <a:rPr sz="870" b="1">
                          <a:solidFill>
                            <a:srgbClr val="FFFFFF"/>
                          </a:solidFill>
                          <a:latin typeface="Arial"/>
                          <a:ea typeface="Arial"/>
                          <a:cs typeface="Arial"/>
                        </a:rPr>
                        <a:t>Primary purpose</a:t>
                      </a:r>
                    </a:p>
                  </a:txBody>
                  <a:tcPr anchor="ctr">
                    <a:solidFill>
                      <a:srgbClr val="72243D"/>
                    </a:solidFill>
                  </a:tcPr>
                </a:tc>
                <a:tc>
                  <a:txBody>
                    <a:bodyPr/>
                    <a:lstStyle/>
                    <a:p>
                      <a:r>
                        <a:rPr sz="870" b="1" dirty="0">
                          <a:solidFill>
                            <a:srgbClr val="FFFFFF"/>
                          </a:solidFill>
                          <a:latin typeface="Arial"/>
                          <a:ea typeface="Arial"/>
                          <a:cs typeface="Arial"/>
                        </a:rPr>
                        <a:t>Downstream use</a:t>
                      </a:r>
                    </a:p>
                  </a:txBody>
                  <a:tcPr anchor="ctr">
                    <a:solidFill>
                      <a:srgbClr val="72243D"/>
                    </a:solidFill>
                  </a:tcPr>
                </a:tc>
                <a:extLst>
                  <a:ext uri="{0D108BD9-81ED-4DB2-BD59-A6C34878D82A}">
                    <a16:rowId xmlns:a16="http://schemas.microsoft.com/office/drawing/2014/main" val="10000"/>
                  </a:ext>
                </a:extLst>
              </a:tr>
              <a:tr h="422672">
                <a:tc>
                  <a:txBody>
                    <a:bodyPr/>
                    <a:lstStyle/>
                    <a:p>
                      <a:r>
                        <a:rPr sz="832" b="1">
                          <a:solidFill>
                            <a:srgbClr val="72243D"/>
                          </a:solidFill>
                          <a:latin typeface="Arial"/>
                          <a:ea typeface="Arial"/>
                          <a:cs typeface="Arial"/>
                        </a:rPr>
                        <a:t>Record and Provenance</a:t>
                      </a:r>
                    </a:p>
                  </a:txBody>
                  <a:tcPr anchor="ctr">
                    <a:solidFill>
                      <a:srgbClr val="F4E9ED"/>
                    </a:solidFill>
                  </a:tcPr>
                </a:tc>
                <a:tc>
                  <a:txBody>
                    <a:bodyPr/>
                    <a:lstStyle/>
                    <a:p>
                      <a:r>
                        <a:rPr sz="832">
                          <a:solidFill>
                            <a:srgbClr val="303030"/>
                          </a:solidFill>
                          <a:latin typeface="Arial"/>
                          <a:ea typeface="Arial"/>
                          <a:cs typeface="Arial"/>
                        </a:rPr>
                        <a:t>Connects every extracted claim to the PDF, bibliography, and tracker.</a:t>
                      </a:r>
                    </a:p>
                  </a:txBody>
                  <a:tcPr anchor="ctr"/>
                </a:tc>
                <a:tc>
                  <a:txBody>
                    <a:bodyPr/>
                    <a:lstStyle/>
                    <a:p>
                      <a:r>
                        <a:rPr sz="832" dirty="0">
                          <a:solidFill>
                            <a:srgbClr val="303030"/>
                          </a:solidFill>
                          <a:latin typeface="Arial"/>
                          <a:ea typeface="Arial"/>
                          <a:cs typeface="Arial"/>
                        </a:rPr>
                        <a:t>Audit and deduplication</a:t>
                      </a:r>
                    </a:p>
                  </a:txBody>
                  <a:tcPr anchor="ctr"/>
                </a:tc>
                <a:extLst>
                  <a:ext uri="{0D108BD9-81ED-4DB2-BD59-A6C34878D82A}">
                    <a16:rowId xmlns:a16="http://schemas.microsoft.com/office/drawing/2014/main" val="10001"/>
                  </a:ext>
                </a:extLst>
              </a:tr>
              <a:tr h="422672">
                <a:tc>
                  <a:txBody>
                    <a:bodyPr/>
                    <a:lstStyle/>
                    <a:p>
                      <a:r>
                        <a:rPr sz="832" b="1">
                          <a:solidFill>
                            <a:srgbClr val="72243D"/>
                          </a:solidFill>
                          <a:latin typeface="Arial"/>
                          <a:ea typeface="Arial"/>
                          <a:cs typeface="Arial"/>
                        </a:rPr>
                        <a:t>Eligibility and Author Intent</a:t>
                      </a:r>
                    </a:p>
                  </a:txBody>
                  <a:tcPr anchor="ctr">
                    <a:solidFill>
                      <a:srgbClr val="F4E9ED"/>
                    </a:solidFill>
                  </a:tcPr>
                </a:tc>
                <a:tc>
                  <a:txBody>
                    <a:bodyPr/>
                    <a:lstStyle/>
                    <a:p>
                      <a:r>
                        <a:rPr sz="832">
                          <a:solidFill>
                            <a:srgbClr val="303030"/>
                          </a:solidFill>
                          <a:latin typeface="Arial"/>
                          <a:ea typeface="Arial"/>
                          <a:cs typeface="Arial"/>
                        </a:rPr>
                        <a:t>Defines what the paper is, why it is relevant, and the exact claim being audited.</a:t>
                      </a:r>
                    </a:p>
                  </a:txBody>
                  <a:tcPr anchor="ctr"/>
                </a:tc>
                <a:tc>
                  <a:txBody>
                    <a:bodyPr/>
                    <a:lstStyle/>
                    <a:p>
                      <a:r>
                        <a:rPr sz="832" dirty="0">
                          <a:solidFill>
                            <a:srgbClr val="303030"/>
                          </a:solidFill>
                          <a:latin typeface="Arial"/>
                          <a:ea typeface="Arial"/>
                          <a:cs typeface="Arial"/>
                        </a:rPr>
                        <a:t>Eligibility and claim audit</a:t>
                      </a:r>
                    </a:p>
                  </a:txBody>
                  <a:tcPr anchor="ctr"/>
                </a:tc>
                <a:extLst>
                  <a:ext uri="{0D108BD9-81ED-4DB2-BD59-A6C34878D82A}">
                    <a16:rowId xmlns:a16="http://schemas.microsoft.com/office/drawing/2014/main" val="10002"/>
                  </a:ext>
                </a:extLst>
              </a:tr>
              <a:tr h="422672">
                <a:tc>
                  <a:txBody>
                    <a:bodyPr/>
                    <a:lstStyle/>
                    <a:p>
                      <a:r>
                        <a:rPr sz="832" b="1">
                          <a:solidFill>
                            <a:srgbClr val="72243D"/>
                          </a:solidFill>
                          <a:latin typeface="Arial"/>
                          <a:ea typeface="Arial"/>
                          <a:cs typeface="Arial"/>
                        </a:rPr>
                        <a:t>Population and Clinical Context</a:t>
                      </a:r>
                    </a:p>
                  </a:txBody>
                  <a:tcPr anchor="ctr">
                    <a:solidFill>
                      <a:srgbClr val="F4E9ED"/>
                    </a:solidFill>
                  </a:tcPr>
                </a:tc>
                <a:tc>
                  <a:txBody>
                    <a:bodyPr/>
                    <a:lstStyle/>
                    <a:p>
                      <a:r>
                        <a:rPr sz="832">
                          <a:solidFill>
                            <a:srgbClr val="303030"/>
                          </a:solidFill>
                          <a:latin typeface="Arial"/>
                          <a:ea typeface="Arial"/>
                          <a:cs typeface="Arial"/>
                        </a:rPr>
                        <a:t>Defines who the result applies to and which transfer claims remain defensible.</a:t>
                      </a:r>
                    </a:p>
                  </a:txBody>
                  <a:tcPr anchor="ctr"/>
                </a:tc>
                <a:tc>
                  <a:txBody>
                    <a:bodyPr/>
                    <a:lstStyle/>
                    <a:p>
                      <a:r>
                        <a:rPr sz="832" dirty="0">
                          <a:solidFill>
                            <a:srgbClr val="303030"/>
                          </a:solidFill>
                          <a:latin typeface="Arial"/>
                          <a:ea typeface="Arial"/>
                          <a:cs typeface="Arial"/>
                        </a:rPr>
                        <a:t>Transferability matrix</a:t>
                      </a:r>
                    </a:p>
                  </a:txBody>
                  <a:tcPr anchor="ctr"/>
                </a:tc>
                <a:extLst>
                  <a:ext uri="{0D108BD9-81ED-4DB2-BD59-A6C34878D82A}">
                    <a16:rowId xmlns:a16="http://schemas.microsoft.com/office/drawing/2014/main" val="10003"/>
                  </a:ext>
                </a:extLst>
              </a:tr>
              <a:tr h="422672">
                <a:tc>
                  <a:txBody>
                    <a:bodyPr/>
                    <a:lstStyle/>
                    <a:p>
                      <a:r>
                        <a:rPr sz="832" b="1">
                          <a:solidFill>
                            <a:srgbClr val="72243D"/>
                          </a:solidFill>
                          <a:latin typeface="Arial"/>
                          <a:ea typeface="Arial"/>
                          <a:cs typeface="Arial"/>
                        </a:rPr>
                        <a:t>Speech Task and Sensing Setup</a:t>
                      </a:r>
                    </a:p>
                  </a:txBody>
                  <a:tcPr anchor="ctr">
                    <a:solidFill>
                      <a:srgbClr val="F4E9ED"/>
                    </a:solidFill>
                  </a:tcPr>
                </a:tc>
                <a:tc>
                  <a:txBody>
                    <a:bodyPr/>
                    <a:lstStyle/>
                    <a:p>
                      <a:r>
                        <a:rPr sz="832">
                          <a:solidFill>
                            <a:srgbClr val="303030"/>
                          </a:solidFill>
                          <a:latin typeface="Arial"/>
                          <a:ea typeface="Arial"/>
                          <a:cs typeface="Arial"/>
                        </a:rPr>
                        <a:t>Specifies the speech question and the exact acquisition conditions that shape the signal.</a:t>
                      </a:r>
                    </a:p>
                  </a:txBody>
                  <a:tcPr anchor="ctr"/>
                </a:tc>
                <a:tc>
                  <a:txBody>
                    <a:bodyPr/>
                    <a:lstStyle/>
                    <a:p>
                      <a:r>
                        <a:rPr sz="832" dirty="0">
                          <a:solidFill>
                            <a:srgbClr val="303030"/>
                          </a:solidFill>
                          <a:latin typeface="Arial"/>
                          <a:ea typeface="Arial"/>
                          <a:cs typeface="Arial"/>
                        </a:rPr>
                        <a:t>Coverage and deployment matrices</a:t>
                      </a:r>
                    </a:p>
                  </a:txBody>
                  <a:tcPr anchor="ctr"/>
                </a:tc>
                <a:extLst>
                  <a:ext uri="{0D108BD9-81ED-4DB2-BD59-A6C34878D82A}">
                    <a16:rowId xmlns:a16="http://schemas.microsoft.com/office/drawing/2014/main" val="10004"/>
                  </a:ext>
                </a:extLst>
              </a:tr>
              <a:tr h="422672">
                <a:tc>
                  <a:txBody>
                    <a:bodyPr/>
                    <a:lstStyle/>
                    <a:p>
                      <a:r>
                        <a:rPr sz="832" b="1">
                          <a:solidFill>
                            <a:srgbClr val="72243D"/>
                          </a:solidFill>
                          <a:latin typeface="Arial"/>
                          <a:ea typeface="Arial"/>
                          <a:cs typeface="Arial"/>
                        </a:rPr>
                        <a:t>Measurement and Computation</a:t>
                      </a:r>
                    </a:p>
                  </a:txBody>
                  <a:tcPr anchor="ctr">
                    <a:solidFill>
                      <a:srgbClr val="F4E9ED"/>
                    </a:solidFill>
                  </a:tcPr>
                </a:tc>
                <a:tc>
                  <a:txBody>
                    <a:bodyPr/>
                    <a:lstStyle/>
                    <a:p>
                      <a:r>
                        <a:rPr sz="832">
                          <a:solidFill>
                            <a:srgbClr val="303030"/>
                          </a:solidFill>
                          <a:latin typeface="Arial"/>
                          <a:ea typeface="Arial"/>
                          <a:cs typeface="Arial"/>
                        </a:rPr>
                        <a:t>Traces the signal from physical quantity through instrument output and computational inference.</a:t>
                      </a:r>
                    </a:p>
                  </a:txBody>
                  <a:tcPr anchor="ctr"/>
                </a:tc>
                <a:tc>
                  <a:txBody>
                    <a:bodyPr/>
                    <a:lstStyle/>
                    <a:p>
                      <a:r>
                        <a:rPr sz="832" dirty="0">
                          <a:solidFill>
                            <a:srgbClr val="303030"/>
                          </a:solidFill>
                          <a:latin typeface="Arial"/>
                          <a:ea typeface="Arial"/>
                          <a:cs typeface="Arial"/>
                        </a:rPr>
                        <a:t>Measurand and processing comparison</a:t>
                      </a:r>
                    </a:p>
                  </a:txBody>
                  <a:tcPr anchor="ctr"/>
                </a:tc>
                <a:extLst>
                  <a:ext uri="{0D108BD9-81ED-4DB2-BD59-A6C34878D82A}">
                    <a16:rowId xmlns:a16="http://schemas.microsoft.com/office/drawing/2014/main" val="10005"/>
                  </a:ext>
                </a:extLst>
              </a:tr>
              <a:tr h="422672">
                <a:tc>
                  <a:txBody>
                    <a:bodyPr/>
                    <a:lstStyle/>
                    <a:p>
                      <a:r>
                        <a:rPr sz="832" b="1">
                          <a:solidFill>
                            <a:srgbClr val="72243D"/>
                          </a:solidFill>
                          <a:latin typeface="Arial"/>
                          <a:ea typeface="Arial"/>
                          <a:cs typeface="Arial"/>
                        </a:rPr>
                        <a:t>Results and Evidence Quality</a:t>
                      </a:r>
                    </a:p>
                  </a:txBody>
                  <a:tcPr anchor="ctr">
                    <a:solidFill>
                      <a:srgbClr val="F4E9ED"/>
                    </a:solidFill>
                  </a:tcPr>
                </a:tc>
                <a:tc>
                  <a:txBody>
                    <a:bodyPr/>
                    <a:lstStyle/>
                    <a:p>
                      <a:r>
                        <a:rPr sz="832">
                          <a:solidFill>
                            <a:srgbClr val="303030"/>
                          </a:solidFill>
                          <a:latin typeface="Arial"/>
                          <a:ea typeface="Arial"/>
                          <a:cs typeface="Arial"/>
                        </a:rPr>
                        <a:t>Records what the study actually tested, what it found, and how stable that evidence is.</a:t>
                      </a:r>
                    </a:p>
                  </a:txBody>
                  <a:tcPr anchor="ctr"/>
                </a:tc>
                <a:tc>
                  <a:txBody>
                    <a:bodyPr/>
                    <a:lstStyle/>
                    <a:p>
                      <a:r>
                        <a:rPr sz="832" dirty="0">
                          <a:solidFill>
                            <a:srgbClr val="303030"/>
                          </a:solidFill>
                          <a:latin typeface="Arial"/>
                          <a:ea typeface="Arial"/>
                          <a:cs typeface="Arial"/>
                        </a:rPr>
                        <a:t>Evidence maturity and result synthesis</a:t>
                      </a:r>
                    </a:p>
                  </a:txBody>
                  <a:tcPr anchor="ctr"/>
                </a:tc>
                <a:extLst>
                  <a:ext uri="{0D108BD9-81ED-4DB2-BD59-A6C34878D82A}">
                    <a16:rowId xmlns:a16="http://schemas.microsoft.com/office/drawing/2014/main" val="10006"/>
                  </a:ext>
                </a:extLst>
              </a:tr>
              <a:tr h="422672">
                <a:tc>
                  <a:txBody>
                    <a:bodyPr/>
                    <a:lstStyle/>
                    <a:p>
                      <a:r>
                        <a:rPr sz="832" b="1">
                          <a:solidFill>
                            <a:srgbClr val="72243D"/>
                          </a:solidFill>
                          <a:latin typeface="Arial"/>
                          <a:ea typeface="Arial"/>
                          <a:cs typeface="Arial"/>
                        </a:rPr>
                        <a:t>Translation and Critical Synthesis</a:t>
                      </a:r>
                    </a:p>
                  </a:txBody>
                  <a:tcPr anchor="ctr">
                    <a:solidFill>
                      <a:srgbClr val="F4E9ED"/>
                    </a:solidFill>
                  </a:tcPr>
                </a:tc>
                <a:tc>
                  <a:txBody>
                    <a:bodyPr/>
                    <a:lstStyle/>
                    <a:p>
                      <a:r>
                        <a:rPr sz="832" dirty="0">
                          <a:solidFill>
                            <a:srgbClr val="303030"/>
                          </a:solidFill>
                          <a:latin typeface="Arial"/>
                          <a:ea typeface="Arial"/>
                          <a:cs typeface="Arial"/>
                        </a:rPr>
                        <a:t>Converts extracted facts into bounded claims and tests whether clinical promises match the evidence.</a:t>
                      </a:r>
                    </a:p>
                  </a:txBody>
                  <a:tcPr anchor="ctr"/>
                </a:tc>
                <a:tc>
                  <a:txBody>
                    <a:bodyPr/>
                    <a:lstStyle/>
                    <a:p>
                      <a:r>
                        <a:rPr sz="832" dirty="0">
                          <a:solidFill>
                            <a:srgbClr val="303030"/>
                          </a:solidFill>
                          <a:latin typeface="Arial"/>
                          <a:ea typeface="Arial"/>
                          <a:cs typeface="Arial"/>
                        </a:rPr>
                        <a:t>T1-T5 and gap verification</a:t>
                      </a:r>
                    </a:p>
                  </a:txBody>
                  <a:tcPr anchor="ctr"/>
                </a:tc>
                <a:extLst>
                  <a:ext uri="{0D108BD9-81ED-4DB2-BD59-A6C34878D82A}">
                    <a16:rowId xmlns:a16="http://schemas.microsoft.com/office/drawing/2014/main" val="10007"/>
                  </a:ext>
                </a:extLst>
              </a:tr>
            </a:tbl>
          </a:graphicData>
        </a:graphic>
      </p:graphicFrame>
      <p:sp>
        <p:nvSpPr>
          <p:cNvPr id="6" name="TextBox 5">
            <a:extLst>
              <a:ext uri="{FF2B5EF4-FFF2-40B4-BE49-F238E27FC236}">
                <a16:creationId xmlns:a16="http://schemas.microsoft.com/office/drawing/2014/main" id="{5718FD2C-00DB-2EA6-BD68-047836A4DC2A}"/>
              </a:ext>
            </a:extLst>
          </p:cNvPr>
          <p:cNvSpPr txBox="1"/>
          <p:nvPr/>
        </p:nvSpPr>
        <p:spPr>
          <a:xfrm>
            <a:off x="533400" y="565478"/>
            <a:ext cx="7315200" cy="307777"/>
          </a:xfrm>
          <a:prstGeom prst="rect">
            <a:avLst/>
          </a:prstGeom>
          <a:noFill/>
        </p:spPr>
        <p:txBody>
          <a:bodyPr wrap="square">
            <a:spAutoFit/>
          </a:bodyPr>
          <a:lstStyle/>
          <a:p>
            <a:pPr algn="l">
              <a:defRPr sz="1875" b="1">
                <a:solidFill>
                  <a:srgbClr val="72243D"/>
                </a:solidFill>
                <a:latin typeface="Arial"/>
                <a:ea typeface="Arial"/>
                <a:cs typeface="Arial"/>
              </a:defRPr>
            </a:pPr>
            <a:r>
              <a:rPr lang="en-US" sz="1400" b="1" dirty="0">
                <a:solidFill>
                  <a:schemeClr val="tx1">
                    <a:lumMod val="50000"/>
                    <a:lumOff val="50000"/>
                  </a:schemeClr>
                </a:solidFill>
                <a:latin typeface="Arial"/>
                <a:ea typeface="Arial"/>
                <a:cs typeface="Arial"/>
              </a:rPr>
              <a:t>Individual Studies contains seven linked evidence groups</a:t>
            </a:r>
          </a:p>
        </p:txBody>
      </p:sp>
    </p:spTree>
    <p:extLst>
      <p:ext uri="{BB962C8B-B14F-4D97-AF65-F5344CB8AC3E}">
        <p14:creationId xmlns:p14="http://schemas.microsoft.com/office/powerpoint/2010/main" val="16567230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8CB7DD-E2B3-894A-C458-FBD45777586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1F7FBB4-679B-CD41-A5A8-4CC9D2D6CD17}"/>
              </a:ext>
            </a:extLst>
          </p:cNvPr>
          <p:cNvSpPr>
            <a:spLocks noGrp="1"/>
          </p:cNvSpPr>
          <p:nvPr>
            <p:ph type="title"/>
          </p:nvPr>
        </p:nvSpPr>
        <p:spPr>
          <a:xfrm>
            <a:off x="236536" y="1003"/>
            <a:ext cx="8450263" cy="514350"/>
          </a:xfrm>
        </p:spPr>
        <p:txBody>
          <a:bodyPr/>
          <a:lstStyle/>
          <a:p>
            <a:r>
              <a:rPr lang="en-VN" dirty="0"/>
              <a:t>2. Literature Review Paper – Progress</a:t>
            </a:r>
          </a:p>
        </p:txBody>
      </p:sp>
      <p:sp>
        <p:nvSpPr>
          <p:cNvPr id="22" name="Slide Number Placeholder 21">
            <a:extLst>
              <a:ext uri="{FF2B5EF4-FFF2-40B4-BE49-F238E27FC236}">
                <a16:creationId xmlns:a16="http://schemas.microsoft.com/office/drawing/2014/main" id="{50B3D958-6261-14B9-436C-C74DC66F3843}"/>
              </a:ext>
            </a:extLst>
          </p:cNvPr>
          <p:cNvSpPr>
            <a:spLocks noGrp="1"/>
          </p:cNvSpPr>
          <p:nvPr>
            <p:ph type="sldNum" sz="quarter" idx="15"/>
          </p:nvPr>
        </p:nvSpPr>
        <p:spPr/>
        <p:txBody>
          <a:bodyPr/>
          <a:lstStyle/>
          <a:p>
            <a:fld id="{0AF20276-0DC3-B247-B3AE-8A6E2F85407E}" type="slidenum">
              <a:rPr lang="en-VN" smtClean="0"/>
              <a:t>7</a:t>
            </a:fld>
            <a:endParaRPr lang="en-VN"/>
          </a:p>
        </p:txBody>
      </p:sp>
      <p:sp>
        <p:nvSpPr>
          <p:cNvPr id="6" name="TextBox 5">
            <a:extLst>
              <a:ext uri="{FF2B5EF4-FFF2-40B4-BE49-F238E27FC236}">
                <a16:creationId xmlns:a16="http://schemas.microsoft.com/office/drawing/2014/main" id="{449D4957-2248-BE31-2457-47962CB5171E}"/>
              </a:ext>
            </a:extLst>
          </p:cNvPr>
          <p:cNvSpPr txBox="1"/>
          <p:nvPr/>
        </p:nvSpPr>
        <p:spPr>
          <a:xfrm>
            <a:off x="533400" y="565478"/>
            <a:ext cx="7315200" cy="307777"/>
          </a:xfrm>
          <a:prstGeom prst="rect">
            <a:avLst/>
          </a:prstGeom>
          <a:noFill/>
        </p:spPr>
        <p:txBody>
          <a:bodyPr wrap="square">
            <a:spAutoFit/>
          </a:bodyPr>
          <a:lstStyle/>
          <a:p>
            <a:pPr algn="l">
              <a:defRPr sz="1988" b="1">
                <a:solidFill>
                  <a:srgbClr val="72243D"/>
                </a:solidFill>
                <a:latin typeface="Arial"/>
                <a:ea typeface="Arial"/>
                <a:cs typeface="Arial"/>
              </a:defRPr>
            </a:pPr>
            <a:r>
              <a:rPr lang="en-US" sz="1400" b="1" dirty="0">
                <a:solidFill>
                  <a:schemeClr val="tx1">
                    <a:lumMod val="50000"/>
                    <a:lumOff val="50000"/>
                  </a:schemeClr>
                </a:solidFill>
                <a:latin typeface="Arial"/>
                <a:ea typeface="Arial"/>
                <a:cs typeface="Arial"/>
              </a:rPr>
              <a:t>Existing Reviews contains four comparison groups</a:t>
            </a:r>
          </a:p>
        </p:txBody>
      </p:sp>
      <p:graphicFrame>
        <p:nvGraphicFramePr>
          <p:cNvPr id="4" name="Table 3">
            <a:extLst>
              <a:ext uri="{FF2B5EF4-FFF2-40B4-BE49-F238E27FC236}">
                <a16:creationId xmlns:a16="http://schemas.microsoft.com/office/drawing/2014/main" id="{1BC64462-5947-D2EB-4D98-D1207350AB12}"/>
              </a:ext>
            </a:extLst>
          </p:cNvPr>
          <p:cNvGraphicFramePr/>
          <p:nvPr>
            <p:extLst>
              <p:ext uri="{D42A27DB-BD31-4B8C-83A1-F6EECF244321}">
                <p14:modId xmlns:p14="http://schemas.microsoft.com/office/powerpoint/2010/main" val="3406807547"/>
              </p:ext>
            </p:extLst>
          </p:nvPr>
        </p:nvGraphicFramePr>
        <p:xfrm>
          <a:off x="457200" y="1276350"/>
          <a:ext cx="8153399" cy="2900770"/>
        </p:xfrm>
        <a:graphic>
          <a:graphicData uri="http://schemas.openxmlformats.org/drawingml/2006/table">
            <a:tbl>
              <a:tblPr/>
              <a:tblGrid>
                <a:gridCol w="2088066">
                  <a:extLst>
                    <a:ext uri="{9D8B030D-6E8A-4147-A177-3AD203B41FA5}">
                      <a16:colId xmlns:a16="http://schemas.microsoft.com/office/drawing/2014/main" val="20000"/>
                    </a:ext>
                  </a:extLst>
                </a:gridCol>
                <a:gridCol w="3877836">
                  <a:extLst>
                    <a:ext uri="{9D8B030D-6E8A-4147-A177-3AD203B41FA5}">
                      <a16:colId xmlns:a16="http://schemas.microsoft.com/office/drawing/2014/main" val="20002"/>
                    </a:ext>
                  </a:extLst>
                </a:gridCol>
                <a:gridCol w="2187497">
                  <a:extLst>
                    <a:ext uri="{9D8B030D-6E8A-4147-A177-3AD203B41FA5}">
                      <a16:colId xmlns:a16="http://schemas.microsoft.com/office/drawing/2014/main" val="20003"/>
                    </a:ext>
                  </a:extLst>
                </a:gridCol>
              </a:tblGrid>
              <a:tr h="580154">
                <a:tc>
                  <a:txBody>
                    <a:bodyPr/>
                    <a:lstStyle/>
                    <a:p>
                      <a:r>
                        <a:rPr sz="900" b="1">
                          <a:solidFill>
                            <a:srgbClr val="FFFFFF"/>
                          </a:solidFill>
                          <a:latin typeface="Arial"/>
                          <a:ea typeface="Arial"/>
                          <a:cs typeface="Arial"/>
                        </a:rPr>
                        <a:t>Group</a:t>
                      </a:r>
                    </a:p>
                  </a:txBody>
                  <a:tcPr anchor="ctr">
                    <a:solidFill>
                      <a:srgbClr val="72243D"/>
                    </a:solidFill>
                  </a:tcPr>
                </a:tc>
                <a:tc>
                  <a:txBody>
                    <a:bodyPr/>
                    <a:lstStyle/>
                    <a:p>
                      <a:r>
                        <a:rPr sz="900" b="1">
                          <a:solidFill>
                            <a:srgbClr val="FFFFFF"/>
                          </a:solidFill>
                          <a:latin typeface="Arial"/>
                          <a:ea typeface="Arial"/>
                          <a:cs typeface="Arial"/>
                        </a:rPr>
                        <a:t>Primary purpose</a:t>
                      </a:r>
                    </a:p>
                  </a:txBody>
                  <a:tcPr anchor="ctr">
                    <a:solidFill>
                      <a:srgbClr val="72243D"/>
                    </a:solidFill>
                  </a:tcPr>
                </a:tc>
                <a:tc>
                  <a:txBody>
                    <a:bodyPr/>
                    <a:lstStyle/>
                    <a:p>
                      <a:r>
                        <a:rPr sz="900" b="1">
                          <a:solidFill>
                            <a:srgbClr val="FFFFFF"/>
                          </a:solidFill>
                          <a:latin typeface="Arial"/>
                          <a:ea typeface="Arial"/>
                          <a:cs typeface="Arial"/>
                        </a:rPr>
                        <a:t>Downstream use</a:t>
                      </a:r>
                    </a:p>
                  </a:txBody>
                  <a:tcPr anchor="ctr">
                    <a:solidFill>
                      <a:srgbClr val="72243D"/>
                    </a:solidFill>
                  </a:tcPr>
                </a:tc>
                <a:extLst>
                  <a:ext uri="{0D108BD9-81ED-4DB2-BD59-A6C34878D82A}">
                    <a16:rowId xmlns:a16="http://schemas.microsoft.com/office/drawing/2014/main" val="10000"/>
                  </a:ext>
                </a:extLst>
              </a:tr>
              <a:tr h="580154">
                <a:tc>
                  <a:txBody>
                    <a:bodyPr/>
                    <a:lstStyle/>
                    <a:p>
                      <a:r>
                        <a:rPr sz="900" b="1">
                          <a:solidFill>
                            <a:srgbClr val="72243D"/>
                          </a:solidFill>
                          <a:latin typeface="Arial"/>
                          <a:ea typeface="Arial"/>
                          <a:cs typeface="Arial"/>
                        </a:rPr>
                        <a:t>Review Identification</a:t>
                      </a:r>
                    </a:p>
                  </a:txBody>
                  <a:tcPr anchor="ctr">
                    <a:solidFill>
                      <a:srgbClr val="F4E9ED"/>
                    </a:solidFill>
                  </a:tcPr>
                </a:tc>
                <a:tc>
                  <a:txBody>
                    <a:bodyPr/>
                    <a:lstStyle/>
                    <a:p>
                      <a:r>
                        <a:rPr sz="900">
                          <a:solidFill>
                            <a:srgbClr val="303030"/>
                          </a:solidFill>
                          <a:latin typeface="Arial"/>
                          <a:ea typeface="Arial"/>
                          <a:cs typeface="Arial"/>
                        </a:rPr>
                        <a:t>Identifies the review and separates bibliographic identity from review methodology.</a:t>
                      </a:r>
                    </a:p>
                  </a:txBody>
                  <a:tcPr anchor="ctr"/>
                </a:tc>
                <a:tc>
                  <a:txBody>
                    <a:bodyPr/>
                    <a:lstStyle/>
                    <a:p>
                      <a:r>
                        <a:rPr sz="900">
                          <a:solidFill>
                            <a:srgbClr val="303030"/>
                          </a:solidFill>
                          <a:latin typeface="Arial"/>
                          <a:ea typeface="Arial"/>
                          <a:cs typeface="Arial"/>
                        </a:rPr>
                        <a:t>Deduplication and recency</a:t>
                      </a:r>
                    </a:p>
                  </a:txBody>
                  <a:tcPr anchor="ctr"/>
                </a:tc>
                <a:extLst>
                  <a:ext uri="{0D108BD9-81ED-4DB2-BD59-A6C34878D82A}">
                    <a16:rowId xmlns:a16="http://schemas.microsoft.com/office/drawing/2014/main" val="10001"/>
                  </a:ext>
                </a:extLst>
              </a:tr>
              <a:tr h="580154">
                <a:tc>
                  <a:txBody>
                    <a:bodyPr/>
                    <a:lstStyle/>
                    <a:p>
                      <a:r>
                        <a:rPr sz="900" b="1">
                          <a:solidFill>
                            <a:srgbClr val="72243D"/>
                          </a:solidFill>
                          <a:latin typeface="Arial"/>
                          <a:ea typeface="Arial"/>
                          <a:cs typeface="Arial"/>
                        </a:rPr>
                        <a:t>Review Method</a:t>
                      </a:r>
                    </a:p>
                  </a:txBody>
                  <a:tcPr anchor="ctr">
                    <a:solidFill>
                      <a:srgbClr val="F4E9ED"/>
                    </a:solidFill>
                  </a:tcPr>
                </a:tc>
                <a:tc>
                  <a:txBody>
                    <a:bodyPr/>
                    <a:lstStyle/>
                    <a:p>
                      <a:r>
                        <a:rPr sz="900">
                          <a:solidFill>
                            <a:srgbClr val="303030"/>
                          </a:solidFill>
                          <a:latin typeface="Arial"/>
                          <a:ea typeface="Arial"/>
                          <a:cs typeface="Arial"/>
                        </a:rPr>
                        <a:t>Shows how reproducibly each review found and selected evidence.</a:t>
                      </a:r>
                    </a:p>
                  </a:txBody>
                  <a:tcPr anchor="ctr"/>
                </a:tc>
                <a:tc>
                  <a:txBody>
                    <a:bodyPr/>
                    <a:lstStyle/>
                    <a:p>
                      <a:r>
                        <a:rPr sz="900">
                          <a:solidFill>
                            <a:srgbClr val="303030"/>
                          </a:solidFill>
                          <a:latin typeface="Arial"/>
                          <a:ea typeface="Arial"/>
                          <a:cs typeface="Arial"/>
                        </a:rPr>
                        <a:t>Transparency and update window</a:t>
                      </a:r>
                    </a:p>
                  </a:txBody>
                  <a:tcPr anchor="ctr"/>
                </a:tc>
                <a:extLst>
                  <a:ext uri="{0D108BD9-81ED-4DB2-BD59-A6C34878D82A}">
                    <a16:rowId xmlns:a16="http://schemas.microsoft.com/office/drawing/2014/main" val="10002"/>
                  </a:ext>
                </a:extLst>
              </a:tr>
              <a:tr h="580154">
                <a:tc>
                  <a:txBody>
                    <a:bodyPr/>
                    <a:lstStyle/>
                    <a:p>
                      <a:r>
                        <a:rPr sz="900" b="1">
                          <a:solidFill>
                            <a:srgbClr val="72243D"/>
                          </a:solidFill>
                          <a:latin typeface="Arial"/>
                          <a:ea typeface="Arial"/>
                          <a:cs typeface="Arial"/>
                        </a:rPr>
                        <a:t>Review Scope</a:t>
                      </a:r>
                    </a:p>
                  </a:txBody>
                  <a:tcPr anchor="ctr">
                    <a:solidFill>
                      <a:srgbClr val="F4E9ED"/>
                    </a:solidFill>
                  </a:tcPr>
                </a:tc>
                <a:tc>
                  <a:txBody>
                    <a:bodyPr/>
                    <a:lstStyle/>
                    <a:p>
                      <a:r>
                        <a:rPr sz="900">
                          <a:solidFill>
                            <a:srgbClr val="303030"/>
                          </a:solidFill>
                          <a:latin typeface="Arial"/>
                          <a:ea typeface="Arial"/>
                          <a:cs typeface="Arial"/>
                        </a:rPr>
                        <a:t>Maps what each review actually covered across population, subsystem, technology, and use.</a:t>
                      </a:r>
                    </a:p>
                  </a:txBody>
                  <a:tcPr anchor="ctr"/>
                </a:tc>
                <a:tc>
                  <a:txBody>
                    <a:bodyPr/>
                    <a:lstStyle/>
                    <a:p>
                      <a:r>
                        <a:rPr sz="900">
                          <a:solidFill>
                            <a:srgbClr val="303030"/>
                          </a:solidFill>
                          <a:latin typeface="Arial"/>
                          <a:ea typeface="Arial"/>
                          <a:cs typeface="Arial"/>
                        </a:rPr>
                        <a:t>Overlap matrix</a:t>
                      </a:r>
                    </a:p>
                  </a:txBody>
                  <a:tcPr anchor="ctr"/>
                </a:tc>
                <a:extLst>
                  <a:ext uri="{0D108BD9-81ED-4DB2-BD59-A6C34878D82A}">
                    <a16:rowId xmlns:a16="http://schemas.microsoft.com/office/drawing/2014/main" val="10003"/>
                  </a:ext>
                </a:extLst>
              </a:tr>
              <a:tr h="580154">
                <a:tc>
                  <a:txBody>
                    <a:bodyPr/>
                    <a:lstStyle/>
                    <a:p>
                      <a:r>
                        <a:rPr sz="900" b="1">
                          <a:solidFill>
                            <a:srgbClr val="72243D"/>
                          </a:solidFill>
                          <a:latin typeface="Arial"/>
                          <a:ea typeface="Arial"/>
                          <a:cs typeface="Arial"/>
                        </a:rPr>
                        <a:t>Review Positioning</a:t>
                      </a:r>
                    </a:p>
                  </a:txBody>
                  <a:tcPr anchor="ctr">
                    <a:solidFill>
                      <a:srgbClr val="F4E9ED"/>
                    </a:solidFill>
                  </a:tcPr>
                </a:tc>
                <a:tc>
                  <a:txBody>
                    <a:bodyPr/>
                    <a:lstStyle/>
                    <a:p>
                      <a:r>
                        <a:rPr sz="900" dirty="0">
                          <a:solidFill>
                            <a:srgbClr val="303030"/>
                          </a:solidFill>
                          <a:latin typeface="Arial"/>
                          <a:ea typeface="Arial"/>
                          <a:cs typeface="Arial"/>
                        </a:rPr>
                        <a:t>Separates the authors' synthesis from our comparison and novelty argument.</a:t>
                      </a:r>
                    </a:p>
                  </a:txBody>
                  <a:tcPr anchor="ctr"/>
                </a:tc>
                <a:tc>
                  <a:txBody>
                    <a:bodyPr/>
                    <a:lstStyle/>
                    <a:p>
                      <a:r>
                        <a:rPr sz="900" dirty="0">
                          <a:solidFill>
                            <a:srgbClr val="303030"/>
                          </a:solidFill>
                          <a:latin typeface="Arial"/>
                          <a:ea typeface="Arial"/>
                          <a:cs typeface="Arial"/>
                        </a:rPr>
                        <a:t>Competitor classification and novelty</a:t>
                      </a:r>
                    </a:p>
                  </a:txBody>
                  <a:tcPr anchor="ct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9845093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DB3D49-CEF5-49B8-E3EF-CD03A8CBB51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5DD5B5F-678D-EA27-74FC-07F723927CFE}"/>
              </a:ext>
            </a:extLst>
          </p:cNvPr>
          <p:cNvSpPr>
            <a:spLocks noGrp="1"/>
          </p:cNvSpPr>
          <p:nvPr>
            <p:ph type="title"/>
          </p:nvPr>
        </p:nvSpPr>
        <p:spPr>
          <a:xfrm>
            <a:off x="236536" y="1003"/>
            <a:ext cx="8450263" cy="514350"/>
          </a:xfrm>
        </p:spPr>
        <p:txBody>
          <a:bodyPr/>
          <a:lstStyle/>
          <a:p>
            <a:r>
              <a:rPr lang="en-VN" dirty="0"/>
              <a:t>2. Literature Review Paper – Progress</a:t>
            </a:r>
          </a:p>
        </p:txBody>
      </p:sp>
      <p:sp>
        <p:nvSpPr>
          <p:cNvPr id="22" name="Slide Number Placeholder 21">
            <a:extLst>
              <a:ext uri="{FF2B5EF4-FFF2-40B4-BE49-F238E27FC236}">
                <a16:creationId xmlns:a16="http://schemas.microsoft.com/office/drawing/2014/main" id="{BD828A37-3BD5-D65F-639F-AE324DEFD491}"/>
              </a:ext>
            </a:extLst>
          </p:cNvPr>
          <p:cNvSpPr>
            <a:spLocks noGrp="1"/>
          </p:cNvSpPr>
          <p:nvPr>
            <p:ph type="sldNum" sz="quarter" idx="15"/>
          </p:nvPr>
        </p:nvSpPr>
        <p:spPr/>
        <p:txBody>
          <a:bodyPr/>
          <a:lstStyle/>
          <a:p>
            <a:fld id="{0AF20276-0DC3-B247-B3AE-8A6E2F85407E}" type="slidenum">
              <a:rPr lang="en-VN" smtClean="0"/>
              <a:t>8</a:t>
            </a:fld>
            <a:endParaRPr lang="en-VN"/>
          </a:p>
        </p:txBody>
      </p:sp>
      <p:sp>
        <p:nvSpPr>
          <p:cNvPr id="6" name="TextBox 5">
            <a:extLst>
              <a:ext uri="{FF2B5EF4-FFF2-40B4-BE49-F238E27FC236}">
                <a16:creationId xmlns:a16="http://schemas.microsoft.com/office/drawing/2014/main" id="{C818F703-F3E4-1EB0-D814-8B14C96E306C}"/>
              </a:ext>
            </a:extLst>
          </p:cNvPr>
          <p:cNvSpPr txBox="1"/>
          <p:nvPr/>
        </p:nvSpPr>
        <p:spPr>
          <a:xfrm>
            <a:off x="533400" y="565478"/>
            <a:ext cx="7315200" cy="307777"/>
          </a:xfrm>
          <a:prstGeom prst="rect">
            <a:avLst/>
          </a:prstGeom>
          <a:noFill/>
        </p:spPr>
        <p:txBody>
          <a:bodyPr wrap="square">
            <a:spAutoFit/>
          </a:bodyPr>
          <a:lstStyle/>
          <a:p>
            <a:pPr algn="l">
              <a:defRPr sz="1988" b="1">
                <a:solidFill>
                  <a:srgbClr val="72243D"/>
                </a:solidFill>
                <a:latin typeface="Arial"/>
                <a:ea typeface="Arial"/>
                <a:cs typeface="Arial"/>
              </a:defRPr>
            </a:pPr>
            <a:r>
              <a:rPr lang="en-US" sz="1400" b="1" dirty="0">
                <a:solidFill>
                  <a:schemeClr val="tx1">
                    <a:lumMod val="50000"/>
                    <a:lumOff val="50000"/>
                  </a:schemeClr>
                </a:solidFill>
                <a:latin typeface="Arial"/>
                <a:ea typeface="Arial"/>
                <a:cs typeface="Arial"/>
              </a:rPr>
              <a:t>Existing Reviews contains four comparison groups</a:t>
            </a:r>
          </a:p>
        </p:txBody>
      </p:sp>
      <p:graphicFrame>
        <p:nvGraphicFramePr>
          <p:cNvPr id="11" name="Chart">
            <a:extLst>
              <a:ext uri="{FF2B5EF4-FFF2-40B4-BE49-F238E27FC236}">
                <a16:creationId xmlns:a16="http://schemas.microsoft.com/office/drawing/2014/main" id="{DA26FADB-0714-9DB1-E147-2A72FE6A75C5}"/>
              </a:ext>
            </a:extLst>
          </p:cNvPr>
          <p:cNvGraphicFramePr/>
          <p:nvPr>
            <p:extLst>
              <p:ext uri="{D42A27DB-BD31-4B8C-83A1-F6EECF244321}">
                <p14:modId xmlns:p14="http://schemas.microsoft.com/office/powerpoint/2010/main" val="4204172391"/>
              </p:ext>
            </p:extLst>
          </p:nvPr>
        </p:nvGraphicFramePr>
        <p:xfrm>
          <a:off x="457200" y="1257300"/>
          <a:ext cx="4476750" cy="2876550"/>
        </p:xfrm>
        <a:graphic>
          <a:graphicData uri="http://schemas.openxmlformats.org/drawingml/2006/chart">
            <c:chart xmlns:c="http://schemas.openxmlformats.org/drawingml/2006/chart" xmlns:r="http://schemas.openxmlformats.org/officeDocument/2006/relationships" r:id="rId3"/>
          </a:graphicData>
        </a:graphic>
      </p:graphicFrame>
      <p:sp>
        <p:nvSpPr>
          <p:cNvPr id="12" name="meaning-heading">
            <a:extLst>
              <a:ext uri="{FF2B5EF4-FFF2-40B4-BE49-F238E27FC236}">
                <a16:creationId xmlns:a16="http://schemas.microsoft.com/office/drawing/2014/main" id="{FB6E1445-1234-3CCD-F8E4-AC60B0B32416}"/>
              </a:ext>
            </a:extLst>
          </p:cNvPr>
          <p:cNvSpPr>
            <a:spLocks noGrp="1"/>
          </p:cNvSpPr>
          <p:nvPr/>
        </p:nvSpPr>
        <p:spPr>
          <a:xfrm>
            <a:off x="5267325" y="1228725"/>
            <a:ext cx="3333750" cy="257175"/>
          </a:xfrm>
          <a:prstGeom prst="rect">
            <a:avLst/>
          </a:prstGeom>
          <a:noFill/>
          <a:ln w="0">
            <a:noFill/>
          </a:ln>
        </p:spPr>
        <p:txBody>
          <a:bodyPr anchor="ctr">
            <a:normAutofit fontScale="85294" lnSpcReduction="10000"/>
          </a:bodyPr>
          <a:lstStyle/>
          <a:p>
            <a:pPr algn="l">
              <a:defRPr sz="1275" b="1" i="0">
                <a:solidFill>
                  <a:srgbClr val="72243D"/>
                </a:solidFill>
                <a:latin typeface="Arial"/>
                <a:ea typeface="Arial"/>
                <a:cs typeface="Arial"/>
              </a:defRPr>
            </a:pPr>
            <a:r>
              <a:rPr sz="1275" b="1" i="0">
                <a:solidFill>
                  <a:srgbClr val="72243D"/>
                </a:solidFill>
                <a:latin typeface="Arial"/>
                <a:ea typeface="Arial"/>
                <a:cs typeface="Arial"/>
              </a:rPr>
              <a:t>What each group contributes</a:t>
            </a:r>
          </a:p>
        </p:txBody>
      </p:sp>
      <p:sp>
        <p:nvSpPr>
          <p:cNvPr id="13" name="Rectangle 12">
            <a:extLst>
              <a:ext uri="{FF2B5EF4-FFF2-40B4-BE49-F238E27FC236}">
                <a16:creationId xmlns:a16="http://schemas.microsoft.com/office/drawing/2014/main" id="{A8EE1C23-21E6-4AD2-755E-F690DE855CB0}"/>
              </a:ext>
            </a:extLst>
          </p:cNvPr>
          <p:cNvSpPr>
            <a:spLocks noGrp="1"/>
          </p:cNvSpPr>
          <p:nvPr/>
        </p:nvSpPr>
        <p:spPr>
          <a:xfrm>
            <a:off x="5276850" y="1600200"/>
            <a:ext cx="76200" cy="400050"/>
          </a:xfrm>
          <a:prstGeom prst="rect">
            <a:avLst/>
          </a:prstGeom>
          <a:solidFill>
            <a:srgbClr val="72243D"/>
          </a:solidFill>
          <a:ln w="0">
            <a:solidFill>
              <a:srgbClr val="72243D"/>
            </a:solidFill>
          </a:ln>
        </p:spPr>
        <p:txBody>
          <a:bodyPr anchor="ctr">
            <a:normAutofit/>
          </a:bodyPr>
          <a:lstStyle/>
          <a:p>
            <a:endParaRPr/>
          </a:p>
        </p:txBody>
      </p:sp>
      <p:sp>
        <p:nvSpPr>
          <p:cNvPr id="14" name="Rectangle 13">
            <a:extLst>
              <a:ext uri="{FF2B5EF4-FFF2-40B4-BE49-F238E27FC236}">
                <a16:creationId xmlns:a16="http://schemas.microsoft.com/office/drawing/2014/main" id="{9FF0321E-AD23-C113-9D42-FC3CEAD0EE51}"/>
              </a:ext>
            </a:extLst>
          </p:cNvPr>
          <p:cNvSpPr>
            <a:spLocks noGrp="1"/>
          </p:cNvSpPr>
          <p:nvPr/>
        </p:nvSpPr>
        <p:spPr>
          <a:xfrm>
            <a:off x="5457825" y="1571625"/>
            <a:ext cx="3067050" cy="200025"/>
          </a:xfrm>
          <a:prstGeom prst="rect">
            <a:avLst/>
          </a:prstGeom>
          <a:noFill/>
          <a:ln w="0">
            <a:noFill/>
          </a:ln>
        </p:spPr>
        <p:txBody>
          <a:bodyPr anchor="ctr">
            <a:normAutofit fontScale="82897" lnSpcReduction="10000"/>
          </a:bodyPr>
          <a:lstStyle/>
          <a:p>
            <a:pPr algn="l">
              <a:defRPr sz="945" b="1" i="0">
                <a:solidFill>
                  <a:srgbClr val="303030"/>
                </a:solidFill>
                <a:latin typeface="Arial"/>
                <a:ea typeface="Arial"/>
                <a:cs typeface="Arial"/>
              </a:defRPr>
            </a:pPr>
            <a:r>
              <a:rPr sz="945" b="1" i="0">
                <a:solidFill>
                  <a:srgbClr val="303030"/>
                </a:solidFill>
                <a:latin typeface="Arial"/>
                <a:ea typeface="Arial"/>
                <a:cs typeface="Arial"/>
              </a:rPr>
              <a:t>0  Direct competitor</a:t>
            </a:r>
          </a:p>
        </p:txBody>
      </p:sp>
      <p:sp>
        <p:nvSpPr>
          <p:cNvPr id="15" name="Rectangle 14">
            <a:extLst>
              <a:ext uri="{FF2B5EF4-FFF2-40B4-BE49-F238E27FC236}">
                <a16:creationId xmlns:a16="http://schemas.microsoft.com/office/drawing/2014/main" id="{163A75DD-A5C7-6DA3-4156-9DD05AB6D302}"/>
              </a:ext>
            </a:extLst>
          </p:cNvPr>
          <p:cNvSpPr>
            <a:spLocks noGrp="1"/>
          </p:cNvSpPr>
          <p:nvPr/>
        </p:nvSpPr>
        <p:spPr>
          <a:xfrm>
            <a:off x="5457825" y="1771650"/>
            <a:ext cx="3067050" cy="295275"/>
          </a:xfrm>
          <a:prstGeom prst="rect">
            <a:avLst/>
          </a:prstGeom>
          <a:noFill/>
          <a:ln w="0">
            <a:noFill/>
          </a:ln>
        </p:spPr>
        <p:txBody>
          <a:bodyPr anchor="t">
            <a:normAutofit fontScale="85737" lnSpcReduction="10000"/>
          </a:bodyPr>
          <a:lstStyle/>
          <a:p>
            <a:pPr algn="l">
              <a:defRPr sz="780" b="0" i="0">
                <a:solidFill>
                  <a:srgbClr val="666666"/>
                </a:solidFill>
                <a:latin typeface="Arial"/>
                <a:ea typeface="Arial"/>
                <a:cs typeface="Arial"/>
              </a:defRPr>
            </a:pPr>
            <a:r>
              <a:rPr sz="780" b="0" i="0">
                <a:solidFill>
                  <a:srgbClr val="666666"/>
                </a:solidFill>
                <a:latin typeface="Arial"/>
                <a:ea typeface="Arial"/>
                <a:cs typeface="Arial"/>
              </a:rPr>
              <a:t>Would test the whole-review novelty claim. None identified in this 35-review set.</a:t>
            </a:r>
          </a:p>
        </p:txBody>
      </p:sp>
      <p:sp>
        <p:nvSpPr>
          <p:cNvPr id="16" name="Rectangle 15">
            <a:extLst>
              <a:ext uri="{FF2B5EF4-FFF2-40B4-BE49-F238E27FC236}">
                <a16:creationId xmlns:a16="http://schemas.microsoft.com/office/drawing/2014/main" id="{EEF32FB8-3610-6A4D-17C8-AFD0AD6BDA35}"/>
              </a:ext>
            </a:extLst>
          </p:cNvPr>
          <p:cNvSpPr>
            <a:spLocks noGrp="1"/>
          </p:cNvSpPr>
          <p:nvPr/>
        </p:nvSpPr>
        <p:spPr>
          <a:xfrm>
            <a:off x="5276850" y="2143125"/>
            <a:ext cx="76200" cy="400050"/>
          </a:xfrm>
          <a:prstGeom prst="rect">
            <a:avLst/>
          </a:prstGeom>
          <a:solidFill>
            <a:srgbClr val="E17C00"/>
          </a:solidFill>
          <a:ln w="0">
            <a:solidFill>
              <a:srgbClr val="E17C00"/>
            </a:solidFill>
          </a:ln>
        </p:spPr>
        <p:txBody>
          <a:bodyPr anchor="ctr">
            <a:normAutofit/>
          </a:bodyPr>
          <a:lstStyle/>
          <a:p>
            <a:endParaRPr/>
          </a:p>
        </p:txBody>
      </p:sp>
      <p:sp>
        <p:nvSpPr>
          <p:cNvPr id="17" name="Rectangle 16">
            <a:extLst>
              <a:ext uri="{FF2B5EF4-FFF2-40B4-BE49-F238E27FC236}">
                <a16:creationId xmlns:a16="http://schemas.microsoft.com/office/drawing/2014/main" id="{BC9521C9-69CC-4221-03AE-0797008119E2}"/>
              </a:ext>
            </a:extLst>
          </p:cNvPr>
          <p:cNvSpPr>
            <a:spLocks noGrp="1"/>
          </p:cNvSpPr>
          <p:nvPr/>
        </p:nvSpPr>
        <p:spPr>
          <a:xfrm>
            <a:off x="5457825" y="2114550"/>
            <a:ext cx="3067050" cy="200025"/>
          </a:xfrm>
          <a:prstGeom prst="rect">
            <a:avLst/>
          </a:prstGeom>
          <a:noFill/>
          <a:ln w="0">
            <a:noFill/>
          </a:ln>
        </p:spPr>
        <p:txBody>
          <a:bodyPr anchor="ctr">
            <a:normAutofit fontScale="82897" lnSpcReduction="10000"/>
          </a:bodyPr>
          <a:lstStyle/>
          <a:p>
            <a:pPr algn="l">
              <a:defRPr sz="945" b="1" i="0">
                <a:solidFill>
                  <a:srgbClr val="303030"/>
                </a:solidFill>
                <a:latin typeface="Arial"/>
                <a:ea typeface="Arial"/>
                <a:cs typeface="Arial"/>
              </a:defRPr>
            </a:pPr>
            <a:r>
              <a:rPr sz="945" b="1" i="0">
                <a:solidFill>
                  <a:srgbClr val="303030"/>
                </a:solidFill>
                <a:latin typeface="Arial"/>
                <a:ea typeface="Arial"/>
                <a:cs typeface="Arial"/>
              </a:rPr>
              <a:t>12  Narrow direct predecessors</a:t>
            </a:r>
          </a:p>
        </p:txBody>
      </p:sp>
      <p:sp>
        <p:nvSpPr>
          <p:cNvPr id="18" name="Rectangle 17">
            <a:extLst>
              <a:ext uri="{FF2B5EF4-FFF2-40B4-BE49-F238E27FC236}">
                <a16:creationId xmlns:a16="http://schemas.microsoft.com/office/drawing/2014/main" id="{529B3044-B248-7978-C401-D9C9B03F3799}"/>
              </a:ext>
            </a:extLst>
          </p:cNvPr>
          <p:cNvSpPr>
            <a:spLocks noGrp="1"/>
          </p:cNvSpPr>
          <p:nvPr/>
        </p:nvSpPr>
        <p:spPr>
          <a:xfrm>
            <a:off x="5457825" y="2314575"/>
            <a:ext cx="3067050" cy="295275"/>
          </a:xfrm>
          <a:prstGeom prst="rect">
            <a:avLst/>
          </a:prstGeom>
          <a:noFill/>
          <a:ln w="0">
            <a:noFill/>
          </a:ln>
        </p:spPr>
        <p:txBody>
          <a:bodyPr anchor="t">
            <a:normAutofit fontScale="85737" lnSpcReduction="10000"/>
          </a:bodyPr>
          <a:lstStyle/>
          <a:p>
            <a:pPr algn="l">
              <a:defRPr sz="780" b="0" i="0">
                <a:solidFill>
                  <a:srgbClr val="666666"/>
                </a:solidFill>
                <a:latin typeface="Arial"/>
                <a:ea typeface="Arial"/>
                <a:cs typeface="Arial"/>
              </a:defRPr>
            </a:pPr>
            <a:r>
              <a:rPr sz="780" b="0" i="0" dirty="0">
                <a:solidFill>
                  <a:srgbClr val="666666"/>
                </a:solidFill>
                <a:latin typeface="Arial"/>
                <a:ea typeface="Arial"/>
                <a:cs typeface="Arial"/>
              </a:rPr>
              <a:t>Dysarthria and sensing are central, but the review is restricted by modality, subsystem, etiology, or use.</a:t>
            </a:r>
          </a:p>
        </p:txBody>
      </p:sp>
      <p:sp>
        <p:nvSpPr>
          <p:cNvPr id="19" name="Rectangle 18">
            <a:extLst>
              <a:ext uri="{FF2B5EF4-FFF2-40B4-BE49-F238E27FC236}">
                <a16:creationId xmlns:a16="http://schemas.microsoft.com/office/drawing/2014/main" id="{DC801A54-DF3F-02A9-1454-2CF1C2487987}"/>
              </a:ext>
            </a:extLst>
          </p:cNvPr>
          <p:cNvSpPr>
            <a:spLocks noGrp="1"/>
          </p:cNvSpPr>
          <p:nvPr/>
        </p:nvSpPr>
        <p:spPr>
          <a:xfrm>
            <a:off x="5276850" y="2686050"/>
            <a:ext cx="76200" cy="400050"/>
          </a:xfrm>
          <a:prstGeom prst="rect">
            <a:avLst/>
          </a:prstGeom>
          <a:solidFill>
            <a:srgbClr val="A78492"/>
          </a:solidFill>
          <a:ln w="0">
            <a:solidFill>
              <a:srgbClr val="A78492"/>
            </a:solidFill>
          </a:ln>
        </p:spPr>
        <p:txBody>
          <a:bodyPr anchor="ctr">
            <a:normAutofit/>
          </a:bodyPr>
          <a:lstStyle/>
          <a:p>
            <a:endParaRPr/>
          </a:p>
        </p:txBody>
      </p:sp>
      <p:sp>
        <p:nvSpPr>
          <p:cNvPr id="20" name="Rectangle 19">
            <a:extLst>
              <a:ext uri="{FF2B5EF4-FFF2-40B4-BE49-F238E27FC236}">
                <a16:creationId xmlns:a16="http://schemas.microsoft.com/office/drawing/2014/main" id="{4C47183C-5F77-8291-CE47-192D1963E96C}"/>
              </a:ext>
            </a:extLst>
          </p:cNvPr>
          <p:cNvSpPr>
            <a:spLocks noGrp="1"/>
          </p:cNvSpPr>
          <p:nvPr/>
        </p:nvSpPr>
        <p:spPr>
          <a:xfrm>
            <a:off x="5457825" y="2657475"/>
            <a:ext cx="3067050" cy="200025"/>
          </a:xfrm>
          <a:prstGeom prst="rect">
            <a:avLst/>
          </a:prstGeom>
          <a:noFill/>
          <a:ln w="0">
            <a:noFill/>
          </a:ln>
        </p:spPr>
        <p:txBody>
          <a:bodyPr anchor="ctr">
            <a:normAutofit fontScale="82897" lnSpcReduction="10000"/>
          </a:bodyPr>
          <a:lstStyle/>
          <a:p>
            <a:pPr algn="l">
              <a:defRPr sz="945" b="1" i="0">
                <a:solidFill>
                  <a:srgbClr val="303030"/>
                </a:solidFill>
                <a:latin typeface="Arial"/>
                <a:ea typeface="Arial"/>
                <a:cs typeface="Arial"/>
              </a:defRPr>
            </a:pPr>
            <a:r>
              <a:rPr sz="945" b="1" i="0">
                <a:solidFill>
                  <a:srgbClr val="303030"/>
                </a:solidFill>
                <a:latin typeface="Arial"/>
                <a:ea typeface="Arial"/>
                <a:cs typeface="Arial"/>
              </a:rPr>
              <a:t>6  Structural analogs</a:t>
            </a:r>
          </a:p>
        </p:txBody>
      </p:sp>
      <p:sp>
        <p:nvSpPr>
          <p:cNvPr id="21" name="Rectangle 20">
            <a:extLst>
              <a:ext uri="{FF2B5EF4-FFF2-40B4-BE49-F238E27FC236}">
                <a16:creationId xmlns:a16="http://schemas.microsoft.com/office/drawing/2014/main" id="{3354585F-BE48-3FD7-69C0-F339ED99401B}"/>
              </a:ext>
            </a:extLst>
          </p:cNvPr>
          <p:cNvSpPr>
            <a:spLocks noGrp="1"/>
          </p:cNvSpPr>
          <p:nvPr/>
        </p:nvSpPr>
        <p:spPr>
          <a:xfrm>
            <a:off x="5457825" y="2857500"/>
            <a:ext cx="3067050" cy="295275"/>
          </a:xfrm>
          <a:prstGeom prst="rect">
            <a:avLst/>
          </a:prstGeom>
          <a:noFill/>
          <a:ln w="0">
            <a:noFill/>
          </a:ln>
        </p:spPr>
        <p:txBody>
          <a:bodyPr anchor="t">
            <a:normAutofit fontScale="85737" lnSpcReduction="10000"/>
          </a:bodyPr>
          <a:lstStyle/>
          <a:p>
            <a:pPr algn="l">
              <a:defRPr sz="780" b="0" i="0">
                <a:solidFill>
                  <a:srgbClr val="666666"/>
                </a:solidFill>
                <a:latin typeface="Arial"/>
                <a:ea typeface="Arial"/>
                <a:cs typeface="Arial"/>
              </a:defRPr>
            </a:pPr>
            <a:r>
              <a:rPr sz="780" b="0" i="0" dirty="0">
                <a:solidFill>
                  <a:srgbClr val="666666"/>
                </a:solidFill>
                <a:latin typeface="Arial"/>
                <a:ea typeface="Arial"/>
                <a:cs typeface="Arial"/>
              </a:rPr>
              <a:t>Use a similar measurement-to-application logic, but in a different population or narrower technical scope.</a:t>
            </a:r>
          </a:p>
        </p:txBody>
      </p:sp>
      <p:sp>
        <p:nvSpPr>
          <p:cNvPr id="23" name="Rectangle 22">
            <a:extLst>
              <a:ext uri="{FF2B5EF4-FFF2-40B4-BE49-F238E27FC236}">
                <a16:creationId xmlns:a16="http://schemas.microsoft.com/office/drawing/2014/main" id="{327085C6-090A-E0F1-ED1F-ED964ACE9753}"/>
              </a:ext>
            </a:extLst>
          </p:cNvPr>
          <p:cNvSpPr>
            <a:spLocks noGrp="1"/>
          </p:cNvSpPr>
          <p:nvPr/>
        </p:nvSpPr>
        <p:spPr>
          <a:xfrm>
            <a:off x="5276850" y="3228975"/>
            <a:ext cx="76200" cy="400050"/>
          </a:xfrm>
          <a:prstGeom prst="rect">
            <a:avLst/>
          </a:prstGeom>
          <a:solidFill>
            <a:srgbClr val="AFAFAF"/>
          </a:solidFill>
          <a:ln w="0">
            <a:solidFill>
              <a:srgbClr val="AFAFAF"/>
            </a:solidFill>
          </a:ln>
        </p:spPr>
        <p:txBody>
          <a:bodyPr anchor="ctr">
            <a:normAutofit/>
          </a:bodyPr>
          <a:lstStyle/>
          <a:p>
            <a:endParaRPr/>
          </a:p>
        </p:txBody>
      </p:sp>
      <p:sp>
        <p:nvSpPr>
          <p:cNvPr id="24" name="Rectangle 23">
            <a:extLst>
              <a:ext uri="{FF2B5EF4-FFF2-40B4-BE49-F238E27FC236}">
                <a16:creationId xmlns:a16="http://schemas.microsoft.com/office/drawing/2014/main" id="{7B50BD21-7BC5-1B20-C302-739C14461C1F}"/>
              </a:ext>
            </a:extLst>
          </p:cNvPr>
          <p:cNvSpPr>
            <a:spLocks noGrp="1"/>
          </p:cNvSpPr>
          <p:nvPr/>
        </p:nvSpPr>
        <p:spPr>
          <a:xfrm>
            <a:off x="5457825" y="3200400"/>
            <a:ext cx="3067050" cy="200025"/>
          </a:xfrm>
          <a:prstGeom prst="rect">
            <a:avLst/>
          </a:prstGeom>
          <a:noFill/>
          <a:ln w="0">
            <a:noFill/>
          </a:ln>
        </p:spPr>
        <p:txBody>
          <a:bodyPr anchor="ctr">
            <a:normAutofit fontScale="82897" lnSpcReduction="10000"/>
          </a:bodyPr>
          <a:lstStyle/>
          <a:p>
            <a:pPr algn="l">
              <a:defRPr sz="945" b="1" i="0">
                <a:solidFill>
                  <a:srgbClr val="303030"/>
                </a:solidFill>
                <a:latin typeface="Arial"/>
                <a:ea typeface="Arial"/>
                <a:cs typeface="Arial"/>
              </a:defRPr>
            </a:pPr>
            <a:r>
              <a:rPr sz="945" b="1" i="0">
                <a:solidFill>
                  <a:srgbClr val="303030"/>
                </a:solidFill>
                <a:latin typeface="Arial"/>
                <a:ea typeface="Arial"/>
                <a:cs typeface="Arial"/>
              </a:rPr>
              <a:t>16  Adjacent topical reviews</a:t>
            </a:r>
          </a:p>
        </p:txBody>
      </p:sp>
      <p:sp>
        <p:nvSpPr>
          <p:cNvPr id="25" name="Rectangle 24">
            <a:extLst>
              <a:ext uri="{FF2B5EF4-FFF2-40B4-BE49-F238E27FC236}">
                <a16:creationId xmlns:a16="http://schemas.microsoft.com/office/drawing/2014/main" id="{E8C82349-D811-8A2D-2BC2-4972B286EA08}"/>
              </a:ext>
            </a:extLst>
          </p:cNvPr>
          <p:cNvSpPr>
            <a:spLocks noGrp="1"/>
          </p:cNvSpPr>
          <p:nvPr/>
        </p:nvSpPr>
        <p:spPr>
          <a:xfrm>
            <a:off x="5457825" y="3400425"/>
            <a:ext cx="3067050" cy="295275"/>
          </a:xfrm>
          <a:prstGeom prst="rect">
            <a:avLst/>
          </a:prstGeom>
          <a:noFill/>
          <a:ln w="0">
            <a:noFill/>
          </a:ln>
        </p:spPr>
        <p:txBody>
          <a:bodyPr anchor="t">
            <a:normAutofit fontScale="85737" lnSpcReduction="10000"/>
          </a:bodyPr>
          <a:lstStyle/>
          <a:p>
            <a:pPr algn="l">
              <a:defRPr sz="780" b="0" i="0">
                <a:solidFill>
                  <a:srgbClr val="666666"/>
                </a:solidFill>
                <a:latin typeface="Arial"/>
                <a:ea typeface="Arial"/>
                <a:cs typeface="Arial"/>
              </a:defRPr>
            </a:pPr>
            <a:r>
              <a:rPr sz="780" b="0" i="0" dirty="0">
                <a:solidFill>
                  <a:srgbClr val="666666"/>
                </a:solidFill>
                <a:latin typeface="Arial"/>
                <a:ea typeface="Arial"/>
                <a:cs typeface="Arial"/>
              </a:rPr>
              <a:t>Overlap in one topic only; useful for a section, not for defining the whole review.</a:t>
            </a:r>
          </a:p>
        </p:txBody>
      </p:sp>
      <p:sp>
        <p:nvSpPr>
          <p:cNvPr id="26" name="Rectangle 25">
            <a:extLst>
              <a:ext uri="{FF2B5EF4-FFF2-40B4-BE49-F238E27FC236}">
                <a16:creationId xmlns:a16="http://schemas.microsoft.com/office/drawing/2014/main" id="{D01930E9-3756-3581-A67D-D085AED424F8}"/>
              </a:ext>
            </a:extLst>
          </p:cNvPr>
          <p:cNvSpPr>
            <a:spLocks noGrp="1"/>
          </p:cNvSpPr>
          <p:nvPr/>
        </p:nvSpPr>
        <p:spPr>
          <a:xfrm>
            <a:off x="5276850" y="3771900"/>
            <a:ext cx="76200" cy="400050"/>
          </a:xfrm>
          <a:prstGeom prst="rect">
            <a:avLst/>
          </a:prstGeom>
          <a:solidFill>
            <a:srgbClr val="C9BEB7"/>
          </a:solidFill>
          <a:ln w="0">
            <a:solidFill>
              <a:srgbClr val="C9BEB7"/>
            </a:solidFill>
          </a:ln>
        </p:spPr>
        <p:txBody>
          <a:bodyPr anchor="ctr">
            <a:normAutofit/>
          </a:bodyPr>
          <a:lstStyle/>
          <a:p>
            <a:endParaRPr/>
          </a:p>
        </p:txBody>
      </p:sp>
      <p:sp>
        <p:nvSpPr>
          <p:cNvPr id="27" name="Rectangle 26">
            <a:extLst>
              <a:ext uri="{FF2B5EF4-FFF2-40B4-BE49-F238E27FC236}">
                <a16:creationId xmlns:a16="http://schemas.microsoft.com/office/drawing/2014/main" id="{5AF0868C-FD69-AC51-E723-969F2E1B35CB}"/>
              </a:ext>
            </a:extLst>
          </p:cNvPr>
          <p:cNvSpPr>
            <a:spLocks noGrp="1"/>
          </p:cNvSpPr>
          <p:nvPr/>
        </p:nvSpPr>
        <p:spPr>
          <a:xfrm>
            <a:off x="5457825" y="3743325"/>
            <a:ext cx="3067050" cy="200025"/>
          </a:xfrm>
          <a:prstGeom prst="rect">
            <a:avLst/>
          </a:prstGeom>
          <a:noFill/>
          <a:ln w="0">
            <a:noFill/>
          </a:ln>
        </p:spPr>
        <p:txBody>
          <a:bodyPr anchor="ctr">
            <a:normAutofit fontScale="82897" lnSpcReduction="10000"/>
          </a:bodyPr>
          <a:lstStyle/>
          <a:p>
            <a:pPr algn="l">
              <a:defRPr sz="945" b="1" i="0">
                <a:solidFill>
                  <a:srgbClr val="303030"/>
                </a:solidFill>
                <a:latin typeface="Arial"/>
                <a:ea typeface="Arial"/>
                <a:cs typeface="Arial"/>
              </a:defRPr>
            </a:pPr>
            <a:r>
              <a:rPr sz="945" b="1" i="0">
                <a:solidFill>
                  <a:srgbClr val="303030"/>
                </a:solidFill>
                <a:latin typeface="Arial"/>
                <a:ea typeface="Arial"/>
                <a:cs typeface="Arial"/>
              </a:rPr>
              <a:t>1  Foundational source</a:t>
            </a:r>
          </a:p>
        </p:txBody>
      </p:sp>
      <p:sp>
        <p:nvSpPr>
          <p:cNvPr id="28" name="Rectangle 27">
            <a:extLst>
              <a:ext uri="{FF2B5EF4-FFF2-40B4-BE49-F238E27FC236}">
                <a16:creationId xmlns:a16="http://schemas.microsoft.com/office/drawing/2014/main" id="{A5669996-B6A6-3179-47A4-4AF33EEBDBC2}"/>
              </a:ext>
            </a:extLst>
          </p:cNvPr>
          <p:cNvSpPr>
            <a:spLocks noGrp="1"/>
          </p:cNvSpPr>
          <p:nvPr/>
        </p:nvSpPr>
        <p:spPr>
          <a:xfrm>
            <a:off x="5457825" y="3943350"/>
            <a:ext cx="3067050" cy="295275"/>
          </a:xfrm>
          <a:prstGeom prst="rect">
            <a:avLst/>
          </a:prstGeom>
          <a:noFill/>
          <a:ln w="0">
            <a:noFill/>
          </a:ln>
        </p:spPr>
        <p:txBody>
          <a:bodyPr anchor="t">
            <a:normAutofit fontScale="93237"/>
          </a:bodyPr>
          <a:lstStyle/>
          <a:p>
            <a:pPr algn="l">
              <a:defRPr sz="780" b="0" i="0">
                <a:solidFill>
                  <a:srgbClr val="666666"/>
                </a:solidFill>
                <a:latin typeface="Arial"/>
                <a:ea typeface="Arial"/>
                <a:cs typeface="Arial"/>
              </a:defRPr>
            </a:pPr>
            <a:r>
              <a:rPr sz="780" b="0" i="0" dirty="0">
                <a:solidFill>
                  <a:srgbClr val="666666"/>
                </a:solidFill>
                <a:latin typeface="Arial"/>
                <a:ea typeface="Arial"/>
                <a:cs typeface="Arial"/>
              </a:rPr>
              <a:t>Supplies </a:t>
            </a:r>
            <a:r>
              <a:rPr sz="780" b="0" i="0" dirty="0" err="1">
                <a:solidFill>
                  <a:srgbClr val="666666"/>
                </a:solidFill>
                <a:latin typeface="Arial"/>
                <a:ea typeface="Arial"/>
                <a:cs typeface="Arial"/>
              </a:rPr>
              <a:t>terminolog</a:t>
            </a:r>
            <a:r>
              <a:rPr lang="en-VN" sz="780" b="0" i="0" dirty="0">
                <a:solidFill>
                  <a:srgbClr val="666666"/>
                </a:solidFill>
                <a:latin typeface="Arial"/>
                <a:ea typeface="Arial"/>
                <a:cs typeface="Arial"/>
              </a:rPr>
              <a:t>y.</a:t>
            </a:r>
            <a:endParaRPr sz="780" b="0" i="0" dirty="0">
              <a:solidFill>
                <a:srgbClr val="666666"/>
              </a:solidFill>
              <a:latin typeface="Arial"/>
              <a:ea typeface="Arial"/>
              <a:cs typeface="Arial"/>
            </a:endParaRPr>
          </a:p>
        </p:txBody>
      </p:sp>
    </p:spTree>
    <p:extLst>
      <p:ext uri="{BB962C8B-B14F-4D97-AF65-F5344CB8AC3E}">
        <p14:creationId xmlns:p14="http://schemas.microsoft.com/office/powerpoint/2010/main" val="34481922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E17130-F03C-D4AD-7F33-6C3869ADB1B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F7AC831-D460-A84B-95CE-8E171CA07D44}"/>
              </a:ext>
            </a:extLst>
          </p:cNvPr>
          <p:cNvSpPr>
            <a:spLocks noGrp="1"/>
          </p:cNvSpPr>
          <p:nvPr>
            <p:ph type="title"/>
          </p:nvPr>
        </p:nvSpPr>
        <p:spPr>
          <a:xfrm>
            <a:off x="236536" y="1003"/>
            <a:ext cx="8450263" cy="514350"/>
          </a:xfrm>
        </p:spPr>
        <p:txBody>
          <a:bodyPr/>
          <a:lstStyle/>
          <a:p>
            <a:r>
              <a:rPr lang="en-VN" dirty="0"/>
              <a:t>2. Literature Review Paper – Progress</a:t>
            </a:r>
          </a:p>
        </p:txBody>
      </p:sp>
      <p:sp>
        <p:nvSpPr>
          <p:cNvPr id="22" name="Slide Number Placeholder 21">
            <a:extLst>
              <a:ext uri="{FF2B5EF4-FFF2-40B4-BE49-F238E27FC236}">
                <a16:creationId xmlns:a16="http://schemas.microsoft.com/office/drawing/2014/main" id="{370E9434-DC31-6B3D-F180-C9A22B41E191}"/>
              </a:ext>
            </a:extLst>
          </p:cNvPr>
          <p:cNvSpPr>
            <a:spLocks noGrp="1"/>
          </p:cNvSpPr>
          <p:nvPr>
            <p:ph type="sldNum" sz="quarter" idx="15"/>
          </p:nvPr>
        </p:nvSpPr>
        <p:spPr/>
        <p:txBody>
          <a:bodyPr/>
          <a:lstStyle/>
          <a:p>
            <a:fld id="{0AF20276-0DC3-B247-B3AE-8A6E2F85407E}" type="slidenum">
              <a:rPr lang="en-VN" smtClean="0"/>
              <a:t>9</a:t>
            </a:fld>
            <a:endParaRPr lang="en-VN"/>
          </a:p>
        </p:txBody>
      </p:sp>
      <p:graphicFrame>
        <p:nvGraphicFramePr>
          <p:cNvPr id="4" name="Table 3">
            <a:extLst>
              <a:ext uri="{FF2B5EF4-FFF2-40B4-BE49-F238E27FC236}">
                <a16:creationId xmlns:a16="http://schemas.microsoft.com/office/drawing/2014/main" id="{B5DE5F6F-C6D2-28E6-D16F-30109B5E8B3A}"/>
              </a:ext>
            </a:extLst>
          </p:cNvPr>
          <p:cNvGraphicFramePr/>
          <p:nvPr>
            <p:extLst>
              <p:ext uri="{D42A27DB-BD31-4B8C-83A1-F6EECF244321}">
                <p14:modId xmlns:p14="http://schemas.microsoft.com/office/powerpoint/2010/main" val="1136664006"/>
              </p:ext>
            </p:extLst>
          </p:nvPr>
        </p:nvGraphicFramePr>
        <p:xfrm>
          <a:off x="400050" y="981075"/>
          <a:ext cx="8134348" cy="3432305"/>
        </p:xfrm>
        <a:graphic>
          <a:graphicData uri="http://schemas.openxmlformats.org/drawingml/2006/table">
            <a:tbl>
              <a:tblPr/>
              <a:tblGrid>
                <a:gridCol w="1584172">
                  <a:extLst>
                    <a:ext uri="{9D8B030D-6E8A-4147-A177-3AD203B41FA5}">
                      <a16:colId xmlns:a16="http://schemas.microsoft.com/office/drawing/2014/main" val="20000"/>
                    </a:ext>
                  </a:extLst>
                </a:gridCol>
                <a:gridCol w="818772">
                  <a:extLst>
                    <a:ext uri="{9D8B030D-6E8A-4147-A177-3AD203B41FA5}">
                      <a16:colId xmlns:a16="http://schemas.microsoft.com/office/drawing/2014/main" val="20001"/>
                    </a:ext>
                  </a:extLst>
                </a:gridCol>
                <a:gridCol w="818772">
                  <a:extLst>
                    <a:ext uri="{9D8B030D-6E8A-4147-A177-3AD203B41FA5}">
                      <a16:colId xmlns:a16="http://schemas.microsoft.com/office/drawing/2014/main" val="20002"/>
                    </a:ext>
                  </a:extLst>
                </a:gridCol>
                <a:gridCol w="818772">
                  <a:extLst>
                    <a:ext uri="{9D8B030D-6E8A-4147-A177-3AD203B41FA5}">
                      <a16:colId xmlns:a16="http://schemas.microsoft.com/office/drawing/2014/main" val="20003"/>
                    </a:ext>
                  </a:extLst>
                </a:gridCol>
                <a:gridCol w="818772">
                  <a:extLst>
                    <a:ext uri="{9D8B030D-6E8A-4147-A177-3AD203B41FA5}">
                      <a16:colId xmlns:a16="http://schemas.microsoft.com/office/drawing/2014/main" val="20004"/>
                    </a:ext>
                  </a:extLst>
                </a:gridCol>
                <a:gridCol w="818772">
                  <a:extLst>
                    <a:ext uri="{9D8B030D-6E8A-4147-A177-3AD203B41FA5}">
                      <a16:colId xmlns:a16="http://schemas.microsoft.com/office/drawing/2014/main" val="20005"/>
                    </a:ext>
                  </a:extLst>
                </a:gridCol>
                <a:gridCol w="818772">
                  <a:extLst>
                    <a:ext uri="{9D8B030D-6E8A-4147-A177-3AD203B41FA5}">
                      <a16:colId xmlns:a16="http://schemas.microsoft.com/office/drawing/2014/main" val="20006"/>
                    </a:ext>
                  </a:extLst>
                </a:gridCol>
                <a:gridCol w="818772">
                  <a:extLst>
                    <a:ext uri="{9D8B030D-6E8A-4147-A177-3AD203B41FA5}">
                      <a16:colId xmlns:a16="http://schemas.microsoft.com/office/drawing/2014/main" val="20007"/>
                    </a:ext>
                  </a:extLst>
                </a:gridCol>
                <a:gridCol w="818772">
                  <a:extLst>
                    <a:ext uri="{9D8B030D-6E8A-4147-A177-3AD203B41FA5}">
                      <a16:colId xmlns:a16="http://schemas.microsoft.com/office/drawing/2014/main" val="20008"/>
                    </a:ext>
                  </a:extLst>
                </a:gridCol>
              </a:tblGrid>
              <a:tr h="500063">
                <a:tc>
                  <a:txBody>
                    <a:bodyPr/>
                    <a:lstStyle/>
                    <a:p>
                      <a:r>
                        <a:rPr sz="788" b="1" dirty="0">
                          <a:solidFill>
                            <a:srgbClr val="FFFFFF"/>
                          </a:solidFill>
                          <a:latin typeface="Arial"/>
                          <a:ea typeface="Arial"/>
                          <a:cs typeface="Arial"/>
                        </a:rPr>
                        <a:t>Subsystem</a:t>
                      </a:r>
                    </a:p>
                  </a:txBody>
                  <a:tcPr anchor="ctr">
                    <a:solidFill>
                      <a:srgbClr val="72243D"/>
                    </a:solidFill>
                  </a:tcPr>
                </a:tc>
                <a:tc>
                  <a:txBody>
                    <a:bodyPr/>
                    <a:lstStyle/>
                    <a:p>
                      <a:r>
                        <a:rPr sz="788" b="1" dirty="0">
                          <a:solidFill>
                            <a:srgbClr val="FFFFFF"/>
                          </a:solidFill>
                          <a:latin typeface="Arial"/>
                          <a:ea typeface="Arial"/>
                          <a:cs typeface="Arial"/>
                        </a:rPr>
                        <a:t>Acoustic</a:t>
                      </a:r>
                      <a:r>
                        <a:rPr lang="vi-VN" sz="788" b="1" dirty="0">
                          <a:solidFill>
                            <a:srgbClr val="FFFFFF"/>
                          </a:solidFill>
                          <a:latin typeface="Arial"/>
                          <a:ea typeface="Arial"/>
                          <a:cs typeface="Arial"/>
                        </a:rPr>
                        <a:t>/</a:t>
                      </a:r>
                      <a:br>
                        <a:rPr lang="vi-VN" sz="788" b="1" dirty="0">
                          <a:solidFill>
                            <a:srgbClr val="FFFFFF"/>
                          </a:solidFill>
                          <a:latin typeface="Arial"/>
                          <a:ea typeface="Arial"/>
                          <a:cs typeface="Arial"/>
                        </a:rPr>
                      </a:br>
                      <a:r>
                        <a:rPr lang="vi-VN" sz="788" b="1" dirty="0">
                          <a:solidFill>
                            <a:srgbClr val="FFFFFF"/>
                          </a:solidFill>
                          <a:latin typeface="Arial"/>
                          <a:ea typeface="Arial"/>
                          <a:cs typeface="Arial"/>
                        </a:rPr>
                        <a:t>Audio sensing</a:t>
                      </a:r>
                      <a:endParaRPr sz="788" b="1" dirty="0">
                        <a:solidFill>
                          <a:srgbClr val="FFFFFF"/>
                        </a:solidFill>
                        <a:latin typeface="Arial"/>
                        <a:ea typeface="Arial"/>
                        <a:cs typeface="Arial"/>
                      </a:endParaRPr>
                    </a:p>
                  </a:txBody>
                  <a:tcPr anchor="ctr">
                    <a:solidFill>
                      <a:srgbClr val="72243D"/>
                    </a:solidFill>
                  </a:tcPr>
                </a:tc>
                <a:tc>
                  <a:txBody>
                    <a:bodyPr/>
                    <a:lstStyle/>
                    <a:p>
                      <a:r>
                        <a:rPr sz="788" b="1" dirty="0">
                          <a:solidFill>
                            <a:srgbClr val="FFFFFF"/>
                          </a:solidFill>
                          <a:latin typeface="Arial"/>
                          <a:ea typeface="Arial"/>
                          <a:cs typeface="Arial"/>
                        </a:rPr>
                        <a:t>Aero</a:t>
                      </a:r>
                      <a:r>
                        <a:rPr lang="vi-VN" sz="788" b="1" dirty="0">
                          <a:solidFill>
                            <a:srgbClr val="FFFFFF"/>
                          </a:solidFill>
                          <a:latin typeface="Arial"/>
                          <a:ea typeface="Arial"/>
                          <a:cs typeface="Arial"/>
                        </a:rPr>
                        <a:t>dynamic/ pressure measurement</a:t>
                      </a:r>
                      <a:endParaRPr sz="788" b="1" dirty="0">
                        <a:solidFill>
                          <a:srgbClr val="FFFFFF"/>
                        </a:solidFill>
                        <a:latin typeface="Arial"/>
                        <a:ea typeface="Arial"/>
                        <a:cs typeface="Arial"/>
                      </a:endParaRPr>
                    </a:p>
                  </a:txBody>
                  <a:tcPr anchor="ctr">
                    <a:solidFill>
                      <a:srgbClr val="72243D"/>
                    </a:solidFill>
                  </a:tcPr>
                </a:tc>
                <a:tc>
                  <a:txBody>
                    <a:bodyPr/>
                    <a:lstStyle/>
                    <a:p>
                      <a:r>
                        <a:rPr sz="788" b="1" dirty="0">
                          <a:solidFill>
                            <a:srgbClr val="FFFFFF"/>
                          </a:solidFill>
                          <a:latin typeface="Arial"/>
                          <a:ea typeface="Arial"/>
                          <a:cs typeface="Arial"/>
                        </a:rPr>
                        <a:t>EGG</a:t>
                      </a:r>
                      <a:r>
                        <a:rPr lang="vi-VN" sz="788" b="1" dirty="0">
                          <a:solidFill>
                            <a:srgbClr val="FFFFFF"/>
                          </a:solidFill>
                          <a:latin typeface="Arial"/>
                          <a:ea typeface="Arial"/>
                          <a:cs typeface="Arial"/>
                        </a:rPr>
                        <a:t>/Electroglottography</a:t>
                      </a:r>
                      <a:endParaRPr sz="788" b="1" dirty="0">
                        <a:solidFill>
                          <a:srgbClr val="FFFFFF"/>
                        </a:solidFill>
                        <a:latin typeface="Arial"/>
                        <a:ea typeface="Arial"/>
                        <a:cs typeface="Arial"/>
                      </a:endParaRPr>
                    </a:p>
                  </a:txBody>
                  <a:tcPr anchor="ctr">
                    <a:solidFill>
                      <a:srgbClr val="72243D"/>
                    </a:solidFill>
                  </a:tcPr>
                </a:tc>
                <a:tc>
                  <a:txBody>
                    <a:bodyPr/>
                    <a:lstStyle/>
                    <a:p>
                      <a:r>
                        <a:rPr sz="788" b="1" dirty="0">
                          <a:solidFill>
                            <a:srgbClr val="FFFFFF"/>
                          </a:solidFill>
                          <a:latin typeface="Arial"/>
                          <a:ea typeface="Arial"/>
                          <a:cs typeface="Arial"/>
                        </a:rPr>
                        <a:t>Resp</a:t>
                      </a:r>
                      <a:r>
                        <a:rPr lang="vi-VN" sz="788" b="1" dirty="0">
                          <a:solidFill>
                            <a:srgbClr val="FFFFFF"/>
                          </a:solidFill>
                          <a:latin typeface="Arial"/>
                          <a:ea typeface="Arial"/>
                          <a:cs typeface="Arial"/>
                        </a:rPr>
                        <a:t>iration motion sensing</a:t>
                      </a:r>
                      <a:endParaRPr sz="788" b="1" dirty="0">
                        <a:solidFill>
                          <a:srgbClr val="FFFFFF"/>
                        </a:solidFill>
                        <a:latin typeface="Arial"/>
                        <a:ea typeface="Arial"/>
                        <a:cs typeface="Arial"/>
                      </a:endParaRPr>
                    </a:p>
                  </a:txBody>
                  <a:tcPr anchor="ctr">
                    <a:solidFill>
                      <a:srgbClr val="72243D"/>
                    </a:solidFill>
                  </a:tcPr>
                </a:tc>
                <a:tc>
                  <a:txBody>
                    <a:bodyPr/>
                    <a:lstStyle/>
                    <a:p>
                      <a:r>
                        <a:rPr sz="788" b="1" dirty="0">
                          <a:solidFill>
                            <a:srgbClr val="FFFFFF"/>
                          </a:solidFill>
                          <a:latin typeface="Arial"/>
                          <a:ea typeface="Arial"/>
                          <a:cs typeface="Arial"/>
                        </a:rPr>
                        <a:t>EPG</a:t>
                      </a:r>
                      <a:r>
                        <a:rPr lang="vi-VN" sz="788" b="1" dirty="0">
                          <a:solidFill>
                            <a:srgbClr val="FFFFFF"/>
                          </a:solidFill>
                          <a:latin typeface="Arial"/>
                          <a:ea typeface="Arial"/>
                          <a:cs typeface="Arial"/>
                        </a:rPr>
                        <a:t>/ Electropalatography</a:t>
                      </a:r>
                      <a:endParaRPr sz="788" b="1" dirty="0">
                        <a:solidFill>
                          <a:srgbClr val="FFFFFF"/>
                        </a:solidFill>
                        <a:latin typeface="Arial"/>
                        <a:ea typeface="Arial"/>
                        <a:cs typeface="Arial"/>
                      </a:endParaRPr>
                    </a:p>
                  </a:txBody>
                  <a:tcPr anchor="ctr">
                    <a:solidFill>
                      <a:srgbClr val="72243D"/>
                    </a:solidFill>
                  </a:tcPr>
                </a:tc>
                <a:tc>
                  <a:txBody>
                    <a:bodyPr/>
                    <a:lstStyle/>
                    <a:p>
                      <a:r>
                        <a:rPr sz="788" b="1" dirty="0">
                          <a:solidFill>
                            <a:srgbClr val="FFFFFF"/>
                          </a:solidFill>
                          <a:latin typeface="Arial"/>
                          <a:ea typeface="Arial"/>
                          <a:cs typeface="Arial"/>
                        </a:rPr>
                        <a:t>UTI</a:t>
                      </a:r>
                      <a:r>
                        <a:rPr lang="vi-VN" sz="788" b="1" dirty="0">
                          <a:solidFill>
                            <a:srgbClr val="FFFFFF"/>
                          </a:solidFill>
                          <a:latin typeface="Arial"/>
                          <a:ea typeface="Arial"/>
                          <a:cs typeface="Arial"/>
                        </a:rPr>
                        <a:t>/ Ultrasound Tongue Imaging</a:t>
                      </a:r>
                      <a:endParaRPr sz="788" b="1" dirty="0">
                        <a:solidFill>
                          <a:srgbClr val="FFFFFF"/>
                        </a:solidFill>
                        <a:latin typeface="Arial"/>
                        <a:ea typeface="Arial"/>
                        <a:cs typeface="Arial"/>
                      </a:endParaRPr>
                    </a:p>
                  </a:txBody>
                  <a:tcPr anchor="ctr">
                    <a:solidFill>
                      <a:srgbClr val="72243D"/>
                    </a:solidFill>
                  </a:tcPr>
                </a:tc>
                <a:tc>
                  <a:txBody>
                    <a:bodyPr/>
                    <a:lstStyle/>
                    <a:p>
                      <a:r>
                        <a:rPr sz="788" b="1" dirty="0">
                          <a:solidFill>
                            <a:srgbClr val="FFFFFF"/>
                          </a:solidFill>
                          <a:latin typeface="Arial"/>
                          <a:ea typeface="Arial"/>
                          <a:cs typeface="Arial"/>
                        </a:rPr>
                        <a:t>EMA</a:t>
                      </a:r>
                      <a:r>
                        <a:rPr lang="vi-VN" sz="788" b="1" dirty="0">
                          <a:solidFill>
                            <a:srgbClr val="FFFFFF"/>
                          </a:solidFill>
                          <a:latin typeface="Arial"/>
                          <a:ea typeface="Arial"/>
                          <a:cs typeface="Arial"/>
                        </a:rPr>
                        <a:t>/kin.</a:t>
                      </a:r>
                      <a:br>
                        <a:rPr lang="vi-VN" sz="788" b="1" dirty="0">
                          <a:solidFill>
                            <a:srgbClr val="FFFFFF"/>
                          </a:solidFill>
                          <a:latin typeface="Arial"/>
                          <a:ea typeface="Arial"/>
                          <a:cs typeface="Arial"/>
                        </a:rPr>
                      </a:br>
                      <a:r>
                        <a:rPr lang="vi-VN" sz="788" b="1" dirty="0">
                          <a:solidFill>
                            <a:srgbClr val="FFFFFF"/>
                          </a:solidFill>
                          <a:latin typeface="Arial"/>
                          <a:ea typeface="Arial"/>
                          <a:cs typeface="Arial"/>
                        </a:rPr>
                        <a:t>Electromagnetic articulography/ kinematic tracking</a:t>
                      </a:r>
                      <a:endParaRPr sz="788" b="1" dirty="0">
                        <a:solidFill>
                          <a:srgbClr val="FFFFFF"/>
                        </a:solidFill>
                        <a:latin typeface="Arial"/>
                        <a:ea typeface="Arial"/>
                        <a:cs typeface="Arial"/>
                      </a:endParaRPr>
                    </a:p>
                  </a:txBody>
                  <a:tcPr anchor="ctr">
                    <a:solidFill>
                      <a:srgbClr val="72243D"/>
                    </a:solidFill>
                  </a:tcPr>
                </a:tc>
                <a:tc>
                  <a:txBody>
                    <a:bodyPr/>
                    <a:lstStyle/>
                    <a:p>
                      <a:r>
                        <a:rPr sz="788" b="1" dirty="0" err="1">
                          <a:solidFill>
                            <a:srgbClr val="FFFFFF"/>
                          </a:solidFill>
                          <a:latin typeface="Arial"/>
                          <a:ea typeface="Arial"/>
                          <a:cs typeface="Arial"/>
                        </a:rPr>
                        <a:t>sEMG</a:t>
                      </a:r>
                      <a:endParaRPr sz="788" b="1" dirty="0">
                        <a:solidFill>
                          <a:srgbClr val="FFFFFF"/>
                        </a:solidFill>
                        <a:latin typeface="Arial"/>
                        <a:ea typeface="Arial"/>
                        <a:cs typeface="Arial"/>
                      </a:endParaRPr>
                    </a:p>
                  </a:txBody>
                  <a:tcPr anchor="ctr">
                    <a:solidFill>
                      <a:srgbClr val="72243D"/>
                    </a:solidFill>
                  </a:tcPr>
                </a:tc>
                <a:extLst>
                  <a:ext uri="{0D108BD9-81ED-4DB2-BD59-A6C34878D82A}">
                    <a16:rowId xmlns:a16="http://schemas.microsoft.com/office/drawing/2014/main" val="10000"/>
                  </a:ext>
                </a:extLst>
              </a:tr>
              <a:tr h="500063">
                <a:tc>
                  <a:txBody>
                    <a:bodyPr/>
                    <a:lstStyle/>
                    <a:p>
                      <a:r>
                        <a:rPr sz="938" b="1">
                          <a:solidFill>
                            <a:srgbClr val="72243D"/>
                          </a:solidFill>
                          <a:latin typeface="Arial"/>
                          <a:ea typeface="Arial"/>
                          <a:cs typeface="Arial"/>
                        </a:rPr>
                        <a:t>Respiration</a:t>
                      </a:r>
                    </a:p>
                  </a:txBody>
                  <a:tcPr anchor="ctr">
                    <a:solidFill>
                      <a:srgbClr val="F4E9ED"/>
                    </a:solidFill>
                  </a:tcPr>
                </a:tc>
                <a:tc>
                  <a:txBody>
                    <a:bodyPr/>
                    <a:lstStyle/>
                    <a:p>
                      <a:pPr algn="ctr"/>
                      <a:r>
                        <a:rPr sz="938" b="1" dirty="0">
                          <a:solidFill>
                            <a:srgbClr val="303030"/>
                          </a:solidFill>
                          <a:latin typeface="Arial"/>
                          <a:ea typeface="Arial"/>
                          <a:cs typeface="Arial"/>
                        </a:rPr>
                        <a:t>15</a:t>
                      </a:r>
                    </a:p>
                  </a:txBody>
                  <a:tcPr anchor="ctr">
                    <a:solidFill>
                      <a:srgbClr val="C2A1AC"/>
                    </a:solidFill>
                  </a:tcPr>
                </a:tc>
                <a:tc>
                  <a:txBody>
                    <a:bodyPr/>
                    <a:lstStyle/>
                    <a:p>
                      <a:pPr algn="ctr"/>
                      <a:r>
                        <a:rPr sz="938" b="1" dirty="0">
                          <a:solidFill>
                            <a:srgbClr val="303030"/>
                          </a:solidFill>
                          <a:latin typeface="Arial"/>
                          <a:ea typeface="Arial"/>
                          <a:cs typeface="Arial"/>
                        </a:rPr>
                        <a:t>5</a:t>
                      </a:r>
                    </a:p>
                  </a:txBody>
                  <a:tcPr anchor="ctr">
                    <a:solidFill>
                      <a:srgbClr val="DAC5CC"/>
                    </a:solidFill>
                  </a:tcPr>
                </a:tc>
                <a:tc>
                  <a:txBody>
                    <a:bodyPr/>
                    <a:lstStyle/>
                    <a:p>
                      <a:pPr algn="ctr"/>
                      <a:r>
                        <a:rPr sz="938" b="1" dirty="0">
                          <a:solidFill>
                            <a:srgbClr val="303030"/>
                          </a:solidFill>
                          <a:latin typeface="Arial"/>
                          <a:ea typeface="Arial"/>
                          <a:cs typeface="Arial"/>
                        </a:rPr>
                        <a:t>1</a:t>
                      </a:r>
                    </a:p>
                  </a:txBody>
                  <a:tcPr anchor="ctr">
                    <a:solidFill>
                      <a:srgbClr val="E3D4D9"/>
                    </a:solidFill>
                  </a:tcPr>
                </a:tc>
                <a:tc>
                  <a:txBody>
                    <a:bodyPr/>
                    <a:lstStyle/>
                    <a:p>
                      <a:pPr algn="ctr"/>
                      <a:r>
                        <a:rPr sz="938" b="1">
                          <a:solidFill>
                            <a:srgbClr val="303030"/>
                          </a:solidFill>
                          <a:latin typeface="Arial"/>
                          <a:ea typeface="Arial"/>
                          <a:cs typeface="Arial"/>
                        </a:rPr>
                        <a:t>3</a:t>
                      </a:r>
                    </a:p>
                  </a:txBody>
                  <a:tcPr anchor="ctr">
                    <a:solidFill>
                      <a:srgbClr val="DFCDD2"/>
                    </a:solidFill>
                  </a:tcPr>
                </a:tc>
                <a:tc>
                  <a:txBody>
                    <a:bodyPr/>
                    <a:lstStyle/>
                    <a:p>
                      <a:pPr algn="ctr"/>
                      <a:r>
                        <a:rPr sz="938" b="0">
                          <a:solidFill>
                            <a:srgbClr val="7D7364"/>
                          </a:solidFill>
                          <a:latin typeface="Arial"/>
                          <a:ea typeface="Arial"/>
                          <a:cs typeface="Arial"/>
                        </a:rPr>
                        <a:t>0</a:t>
                      </a:r>
                    </a:p>
                  </a:txBody>
                  <a:tcPr anchor="ctr">
                    <a:solidFill>
                      <a:srgbClr val="FFFFFF"/>
                    </a:solidFill>
                  </a:tcPr>
                </a:tc>
                <a:tc>
                  <a:txBody>
                    <a:bodyPr/>
                    <a:lstStyle/>
                    <a:p>
                      <a:pPr algn="ctr"/>
                      <a:r>
                        <a:rPr sz="938" b="0">
                          <a:solidFill>
                            <a:srgbClr val="7D7364"/>
                          </a:solidFill>
                          <a:latin typeface="Arial"/>
                          <a:ea typeface="Arial"/>
                          <a:cs typeface="Arial"/>
                        </a:rPr>
                        <a:t>0</a:t>
                      </a:r>
                    </a:p>
                  </a:txBody>
                  <a:tcPr anchor="ctr">
                    <a:solidFill>
                      <a:srgbClr val="FFFFFF"/>
                    </a:solidFill>
                  </a:tcPr>
                </a:tc>
                <a:tc>
                  <a:txBody>
                    <a:bodyPr/>
                    <a:lstStyle/>
                    <a:p>
                      <a:pPr algn="ctr"/>
                      <a:r>
                        <a:rPr sz="938" b="0">
                          <a:solidFill>
                            <a:srgbClr val="7D7364"/>
                          </a:solidFill>
                          <a:latin typeface="Arial"/>
                          <a:ea typeface="Arial"/>
                          <a:cs typeface="Arial"/>
                        </a:rPr>
                        <a:t>0</a:t>
                      </a:r>
                    </a:p>
                  </a:txBody>
                  <a:tcPr anchor="ctr">
                    <a:solidFill>
                      <a:srgbClr val="FFFFFF"/>
                    </a:solidFill>
                  </a:tcPr>
                </a:tc>
                <a:tc>
                  <a:txBody>
                    <a:bodyPr/>
                    <a:lstStyle/>
                    <a:p>
                      <a:pPr algn="ctr"/>
                      <a:r>
                        <a:rPr sz="938" b="0">
                          <a:solidFill>
                            <a:srgbClr val="7D7364"/>
                          </a:solidFill>
                          <a:latin typeface="Arial"/>
                          <a:ea typeface="Arial"/>
                          <a:cs typeface="Arial"/>
                        </a:rPr>
                        <a:t>0</a:t>
                      </a:r>
                    </a:p>
                  </a:txBody>
                  <a:tcPr anchor="ctr">
                    <a:solidFill>
                      <a:srgbClr val="FFFFFF"/>
                    </a:solidFill>
                  </a:tcPr>
                </a:tc>
                <a:extLst>
                  <a:ext uri="{0D108BD9-81ED-4DB2-BD59-A6C34878D82A}">
                    <a16:rowId xmlns:a16="http://schemas.microsoft.com/office/drawing/2014/main" val="10001"/>
                  </a:ext>
                </a:extLst>
              </a:tr>
              <a:tr h="500063">
                <a:tc>
                  <a:txBody>
                    <a:bodyPr/>
                    <a:lstStyle/>
                    <a:p>
                      <a:r>
                        <a:rPr sz="938" b="1">
                          <a:solidFill>
                            <a:srgbClr val="72243D"/>
                          </a:solidFill>
                          <a:latin typeface="Arial"/>
                          <a:ea typeface="Arial"/>
                          <a:cs typeface="Arial"/>
                        </a:rPr>
                        <a:t>Phonation</a:t>
                      </a:r>
                    </a:p>
                  </a:txBody>
                  <a:tcPr anchor="ctr">
                    <a:solidFill>
                      <a:srgbClr val="F4E9ED"/>
                    </a:solidFill>
                  </a:tcPr>
                </a:tc>
                <a:tc>
                  <a:txBody>
                    <a:bodyPr/>
                    <a:lstStyle/>
                    <a:p>
                      <a:pPr algn="ctr"/>
                      <a:r>
                        <a:rPr sz="938" b="1">
                          <a:solidFill>
                            <a:srgbClr val="FFFFFF"/>
                          </a:solidFill>
                          <a:latin typeface="Arial"/>
                          <a:ea typeface="Arial"/>
                          <a:cs typeface="Arial"/>
                        </a:rPr>
                        <a:t>32</a:t>
                      </a:r>
                    </a:p>
                  </a:txBody>
                  <a:tcPr anchor="ctr">
                    <a:solidFill>
                      <a:srgbClr val="9A6375"/>
                    </a:solidFill>
                  </a:tcPr>
                </a:tc>
                <a:tc>
                  <a:txBody>
                    <a:bodyPr/>
                    <a:lstStyle/>
                    <a:p>
                      <a:pPr algn="ctr"/>
                      <a:r>
                        <a:rPr sz="938" b="1">
                          <a:solidFill>
                            <a:srgbClr val="303030"/>
                          </a:solidFill>
                          <a:latin typeface="Arial"/>
                          <a:ea typeface="Arial"/>
                          <a:cs typeface="Arial"/>
                        </a:rPr>
                        <a:t>4</a:t>
                      </a:r>
                    </a:p>
                  </a:txBody>
                  <a:tcPr anchor="ctr">
                    <a:solidFill>
                      <a:srgbClr val="DCC9CF"/>
                    </a:solidFill>
                  </a:tcPr>
                </a:tc>
                <a:tc>
                  <a:txBody>
                    <a:bodyPr/>
                    <a:lstStyle/>
                    <a:p>
                      <a:pPr algn="ctr"/>
                      <a:r>
                        <a:rPr sz="938" b="1" dirty="0">
                          <a:solidFill>
                            <a:srgbClr val="303030"/>
                          </a:solidFill>
                          <a:latin typeface="Arial"/>
                          <a:ea typeface="Arial"/>
                          <a:cs typeface="Arial"/>
                        </a:rPr>
                        <a:t>5</a:t>
                      </a:r>
                    </a:p>
                  </a:txBody>
                  <a:tcPr anchor="ctr">
                    <a:solidFill>
                      <a:srgbClr val="DAC5CC"/>
                    </a:solidFill>
                  </a:tcPr>
                </a:tc>
                <a:tc>
                  <a:txBody>
                    <a:bodyPr/>
                    <a:lstStyle/>
                    <a:p>
                      <a:pPr algn="ctr"/>
                      <a:r>
                        <a:rPr sz="938" b="1" dirty="0">
                          <a:solidFill>
                            <a:srgbClr val="303030"/>
                          </a:solidFill>
                          <a:latin typeface="Arial"/>
                          <a:ea typeface="Arial"/>
                          <a:cs typeface="Arial"/>
                        </a:rPr>
                        <a:t>2</a:t>
                      </a:r>
                    </a:p>
                  </a:txBody>
                  <a:tcPr anchor="ctr">
                    <a:solidFill>
                      <a:srgbClr val="E1D0D6"/>
                    </a:solidFill>
                  </a:tcPr>
                </a:tc>
                <a:tc>
                  <a:txBody>
                    <a:bodyPr/>
                    <a:lstStyle/>
                    <a:p>
                      <a:pPr algn="ctr"/>
                      <a:r>
                        <a:rPr sz="938" b="1">
                          <a:solidFill>
                            <a:srgbClr val="303030"/>
                          </a:solidFill>
                          <a:latin typeface="Arial"/>
                          <a:ea typeface="Arial"/>
                          <a:cs typeface="Arial"/>
                        </a:rPr>
                        <a:t>2</a:t>
                      </a:r>
                    </a:p>
                  </a:txBody>
                  <a:tcPr anchor="ctr">
                    <a:solidFill>
                      <a:srgbClr val="E1D0D6"/>
                    </a:solidFill>
                  </a:tcPr>
                </a:tc>
                <a:tc>
                  <a:txBody>
                    <a:bodyPr/>
                    <a:lstStyle/>
                    <a:p>
                      <a:pPr algn="ctr"/>
                      <a:r>
                        <a:rPr sz="938" b="0">
                          <a:solidFill>
                            <a:srgbClr val="7D7364"/>
                          </a:solidFill>
                          <a:latin typeface="Arial"/>
                          <a:ea typeface="Arial"/>
                          <a:cs typeface="Arial"/>
                        </a:rPr>
                        <a:t>0</a:t>
                      </a:r>
                    </a:p>
                  </a:txBody>
                  <a:tcPr anchor="ctr">
                    <a:solidFill>
                      <a:srgbClr val="FFFFFF"/>
                    </a:solidFill>
                  </a:tcPr>
                </a:tc>
                <a:tc>
                  <a:txBody>
                    <a:bodyPr/>
                    <a:lstStyle/>
                    <a:p>
                      <a:pPr algn="ctr"/>
                      <a:r>
                        <a:rPr sz="938" b="1">
                          <a:solidFill>
                            <a:srgbClr val="303030"/>
                          </a:solidFill>
                          <a:latin typeface="Arial"/>
                          <a:ea typeface="Arial"/>
                          <a:cs typeface="Arial"/>
                        </a:rPr>
                        <a:t>1</a:t>
                      </a:r>
                    </a:p>
                  </a:txBody>
                  <a:tcPr anchor="ctr">
                    <a:solidFill>
                      <a:srgbClr val="E3D4D9"/>
                    </a:solidFill>
                  </a:tcPr>
                </a:tc>
                <a:tc>
                  <a:txBody>
                    <a:bodyPr/>
                    <a:lstStyle/>
                    <a:p>
                      <a:pPr algn="ctr"/>
                      <a:r>
                        <a:rPr sz="938" b="1" dirty="0">
                          <a:solidFill>
                            <a:srgbClr val="303030"/>
                          </a:solidFill>
                          <a:latin typeface="Arial"/>
                          <a:ea typeface="Arial"/>
                          <a:cs typeface="Arial"/>
                        </a:rPr>
                        <a:t>5</a:t>
                      </a:r>
                    </a:p>
                  </a:txBody>
                  <a:tcPr anchor="ctr">
                    <a:solidFill>
                      <a:srgbClr val="DAC5CC"/>
                    </a:solidFill>
                  </a:tcPr>
                </a:tc>
                <a:extLst>
                  <a:ext uri="{0D108BD9-81ED-4DB2-BD59-A6C34878D82A}">
                    <a16:rowId xmlns:a16="http://schemas.microsoft.com/office/drawing/2014/main" val="10002"/>
                  </a:ext>
                </a:extLst>
              </a:tr>
              <a:tr h="500063">
                <a:tc>
                  <a:txBody>
                    <a:bodyPr/>
                    <a:lstStyle/>
                    <a:p>
                      <a:r>
                        <a:rPr sz="938" b="1">
                          <a:solidFill>
                            <a:srgbClr val="72243D"/>
                          </a:solidFill>
                          <a:latin typeface="Arial"/>
                          <a:ea typeface="Arial"/>
                          <a:cs typeface="Arial"/>
                        </a:rPr>
                        <a:t>Resonance</a:t>
                      </a:r>
                    </a:p>
                  </a:txBody>
                  <a:tcPr anchor="ctr">
                    <a:solidFill>
                      <a:srgbClr val="F4E9ED"/>
                    </a:solidFill>
                  </a:tcPr>
                </a:tc>
                <a:tc>
                  <a:txBody>
                    <a:bodyPr/>
                    <a:lstStyle/>
                    <a:p>
                      <a:pPr algn="ctr"/>
                      <a:r>
                        <a:rPr sz="938" b="1">
                          <a:solidFill>
                            <a:srgbClr val="303030"/>
                          </a:solidFill>
                          <a:latin typeface="Arial"/>
                          <a:ea typeface="Arial"/>
                          <a:cs typeface="Arial"/>
                        </a:rPr>
                        <a:t>14</a:t>
                      </a:r>
                    </a:p>
                  </a:txBody>
                  <a:tcPr anchor="ctr">
                    <a:solidFill>
                      <a:srgbClr val="C5A4AF"/>
                    </a:solidFill>
                  </a:tcPr>
                </a:tc>
                <a:tc>
                  <a:txBody>
                    <a:bodyPr/>
                    <a:lstStyle/>
                    <a:p>
                      <a:pPr algn="ctr"/>
                      <a:r>
                        <a:rPr sz="938" b="1">
                          <a:solidFill>
                            <a:srgbClr val="303030"/>
                          </a:solidFill>
                          <a:latin typeface="Arial"/>
                          <a:ea typeface="Arial"/>
                          <a:cs typeface="Arial"/>
                        </a:rPr>
                        <a:t>5</a:t>
                      </a:r>
                    </a:p>
                  </a:txBody>
                  <a:tcPr anchor="ctr">
                    <a:solidFill>
                      <a:srgbClr val="DAC5CC"/>
                    </a:solidFill>
                  </a:tcPr>
                </a:tc>
                <a:tc>
                  <a:txBody>
                    <a:bodyPr/>
                    <a:lstStyle/>
                    <a:p>
                      <a:pPr algn="ctr"/>
                      <a:r>
                        <a:rPr sz="938" b="1">
                          <a:solidFill>
                            <a:srgbClr val="303030"/>
                          </a:solidFill>
                          <a:latin typeface="Arial"/>
                          <a:ea typeface="Arial"/>
                          <a:cs typeface="Arial"/>
                        </a:rPr>
                        <a:t>1</a:t>
                      </a:r>
                    </a:p>
                  </a:txBody>
                  <a:tcPr anchor="ctr">
                    <a:solidFill>
                      <a:srgbClr val="E3D4D9"/>
                    </a:solidFill>
                  </a:tcPr>
                </a:tc>
                <a:tc>
                  <a:txBody>
                    <a:bodyPr/>
                    <a:lstStyle/>
                    <a:p>
                      <a:pPr algn="ctr"/>
                      <a:r>
                        <a:rPr sz="938" b="0" dirty="0">
                          <a:solidFill>
                            <a:srgbClr val="7D7364"/>
                          </a:solidFill>
                          <a:latin typeface="Arial"/>
                          <a:ea typeface="Arial"/>
                          <a:cs typeface="Arial"/>
                        </a:rPr>
                        <a:t>0</a:t>
                      </a:r>
                    </a:p>
                  </a:txBody>
                  <a:tcPr anchor="ctr">
                    <a:solidFill>
                      <a:srgbClr val="FFFFFF"/>
                    </a:solidFill>
                  </a:tcPr>
                </a:tc>
                <a:tc>
                  <a:txBody>
                    <a:bodyPr/>
                    <a:lstStyle/>
                    <a:p>
                      <a:pPr algn="ctr"/>
                      <a:r>
                        <a:rPr sz="938" b="0" dirty="0">
                          <a:solidFill>
                            <a:srgbClr val="7D7364"/>
                          </a:solidFill>
                          <a:latin typeface="Arial"/>
                          <a:ea typeface="Arial"/>
                          <a:cs typeface="Arial"/>
                        </a:rPr>
                        <a:t>0</a:t>
                      </a:r>
                    </a:p>
                  </a:txBody>
                  <a:tcPr anchor="ctr">
                    <a:solidFill>
                      <a:srgbClr val="FFFFFF"/>
                    </a:solidFill>
                  </a:tcPr>
                </a:tc>
                <a:tc>
                  <a:txBody>
                    <a:bodyPr/>
                    <a:lstStyle/>
                    <a:p>
                      <a:pPr algn="ctr"/>
                      <a:r>
                        <a:rPr sz="938" b="0">
                          <a:solidFill>
                            <a:srgbClr val="7D7364"/>
                          </a:solidFill>
                          <a:latin typeface="Arial"/>
                          <a:ea typeface="Arial"/>
                          <a:cs typeface="Arial"/>
                        </a:rPr>
                        <a:t>0</a:t>
                      </a:r>
                    </a:p>
                  </a:txBody>
                  <a:tcPr anchor="ctr">
                    <a:solidFill>
                      <a:srgbClr val="FFFFFF"/>
                    </a:solidFill>
                  </a:tcPr>
                </a:tc>
                <a:tc>
                  <a:txBody>
                    <a:bodyPr/>
                    <a:lstStyle/>
                    <a:p>
                      <a:pPr algn="ctr"/>
                      <a:r>
                        <a:rPr sz="938" b="0">
                          <a:solidFill>
                            <a:srgbClr val="7D7364"/>
                          </a:solidFill>
                          <a:latin typeface="Arial"/>
                          <a:ea typeface="Arial"/>
                          <a:cs typeface="Arial"/>
                        </a:rPr>
                        <a:t>0</a:t>
                      </a:r>
                    </a:p>
                  </a:txBody>
                  <a:tcPr anchor="ctr">
                    <a:solidFill>
                      <a:srgbClr val="FFFFFF"/>
                    </a:solidFill>
                  </a:tcPr>
                </a:tc>
                <a:tc>
                  <a:txBody>
                    <a:bodyPr/>
                    <a:lstStyle/>
                    <a:p>
                      <a:pPr algn="ctr"/>
                      <a:r>
                        <a:rPr sz="938" b="0">
                          <a:solidFill>
                            <a:srgbClr val="7D7364"/>
                          </a:solidFill>
                          <a:latin typeface="Arial"/>
                          <a:ea typeface="Arial"/>
                          <a:cs typeface="Arial"/>
                        </a:rPr>
                        <a:t>0</a:t>
                      </a:r>
                    </a:p>
                  </a:txBody>
                  <a:tcPr anchor="ctr">
                    <a:solidFill>
                      <a:srgbClr val="FFFFFF"/>
                    </a:solidFill>
                  </a:tcPr>
                </a:tc>
                <a:extLst>
                  <a:ext uri="{0D108BD9-81ED-4DB2-BD59-A6C34878D82A}">
                    <a16:rowId xmlns:a16="http://schemas.microsoft.com/office/drawing/2014/main" val="10003"/>
                  </a:ext>
                </a:extLst>
              </a:tr>
              <a:tr h="500063">
                <a:tc>
                  <a:txBody>
                    <a:bodyPr/>
                    <a:lstStyle/>
                    <a:p>
                      <a:r>
                        <a:rPr sz="938" b="1">
                          <a:solidFill>
                            <a:srgbClr val="72243D"/>
                          </a:solidFill>
                          <a:latin typeface="Arial"/>
                          <a:ea typeface="Arial"/>
                          <a:cs typeface="Arial"/>
                        </a:rPr>
                        <a:t>Articulation</a:t>
                      </a:r>
                    </a:p>
                  </a:txBody>
                  <a:tcPr anchor="ctr">
                    <a:solidFill>
                      <a:srgbClr val="F4E9ED"/>
                    </a:solidFill>
                  </a:tcPr>
                </a:tc>
                <a:tc>
                  <a:txBody>
                    <a:bodyPr/>
                    <a:lstStyle/>
                    <a:p>
                      <a:pPr algn="ctr"/>
                      <a:r>
                        <a:rPr sz="938" b="1">
                          <a:solidFill>
                            <a:srgbClr val="FFFFFF"/>
                          </a:solidFill>
                          <a:latin typeface="Arial"/>
                          <a:ea typeface="Arial"/>
                          <a:cs typeface="Arial"/>
                        </a:rPr>
                        <a:t>45</a:t>
                      </a:r>
                    </a:p>
                  </a:txBody>
                  <a:tcPr anchor="ctr">
                    <a:solidFill>
                      <a:srgbClr val="7C334B"/>
                    </a:solidFill>
                  </a:tcPr>
                </a:tc>
                <a:tc>
                  <a:txBody>
                    <a:bodyPr/>
                    <a:lstStyle/>
                    <a:p>
                      <a:pPr algn="ctr"/>
                      <a:r>
                        <a:rPr sz="938" b="1">
                          <a:solidFill>
                            <a:srgbClr val="303030"/>
                          </a:solidFill>
                          <a:latin typeface="Arial"/>
                          <a:ea typeface="Arial"/>
                          <a:cs typeface="Arial"/>
                        </a:rPr>
                        <a:t>1</a:t>
                      </a:r>
                    </a:p>
                  </a:txBody>
                  <a:tcPr anchor="ctr">
                    <a:solidFill>
                      <a:srgbClr val="E3D4D9"/>
                    </a:solidFill>
                  </a:tcPr>
                </a:tc>
                <a:tc>
                  <a:txBody>
                    <a:bodyPr/>
                    <a:lstStyle/>
                    <a:p>
                      <a:pPr algn="ctr"/>
                      <a:r>
                        <a:rPr sz="938" b="0">
                          <a:solidFill>
                            <a:srgbClr val="7D7364"/>
                          </a:solidFill>
                          <a:latin typeface="Arial"/>
                          <a:ea typeface="Arial"/>
                          <a:cs typeface="Arial"/>
                        </a:rPr>
                        <a:t>0</a:t>
                      </a:r>
                    </a:p>
                  </a:txBody>
                  <a:tcPr anchor="ctr">
                    <a:solidFill>
                      <a:srgbClr val="FFFFFF"/>
                    </a:solidFill>
                  </a:tcPr>
                </a:tc>
                <a:tc>
                  <a:txBody>
                    <a:bodyPr/>
                    <a:lstStyle/>
                    <a:p>
                      <a:pPr algn="ctr"/>
                      <a:r>
                        <a:rPr sz="938" b="0">
                          <a:solidFill>
                            <a:srgbClr val="7D7364"/>
                          </a:solidFill>
                          <a:latin typeface="Arial"/>
                          <a:ea typeface="Arial"/>
                          <a:cs typeface="Arial"/>
                        </a:rPr>
                        <a:t>0</a:t>
                      </a:r>
                    </a:p>
                  </a:txBody>
                  <a:tcPr anchor="ctr">
                    <a:solidFill>
                      <a:srgbClr val="FFFFFF"/>
                    </a:solidFill>
                  </a:tcPr>
                </a:tc>
                <a:tc>
                  <a:txBody>
                    <a:bodyPr/>
                    <a:lstStyle/>
                    <a:p>
                      <a:pPr algn="ctr"/>
                      <a:r>
                        <a:rPr sz="938" b="1" dirty="0">
                          <a:solidFill>
                            <a:srgbClr val="303030"/>
                          </a:solidFill>
                          <a:latin typeface="Arial"/>
                          <a:ea typeface="Arial"/>
                          <a:cs typeface="Arial"/>
                        </a:rPr>
                        <a:t>11</a:t>
                      </a:r>
                    </a:p>
                  </a:txBody>
                  <a:tcPr anchor="ctr">
                    <a:solidFill>
                      <a:srgbClr val="CCAFB9"/>
                    </a:solidFill>
                  </a:tcPr>
                </a:tc>
                <a:tc>
                  <a:txBody>
                    <a:bodyPr/>
                    <a:lstStyle/>
                    <a:p>
                      <a:pPr algn="ctr"/>
                      <a:r>
                        <a:rPr sz="938" b="1" dirty="0">
                          <a:solidFill>
                            <a:srgbClr val="303030"/>
                          </a:solidFill>
                          <a:latin typeface="Arial"/>
                          <a:ea typeface="Arial"/>
                          <a:cs typeface="Arial"/>
                        </a:rPr>
                        <a:t>5</a:t>
                      </a:r>
                    </a:p>
                  </a:txBody>
                  <a:tcPr anchor="ctr">
                    <a:solidFill>
                      <a:srgbClr val="DAC5CC"/>
                    </a:solidFill>
                  </a:tcPr>
                </a:tc>
                <a:tc>
                  <a:txBody>
                    <a:bodyPr/>
                    <a:lstStyle/>
                    <a:p>
                      <a:pPr algn="ctr"/>
                      <a:r>
                        <a:rPr sz="938" b="1" dirty="0">
                          <a:solidFill>
                            <a:srgbClr val="303030"/>
                          </a:solidFill>
                          <a:latin typeface="Arial"/>
                          <a:ea typeface="Arial"/>
                          <a:cs typeface="Arial"/>
                        </a:rPr>
                        <a:t>20</a:t>
                      </a:r>
                    </a:p>
                  </a:txBody>
                  <a:tcPr anchor="ctr">
                    <a:solidFill>
                      <a:srgbClr val="B78F9B"/>
                    </a:solidFill>
                  </a:tcPr>
                </a:tc>
                <a:tc>
                  <a:txBody>
                    <a:bodyPr/>
                    <a:lstStyle/>
                    <a:p>
                      <a:pPr algn="ctr"/>
                      <a:r>
                        <a:rPr sz="938" b="1">
                          <a:solidFill>
                            <a:srgbClr val="303030"/>
                          </a:solidFill>
                          <a:latin typeface="Arial"/>
                          <a:ea typeface="Arial"/>
                          <a:cs typeface="Arial"/>
                        </a:rPr>
                        <a:t>10</a:t>
                      </a:r>
                    </a:p>
                  </a:txBody>
                  <a:tcPr anchor="ctr">
                    <a:solidFill>
                      <a:srgbClr val="CEB3BC"/>
                    </a:solidFill>
                  </a:tcPr>
                </a:tc>
                <a:extLst>
                  <a:ext uri="{0D108BD9-81ED-4DB2-BD59-A6C34878D82A}">
                    <a16:rowId xmlns:a16="http://schemas.microsoft.com/office/drawing/2014/main" val="10004"/>
                  </a:ext>
                </a:extLst>
              </a:tr>
              <a:tr h="500063">
                <a:tc>
                  <a:txBody>
                    <a:bodyPr/>
                    <a:lstStyle/>
                    <a:p>
                      <a:endParaRPr sz="938" b="1" dirty="0">
                        <a:solidFill>
                          <a:srgbClr val="72243D"/>
                        </a:solidFill>
                        <a:latin typeface="Arial"/>
                        <a:ea typeface="Arial"/>
                        <a:cs typeface="Arial"/>
                      </a:endParaRPr>
                    </a:p>
                  </a:txBody>
                  <a:tcPr anchor="ctr">
                    <a:solidFill>
                      <a:srgbClr val="F4E9ED"/>
                    </a:solidFill>
                  </a:tcPr>
                </a:tc>
                <a:tc>
                  <a:txBody>
                    <a:bodyPr/>
                    <a:lstStyle/>
                    <a:p>
                      <a:pPr algn="ctr"/>
                      <a:r>
                        <a:rPr sz="938" b="1">
                          <a:solidFill>
                            <a:srgbClr val="303030"/>
                          </a:solidFill>
                          <a:latin typeface="Arial"/>
                          <a:ea typeface="Arial"/>
                          <a:cs typeface="Arial"/>
                        </a:rPr>
                        <a:t>17</a:t>
                      </a:r>
                    </a:p>
                  </a:txBody>
                  <a:tcPr anchor="ctr">
                    <a:solidFill>
                      <a:srgbClr val="BE9AA5"/>
                    </a:solidFill>
                  </a:tcPr>
                </a:tc>
                <a:tc>
                  <a:txBody>
                    <a:bodyPr/>
                    <a:lstStyle/>
                    <a:p>
                      <a:pPr algn="ctr"/>
                      <a:r>
                        <a:rPr sz="938" b="1">
                          <a:solidFill>
                            <a:srgbClr val="303030"/>
                          </a:solidFill>
                          <a:latin typeface="Arial"/>
                          <a:ea typeface="Arial"/>
                          <a:cs typeface="Arial"/>
                        </a:rPr>
                        <a:t>1</a:t>
                      </a:r>
                    </a:p>
                  </a:txBody>
                  <a:tcPr anchor="ctr">
                    <a:solidFill>
                      <a:srgbClr val="E3D4D9"/>
                    </a:solidFill>
                  </a:tcPr>
                </a:tc>
                <a:tc>
                  <a:txBody>
                    <a:bodyPr/>
                    <a:lstStyle/>
                    <a:p>
                      <a:pPr algn="ctr"/>
                      <a:r>
                        <a:rPr sz="938" b="1">
                          <a:solidFill>
                            <a:srgbClr val="303030"/>
                          </a:solidFill>
                          <a:latin typeface="Arial"/>
                          <a:ea typeface="Arial"/>
                          <a:cs typeface="Arial"/>
                        </a:rPr>
                        <a:t>1</a:t>
                      </a:r>
                    </a:p>
                  </a:txBody>
                  <a:tcPr anchor="ctr">
                    <a:solidFill>
                      <a:srgbClr val="E3D4D9"/>
                    </a:solidFill>
                  </a:tcPr>
                </a:tc>
                <a:tc>
                  <a:txBody>
                    <a:bodyPr/>
                    <a:lstStyle/>
                    <a:p>
                      <a:pPr algn="ctr"/>
                      <a:r>
                        <a:rPr sz="938" b="0">
                          <a:solidFill>
                            <a:srgbClr val="7D7364"/>
                          </a:solidFill>
                          <a:latin typeface="Arial"/>
                          <a:ea typeface="Arial"/>
                          <a:cs typeface="Arial"/>
                        </a:rPr>
                        <a:t>0</a:t>
                      </a:r>
                    </a:p>
                  </a:txBody>
                  <a:tcPr anchor="ctr">
                    <a:solidFill>
                      <a:srgbClr val="FFFFFF"/>
                    </a:solidFill>
                  </a:tcPr>
                </a:tc>
                <a:tc>
                  <a:txBody>
                    <a:bodyPr/>
                    <a:lstStyle/>
                    <a:p>
                      <a:pPr algn="ctr"/>
                      <a:r>
                        <a:rPr sz="938" b="0">
                          <a:solidFill>
                            <a:srgbClr val="7D7364"/>
                          </a:solidFill>
                          <a:latin typeface="Arial"/>
                          <a:ea typeface="Arial"/>
                          <a:cs typeface="Arial"/>
                        </a:rPr>
                        <a:t>0</a:t>
                      </a:r>
                    </a:p>
                  </a:txBody>
                  <a:tcPr anchor="ctr">
                    <a:solidFill>
                      <a:srgbClr val="FFFFFF"/>
                    </a:solidFill>
                  </a:tcPr>
                </a:tc>
                <a:tc>
                  <a:txBody>
                    <a:bodyPr/>
                    <a:lstStyle/>
                    <a:p>
                      <a:pPr algn="ctr"/>
                      <a:r>
                        <a:rPr sz="938" b="0">
                          <a:solidFill>
                            <a:srgbClr val="7D7364"/>
                          </a:solidFill>
                          <a:latin typeface="Arial"/>
                          <a:ea typeface="Arial"/>
                          <a:cs typeface="Arial"/>
                        </a:rPr>
                        <a:t>0</a:t>
                      </a:r>
                    </a:p>
                  </a:txBody>
                  <a:tcPr anchor="ctr">
                    <a:solidFill>
                      <a:srgbClr val="FFFFFF"/>
                    </a:solidFill>
                  </a:tcPr>
                </a:tc>
                <a:tc>
                  <a:txBody>
                    <a:bodyPr/>
                    <a:lstStyle/>
                    <a:p>
                      <a:pPr algn="ctr"/>
                      <a:r>
                        <a:rPr sz="938" b="1" dirty="0">
                          <a:solidFill>
                            <a:srgbClr val="303030"/>
                          </a:solidFill>
                          <a:latin typeface="Arial"/>
                          <a:ea typeface="Arial"/>
                          <a:cs typeface="Arial"/>
                        </a:rPr>
                        <a:t>3</a:t>
                      </a:r>
                    </a:p>
                  </a:txBody>
                  <a:tcPr anchor="ctr">
                    <a:solidFill>
                      <a:srgbClr val="DFCDD2"/>
                    </a:solidFill>
                  </a:tcPr>
                </a:tc>
                <a:tc>
                  <a:txBody>
                    <a:bodyPr/>
                    <a:lstStyle/>
                    <a:p>
                      <a:pPr algn="ctr"/>
                      <a:r>
                        <a:rPr sz="938" b="0" dirty="0">
                          <a:solidFill>
                            <a:srgbClr val="7D7364"/>
                          </a:solidFill>
                          <a:latin typeface="Arial"/>
                          <a:ea typeface="Arial"/>
                          <a:cs typeface="Arial"/>
                        </a:rPr>
                        <a:t>0</a:t>
                      </a:r>
                    </a:p>
                  </a:txBody>
                  <a:tcPr anchor="ctr">
                    <a:solidFill>
                      <a:srgbClr val="FFFFFF"/>
                    </a:solidFill>
                  </a:tcPr>
                </a:tc>
                <a:extLst>
                  <a:ext uri="{0D108BD9-81ED-4DB2-BD59-A6C34878D82A}">
                    <a16:rowId xmlns:a16="http://schemas.microsoft.com/office/drawing/2014/main" val="10005"/>
                  </a:ext>
                </a:extLst>
              </a:tr>
            </a:tbl>
          </a:graphicData>
        </a:graphic>
      </p:graphicFrame>
      <p:sp>
        <p:nvSpPr>
          <p:cNvPr id="9" name="Rectangle 8">
            <a:extLst>
              <a:ext uri="{FF2B5EF4-FFF2-40B4-BE49-F238E27FC236}">
                <a16:creationId xmlns:a16="http://schemas.microsoft.com/office/drawing/2014/main" id="{902BB13A-6889-8336-19FE-9028B4A8853B}"/>
              </a:ext>
            </a:extLst>
          </p:cNvPr>
          <p:cNvSpPr>
            <a:spLocks noGrp="1"/>
          </p:cNvSpPr>
          <p:nvPr/>
        </p:nvSpPr>
        <p:spPr>
          <a:xfrm>
            <a:off x="410936" y="4048125"/>
            <a:ext cx="1285875" cy="228600"/>
          </a:xfrm>
          <a:prstGeom prst="rect">
            <a:avLst/>
          </a:prstGeom>
          <a:noFill/>
          <a:ln w="0">
            <a:noFill/>
          </a:ln>
        </p:spPr>
        <p:txBody>
          <a:bodyPr anchor="ctr">
            <a:normAutofit fontScale="93214" lnSpcReduction="10000"/>
          </a:bodyPr>
          <a:lstStyle/>
          <a:p>
            <a:pPr>
              <a:defRPr sz="1050" b="1">
                <a:solidFill>
                  <a:srgbClr val="72243D"/>
                </a:solidFill>
                <a:latin typeface="Arial"/>
                <a:ea typeface="Arial"/>
                <a:cs typeface="Arial"/>
              </a:defRPr>
            </a:pPr>
            <a:r>
              <a:rPr lang="vi-VN" sz="1050" b="1" dirty="0">
                <a:solidFill>
                  <a:srgbClr val="72243D"/>
                </a:solidFill>
                <a:latin typeface="Arial"/>
                <a:ea typeface="Arial"/>
                <a:cs typeface="Arial"/>
              </a:rPr>
              <a:t>Prosody</a:t>
            </a:r>
            <a:endParaRPr sz="1050" b="1" dirty="0">
              <a:solidFill>
                <a:srgbClr val="72243D"/>
              </a:solidFill>
              <a:latin typeface="Arial"/>
              <a:ea typeface="Arial"/>
              <a:cs typeface="Arial"/>
            </a:endParaRPr>
          </a:p>
        </p:txBody>
      </p:sp>
      <p:sp>
        <p:nvSpPr>
          <p:cNvPr id="23" name="TextBox 22"/>
          <p:cNvSpPr txBox="1"/>
          <p:nvPr/>
        </p:nvSpPr>
        <p:spPr>
          <a:xfrm>
            <a:off x="350000" y="4650000"/>
            <a:ext cx="8400000" cy="500000"/>
          </a:xfrm>
          <a:prstGeom prst="rect">
            <a:avLst/>
          </a:prstGeom>
          <a:noFill/>
        </p:spPr>
        <p:txBody>
          <a:bodyPr wrap="square">
            <a:spAutoFit/>
          </a:bodyPr>
          <a:lstStyle/>
          <a:p>
            <a:r>
              <a:rPr sz="900" b="0" i="1">
                <a:solidFill>
                  <a:srgbClr val="7D7364"/>
                </a:solidFill>
                <a:latin typeface="Arial"/>
              </a:rPr>
              <a:t>Values reflect the corpus as of Week 6 (Sep 27). See the growth-comparison slides below for the Week 5 -&gt; Week 6 change.</a:t>
            </a:r>
          </a:p>
        </p:txBody>
      </p:sp>
    </p:spTree>
    <p:extLst>
      <p:ext uri="{BB962C8B-B14F-4D97-AF65-F5344CB8AC3E}">
        <p14:creationId xmlns:p14="http://schemas.microsoft.com/office/powerpoint/2010/main" val="2841950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9A5805-2EF5-C6EC-D9BC-3D7D36D7A82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F5AD3B0-E448-25A5-1663-CF2D2F7C3A1C}"/>
              </a:ext>
            </a:extLst>
          </p:cNvPr>
          <p:cNvSpPr>
            <a:spLocks noGrp="1"/>
          </p:cNvSpPr>
          <p:nvPr>
            <p:ph type="title"/>
          </p:nvPr>
        </p:nvSpPr>
        <p:spPr>
          <a:xfrm>
            <a:off x="236536" y="1003"/>
            <a:ext cx="8450263" cy="514350"/>
          </a:xfrm>
        </p:spPr>
        <p:txBody>
          <a:bodyPr/>
          <a:lstStyle/>
          <a:p>
            <a:r>
              <a:rPr lang="en-VN" dirty="0"/>
              <a:t>2. Literature Review Paper – Progress</a:t>
            </a:r>
          </a:p>
        </p:txBody>
      </p:sp>
      <p:sp>
        <p:nvSpPr>
          <p:cNvPr id="22" name="Slide Number Placeholder 21">
            <a:extLst>
              <a:ext uri="{FF2B5EF4-FFF2-40B4-BE49-F238E27FC236}">
                <a16:creationId xmlns:a16="http://schemas.microsoft.com/office/drawing/2014/main" id="{CB272DF9-99E6-D1A7-AD54-4EE48E5AA8C6}"/>
              </a:ext>
            </a:extLst>
          </p:cNvPr>
          <p:cNvSpPr>
            <a:spLocks noGrp="1"/>
          </p:cNvSpPr>
          <p:nvPr>
            <p:ph type="sldNum" sz="quarter" idx="15"/>
          </p:nvPr>
        </p:nvSpPr>
        <p:spPr/>
        <p:txBody>
          <a:bodyPr/>
          <a:lstStyle/>
          <a:p>
            <a:fld id="{0AF20276-0DC3-B247-B3AE-8A6E2F85407E}" type="slidenum">
              <a:rPr lang="en-VN" smtClean="0"/>
              <a:t>10</a:t>
            </a:fld>
            <a:endParaRPr lang="en-VN"/>
          </a:p>
        </p:txBody>
      </p:sp>
      <p:graphicFrame>
        <p:nvGraphicFramePr>
          <p:cNvPr id="2" name="Table 1">
            <a:extLst>
              <a:ext uri="{FF2B5EF4-FFF2-40B4-BE49-F238E27FC236}">
                <a16:creationId xmlns:a16="http://schemas.microsoft.com/office/drawing/2014/main" id="{29075A34-871F-0CD3-92B8-F7EBF7B3914E}"/>
              </a:ext>
            </a:extLst>
          </p:cNvPr>
          <p:cNvGraphicFramePr/>
          <p:nvPr>
            <p:extLst>
              <p:ext uri="{D42A27DB-BD31-4B8C-83A1-F6EECF244321}">
                <p14:modId xmlns:p14="http://schemas.microsoft.com/office/powerpoint/2010/main" val="2876896194"/>
              </p:ext>
            </p:extLst>
          </p:nvPr>
        </p:nvGraphicFramePr>
        <p:xfrm>
          <a:off x="346870" y="954404"/>
          <a:ext cx="8450259" cy="3741375"/>
        </p:xfrm>
        <a:graphic>
          <a:graphicData uri="http://schemas.openxmlformats.org/drawingml/2006/table">
            <a:tbl>
              <a:tblPr/>
              <a:tblGrid>
                <a:gridCol w="1749427">
                  <a:extLst>
                    <a:ext uri="{9D8B030D-6E8A-4147-A177-3AD203B41FA5}">
                      <a16:colId xmlns:a16="http://schemas.microsoft.com/office/drawing/2014/main" val="20000"/>
                    </a:ext>
                  </a:extLst>
                </a:gridCol>
                <a:gridCol w="837604">
                  <a:extLst>
                    <a:ext uri="{9D8B030D-6E8A-4147-A177-3AD203B41FA5}">
                      <a16:colId xmlns:a16="http://schemas.microsoft.com/office/drawing/2014/main" val="20001"/>
                    </a:ext>
                  </a:extLst>
                </a:gridCol>
                <a:gridCol w="837604">
                  <a:extLst>
                    <a:ext uri="{9D8B030D-6E8A-4147-A177-3AD203B41FA5}">
                      <a16:colId xmlns:a16="http://schemas.microsoft.com/office/drawing/2014/main" val="20002"/>
                    </a:ext>
                  </a:extLst>
                </a:gridCol>
                <a:gridCol w="837604">
                  <a:extLst>
                    <a:ext uri="{9D8B030D-6E8A-4147-A177-3AD203B41FA5}">
                      <a16:colId xmlns:a16="http://schemas.microsoft.com/office/drawing/2014/main" val="20003"/>
                    </a:ext>
                  </a:extLst>
                </a:gridCol>
                <a:gridCol w="837604">
                  <a:extLst>
                    <a:ext uri="{9D8B030D-6E8A-4147-A177-3AD203B41FA5}">
                      <a16:colId xmlns:a16="http://schemas.microsoft.com/office/drawing/2014/main" val="20004"/>
                    </a:ext>
                  </a:extLst>
                </a:gridCol>
                <a:gridCol w="837604">
                  <a:extLst>
                    <a:ext uri="{9D8B030D-6E8A-4147-A177-3AD203B41FA5}">
                      <a16:colId xmlns:a16="http://schemas.microsoft.com/office/drawing/2014/main" val="20005"/>
                    </a:ext>
                  </a:extLst>
                </a:gridCol>
                <a:gridCol w="837604">
                  <a:extLst>
                    <a:ext uri="{9D8B030D-6E8A-4147-A177-3AD203B41FA5}">
                      <a16:colId xmlns:a16="http://schemas.microsoft.com/office/drawing/2014/main" val="20006"/>
                    </a:ext>
                  </a:extLst>
                </a:gridCol>
                <a:gridCol w="837604">
                  <a:extLst>
                    <a:ext uri="{9D8B030D-6E8A-4147-A177-3AD203B41FA5}">
                      <a16:colId xmlns:a16="http://schemas.microsoft.com/office/drawing/2014/main" val="20007"/>
                    </a:ext>
                  </a:extLst>
                </a:gridCol>
                <a:gridCol w="837604">
                  <a:extLst>
                    <a:ext uri="{9D8B030D-6E8A-4147-A177-3AD203B41FA5}">
                      <a16:colId xmlns:a16="http://schemas.microsoft.com/office/drawing/2014/main" val="20008"/>
                    </a:ext>
                  </a:extLst>
                </a:gridCol>
              </a:tblGrid>
              <a:tr h="366183">
                <a:tc>
                  <a:txBody>
                    <a:bodyPr/>
                    <a:lstStyle/>
                    <a:p>
                      <a:r>
                        <a:rPr sz="788" b="1">
                          <a:solidFill>
                            <a:srgbClr val="FFFFFF"/>
                          </a:solidFill>
                          <a:latin typeface="Arial"/>
                          <a:ea typeface="Arial"/>
                          <a:cs typeface="Arial"/>
                        </a:rPr>
                        <a:t>Population</a:t>
                      </a:r>
                    </a:p>
                  </a:txBody>
                  <a:tcPr anchor="ctr">
                    <a:solidFill>
                      <a:srgbClr val="72243D"/>
                    </a:solidFill>
                  </a:tcPr>
                </a:tc>
                <a:tc>
                  <a:txBody>
                    <a:bodyPr/>
                    <a:lstStyle/>
                    <a:p>
                      <a:r>
                        <a:rPr sz="788" b="1" dirty="0">
                          <a:solidFill>
                            <a:srgbClr val="FFFFFF"/>
                          </a:solidFill>
                          <a:latin typeface="Arial"/>
                          <a:ea typeface="Arial"/>
                          <a:cs typeface="Arial"/>
                        </a:rPr>
                        <a:t>Acoustic</a:t>
                      </a:r>
                      <a:r>
                        <a:rPr lang="vi-VN" sz="788" b="1" dirty="0">
                          <a:solidFill>
                            <a:srgbClr val="FFFFFF"/>
                          </a:solidFill>
                          <a:latin typeface="Arial"/>
                          <a:ea typeface="Arial"/>
                          <a:cs typeface="Arial"/>
                        </a:rPr>
                        <a:t>/</a:t>
                      </a:r>
                      <a:br>
                        <a:rPr lang="vi-VN" sz="788" b="1" dirty="0">
                          <a:solidFill>
                            <a:srgbClr val="FFFFFF"/>
                          </a:solidFill>
                          <a:latin typeface="Arial"/>
                          <a:ea typeface="Arial"/>
                          <a:cs typeface="Arial"/>
                        </a:rPr>
                      </a:br>
                      <a:r>
                        <a:rPr lang="vi-VN" sz="788" b="1" dirty="0">
                          <a:solidFill>
                            <a:srgbClr val="FFFFFF"/>
                          </a:solidFill>
                          <a:latin typeface="Arial"/>
                          <a:ea typeface="Arial"/>
                          <a:cs typeface="Arial"/>
                        </a:rPr>
                        <a:t>Audio sensing</a:t>
                      </a:r>
                      <a:endParaRPr sz="788" b="1" dirty="0">
                        <a:solidFill>
                          <a:srgbClr val="FFFFFF"/>
                        </a:solidFill>
                        <a:latin typeface="Arial"/>
                        <a:ea typeface="Arial"/>
                        <a:cs typeface="Arial"/>
                      </a:endParaRPr>
                    </a:p>
                  </a:txBody>
                  <a:tcPr anchor="ctr">
                    <a:solidFill>
                      <a:srgbClr val="72243D"/>
                    </a:solidFill>
                  </a:tcPr>
                </a:tc>
                <a:tc>
                  <a:txBody>
                    <a:bodyPr/>
                    <a:lstStyle/>
                    <a:p>
                      <a:r>
                        <a:rPr sz="788" b="1" dirty="0">
                          <a:solidFill>
                            <a:srgbClr val="FFFFFF"/>
                          </a:solidFill>
                          <a:latin typeface="Arial"/>
                          <a:ea typeface="Arial"/>
                          <a:cs typeface="Arial"/>
                        </a:rPr>
                        <a:t>Aero</a:t>
                      </a:r>
                      <a:r>
                        <a:rPr lang="vi-VN" sz="788" b="1" dirty="0">
                          <a:solidFill>
                            <a:srgbClr val="FFFFFF"/>
                          </a:solidFill>
                          <a:latin typeface="Arial"/>
                          <a:ea typeface="Arial"/>
                          <a:cs typeface="Arial"/>
                        </a:rPr>
                        <a:t>dynamic/ pressure measurement</a:t>
                      </a:r>
                      <a:endParaRPr sz="788" b="1" dirty="0">
                        <a:solidFill>
                          <a:srgbClr val="FFFFFF"/>
                        </a:solidFill>
                        <a:latin typeface="Arial"/>
                        <a:ea typeface="Arial"/>
                        <a:cs typeface="Arial"/>
                      </a:endParaRPr>
                    </a:p>
                  </a:txBody>
                  <a:tcPr anchor="ctr">
                    <a:solidFill>
                      <a:srgbClr val="72243D"/>
                    </a:solidFill>
                  </a:tcPr>
                </a:tc>
                <a:tc>
                  <a:txBody>
                    <a:bodyPr/>
                    <a:lstStyle/>
                    <a:p>
                      <a:r>
                        <a:rPr sz="788" b="1" dirty="0">
                          <a:solidFill>
                            <a:srgbClr val="FFFFFF"/>
                          </a:solidFill>
                          <a:latin typeface="Arial"/>
                          <a:ea typeface="Arial"/>
                          <a:cs typeface="Arial"/>
                        </a:rPr>
                        <a:t>EGG</a:t>
                      </a:r>
                      <a:r>
                        <a:rPr lang="vi-VN" sz="788" b="1" dirty="0">
                          <a:solidFill>
                            <a:srgbClr val="FFFFFF"/>
                          </a:solidFill>
                          <a:latin typeface="Arial"/>
                          <a:ea typeface="Arial"/>
                          <a:cs typeface="Arial"/>
                        </a:rPr>
                        <a:t>/Electroglottography</a:t>
                      </a:r>
                      <a:endParaRPr sz="788" b="1" dirty="0">
                        <a:solidFill>
                          <a:srgbClr val="FFFFFF"/>
                        </a:solidFill>
                        <a:latin typeface="Arial"/>
                        <a:ea typeface="Arial"/>
                        <a:cs typeface="Arial"/>
                      </a:endParaRPr>
                    </a:p>
                  </a:txBody>
                  <a:tcPr anchor="ctr">
                    <a:solidFill>
                      <a:srgbClr val="72243D"/>
                    </a:solidFill>
                  </a:tcPr>
                </a:tc>
                <a:tc>
                  <a:txBody>
                    <a:bodyPr/>
                    <a:lstStyle/>
                    <a:p>
                      <a:r>
                        <a:rPr sz="788" b="1" dirty="0">
                          <a:solidFill>
                            <a:srgbClr val="FFFFFF"/>
                          </a:solidFill>
                          <a:latin typeface="Arial"/>
                          <a:ea typeface="Arial"/>
                          <a:cs typeface="Arial"/>
                        </a:rPr>
                        <a:t>Resp</a:t>
                      </a:r>
                      <a:r>
                        <a:rPr lang="vi-VN" sz="788" b="1" dirty="0">
                          <a:solidFill>
                            <a:srgbClr val="FFFFFF"/>
                          </a:solidFill>
                          <a:latin typeface="Arial"/>
                          <a:ea typeface="Arial"/>
                          <a:cs typeface="Arial"/>
                        </a:rPr>
                        <a:t>iration motion sensing</a:t>
                      </a:r>
                      <a:endParaRPr sz="788" b="1" dirty="0">
                        <a:solidFill>
                          <a:srgbClr val="FFFFFF"/>
                        </a:solidFill>
                        <a:latin typeface="Arial"/>
                        <a:ea typeface="Arial"/>
                        <a:cs typeface="Arial"/>
                      </a:endParaRPr>
                    </a:p>
                  </a:txBody>
                  <a:tcPr anchor="ctr">
                    <a:solidFill>
                      <a:srgbClr val="72243D"/>
                    </a:solidFill>
                  </a:tcPr>
                </a:tc>
                <a:tc>
                  <a:txBody>
                    <a:bodyPr/>
                    <a:lstStyle/>
                    <a:p>
                      <a:r>
                        <a:rPr sz="788" b="1" dirty="0">
                          <a:solidFill>
                            <a:srgbClr val="FFFFFF"/>
                          </a:solidFill>
                          <a:latin typeface="Arial"/>
                          <a:ea typeface="Arial"/>
                          <a:cs typeface="Arial"/>
                        </a:rPr>
                        <a:t>EPG</a:t>
                      </a:r>
                      <a:r>
                        <a:rPr lang="vi-VN" sz="788" b="1" dirty="0">
                          <a:solidFill>
                            <a:srgbClr val="FFFFFF"/>
                          </a:solidFill>
                          <a:latin typeface="Arial"/>
                          <a:ea typeface="Arial"/>
                          <a:cs typeface="Arial"/>
                        </a:rPr>
                        <a:t>/ Electropalatography</a:t>
                      </a:r>
                      <a:endParaRPr sz="788" b="1" dirty="0">
                        <a:solidFill>
                          <a:srgbClr val="FFFFFF"/>
                        </a:solidFill>
                        <a:latin typeface="Arial"/>
                        <a:ea typeface="Arial"/>
                        <a:cs typeface="Arial"/>
                      </a:endParaRPr>
                    </a:p>
                  </a:txBody>
                  <a:tcPr anchor="ctr">
                    <a:solidFill>
                      <a:srgbClr val="72243D"/>
                    </a:solidFill>
                  </a:tcPr>
                </a:tc>
                <a:tc>
                  <a:txBody>
                    <a:bodyPr/>
                    <a:lstStyle/>
                    <a:p>
                      <a:r>
                        <a:rPr sz="788" b="1" dirty="0">
                          <a:solidFill>
                            <a:srgbClr val="FFFFFF"/>
                          </a:solidFill>
                          <a:latin typeface="Arial"/>
                          <a:ea typeface="Arial"/>
                          <a:cs typeface="Arial"/>
                        </a:rPr>
                        <a:t>UTI</a:t>
                      </a:r>
                      <a:r>
                        <a:rPr lang="vi-VN" sz="788" b="1" dirty="0">
                          <a:solidFill>
                            <a:srgbClr val="FFFFFF"/>
                          </a:solidFill>
                          <a:latin typeface="Arial"/>
                          <a:ea typeface="Arial"/>
                          <a:cs typeface="Arial"/>
                        </a:rPr>
                        <a:t>/ Ultrasound Tongue Imaging</a:t>
                      </a:r>
                      <a:endParaRPr sz="788" b="1" dirty="0">
                        <a:solidFill>
                          <a:srgbClr val="FFFFFF"/>
                        </a:solidFill>
                        <a:latin typeface="Arial"/>
                        <a:ea typeface="Arial"/>
                        <a:cs typeface="Arial"/>
                      </a:endParaRPr>
                    </a:p>
                  </a:txBody>
                  <a:tcPr anchor="ctr">
                    <a:solidFill>
                      <a:srgbClr val="72243D"/>
                    </a:solidFill>
                  </a:tcPr>
                </a:tc>
                <a:tc>
                  <a:txBody>
                    <a:bodyPr/>
                    <a:lstStyle/>
                    <a:p>
                      <a:r>
                        <a:rPr sz="788" b="1" dirty="0">
                          <a:solidFill>
                            <a:srgbClr val="FFFFFF"/>
                          </a:solidFill>
                          <a:latin typeface="Arial"/>
                          <a:ea typeface="Arial"/>
                          <a:cs typeface="Arial"/>
                        </a:rPr>
                        <a:t>EMA</a:t>
                      </a:r>
                      <a:r>
                        <a:rPr lang="vi-VN" sz="788" b="1" dirty="0">
                          <a:solidFill>
                            <a:srgbClr val="FFFFFF"/>
                          </a:solidFill>
                          <a:latin typeface="Arial"/>
                          <a:ea typeface="Arial"/>
                          <a:cs typeface="Arial"/>
                        </a:rPr>
                        <a:t>/kin.</a:t>
                      </a:r>
                      <a:br>
                        <a:rPr lang="vi-VN" sz="788" b="1" dirty="0">
                          <a:solidFill>
                            <a:srgbClr val="FFFFFF"/>
                          </a:solidFill>
                          <a:latin typeface="Arial"/>
                          <a:ea typeface="Arial"/>
                          <a:cs typeface="Arial"/>
                        </a:rPr>
                      </a:br>
                      <a:r>
                        <a:rPr lang="vi-VN" sz="788" b="1" dirty="0">
                          <a:solidFill>
                            <a:srgbClr val="FFFFFF"/>
                          </a:solidFill>
                          <a:latin typeface="Arial"/>
                          <a:ea typeface="Arial"/>
                          <a:cs typeface="Arial"/>
                        </a:rPr>
                        <a:t>Electromagnetic articulography/ kinematic tracking</a:t>
                      </a:r>
                      <a:endParaRPr sz="788" b="1" dirty="0">
                        <a:solidFill>
                          <a:srgbClr val="FFFFFF"/>
                        </a:solidFill>
                        <a:latin typeface="Arial"/>
                        <a:ea typeface="Arial"/>
                        <a:cs typeface="Arial"/>
                      </a:endParaRPr>
                    </a:p>
                  </a:txBody>
                  <a:tcPr anchor="ctr">
                    <a:solidFill>
                      <a:srgbClr val="72243D"/>
                    </a:solidFill>
                  </a:tcPr>
                </a:tc>
                <a:tc>
                  <a:txBody>
                    <a:bodyPr/>
                    <a:lstStyle/>
                    <a:p>
                      <a:r>
                        <a:rPr sz="788" b="1" dirty="0" err="1">
                          <a:solidFill>
                            <a:srgbClr val="FFFFFF"/>
                          </a:solidFill>
                          <a:latin typeface="Arial"/>
                          <a:ea typeface="Arial"/>
                          <a:cs typeface="Arial"/>
                        </a:rPr>
                        <a:t>sEMG</a:t>
                      </a:r>
                      <a:endParaRPr sz="788" b="1" dirty="0">
                        <a:solidFill>
                          <a:srgbClr val="FFFFFF"/>
                        </a:solidFill>
                        <a:latin typeface="Arial"/>
                        <a:ea typeface="Arial"/>
                        <a:cs typeface="Arial"/>
                      </a:endParaRPr>
                    </a:p>
                  </a:txBody>
                  <a:tcPr anchor="ctr">
                    <a:solidFill>
                      <a:srgbClr val="72243D"/>
                    </a:solidFill>
                  </a:tcPr>
                </a:tc>
                <a:extLst>
                  <a:ext uri="{0D108BD9-81ED-4DB2-BD59-A6C34878D82A}">
                    <a16:rowId xmlns:a16="http://schemas.microsoft.com/office/drawing/2014/main" val="10000"/>
                  </a:ext>
                </a:extLst>
              </a:tr>
              <a:tr h="366183">
                <a:tc>
                  <a:txBody>
                    <a:bodyPr/>
                    <a:lstStyle/>
                    <a:p>
                      <a:r>
                        <a:rPr sz="885" b="1">
                          <a:solidFill>
                            <a:srgbClr val="72243D"/>
                          </a:solidFill>
                          <a:latin typeface="Arial"/>
                          <a:ea typeface="Arial"/>
                          <a:cs typeface="Arial"/>
                        </a:rPr>
                        <a:t>Parkinson disease</a:t>
                      </a:r>
                    </a:p>
                  </a:txBody>
                  <a:tcPr anchor="ctr">
                    <a:solidFill>
                      <a:srgbClr val="F4E9ED"/>
                    </a:solidFill>
                  </a:tcPr>
                </a:tc>
                <a:tc>
                  <a:txBody>
                    <a:bodyPr/>
                    <a:lstStyle/>
                    <a:p>
                      <a:pPr algn="ctr"/>
                      <a:r>
                        <a:rPr sz="885" b="1">
                          <a:solidFill>
                            <a:srgbClr val="FFFFFF"/>
                          </a:solidFill>
                          <a:latin typeface="Arial"/>
                          <a:ea typeface="Arial"/>
                          <a:cs typeface="Arial"/>
                        </a:rPr>
                        <a:t>32</a:t>
                      </a:r>
                    </a:p>
                  </a:txBody>
                  <a:tcPr anchor="ctr">
                    <a:solidFill>
                      <a:srgbClr val="7C334B"/>
                    </a:solidFill>
                  </a:tcPr>
                </a:tc>
                <a:tc>
                  <a:txBody>
                    <a:bodyPr/>
                    <a:lstStyle/>
                    <a:p>
                      <a:pPr algn="ctr"/>
                      <a:r>
                        <a:rPr sz="885" b="1">
                          <a:solidFill>
                            <a:srgbClr val="303030"/>
                          </a:solidFill>
                          <a:latin typeface="Arial"/>
                          <a:ea typeface="Arial"/>
                          <a:cs typeface="Arial"/>
                        </a:rPr>
                        <a:t>7</a:t>
                      </a:r>
                    </a:p>
                  </a:txBody>
                  <a:tcPr anchor="ctr">
                    <a:solidFill>
                      <a:srgbClr val="CEB4BC"/>
                    </a:solidFill>
                  </a:tcPr>
                </a:tc>
                <a:tc>
                  <a:txBody>
                    <a:bodyPr/>
                    <a:lstStyle/>
                    <a:p>
                      <a:pPr algn="ctr"/>
                      <a:r>
                        <a:rPr sz="885" b="1">
                          <a:solidFill>
                            <a:srgbClr val="303030"/>
                          </a:solidFill>
                          <a:latin typeface="Arial"/>
                          <a:ea typeface="Arial"/>
                          <a:cs typeface="Arial"/>
                        </a:rPr>
                        <a:t>4</a:t>
                      </a:r>
                    </a:p>
                  </a:txBody>
                  <a:tcPr anchor="ctr">
                    <a:solidFill>
                      <a:srgbClr val="D8C3CA"/>
                    </a:solidFill>
                  </a:tcPr>
                </a:tc>
                <a:tc>
                  <a:txBody>
                    <a:bodyPr/>
                    <a:lstStyle/>
                    <a:p>
                      <a:pPr algn="ctr"/>
                      <a:r>
                        <a:rPr sz="885" b="1">
                          <a:solidFill>
                            <a:srgbClr val="303030"/>
                          </a:solidFill>
                          <a:latin typeface="Arial"/>
                          <a:ea typeface="Arial"/>
                          <a:cs typeface="Arial"/>
                        </a:rPr>
                        <a:t>2</a:t>
                      </a:r>
                    </a:p>
                  </a:txBody>
                  <a:tcPr anchor="ctr">
                    <a:solidFill>
                      <a:srgbClr val="DFCDD3"/>
                    </a:solidFill>
                  </a:tcPr>
                </a:tc>
                <a:tc>
                  <a:txBody>
                    <a:bodyPr/>
                    <a:lstStyle/>
                    <a:p>
                      <a:pPr algn="ctr"/>
                      <a:r>
                        <a:rPr sz="885" b="1">
                          <a:solidFill>
                            <a:srgbClr val="303030"/>
                          </a:solidFill>
                          <a:latin typeface="Arial"/>
                          <a:ea typeface="Arial"/>
                          <a:cs typeface="Arial"/>
                        </a:rPr>
                        <a:t>3</a:t>
                      </a:r>
                    </a:p>
                  </a:txBody>
                  <a:tcPr anchor="ctr">
                    <a:solidFill>
                      <a:srgbClr val="DCC8CE"/>
                    </a:solidFill>
                  </a:tcPr>
                </a:tc>
                <a:tc>
                  <a:txBody>
                    <a:bodyPr/>
                    <a:lstStyle/>
                    <a:p>
                      <a:pPr algn="ctr"/>
                      <a:r>
                        <a:rPr sz="885" b="1">
                          <a:solidFill>
                            <a:srgbClr val="303030"/>
                          </a:solidFill>
                          <a:latin typeface="Arial"/>
                          <a:ea typeface="Arial"/>
                          <a:cs typeface="Arial"/>
                        </a:rPr>
                        <a:t>1</a:t>
                      </a:r>
                    </a:p>
                  </a:txBody>
                  <a:tcPr anchor="ctr">
                    <a:solidFill>
                      <a:srgbClr val="E2D2D8"/>
                    </a:solidFill>
                  </a:tcPr>
                </a:tc>
                <a:tc>
                  <a:txBody>
                    <a:bodyPr/>
                    <a:lstStyle/>
                    <a:p>
                      <a:pPr algn="ctr"/>
                      <a:r>
                        <a:rPr sz="885" b="1">
                          <a:solidFill>
                            <a:srgbClr val="303030"/>
                          </a:solidFill>
                          <a:latin typeface="Arial"/>
                          <a:ea typeface="Arial"/>
                          <a:cs typeface="Arial"/>
                        </a:rPr>
                        <a:t>10</a:t>
                      </a:r>
                    </a:p>
                  </a:txBody>
                  <a:tcPr anchor="ctr">
                    <a:solidFill>
                      <a:srgbClr val="C5A4AF"/>
                    </a:solidFill>
                  </a:tcPr>
                </a:tc>
                <a:tc>
                  <a:txBody>
                    <a:bodyPr/>
                    <a:lstStyle/>
                    <a:p>
                      <a:pPr algn="ctr"/>
                      <a:r>
                        <a:rPr sz="885" b="1">
                          <a:solidFill>
                            <a:srgbClr val="303030"/>
                          </a:solidFill>
                          <a:latin typeface="Arial"/>
                          <a:ea typeface="Arial"/>
                          <a:cs typeface="Arial"/>
                        </a:rPr>
                        <a:t>2</a:t>
                      </a:r>
                    </a:p>
                  </a:txBody>
                  <a:tcPr anchor="ctr">
                    <a:solidFill>
                      <a:srgbClr val="DFCDD3"/>
                    </a:solidFill>
                  </a:tcPr>
                </a:tc>
                <a:extLst>
                  <a:ext uri="{0D108BD9-81ED-4DB2-BD59-A6C34878D82A}">
                    <a16:rowId xmlns:a16="http://schemas.microsoft.com/office/drawing/2014/main" val="10001"/>
                  </a:ext>
                </a:extLst>
              </a:tr>
              <a:tr h="366183">
                <a:tc>
                  <a:txBody>
                    <a:bodyPr/>
                    <a:lstStyle/>
                    <a:p>
                      <a:r>
                        <a:rPr sz="885" b="1">
                          <a:solidFill>
                            <a:srgbClr val="72243D"/>
                          </a:solidFill>
                          <a:latin typeface="Arial"/>
                          <a:ea typeface="Arial"/>
                          <a:cs typeface="Arial"/>
                        </a:rPr>
                        <a:t>ALS/MND</a:t>
                      </a:r>
                    </a:p>
                  </a:txBody>
                  <a:tcPr anchor="ctr">
                    <a:solidFill>
                      <a:srgbClr val="F4E9ED"/>
                    </a:solidFill>
                  </a:tcPr>
                </a:tc>
                <a:tc>
                  <a:txBody>
                    <a:bodyPr/>
                    <a:lstStyle/>
                    <a:p>
                      <a:pPr algn="ctr"/>
                      <a:r>
                        <a:rPr sz="885" b="1">
                          <a:solidFill>
                            <a:srgbClr val="FFFFFF"/>
                          </a:solidFill>
                          <a:latin typeface="Arial"/>
                          <a:ea typeface="Arial"/>
                          <a:cs typeface="Arial"/>
                        </a:rPr>
                        <a:t>18</a:t>
                      </a:r>
                    </a:p>
                  </a:txBody>
                  <a:tcPr anchor="ctr">
                    <a:solidFill>
                      <a:srgbClr val="AA7B8A"/>
                    </a:solidFill>
                  </a:tcPr>
                </a:tc>
                <a:tc>
                  <a:txBody>
                    <a:bodyPr/>
                    <a:lstStyle/>
                    <a:p>
                      <a:pPr algn="ctr"/>
                      <a:r>
                        <a:rPr sz="885" b="1">
                          <a:solidFill>
                            <a:srgbClr val="303030"/>
                          </a:solidFill>
                          <a:latin typeface="Arial"/>
                          <a:ea typeface="Arial"/>
                          <a:cs typeface="Arial"/>
                        </a:rPr>
                        <a:t>2</a:t>
                      </a:r>
                    </a:p>
                  </a:txBody>
                  <a:tcPr anchor="ctr">
                    <a:solidFill>
                      <a:srgbClr val="DFCDD3"/>
                    </a:solidFill>
                  </a:tcPr>
                </a:tc>
                <a:tc>
                  <a:txBody>
                    <a:bodyPr/>
                    <a:lstStyle/>
                    <a:p>
                      <a:pPr algn="ctr"/>
                      <a:r>
                        <a:rPr sz="885" b="1">
                          <a:solidFill>
                            <a:srgbClr val="303030"/>
                          </a:solidFill>
                          <a:latin typeface="Arial"/>
                          <a:ea typeface="Arial"/>
                          <a:cs typeface="Arial"/>
                        </a:rPr>
                        <a:t>1</a:t>
                      </a:r>
                    </a:p>
                  </a:txBody>
                  <a:tcPr anchor="ctr">
                    <a:solidFill>
                      <a:srgbClr val="E2D2D8"/>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1">
                          <a:solidFill>
                            <a:srgbClr val="303030"/>
                          </a:solidFill>
                          <a:latin typeface="Arial"/>
                          <a:ea typeface="Arial"/>
                          <a:cs typeface="Arial"/>
                        </a:rPr>
                        <a:t>3</a:t>
                      </a:r>
                    </a:p>
                  </a:txBody>
                  <a:tcPr anchor="ctr">
                    <a:solidFill>
                      <a:srgbClr val="DCC8CE"/>
                    </a:solidFill>
                  </a:tcPr>
                </a:tc>
                <a:tc>
                  <a:txBody>
                    <a:bodyPr/>
                    <a:lstStyle/>
                    <a:p>
                      <a:pPr algn="ctr"/>
                      <a:r>
                        <a:rPr sz="885" b="1">
                          <a:solidFill>
                            <a:srgbClr val="303030"/>
                          </a:solidFill>
                          <a:latin typeface="Arial"/>
                          <a:ea typeface="Arial"/>
                          <a:cs typeface="Arial"/>
                        </a:rPr>
                        <a:t>8</a:t>
                      </a:r>
                    </a:p>
                  </a:txBody>
                  <a:tcPr anchor="ctr">
                    <a:solidFill>
                      <a:srgbClr val="CBAFB8"/>
                    </a:solidFill>
                  </a:tcPr>
                </a:tc>
                <a:tc>
                  <a:txBody>
                    <a:bodyPr/>
                    <a:lstStyle/>
                    <a:p>
                      <a:pPr algn="ctr"/>
                      <a:r>
                        <a:rPr sz="885" b="0" dirty="0">
                          <a:solidFill>
                            <a:srgbClr val="7D7364"/>
                          </a:solidFill>
                          <a:latin typeface="Arial"/>
                          <a:ea typeface="Arial"/>
                          <a:cs typeface="Arial"/>
                        </a:rPr>
                        <a:t>0</a:t>
                      </a:r>
                    </a:p>
                  </a:txBody>
                  <a:tcPr anchor="ctr">
                    <a:solidFill>
                      <a:srgbClr val="FFFFFF"/>
                    </a:solidFill>
                  </a:tcPr>
                </a:tc>
                <a:extLst>
                  <a:ext uri="{0D108BD9-81ED-4DB2-BD59-A6C34878D82A}">
                    <a16:rowId xmlns:a16="http://schemas.microsoft.com/office/drawing/2014/main" val="10002"/>
                  </a:ext>
                </a:extLst>
              </a:tr>
              <a:tr h="366183">
                <a:tc>
                  <a:txBody>
                    <a:bodyPr/>
                    <a:lstStyle/>
                    <a:p>
                      <a:r>
                        <a:rPr sz="885" b="1">
                          <a:solidFill>
                            <a:srgbClr val="72243D"/>
                          </a:solidFill>
                          <a:latin typeface="Arial"/>
                          <a:ea typeface="Arial"/>
                          <a:cs typeface="Arial"/>
                        </a:rPr>
                        <a:t>Stroke</a:t>
                      </a:r>
                    </a:p>
                  </a:txBody>
                  <a:tcPr anchor="ctr">
                    <a:solidFill>
                      <a:srgbClr val="F4E9ED"/>
                    </a:solidFill>
                  </a:tcPr>
                </a:tc>
                <a:tc>
                  <a:txBody>
                    <a:bodyPr/>
                    <a:lstStyle/>
                    <a:p>
                      <a:pPr algn="ctr"/>
                      <a:r>
                        <a:rPr sz="885" b="1">
                          <a:solidFill>
                            <a:srgbClr val="FFFFFF"/>
                          </a:solidFill>
                          <a:latin typeface="Arial"/>
                          <a:ea typeface="Arial"/>
                          <a:cs typeface="Arial"/>
                        </a:rPr>
                        <a:t>16</a:t>
                      </a:r>
                    </a:p>
                  </a:txBody>
                  <a:tcPr anchor="ctr">
                    <a:solidFill>
                      <a:srgbClr val="B18593"/>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1">
                          <a:solidFill>
                            <a:srgbClr val="303030"/>
                          </a:solidFill>
                          <a:latin typeface="Arial"/>
                          <a:ea typeface="Arial"/>
                          <a:cs typeface="Arial"/>
                        </a:rPr>
                        <a:t>2</a:t>
                      </a:r>
                    </a:p>
                  </a:txBody>
                  <a:tcPr anchor="ctr">
                    <a:solidFill>
                      <a:srgbClr val="DFCDD3"/>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1">
                          <a:solidFill>
                            <a:srgbClr val="303030"/>
                          </a:solidFill>
                          <a:latin typeface="Arial"/>
                          <a:ea typeface="Arial"/>
                          <a:cs typeface="Arial"/>
                        </a:rPr>
                        <a:t>5</a:t>
                      </a:r>
                    </a:p>
                  </a:txBody>
                  <a:tcPr anchor="ctr">
                    <a:solidFill>
                      <a:srgbClr val="D5BEC5"/>
                    </a:solidFill>
                  </a:tcPr>
                </a:tc>
                <a:tc>
                  <a:txBody>
                    <a:bodyPr/>
                    <a:lstStyle/>
                    <a:p>
                      <a:pPr algn="ctr"/>
                      <a:r>
                        <a:rPr sz="885" b="1">
                          <a:solidFill>
                            <a:srgbClr val="303030"/>
                          </a:solidFill>
                          <a:latin typeface="Arial"/>
                          <a:ea typeface="Arial"/>
                          <a:cs typeface="Arial"/>
                        </a:rPr>
                        <a:t>1</a:t>
                      </a:r>
                    </a:p>
                  </a:txBody>
                  <a:tcPr anchor="ctr">
                    <a:solidFill>
                      <a:srgbClr val="E2D2D8"/>
                    </a:solidFill>
                  </a:tcPr>
                </a:tc>
                <a:tc>
                  <a:txBody>
                    <a:bodyPr/>
                    <a:lstStyle/>
                    <a:p>
                      <a:pPr algn="ctr"/>
                      <a:r>
                        <a:rPr sz="885" b="1">
                          <a:solidFill>
                            <a:srgbClr val="303030"/>
                          </a:solidFill>
                          <a:latin typeface="Arial"/>
                          <a:ea typeface="Arial"/>
                          <a:cs typeface="Arial"/>
                        </a:rPr>
                        <a:t>1</a:t>
                      </a:r>
                    </a:p>
                  </a:txBody>
                  <a:tcPr anchor="ctr">
                    <a:solidFill>
                      <a:srgbClr val="E2D2D8"/>
                    </a:solidFill>
                  </a:tcPr>
                </a:tc>
                <a:tc>
                  <a:txBody>
                    <a:bodyPr/>
                    <a:lstStyle/>
                    <a:p>
                      <a:pPr algn="ctr"/>
                      <a:r>
                        <a:rPr sz="885" b="1">
                          <a:solidFill>
                            <a:srgbClr val="303030"/>
                          </a:solidFill>
                          <a:latin typeface="Arial"/>
                          <a:ea typeface="Arial"/>
                          <a:cs typeface="Arial"/>
                        </a:rPr>
                        <a:t>3</a:t>
                      </a:r>
                    </a:p>
                  </a:txBody>
                  <a:tcPr anchor="ctr">
                    <a:solidFill>
                      <a:srgbClr val="DCC8CE"/>
                    </a:solidFill>
                  </a:tcPr>
                </a:tc>
                <a:extLst>
                  <a:ext uri="{0D108BD9-81ED-4DB2-BD59-A6C34878D82A}">
                    <a16:rowId xmlns:a16="http://schemas.microsoft.com/office/drawing/2014/main" val="10003"/>
                  </a:ext>
                </a:extLst>
              </a:tr>
              <a:tr h="366183">
                <a:tc>
                  <a:txBody>
                    <a:bodyPr/>
                    <a:lstStyle/>
                    <a:p>
                      <a:r>
                        <a:rPr sz="885" b="1">
                          <a:solidFill>
                            <a:srgbClr val="72243D"/>
                          </a:solidFill>
                          <a:latin typeface="Arial"/>
                          <a:ea typeface="Arial"/>
                          <a:cs typeface="Arial"/>
                        </a:rPr>
                        <a:t>Multiple sclerosis</a:t>
                      </a:r>
                    </a:p>
                  </a:txBody>
                  <a:tcPr anchor="ctr">
                    <a:solidFill>
                      <a:srgbClr val="F4E9ED"/>
                    </a:solidFill>
                  </a:tcPr>
                </a:tc>
                <a:tc>
                  <a:txBody>
                    <a:bodyPr/>
                    <a:lstStyle/>
                    <a:p>
                      <a:pPr algn="ctr"/>
                      <a:r>
                        <a:rPr sz="885" b="1">
                          <a:solidFill>
                            <a:srgbClr val="303030"/>
                          </a:solidFill>
                          <a:latin typeface="Arial"/>
                          <a:ea typeface="Arial"/>
                          <a:cs typeface="Arial"/>
                        </a:rPr>
                        <a:t>4</a:t>
                      </a:r>
                    </a:p>
                  </a:txBody>
                  <a:tcPr anchor="ctr">
                    <a:solidFill>
                      <a:srgbClr val="D8C3CA"/>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1">
                          <a:solidFill>
                            <a:srgbClr val="303030"/>
                          </a:solidFill>
                          <a:latin typeface="Arial"/>
                          <a:ea typeface="Arial"/>
                          <a:cs typeface="Arial"/>
                        </a:rPr>
                        <a:t>2</a:t>
                      </a:r>
                    </a:p>
                  </a:txBody>
                  <a:tcPr anchor="ctr">
                    <a:solidFill>
                      <a:srgbClr val="DFCDD3"/>
                    </a:solidFill>
                  </a:tcPr>
                </a:tc>
                <a:tc>
                  <a:txBody>
                    <a:bodyPr/>
                    <a:lstStyle/>
                    <a:p>
                      <a:pPr algn="ctr"/>
                      <a:r>
                        <a:rPr sz="885" b="0">
                          <a:solidFill>
                            <a:srgbClr val="7D7364"/>
                          </a:solidFill>
                          <a:latin typeface="Arial"/>
                          <a:ea typeface="Arial"/>
                          <a:cs typeface="Arial"/>
                        </a:rPr>
                        <a:t>0</a:t>
                      </a:r>
                    </a:p>
                  </a:txBody>
                  <a:tcPr anchor="ctr">
                    <a:solidFill>
                      <a:srgbClr val="FFFFFF"/>
                    </a:solidFill>
                  </a:tcPr>
                </a:tc>
                <a:extLst>
                  <a:ext uri="{0D108BD9-81ED-4DB2-BD59-A6C34878D82A}">
                    <a16:rowId xmlns:a16="http://schemas.microsoft.com/office/drawing/2014/main" val="10004"/>
                  </a:ext>
                </a:extLst>
              </a:tr>
              <a:tr h="366183">
                <a:tc>
                  <a:txBody>
                    <a:bodyPr/>
                    <a:lstStyle/>
                    <a:p>
                      <a:r>
                        <a:rPr sz="885" b="1">
                          <a:solidFill>
                            <a:srgbClr val="72243D"/>
                          </a:solidFill>
                          <a:latin typeface="Arial"/>
                          <a:ea typeface="Arial"/>
                          <a:cs typeface="Arial"/>
                        </a:rPr>
                        <a:t>Ataxia/cerebellar</a:t>
                      </a:r>
                    </a:p>
                  </a:txBody>
                  <a:tcPr anchor="ctr">
                    <a:solidFill>
                      <a:srgbClr val="F4E9ED"/>
                    </a:solidFill>
                  </a:tcPr>
                </a:tc>
                <a:tc>
                  <a:txBody>
                    <a:bodyPr/>
                    <a:lstStyle/>
                    <a:p>
                      <a:pPr algn="ctr"/>
                      <a:r>
                        <a:rPr sz="885" b="1">
                          <a:solidFill>
                            <a:srgbClr val="303030"/>
                          </a:solidFill>
                          <a:latin typeface="Arial"/>
                          <a:ea typeface="Arial"/>
                          <a:cs typeface="Arial"/>
                        </a:rPr>
                        <a:t>9</a:t>
                      </a:r>
                    </a:p>
                  </a:txBody>
                  <a:tcPr anchor="ctr">
                    <a:solidFill>
                      <a:srgbClr val="C8A9B3"/>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1">
                          <a:solidFill>
                            <a:srgbClr val="303030"/>
                          </a:solidFill>
                          <a:latin typeface="Arial"/>
                          <a:ea typeface="Arial"/>
                          <a:cs typeface="Arial"/>
                        </a:rPr>
                        <a:t>1</a:t>
                      </a:r>
                    </a:p>
                  </a:txBody>
                  <a:tcPr anchor="ctr">
                    <a:solidFill>
                      <a:srgbClr val="E2D2D8"/>
                    </a:solidFill>
                  </a:tcPr>
                </a:tc>
                <a:tc>
                  <a:txBody>
                    <a:bodyPr/>
                    <a:lstStyle/>
                    <a:p>
                      <a:pPr algn="ctr"/>
                      <a:r>
                        <a:rPr sz="885" b="1">
                          <a:solidFill>
                            <a:srgbClr val="303030"/>
                          </a:solidFill>
                          <a:latin typeface="Arial"/>
                          <a:ea typeface="Arial"/>
                          <a:cs typeface="Arial"/>
                        </a:rPr>
                        <a:t>1</a:t>
                      </a:r>
                    </a:p>
                  </a:txBody>
                  <a:tcPr anchor="ctr">
                    <a:solidFill>
                      <a:srgbClr val="E2D2D8"/>
                    </a:solidFill>
                  </a:tcPr>
                </a:tc>
                <a:tc>
                  <a:txBody>
                    <a:bodyPr/>
                    <a:lstStyle/>
                    <a:p>
                      <a:pPr algn="ctr"/>
                      <a:r>
                        <a:rPr sz="885" b="1">
                          <a:solidFill>
                            <a:srgbClr val="303030"/>
                          </a:solidFill>
                          <a:latin typeface="Arial"/>
                          <a:ea typeface="Arial"/>
                          <a:cs typeface="Arial"/>
                        </a:rPr>
                        <a:t>2</a:t>
                      </a:r>
                    </a:p>
                  </a:txBody>
                  <a:tcPr anchor="ctr">
                    <a:solidFill>
                      <a:srgbClr val="DFCDD3"/>
                    </a:solidFill>
                  </a:tcPr>
                </a:tc>
                <a:tc>
                  <a:txBody>
                    <a:bodyPr/>
                    <a:lstStyle/>
                    <a:p>
                      <a:pPr algn="ctr"/>
                      <a:r>
                        <a:rPr sz="885" b="1">
                          <a:solidFill>
                            <a:srgbClr val="303030"/>
                          </a:solidFill>
                          <a:latin typeface="Arial"/>
                          <a:ea typeface="Arial"/>
                          <a:cs typeface="Arial"/>
                        </a:rPr>
                        <a:t>1</a:t>
                      </a:r>
                    </a:p>
                  </a:txBody>
                  <a:tcPr anchor="ctr">
                    <a:solidFill>
                      <a:srgbClr val="E2D2D8"/>
                    </a:solidFill>
                  </a:tcPr>
                </a:tc>
                <a:extLst>
                  <a:ext uri="{0D108BD9-81ED-4DB2-BD59-A6C34878D82A}">
                    <a16:rowId xmlns:a16="http://schemas.microsoft.com/office/drawing/2014/main" val="10005"/>
                  </a:ext>
                </a:extLst>
              </a:tr>
              <a:tr h="366183">
                <a:tc>
                  <a:txBody>
                    <a:bodyPr/>
                    <a:lstStyle/>
                    <a:p>
                      <a:r>
                        <a:rPr sz="885" b="1">
                          <a:solidFill>
                            <a:srgbClr val="72243D"/>
                          </a:solidFill>
                          <a:latin typeface="Arial"/>
                          <a:ea typeface="Arial"/>
                          <a:cs typeface="Arial"/>
                        </a:rPr>
                        <a:t>TBI/concussion</a:t>
                      </a:r>
                    </a:p>
                  </a:txBody>
                  <a:tcPr anchor="ctr">
                    <a:solidFill>
                      <a:srgbClr val="F4E9ED"/>
                    </a:solidFill>
                  </a:tcPr>
                </a:tc>
                <a:tc>
                  <a:txBody>
                    <a:bodyPr/>
                    <a:lstStyle/>
                    <a:p>
                      <a:pPr algn="ctr"/>
                      <a:r>
                        <a:rPr sz="885" b="1">
                          <a:solidFill>
                            <a:srgbClr val="303030"/>
                          </a:solidFill>
                          <a:latin typeface="Arial"/>
                          <a:ea typeface="Arial"/>
                          <a:cs typeface="Arial"/>
                        </a:rPr>
                        <a:t>1</a:t>
                      </a:r>
                    </a:p>
                  </a:txBody>
                  <a:tcPr anchor="ctr">
                    <a:solidFill>
                      <a:srgbClr val="E2D2D8"/>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1">
                          <a:solidFill>
                            <a:srgbClr val="303030"/>
                          </a:solidFill>
                          <a:latin typeface="Arial"/>
                          <a:ea typeface="Arial"/>
                          <a:cs typeface="Arial"/>
                        </a:rPr>
                        <a:t>2</a:t>
                      </a:r>
                    </a:p>
                  </a:txBody>
                  <a:tcPr anchor="ctr">
                    <a:solidFill>
                      <a:srgbClr val="DFCDD3"/>
                    </a:solidFill>
                  </a:tcPr>
                </a:tc>
                <a:tc>
                  <a:txBody>
                    <a:bodyPr/>
                    <a:lstStyle/>
                    <a:p>
                      <a:pPr algn="ctr"/>
                      <a:r>
                        <a:rPr sz="885" b="0">
                          <a:solidFill>
                            <a:srgbClr val="7D7364"/>
                          </a:solidFill>
                          <a:latin typeface="Arial"/>
                          <a:ea typeface="Arial"/>
                          <a:cs typeface="Arial"/>
                        </a:rPr>
                        <a:t>0</a:t>
                      </a:r>
                    </a:p>
                  </a:txBody>
                  <a:tcPr anchor="ctr">
                    <a:solidFill>
                      <a:srgbClr val="FFFFFF"/>
                    </a:solidFill>
                  </a:tcPr>
                </a:tc>
                <a:extLst>
                  <a:ext uri="{0D108BD9-81ED-4DB2-BD59-A6C34878D82A}">
                    <a16:rowId xmlns:a16="http://schemas.microsoft.com/office/drawing/2014/main" val="10006"/>
                  </a:ext>
                </a:extLst>
              </a:tr>
              <a:tr h="366183">
                <a:tc>
                  <a:txBody>
                    <a:bodyPr/>
                    <a:lstStyle/>
                    <a:p>
                      <a:r>
                        <a:rPr sz="885" b="1">
                          <a:solidFill>
                            <a:srgbClr val="72243D"/>
                          </a:solidFill>
                          <a:latin typeface="Arial"/>
                          <a:ea typeface="Arial"/>
                          <a:cs typeface="Arial"/>
                        </a:rPr>
                        <a:t>Other neurologic</a:t>
                      </a:r>
                    </a:p>
                  </a:txBody>
                  <a:tcPr anchor="ctr">
                    <a:solidFill>
                      <a:srgbClr val="F4E9ED"/>
                    </a:solidFill>
                  </a:tcPr>
                </a:tc>
                <a:tc>
                  <a:txBody>
                    <a:bodyPr/>
                    <a:lstStyle/>
                    <a:p>
                      <a:pPr algn="ctr"/>
                      <a:r>
                        <a:rPr sz="900" b="0" i="1">
                          <a:solidFill>
                            <a:srgbClr val="7D7364"/>
                          </a:solidFill>
                          <a:latin typeface="Arial"/>
                          <a:ea typeface="Arial"/>
                          <a:cs typeface="Arial"/>
                        </a:rPr>
                        <a:t>N/A*</a:t>
                      </a:r>
                    </a:p>
                  </a:txBody>
                  <a:tcPr anchor="ctr">
                    <a:solidFill>
                      <a:srgbClr val="DEDEE0"/>
                    </a:solidFill>
                  </a:tcPr>
                </a:tc>
                <a:tc>
                  <a:txBody>
                    <a:bodyPr/>
                    <a:lstStyle/>
                    <a:p>
                      <a:pPr algn="ctr"/>
                      <a:r>
                        <a:rPr sz="900" b="0" i="1">
                          <a:solidFill>
                            <a:srgbClr val="7D7364"/>
                          </a:solidFill>
                          <a:latin typeface="Arial"/>
                          <a:ea typeface="Arial"/>
                          <a:cs typeface="Arial"/>
                        </a:rPr>
                        <a:t>N/A*</a:t>
                      </a:r>
                    </a:p>
                  </a:txBody>
                  <a:tcPr anchor="ctr">
                    <a:solidFill>
                      <a:srgbClr val="DEDEE0"/>
                    </a:solidFill>
                  </a:tcPr>
                </a:tc>
                <a:tc>
                  <a:txBody>
                    <a:bodyPr/>
                    <a:lstStyle/>
                    <a:p>
                      <a:pPr algn="ctr"/>
                      <a:r>
                        <a:rPr sz="900" b="0" i="1">
                          <a:solidFill>
                            <a:srgbClr val="7D7364"/>
                          </a:solidFill>
                          <a:latin typeface="Arial"/>
                          <a:ea typeface="Arial"/>
                          <a:cs typeface="Arial"/>
                        </a:rPr>
                        <a:t>N/A*</a:t>
                      </a:r>
                    </a:p>
                  </a:txBody>
                  <a:tcPr anchor="ctr">
                    <a:solidFill>
                      <a:srgbClr val="DEDEE0"/>
                    </a:solidFill>
                  </a:tcPr>
                </a:tc>
                <a:tc>
                  <a:txBody>
                    <a:bodyPr/>
                    <a:lstStyle/>
                    <a:p>
                      <a:pPr algn="ctr"/>
                      <a:r>
                        <a:rPr sz="900" b="0" i="1">
                          <a:solidFill>
                            <a:srgbClr val="7D7364"/>
                          </a:solidFill>
                          <a:latin typeface="Arial"/>
                          <a:ea typeface="Arial"/>
                          <a:cs typeface="Arial"/>
                        </a:rPr>
                        <a:t>N/A*</a:t>
                      </a:r>
                    </a:p>
                  </a:txBody>
                  <a:tcPr anchor="ctr">
                    <a:solidFill>
                      <a:srgbClr val="DEDEE0"/>
                    </a:solidFill>
                  </a:tcPr>
                </a:tc>
                <a:tc>
                  <a:txBody>
                    <a:bodyPr/>
                    <a:lstStyle/>
                    <a:p>
                      <a:pPr algn="ctr"/>
                      <a:r>
                        <a:rPr sz="900" b="0" i="1">
                          <a:solidFill>
                            <a:srgbClr val="7D7364"/>
                          </a:solidFill>
                          <a:latin typeface="Arial"/>
                          <a:ea typeface="Arial"/>
                          <a:cs typeface="Arial"/>
                        </a:rPr>
                        <a:t>N/A*</a:t>
                      </a:r>
                    </a:p>
                  </a:txBody>
                  <a:tcPr anchor="ctr">
                    <a:solidFill>
                      <a:srgbClr val="DEDEE0"/>
                    </a:solidFill>
                  </a:tcPr>
                </a:tc>
                <a:tc>
                  <a:txBody>
                    <a:bodyPr/>
                    <a:lstStyle/>
                    <a:p>
                      <a:pPr algn="ctr"/>
                      <a:r>
                        <a:rPr sz="900" b="0" i="1">
                          <a:solidFill>
                            <a:srgbClr val="7D7364"/>
                          </a:solidFill>
                          <a:latin typeface="Arial"/>
                          <a:ea typeface="Arial"/>
                          <a:cs typeface="Arial"/>
                        </a:rPr>
                        <a:t>N/A*</a:t>
                      </a:r>
                    </a:p>
                  </a:txBody>
                  <a:tcPr anchor="ctr">
                    <a:solidFill>
                      <a:srgbClr val="DEDEE0"/>
                    </a:solidFill>
                  </a:tcPr>
                </a:tc>
                <a:tc>
                  <a:txBody>
                    <a:bodyPr/>
                    <a:lstStyle/>
                    <a:p>
                      <a:pPr algn="ctr"/>
                      <a:r>
                        <a:rPr sz="900" b="0" i="1">
                          <a:solidFill>
                            <a:srgbClr val="7D7364"/>
                          </a:solidFill>
                          <a:latin typeface="Arial"/>
                          <a:ea typeface="Arial"/>
                          <a:cs typeface="Arial"/>
                        </a:rPr>
                        <a:t>N/A*</a:t>
                      </a:r>
                    </a:p>
                  </a:txBody>
                  <a:tcPr anchor="ctr">
                    <a:solidFill>
                      <a:srgbClr val="DEDEE0"/>
                    </a:solidFill>
                  </a:tcPr>
                </a:tc>
                <a:tc>
                  <a:txBody>
                    <a:bodyPr/>
                    <a:lstStyle/>
                    <a:p>
                      <a:pPr algn="ctr"/>
                      <a:r>
                        <a:rPr sz="900" b="0" i="1">
                          <a:solidFill>
                            <a:srgbClr val="7D7364"/>
                          </a:solidFill>
                          <a:latin typeface="Arial"/>
                          <a:ea typeface="Arial"/>
                          <a:cs typeface="Arial"/>
                        </a:rPr>
                        <a:t>N/A*</a:t>
                      </a:r>
                    </a:p>
                  </a:txBody>
                  <a:tcPr anchor="ctr">
                    <a:solidFill>
                      <a:srgbClr val="DEDEE0"/>
                    </a:solidFill>
                  </a:tcPr>
                </a:tc>
                <a:extLst>
                  <a:ext uri="{0D108BD9-81ED-4DB2-BD59-A6C34878D82A}">
                    <a16:rowId xmlns:a16="http://schemas.microsoft.com/office/drawing/2014/main" val="10007"/>
                  </a:ext>
                </a:extLst>
              </a:tr>
              <a:tr h="366183">
                <a:tc>
                  <a:txBody>
                    <a:bodyPr/>
                    <a:lstStyle/>
                    <a:p>
                      <a:r>
                        <a:rPr sz="885" b="1">
                          <a:solidFill>
                            <a:srgbClr val="72243D"/>
                          </a:solidFill>
                          <a:latin typeface="Arial"/>
                          <a:ea typeface="Arial"/>
                          <a:cs typeface="Arial"/>
                        </a:rPr>
                        <a:t>No dysarthria cohort</a:t>
                      </a:r>
                    </a:p>
                  </a:txBody>
                  <a:tcPr anchor="ctr">
                    <a:solidFill>
                      <a:srgbClr val="F4E9ED"/>
                    </a:solidFill>
                  </a:tcPr>
                </a:tc>
                <a:tc>
                  <a:txBody>
                    <a:bodyPr/>
                    <a:lstStyle/>
                    <a:p>
                      <a:pPr algn="ctr"/>
                      <a:r>
                        <a:rPr sz="900" b="0" i="1">
                          <a:solidFill>
                            <a:srgbClr val="7D7364"/>
                          </a:solidFill>
                          <a:latin typeface="Arial"/>
                          <a:ea typeface="Arial"/>
                          <a:cs typeface="Arial"/>
                        </a:rPr>
                        <a:t>N/A*</a:t>
                      </a:r>
                    </a:p>
                  </a:txBody>
                  <a:tcPr anchor="ctr">
                    <a:solidFill>
                      <a:srgbClr val="DEDEE0"/>
                    </a:solidFill>
                  </a:tcPr>
                </a:tc>
                <a:tc>
                  <a:txBody>
                    <a:bodyPr/>
                    <a:lstStyle/>
                    <a:p>
                      <a:pPr algn="ctr"/>
                      <a:r>
                        <a:rPr sz="900" b="0" i="1">
                          <a:solidFill>
                            <a:srgbClr val="7D7364"/>
                          </a:solidFill>
                          <a:latin typeface="Arial"/>
                          <a:ea typeface="Arial"/>
                          <a:cs typeface="Arial"/>
                        </a:rPr>
                        <a:t>N/A*</a:t>
                      </a:r>
                    </a:p>
                  </a:txBody>
                  <a:tcPr anchor="ctr">
                    <a:solidFill>
                      <a:srgbClr val="DEDEE0"/>
                    </a:solidFill>
                  </a:tcPr>
                </a:tc>
                <a:tc>
                  <a:txBody>
                    <a:bodyPr/>
                    <a:lstStyle/>
                    <a:p>
                      <a:pPr algn="ctr"/>
                      <a:r>
                        <a:rPr sz="900" b="0" i="1">
                          <a:solidFill>
                            <a:srgbClr val="7D7364"/>
                          </a:solidFill>
                          <a:latin typeface="Arial"/>
                          <a:ea typeface="Arial"/>
                          <a:cs typeface="Arial"/>
                        </a:rPr>
                        <a:t>N/A*</a:t>
                      </a:r>
                    </a:p>
                  </a:txBody>
                  <a:tcPr anchor="ctr">
                    <a:solidFill>
                      <a:srgbClr val="DEDEE0"/>
                    </a:solidFill>
                  </a:tcPr>
                </a:tc>
                <a:tc>
                  <a:txBody>
                    <a:bodyPr/>
                    <a:lstStyle/>
                    <a:p>
                      <a:pPr algn="ctr"/>
                      <a:r>
                        <a:rPr sz="900" b="0" i="1">
                          <a:solidFill>
                            <a:srgbClr val="7D7364"/>
                          </a:solidFill>
                          <a:latin typeface="Arial"/>
                          <a:ea typeface="Arial"/>
                          <a:cs typeface="Arial"/>
                        </a:rPr>
                        <a:t>N/A*</a:t>
                      </a:r>
                    </a:p>
                  </a:txBody>
                  <a:tcPr anchor="ctr">
                    <a:solidFill>
                      <a:srgbClr val="DEDEE0"/>
                    </a:solidFill>
                  </a:tcPr>
                </a:tc>
                <a:tc>
                  <a:txBody>
                    <a:bodyPr/>
                    <a:lstStyle/>
                    <a:p>
                      <a:pPr algn="ctr"/>
                      <a:r>
                        <a:rPr sz="900" b="0" i="1">
                          <a:solidFill>
                            <a:srgbClr val="7D7364"/>
                          </a:solidFill>
                          <a:latin typeface="Arial"/>
                          <a:ea typeface="Arial"/>
                          <a:cs typeface="Arial"/>
                        </a:rPr>
                        <a:t>N/A*</a:t>
                      </a:r>
                    </a:p>
                  </a:txBody>
                  <a:tcPr anchor="ctr">
                    <a:solidFill>
                      <a:srgbClr val="DEDEE0"/>
                    </a:solidFill>
                  </a:tcPr>
                </a:tc>
                <a:tc>
                  <a:txBody>
                    <a:bodyPr/>
                    <a:lstStyle/>
                    <a:p>
                      <a:pPr algn="ctr"/>
                      <a:r>
                        <a:rPr sz="900" b="0" i="1">
                          <a:solidFill>
                            <a:srgbClr val="7D7364"/>
                          </a:solidFill>
                          <a:latin typeface="Arial"/>
                          <a:ea typeface="Arial"/>
                          <a:cs typeface="Arial"/>
                        </a:rPr>
                        <a:t>N/A*</a:t>
                      </a:r>
                    </a:p>
                  </a:txBody>
                  <a:tcPr anchor="ctr">
                    <a:solidFill>
                      <a:srgbClr val="DEDEE0"/>
                    </a:solidFill>
                  </a:tcPr>
                </a:tc>
                <a:tc>
                  <a:txBody>
                    <a:bodyPr/>
                    <a:lstStyle/>
                    <a:p>
                      <a:pPr algn="ctr"/>
                      <a:r>
                        <a:rPr sz="900" b="0" i="1">
                          <a:solidFill>
                            <a:srgbClr val="7D7364"/>
                          </a:solidFill>
                          <a:latin typeface="Arial"/>
                          <a:ea typeface="Arial"/>
                          <a:cs typeface="Arial"/>
                        </a:rPr>
                        <a:t>N/A*</a:t>
                      </a:r>
                    </a:p>
                  </a:txBody>
                  <a:tcPr anchor="ctr">
                    <a:solidFill>
                      <a:srgbClr val="DEDEE0"/>
                    </a:solidFill>
                  </a:tcPr>
                </a:tc>
                <a:tc>
                  <a:txBody>
                    <a:bodyPr/>
                    <a:lstStyle/>
                    <a:p>
                      <a:pPr algn="ctr"/>
                      <a:r>
                        <a:rPr sz="900" b="0" dirty="0" i="1">
                          <a:solidFill>
                            <a:srgbClr val="7D7364"/>
                          </a:solidFill>
                          <a:latin typeface="Arial"/>
                          <a:ea typeface="Arial"/>
                          <a:cs typeface="Arial"/>
                        </a:rPr>
                        <a:t>N/A*</a:t>
                      </a:r>
                    </a:p>
                  </a:txBody>
                  <a:tcPr anchor="ctr">
                    <a:solidFill>
                      <a:srgbClr val="DEDEE0"/>
                    </a:solidFill>
                  </a:tcPr>
                </a:tc>
                <a:extLst>
                  <a:ext uri="{0D108BD9-81ED-4DB2-BD59-A6C34878D82A}">
                    <a16:rowId xmlns:a16="http://schemas.microsoft.com/office/drawing/2014/main" val="10008"/>
                  </a:ext>
                </a:extLst>
              </a:tr>
            </a:tbl>
          </a:graphicData>
        </a:graphic>
      </p:graphicFrame>
      <p:sp>
        <p:nvSpPr>
          <p:cNvPr id="23" name="TextBox 22"/>
          <p:cNvSpPr txBox="1"/>
          <p:nvPr/>
        </p:nvSpPr>
        <p:spPr>
          <a:xfrm>
            <a:off x="1450000" y="4720000"/>
            <a:ext cx="5300000" cy="500000"/>
          </a:xfrm>
          <a:prstGeom prst="rect">
            <a:avLst/>
          </a:prstGeom>
          <a:noFill/>
        </p:spPr>
        <p:txBody>
          <a:bodyPr wrap="square">
            <a:spAutoFit/>
          </a:bodyPr>
          <a:lstStyle/>
          <a:p>
            <a:r>
              <a:rPr sz="850" b="0" i="1">
                <a:solidFill>
                  <a:srgbClr val="7D7364"/>
                </a:solidFill>
                <a:latin typeface="Arial"/>
              </a:rPr>
              <a:t>* N/A rows: population mapping not yet resolved. All other cells = Week 6 (Sep 27).</a:t>
            </a:r>
          </a:p>
        </p:txBody>
      </p:sp>
    </p:spTree>
    <p:extLst>
      <p:ext uri="{BB962C8B-B14F-4D97-AF65-F5344CB8AC3E}">
        <p14:creationId xmlns:p14="http://schemas.microsoft.com/office/powerpoint/2010/main" val="29182510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5B11F2-B072-0721-77E4-47C41FB9B2A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3907D9E-EB55-B569-F57D-E9294403BB50}"/>
              </a:ext>
            </a:extLst>
          </p:cNvPr>
          <p:cNvSpPr>
            <a:spLocks noGrp="1"/>
          </p:cNvSpPr>
          <p:nvPr>
            <p:ph type="title"/>
          </p:nvPr>
        </p:nvSpPr>
        <p:spPr>
          <a:xfrm>
            <a:off x="236536" y="1003"/>
            <a:ext cx="8450263" cy="514350"/>
          </a:xfrm>
        </p:spPr>
        <p:txBody>
          <a:bodyPr/>
          <a:lstStyle/>
          <a:p>
            <a:r>
              <a:rPr lang="en-VN" dirty="0"/>
              <a:t>2. Literature Review Paper – Future</a:t>
            </a:r>
          </a:p>
        </p:txBody>
      </p:sp>
      <p:sp>
        <p:nvSpPr>
          <p:cNvPr id="22" name="Slide Number Placeholder 21">
            <a:extLst>
              <a:ext uri="{FF2B5EF4-FFF2-40B4-BE49-F238E27FC236}">
                <a16:creationId xmlns:a16="http://schemas.microsoft.com/office/drawing/2014/main" id="{B8AC4346-7B2B-3E74-B687-37B012E0247C}"/>
              </a:ext>
            </a:extLst>
          </p:cNvPr>
          <p:cNvSpPr>
            <a:spLocks noGrp="1"/>
          </p:cNvSpPr>
          <p:nvPr>
            <p:ph type="sldNum" sz="quarter" idx="15"/>
          </p:nvPr>
        </p:nvSpPr>
        <p:spPr/>
        <p:txBody>
          <a:bodyPr/>
          <a:lstStyle/>
          <a:p>
            <a:fld id="{0AF20276-0DC3-B247-B3AE-8A6E2F85407E}" type="slidenum">
              <a:rPr lang="en-VN" smtClean="0"/>
              <a:t>11</a:t>
            </a:fld>
            <a:endParaRPr lang="en-VN"/>
          </a:p>
        </p:txBody>
      </p:sp>
      <p:sp>
        <p:nvSpPr>
          <p:cNvPr id="4" name="Text Placeholder 6">
            <a:extLst>
              <a:ext uri="{FF2B5EF4-FFF2-40B4-BE49-F238E27FC236}">
                <a16:creationId xmlns:a16="http://schemas.microsoft.com/office/drawing/2014/main" id="{482CE4DB-AF43-27B5-777C-8B5A33CBE42D}"/>
              </a:ext>
            </a:extLst>
          </p:cNvPr>
          <p:cNvSpPr>
            <a:spLocks noGrp="1"/>
          </p:cNvSpPr>
          <p:nvPr>
            <p:ph type="body" sz="quarter" idx="13"/>
          </p:nvPr>
        </p:nvSpPr>
        <p:spPr>
          <a:xfrm>
            <a:off x="571500" y="819150"/>
            <a:ext cx="8001000" cy="3733800"/>
          </a:xfrm>
        </p:spPr>
        <p:txBody>
          <a:bodyPr/>
          <a:lstStyle/>
          <a:p>
            <a:pPr>
              <a:buNone/>
            </a:pPr>
            <a:r>
              <a:rPr lang="en-US" sz="1400" b="1" dirty="0"/>
              <a:t>1. Population eligibility</a:t>
            </a:r>
          </a:p>
          <a:p>
            <a:r>
              <a:rPr lang="en-US" sz="1400" b="0" dirty="0"/>
              <a:t>Some studies use sensing modalities in Parkinson’s disease, ALS, stroke, or other neurological populations, but they do not explicitly confirm that the participants have dysarthria. Should these studies be excluded from the core dysarthria evidence?</a:t>
            </a:r>
          </a:p>
          <a:p>
            <a:pPr>
              <a:buNone/>
            </a:pPr>
            <a:r>
              <a:rPr lang="en-US" sz="1400" b="1" dirty="0"/>
              <a:t>2. Sensor-to-subsystem evidence</a:t>
            </a:r>
          </a:p>
          <a:p>
            <a:r>
              <a:rPr lang="en-US" sz="1400" b="0" dirty="0"/>
              <a:t>Some technologies measure a physical variable related to a speech subsystem, but they were tested only in healthy participants or neurological populations without confirmed dysarthria. Can we use these studies only to discuss technical feasibility</a:t>
            </a:r>
          </a:p>
          <a:p>
            <a:endParaRPr lang="en-US" sz="1400" b="0" dirty="0"/>
          </a:p>
          <a:p>
            <a:endParaRPr lang="en-US" sz="1400" b="0" dirty="0"/>
          </a:p>
        </p:txBody>
      </p:sp>
    </p:spTree>
    <p:extLst>
      <p:ext uri="{BB962C8B-B14F-4D97-AF65-F5344CB8AC3E}">
        <p14:creationId xmlns:p14="http://schemas.microsoft.com/office/powerpoint/2010/main" val="38810584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93CB9E-0E0E-9FB7-528C-83B39E1F81C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A8922FA-C07F-ECF3-C153-65860D78D606}"/>
              </a:ext>
            </a:extLst>
          </p:cNvPr>
          <p:cNvSpPr>
            <a:spLocks noGrp="1"/>
          </p:cNvSpPr>
          <p:nvPr>
            <p:ph type="title"/>
          </p:nvPr>
        </p:nvSpPr>
        <p:spPr>
          <a:xfrm>
            <a:off x="236536" y="1003"/>
            <a:ext cx="8450263" cy="514350"/>
          </a:xfrm>
        </p:spPr>
        <p:txBody>
          <a:bodyPr/>
          <a:lstStyle/>
          <a:p>
            <a:r>
              <a:rPr lang="en-VN" dirty="0"/>
              <a:t>3. Active Sensing – Background</a:t>
            </a:r>
          </a:p>
        </p:txBody>
      </p:sp>
      <p:sp>
        <p:nvSpPr>
          <p:cNvPr id="22" name="Slide Number Placeholder 21">
            <a:extLst>
              <a:ext uri="{FF2B5EF4-FFF2-40B4-BE49-F238E27FC236}">
                <a16:creationId xmlns:a16="http://schemas.microsoft.com/office/drawing/2014/main" id="{314DF190-A4CD-2462-E7F6-D88FBAB4A2EE}"/>
              </a:ext>
            </a:extLst>
          </p:cNvPr>
          <p:cNvSpPr>
            <a:spLocks noGrp="1"/>
          </p:cNvSpPr>
          <p:nvPr>
            <p:ph type="sldNum" sz="quarter" idx="15"/>
          </p:nvPr>
        </p:nvSpPr>
        <p:spPr/>
        <p:txBody>
          <a:bodyPr/>
          <a:lstStyle/>
          <a:p>
            <a:fld id="{0AF20276-0DC3-B247-B3AE-8A6E2F85407E}" type="slidenum">
              <a:rPr lang="en-VN" smtClean="0"/>
              <a:t>12</a:t>
            </a:fld>
            <a:endParaRPr lang="en-VN"/>
          </a:p>
        </p:txBody>
      </p:sp>
      <p:sp>
        <p:nvSpPr>
          <p:cNvPr id="2" name="Text Placeholder 6">
            <a:extLst>
              <a:ext uri="{FF2B5EF4-FFF2-40B4-BE49-F238E27FC236}">
                <a16:creationId xmlns:a16="http://schemas.microsoft.com/office/drawing/2014/main" id="{04C67D69-3E11-C8F8-36DA-B525BEEB7EC4}"/>
              </a:ext>
            </a:extLst>
          </p:cNvPr>
          <p:cNvSpPr>
            <a:spLocks noGrp="1"/>
          </p:cNvSpPr>
          <p:nvPr>
            <p:ph type="body" sz="quarter" idx="13"/>
          </p:nvPr>
        </p:nvSpPr>
        <p:spPr>
          <a:xfrm>
            <a:off x="762000" y="895350"/>
            <a:ext cx="3954463" cy="514350"/>
          </a:xfrm>
        </p:spPr>
        <p:txBody>
          <a:bodyPr/>
          <a:lstStyle/>
          <a:p>
            <a:r>
              <a:rPr lang="en-VN" b="0" dirty="0"/>
              <a:t>Computational Model</a:t>
            </a:r>
          </a:p>
        </p:txBody>
      </p:sp>
    </p:spTree>
    <p:extLst>
      <p:ext uri="{BB962C8B-B14F-4D97-AF65-F5344CB8AC3E}">
        <p14:creationId xmlns:p14="http://schemas.microsoft.com/office/powerpoint/2010/main" val="29705871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DA699D-D61A-F809-72CE-DB0A5D31E74C}"/>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A48ECD31-A52B-4169-1255-CBB31FA78E3A}"/>
              </a:ext>
            </a:extLst>
          </p:cNvPr>
          <p:cNvSpPr/>
          <p:nvPr/>
        </p:nvSpPr>
        <p:spPr>
          <a:xfrm>
            <a:off x="3505200" y="1428750"/>
            <a:ext cx="4876800" cy="1295400"/>
          </a:xfrm>
          <a:prstGeom prst="rect">
            <a:avLst/>
          </a:prstGeom>
          <a:ln>
            <a:prstDash val="sysDash"/>
          </a:ln>
        </p:spPr>
        <p:style>
          <a:lnRef idx="2">
            <a:schemeClr val="accent1"/>
          </a:lnRef>
          <a:fillRef idx="1">
            <a:schemeClr val="lt1"/>
          </a:fillRef>
          <a:effectRef idx="0">
            <a:schemeClr val="accent1"/>
          </a:effectRef>
          <a:fontRef idx="minor">
            <a:schemeClr val="dk1"/>
          </a:fontRef>
        </p:style>
        <p:txBody>
          <a:bodyPr rtlCol="0" anchor="ctr"/>
          <a:lstStyle/>
          <a:p>
            <a:pPr algn="ctr"/>
            <a:endParaRPr lang="en-VN"/>
          </a:p>
        </p:txBody>
      </p:sp>
      <p:sp>
        <p:nvSpPr>
          <p:cNvPr id="3" name="Title 2">
            <a:extLst>
              <a:ext uri="{FF2B5EF4-FFF2-40B4-BE49-F238E27FC236}">
                <a16:creationId xmlns:a16="http://schemas.microsoft.com/office/drawing/2014/main" id="{36E24E60-7DEF-1662-F2FD-6017353AD766}"/>
              </a:ext>
            </a:extLst>
          </p:cNvPr>
          <p:cNvSpPr>
            <a:spLocks noGrp="1"/>
          </p:cNvSpPr>
          <p:nvPr>
            <p:ph type="title"/>
          </p:nvPr>
        </p:nvSpPr>
        <p:spPr>
          <a:xfrm>
            <a:off x="236536" y="1003"/>
            <a:ext cx="8450263" cy="514350"/>
          </a:xfrm>
        </p:spPr>
        <p:txBody>
          <a:bodyPr/>
          <a:lstStyle/>
          <a:p>
            <a:r>
              <a:rPr lang="en-VN" dirty="0"/>
              <a:t>3. Active Sensing – Progress</a:t>
            </a:r>
          </a:p>
        </p:txBody>
      </p:sp>
      <p:sp>
        <p:nvSpPr>
          <p:cNvPr id="22" name="Slide Number Placeholder 21">
            <a:extLst>
              <a:ext uri="{FF2B5EF4-FFF2-40B4-BE49-F238E27FC236}">
                <a16:creationId xmlns:a16="http://schemas.microsoft.com/office/drawing/2014/main" id="{A3BA19DB-1B2D-33DD-776B-40E8B851033F}"/>
              </a:ext>
            </a:extLst>
          </p:cNvPr>
          <p:cNvSpPr>
            <a:spLocks noGrp="1"/>
          </p:cNvSpPr>
          <p:nvPr>
            <p:ph type="sldNum" sz="quarter" idx="15"/>
          </p:nvPr>
        </p:nvSpPr>
        <p:spPr/>
        <p:txBody>
          <a:bodyPr/>
          <a:lstStyle/>
          <a:p>
            <a:fld id="{0AF20276-0DC3-B247-B3AE-8A6E2F85407E}" type="slidenum">
              <a:rPr lang="en-VN" smtClean="0"/>
              <a:t>13</a:t>
            </a:fld>
            <a:endParaRPr lang="en-VN"/>
          </a:p>
        </p:txBody>
      </p:sp>
      <p:sp>
        <p:nvSpPr>
          <p:cNvPr id="5" name="Text Placeholder 4">
            <a:extLst>
              <a:ext uri="{FF2B5EF4-FFF2-40B4-BE49-F238E27FC236}">
                <a16:creationId xmlns:a16="http://schemas.microsoft.com/office/drawing/2014/main" id="{CD8B05CF-531A-8DA3-47AF-1C3DDD472410}"/>
              </a:ext>
            </a:extLst>
          </p:cNvPr>
          <p:cNvSpPr>
            <a:spLocks noGrp="1"/>
          </p:cNvSpPr>
          <p:nvPr>
            <p:ph type="body" sz="quarter" idx="13"/>
          </p:nvPr>
        </p:nvSpPr>
        <p:spPr>
          <a:xfrm>
            <a:off x="527389" y="918160"/>
            <a:ext cx="2542493" cy="258487"/>
          </a:xfrm>
        </p:spPr>
        <p:txBody>
          <a:bodyPr/>
          <a:lstStyle/>
          <a:p>
            <a:r>
              <a:rPr lang="en-VN" sz="1400" b="0" dirty="0"/>
              <a:t>ADG2128 chooses electrodes</a:t>
            </a:r>
          </a:p>
        </p:txBody>
      </p:sp>
      <p:pic>
        <p:nvPicPr>
          <p:cNvPr id="7" name="Picture 6" descr="A diagram of a head with numbers and lines&#10;&#10;AI-generated content may be incorrect.">
            <a:extLst>
              <a:ext uri="{FF2B5EF4-FFF2-40B4-BE49-F238E27FC236}">
                <a16:creationId xmlns:a16="http://schemas.microsoft.com/office/drawing/2014/main" id="{DED53D09-2CDF-07DA-E6D2-60A11213BA1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6536" y="1336674"/>
            <a:ext cx="2858076" cy="1555751"/>
          </a:xfrm>
          <a:prstGeom prst="rect">
            <a:avLst/>
          </a:prstGeom>
        </p:spPr>
      </p:pic>
      <p:sp>
        <p:nvSpPr>
          <p:cNvPr id="8" name="Rounded Rectangle 7">
            <a:extLst>
              <a:ext uri="{FF2B5EF4-FFF2-40B4-BE49-F238E27FC236}">
                <a16:creationId xmlns:a16="http://schemas.microsoft.com/office/drawing/2014/main" id="{5E3998D5-433A-BFCC-56AD-8862ECC774BA}"/>
              </a:ext>
            </a:extLst>
          </p:cNvPr>
          <p:cNvSpPr/>
          <p:nvPr/>
        </p:nvSpPr>
        <p:spPr>
          <a:xfrm>
            <a:off x="3638707" y="1809750"/>
            <a:ext cx="838200" cy="4572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1200" dirty="0">
                <a:latin typeface="Arial" panose="020B0604020202020204" pitchFamily="34" charset="0"/>
                <a:cs typeface="Arial" panose="020B0604020202020204" pitchFamily="34" charset="0"/>
              </a:rPr>
              <a:t>Excite</a:t>
            </a:r>
          </a:p>
        </p:txBody>
      </p:sp>
      <p:sp>
        <p:nvSpPr>
          <p:cNvPr id="9" name="Rounded Rectangle 8">
            <a:extLst>
              <a:ext uri="{FF2B5EF4-FFF2-40B4-BE49-F238E27FC236}">
                <a16:creationId xmlns:a16="http://schemas.microsoft.com/office/drawing/2014/main" id="{5471DEFA-81FE-8A62-413F-B7355D4EA08D}"/>
              </a:ext>
            </a:extLst>
          </p:cNvPr>
          <p:cNvSpPr/>
          <p:nvPr/>
        </p:nvSpPr>
        <p:spPr>
          <a:xfrm>
            <a:off x="4800600" y="1809750"/>
            <a:ext cx="838200" cy="4572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1200" dirty="0">
                <a:latin typeface="Arial" panose="020B0604020202020204" pitchFamily="34" charset="0"/>
                <a:cs typeface="Arial" panose="020B0604020202020204" pitchFamily="34" charset="0"/>
              </a:rPr>
              <a:t>Inject</a:t>
            </a:r>
          </a:p>
        </p:txBody>
      </p:sp>
      <p:sp>
        <p:nvSpPr>
          <p:cNvPr id="10" name="Rounded Rectangle 9">
            <a:extLst>
              <a:ext uri="{FF2B5EF4-FFF2-40B4-BE49-F238E27FC236}">
                <a16:creationId xmlns:a16="http://schemas.microsoft.com/office/drawing/2014/main" id="{D49B5084-9991-8449-B767-EC270926F3CF}"/>
              </a:ext>
            </a:extLst>
          </p:cNvPr>
          <p:cNvSpPr/>
          <p:nvPr/>
        </p:nvSpPr>
        <p:spPr>
          <a:xfrm>
            <a:off x="5962493" y="1809750"/>
            <a:ext cx="838200" cy="4572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1200" dirty="0">
                <a:latin typeface="Arial" panose="020B0604020202020204" pitchFamily="34" charset="0"/>
                <a:cs typeface="Arial" panose="020B0604020202020204" pitchFamily="34" charset="0"/>
              </a:rPr>
              <a:t>Sense</a:t>
            </a:r>
          </a:p>
        </p:txBody>
      </p:sp>
      <p:sp>
        <p:nvSpPr>
          <p:cNvPr id="11" name="Rounded Rectangle 10">
            <a:extLst>
              <a:ext uri="{FF2B5EF4-FFF2-40B4-BE49-F238E27FC236}">
                <a16:creationId xmlns:a16="http://schemas.microsoft.com/office/drawing/2014/main" id="{8806FC83-20C0-58BC-B458-1A6255B00B23}"/>
              </a:ext>
            </a:extLst>
          </p:cNvPr>
          <p:cNvSpPr/>
          <p:nvPr/>
        </p:nvSpPr>
        <p:spPr>
          <a:xfrm>
            <a:off x="7124386" y="1803763"/>
            <a:ext cx="1029014" cy="4572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1200" dirty="0">
                <a:latin typeface="Arial" panose="020B0604020202020204" pitchFamily="34" charset="0"/>
                <a:cs typeface="Arial" panose="020B0604020202020204" pitchFamily="34" charset="0"/>
              </a:rPr>
              <a:t>Compute Z</a:t>
            </a:r>
          </a:p>
        </p:txBody>
      </p:sp>
      <p:cxnSp>
        <p:nvCxnSpPr>
          <p:cNvPr id="14" name="Straight Arrow Connector 13">
            <a:extLst>
              <a:ext uri="{FF2B5EF4-FFF2-40B4-BE49-F238E27FC236}">
                <a16:creationId xmlns:a16="http://schemas.microsoft.com/office/drawing/2014/main" id="{F2E82904-0A6D-04B2-1A72-181DECF05FB8}"/>
              </a:ext>
            </a:extLst>
          </p:cNvPr>
          <p:cNvCxnSpPr>
            <a:stCxn id="8" idx="3"/>
          </p:cNvCxnSpPr>
          <p:nvPr/>
        </p:nvCxnSpPr>
        <p:spPr>
          <a:xfrm>
            <a:off x="4476907" y="2038350"/>
            <a:ext cx="32369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168C4C9D-237E-5624-21A1-3028C998D24A}"/>
              </a:ext>
            </a:extLst>
          </p:cNvPr>
          <p:cNvCxnSpPr>
            <a:endCxn id="10" idx="1"/>
          </p:cNvCxnSpPr>
          <p:nvPr/>
        </p:nvCxnSpPr>
        <p:spPr>
          <a:xfrm>
            <a:off x="5638800" y="2038350"/>
            <a:ext cx="32369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FD8AE20F-9A4B-031A-E2F4-583CF28C9005}"/>
              </a:ext>
            </a:extLst>
          </p:cNvPr>
          <p:cNvCxnSpPr>
            <a:endCxn id="11" idx="1"/>
          </p:cNvCxnSpPr>
          <p:nvPr/>
        </p:nvCxnSpPr>
        <p:spPr>
          <a:xfrm flipV="1">
            <a:off x="6800693" y="2032363"/>
            <a:ext cx="323693" cy="59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76D53DA9-575F-E56A-6248-A54AFB7377DB}"/>
              </a:ext>
            </a:extLst>
          </p:cNvPr>
          <p:cNvCxnSpPr>
            <a:cxnSpLocks/>
          </p:cNvCxnSpPr>
          <p:nvPr/>
        </p:nvCxnSpPr>
        <p:spPr>
          <a:xfrm>
            <a:off x="7772400" y="2260963"/>
            <a:ext cx="0" cy="310787"/>
          </a:xfrm>
          <a:prstGeom prst="straightConnector1">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BA16CC08-438A-D337-F9C9-D6782D3CEAE9}"/>
              </a:ext>
            </a:extLst>
          </p:cNvPr>
          <p:cNvCxnSpPr>
            <a:cxnSpLocks/>
          </p:cNvCxnSpPr>
          <p:nvPr/>
        </p:nvCxnSpPr>
        <p:spPr>
          <a:xfrm>
            <a:off x="4038600" y="2571750"/>
            <a:ext cx="3733800" cy="0"/>
          </a:xfrm>
          <a:prstGeom prst="straightConnector1">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0D171317-AF7C-20C4-0CAE-C25D021AA997}"/>
              </a:ext>
            </a:extLst>
          </p:cNvPr>
          <p:cNvCxnSpPr>
            <a:cxnSpLocks/>
            <a:endCxn id="8" idx="2"/>
          </p:cNvCxnSpPr>
          <p:nvPr/>
        </p:nvCxnSpPr>
        <p:spPr>
          <a:xfrm flipV="1">
            <a:off x="4048204" y="2266950"/>
            <a:ext cx="9603" cy="3048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9" name="Text Placeholder 4">
            <a:extLst>
              <a:ext uri="{FF2B5EF4-FFF2-40B4-BE49-F238E27FC236}">
                <a16:creationId xmlns:a16="http://schemas.microsoft.com/office/drawing/2014/main" id="{0F758A8C-7101-C0C6-7CC8-F52BA730694E}"/>
              </a:ext>
            </a:extLst>
          </p:cNvPr>
          <p:cNvSpPr txBox="1">
            <a:spLocks/>
          </p:cNvSpPr>
          <p:nvPr/>
        </p:nvSpPr>
        <p:spPr>
          <a:xfrm>
            <a:off x="5465820" y="876893"/>
            <a:ext cx="993346" cy="258487"/>
          </a:xfrm>
          <a:prstGeom prst="rect">
            <a:avLst/>
          </a:prstGeom>
        </p:spPr>
        <p:txBody>
          <a:bodyPr vert="horz" lIns="91440" tIns="45720" rIns="91440" bIns="45720" rtlCol="0">
            <a:noAutofit/>
          </a:bodyPr>
          <a:lstStyle>
            <a:lvl1pPr marL="0" indent="0" algn="l" defTabSz="914377" rtl="0" eaLnBrk="1" latinLnBrk="0" hangingPunct="1">
              <a:spcBef>
                <a:spcPct val="20000"/>
              </a:spcBef>
              <a:buClr>
                <a:srgbClr val="E17C00"/>
              </a:buClr>
              <a:buFont typeface="Arial" panose="020B0604020202020204" pitchFamily="34" charset="0"/>
              <a:buNone/>
              <a:defRPr sz="1600" b="1" i="0" kern="1200">
                <a:solidFill>
                  <a:schemeClr val="tx1"/>
                </a:solidFill>
                <a:latin typeface="Arial" panose="020B0604020202020204" pitchFamily="34" charset="0"/>
                <a:ea typeface="+mn-ea"/>
                <a:cs typeface="Arial" panose="020B0604020202020204" pitchFamily="34" charset="0"/>
              </a:defRPr>
            </a:lvl1pPr>
            <a:lvl2pPr marL="457188" indent="0" algn="l" defTabSz="914377" rtl="0" eaLnBrk="1" latinLnBrk="0" hangingPunct="1">
              <a:spcBef>
                <a:spcPct val="20000"/>
              </a:spcBef>
              <a:buClr>
                <a:srgbClr val="E17C00"/>
              </a:buClr>
              <a:buFont typeface="Arial" panose="020B0604020202020204" pitchFamily="34" charset="0"/>
              <a:buNone/>
              <a:defRPr sz="1400" kern="1200">
                <a:solidFill>
                  <a:schemeClr val="tx1"/>
                </a:solidFill>
                <a:latin typeface="Arial" panose="020B0604020202020204" pitchFamily="34" charset="0"/>
                <a:ea typeface="+mn-ea"/>
                <a:cs typeface="Arial" panose="020B0604020202020204" pitchFamily="34" charset="0"/>
              </a:defRPr>
            </a:lvl2pPr>
            <a:lvl3pPr marL="914377" indent="0" algn="l" defTabSz="914377" rtl="0" eaLnBrk="1" latinLnBrk="0" hangingPunct="1">
              <a:spcBef>
                <a:spcPct val="20000"/>
              </a:spcBef>
              <a:buClr>
                <a:srgbClr val="E17C00"/>
              </a:buClr>
              <a:buFont typeface="Arial" panose="020B0604020202020204" pitchFamily="34" charset="0"/>
              <a:buNone/>
              <a:defRPr sz="1200" kern="1200">
                <a:solidFill>
                  <a:schemeClr val="tx1"/>
                </a:solidFill>
                <a:latin typeface="Arial" panose="020B0604020202020204" pitchFamily="34" charset="0"/>
                <a:ea typeface="+mn-ea"/>
                <a:cs typeface="Arial" panose="020B0604020202020204" pitchFamily="34" charset="0"/>
              </a:defRPr>
            </a:lvl3pPr>
            <a:lvl4pPr marL="1371566" indent="0" algn="l" defTabSz="914377" rtl="0" eaLnBrk="1" latinLnBrk="0" hangingPunct="1">
              <a:spcBef>
                <a:spcPct val="20000"/>
              </a:spcBef>
              <a:buClr>
                <a:srgbClr val="E17C00"/>
              </a:buClr>
              <a:buFont typeface="Arial" panose="020B0604020202020204" pitchFamily="34" charset="0"/>
              <a:buNone/>
              <a:defRPr sz="1100" kern="1200">
                <a:solidFill>
                  <a:schemeClr val="tx1"/>
                </a:solidFill>
                <a:latin typeface="Arial" panose="020B0604020202020204" pitchFamily="34" charset="0"/>
                <a:ea typeface="+mn-ea"/>
                <a:cs typeface="Arial" panose="020B0604020202020204" pitchFamily="34" charset="0"/>
              </a:defRPr>
            </a:lvl4pPr>
            <a:lvl5pPr marL="1828755" indent="0" algn="l" defTabSz="914377" rtl="0" eaLnBrk="1" latinLnBrk="0" hangingPunct="1">
              <a:spcBef>
                <a:spcPct val="20000"/>
              </a:spcBef>
              <a:buClr>
                <a:srgbClr val="E17C00"/>
              </a:buClr>
              <a:buFont typeface="Arial" panose="020B0604020202020204" pitchFamily="34" charset="0"/>
              <a:buNone/>
              <a:defRPr sz="11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VN" sz="1400" b="0" dirty="0"/>
              <a:t>AD5940</a:t>
            </a:r>
          </a:p>
        </p:txBody>
      </p:sp>
      <p:sp>
        <p:nvSpPr>
          <p:cNvPr id="31" name="TextBox 30">
            <a:extLst>
              <a:ext uri="{FF2B5EF4-FFF2-40B4-BE49-F238E27FC236}">
                <a16:creationId xmlns:a16="http://schemas.microsoft.com/office/drawing/2014/main" id="{3DAF796B-FA9B-0BD3-6C92-BDF23BEB0CD6}"/>
              </a:ext>
            </a:extLst>
          </p:cNvPr>
          <p:cNvSpPr txBox="1"/>
          <p:nvPr/>
        </p:nvSpPr>
        <p:spPr>
          <a:xfrm>
            <a:off x="236536" y="2775453"/>
            <a:ext cx="3124200" cy="276999"/>
          </a:xfrm>
          <a:prstGeom prst="rect">
            <a:avLst/>
          </a:prstGeom>
          <a:noFill/>
        </p:spPr>
        <p:txBody>
          <a:bodyPr wrap="square">
            <a:spAutoFit/>
          </a:bodyPr>
          <a:lstStyle/>
          <a:p>
            <a:r>
              <a:rPr lang="en-US" sz="1200" i="1" dirty="0">
                <a:effectLst/>
                <a:latin typeface="Helvetica" pitchFamily="2" charset="0"/>
              </a:rPr>
              <a:t>B. Liu et al. / </a:t>
            </a:r>
            <a:r>
              <a:rPr lang="en-US" sz="1200" i="1" dirty="0" err="1">
                <a:effectLst/>
                <a:latin typeface="Helvetica" pitchFamily="2" charset="0"/>
              </a:rPr>
              <a:t>SoftwareX</a:t>
            </a:r>
            <a:r>
              <a:rPr lang="en-US" sz="1200" i="1" dirty="0">
                <a:effectLst/>
                <a:latin typeface="Helvetica" pitchFamily="2" charset="0"/>
              </a:rPr>
              <a:t> 7 (2018) 304–308</a:t>
            </a:r>
          </a:p>
        </p:txBody>
      </p:sp>
    </p:spTree>
    <p:extLst>
      <p:ext uri="{BB962C8B-B14F-4D97-AF65-F5344CB8AC3E}">
        <p14:creationId xmlns:p14="http://schemas.microsoft.com/office/powerpoint/2010/main" val="41239501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FBA0E8-52CB-7C72-BCFA-F18994AB0BD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8EE2526-A65B-E736-4148-16246079DED1}"/>
              </a:ext>
            </a:extLst>
          </p:cNvPr>
          <p:cNvSpPr>
            <a:spLocks noGrp="1"/>
          </p:cNvSpPr>
          <p:nvPr>
            <p:ph type="title"/>
          </p:nvPr>
        </p:nvSpPr>
        <p:spPr>
          <a:xfrm>
            <a:off x="236536" y="1003"/>
            <a:ext cx="8450263" cy="514350"/>
          </a:xfrm>
        </p:spPr>
        <p:txBody>
          <a:bodyPr/>
          <a:lstStyle/>
          <a:p>
            <a:r>
              <a:rPr lang="en-VN" dirty="0"/>
              <a:t>3. Active Sensing – Progress</a:t>
            </a:r>
          </a:p>
        </p:txBody>
      </p:sp>
      <p:sp>
        <p:nvSpPr>
          <p:cNvPr id="22" name="Slide Number Placeholder 21">
            <a:extLst>
              <a:ext uri="{FF2B5EF4-FFF2-40B4-BE49-F238E27FC236}">
                <a16:creationId xmlns:a16="http://schemas.microsoft.com/office/drawing/2014/main" id="{25CC3DDA-D354-9D5C-D198-34B3C75C211A}"/>
              </a:ext>
            </a:extLst>
          </p:cNvPr>
          <p:cNvSpPr>
            <a:spLocks noGrp="1"/>
          </p:cNvSpPr>
          <p:nvPr>
            <p:ph type="sldNum" sz="quarter" idx="15"/>
          </p:nvPr>
        </p:nvSpPr>
        <p:spPr/>
        <p:txBody>
          <a:bodyPr/>
          <a:lstStyle/>
          <a:p>
            <a:fld id="{0AF20276-0DC3-B247-B3AE-8A6E2F85407E}" type="slidenum">
              <a:rPr lang="en-VN" smtClean="0"/>
              <a:t>14</a:t>
            </a:fld>
            <a:endParaRPr lang="en-VN"/>
          </a:p>
        </p:txBody>
      </p:sp>
      <p:pic>
        <p:nvPicPr>
          <p:cNvPr id="4" name="Picture 3" descr="A diagram of a problem&#10;&#10;AI-generated content may be incorrect.">
            <a:extLst>
              <a:ext uri="{FF2B5EF4-FFF2-40B4-BE49-F238E27FC236}">
                <a16:creationId xmlns:a16="http://schemas.microsoft.com/office/drawing/2014/main" id="{1A8A55B7-27F8-A4DA-4254-7E6B7781E90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666750"/>
            <a:ext cx="7639809" cy="2800111"/>
          </a:xfrm>
          <a:prstGeom prst="rect">
            <a:avLst/>
          </a:prstGeom>
        </p:spPr>
      </p:pic>
      <p:sp>
        <p:nvSpPr>
          <p:cNvPr id="13" name="TextBox 12">
            <a:extLst>
              <a:ext uri="{FF2B5EF4-FFF2-40B4-BE49-F238E27FC236}">
                <a16:creationId xmlns:a16="http://schemas.microsoft.com/office/drawing/2014/main" id="{D4A97C90-8515-502E-332A-068BFA50D6E5}"/>
              </a:ext>
            </a:extLst>
          </p:cNvPr>
          <p:cNvSpPr txBox="1"/>
          <p:nvPr/>
        </p:nvSpPr>
        <p:spPr>
          <a:xfrm>
            <a:off x="3009900" y="3514606"/>
            <a:ext cx="3124200" cy="276999"/>
          </a:xfrm>
          <a:prstGeom prst="rect">
            <a:avLst/>
          </a:prstGeom>
          <a:noFill/>
        </p:spPr>
        <p:txBody>
          <a:bodyPr wrap="square">
            <a:spAutoFit/>
          </a:bodyPr>
          <a:lstStyle/>
          <a:p>
            <a:r>
              <a:rPr lang="en-US" sz="1200" i="1" dirty="0">
                <a:effectLst/>
                <a:latin typeface="Helvetica" pitchFamily="2" charset="0"/>
              </a:rPr>
              <a:t>B. Liu et al. / </a:t>
            </a:r>
            <a:r>
              <a:rPr lang="en-US" sz="1200" i="1" dirty="0" err="1">
                <a:effectLst/>
                <a:latin typeface="Helvetica" pitchFamily="2" charset="0"/>
              </a:rPr>
              <a:t>SoftwareX</a:t>
            </a:r>
            <a:r>
              <a:rPr lang="en-US" sz="1200" i="1" dirty="0">
                <a:effectLst/>
                <a:latin typeface="Helvetica" pitchFamily="2" charset="0"/>
              </a:rPr>
              <a:t> 7 (2018) 304–308</a:t>
            </a:r>
          </a:p>
        </p:txBody>
      </p:sp>
    </p:spTree>
    <p:extLst>
      <p:ext uri="{BB962C8B-B14F-4D97-AF65-F5344CB8AC3E}">
        <p14:creationId xmlns:p14="http://schemas.microsoft.com/office/powerpoint/2010/main" val="4137055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020230-C86B-E0E4-0C75-A81ACE3A123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8C29FA5-08A1-6C64-4436-40FEEC567C4C}"/>
              </a:ext>
            </a:extLst>
          </p:cNvPr>
          <p:cNvSpPr>
            <a:spLocks noGrp="1"/>
          </p:cNvSpPr>
          <p:nvPr>
            <p:ph type="title"/>
          </p:nvPr>
        </p:nvSpPr>
        <p:spPr>
          <a:xfrm>
            <a:off x="236536" y="1003"/>
            <a:ext cx="8450263" cy="514350"/>
          </a:xfrm>
        </p:spPr>
        <p:txBody>
          <a:bodyPr/>
          <a:lstStyle/>
          <a:p>
            <a:r>
              <a:rPr lang="en-VN" dirty="0"/>
              <a:t>3. Active Sensing – Progress</a:t>
            </a:r>
          </a:p>
        </p:txBody>
      </p:sp>
      <p:sp>
        <p:nvSpPr>
          <p:cNvPr id="22" name="Slide Number Placeholder 21">
            <a:extLst>
              <a:ext uri="{FF2B5EF4-FFF2-40B4-BE49-F238E27FC236}">
                <a16:creationId xmlns:a16="http://schemas.microsoft.com/office/drawing/2014/main" id="{7EA348BD-1640-EDD6-AD47-7229591CC388}"/>
              </a:ext>
            </a:extLst>
          </p:cNvPr>
          <p:cNvSpPr>
            <a:spLocks noGrp="1"/>
          </p:cNvSpPr>
          <p:nvPr>
            <p:ph type="sldNum" sz="quarter" idx="15"/>
          </p:nvPr>
        </p:nvSpPr>
        <p:spPr/>
        <p:txBody>
          <a:bodyPr/>
          <a:lstStyle/>
          <a:p>
            <a:fld id="{0AF20276-0DC3-B247-B3AE-8A6E2F85407E}" type="slidenum">
              <a:rPr lang="en-VN" smtClean="0"/>
              <a:t>15</a:t>
            </a:fld>
            <a:endParaRPr lang="en-VN"/>
          </a:p>
        </p:txBody>
      </p:sp>
      <p:sp>
        <p:nvSpPr>
          <p:cNvPr id="6" name="TextBox 5">
            <a:extLst>
              <a:ext uri="{FF2B5EF4-FFF2-40B4-BE49-F238E27FC236}">
                <a16:creationId xmlns:a16="http://schemas.microsoft.com/office/drawing/2014/main" id="{D809F10C-6D02-E143-3280-03BC0DB2F463}"/>
              </a:ext>
            </a:extLst>
          </p:cNvPr>
          <p:cNvSpPr txBox="1"/>
          <p:nvPr/>
        </p:nvSpPr>
        <p:spPr>
          <a:xfrm>
            <a:off x="27432" y="1513092"/>
            <a:ext cx="1905000" cy="1569660"/>
          </a:xfrm>
          <a:prstGeom prst="rect">
            <a:avLst/>
          </a:prstGeom>
          <a:noFill/>
        </p:spPr>
        <p:txBody>
          <a:bodyPr wrap="square">
            <a:spAutoFit/>
          </a:bodyPr>
          <a:lstStyle/>
          <a:p>
            <a:r>
              <a:rPr lang="en-US" sz="1200" dirty="0">
                <a:latin typeface="Arial" panose="020B0604020202020204" pitchFamily="34" charset="0"/>
                <a:cs typeface="Arial" panose="020B0604020202020204" pitchFamily="34" charset="0"/>
              </a:rPr>
              <a:t>The region </a:t>
            </a:r>
            <a:r>
              <a:rPr lang="el-GR" sz="1200" dirty="0">
                <a:latin typeface="Arial" panose="020B0604020202020204" pitchFamily="34" charset="0"/>
                <a:cs typeface="Arial" panose="020B0604020202020204" pitchFamily="34" charset="0"/>
              </a:rPr>
              <a:t>Ω </a:t>
            </a:r>
            <a:r>
              <a:rPr lang="en-US" sz="1200" dirty="0">
                <a:latin typeface="Arial" panose="020B0604020202020204" pitchFamily="34" charset="0"/>
                <a:cs typeface="Arial" panose="020B0604020202020204" pitchFamily="34" charset="0"/>
              </a:rPr>
              <a:t>is cut into many small triangles (2D) or tetrahedrons (3D). This turns a continuous space with infinitely many points into a finite, countable list of node values</a:t>
            </a:r>
            <a:endParaRPr lang="en-VN" sz="1200" dirty="0">
              <a:latin typeface="Arial" panose="020B0604020202020204" pitchFamily="34" charset="0"/>
              <a:cs typeface="Arial" panose="020B0604020202020204" pitchFamily="34" charset="0"/>
            </a:endParaRPr>
          </a:p>
        </p:txBody>
      </p:sp>
      <p:sp>
        <p:nvSpPr>
          <p:cNvPr id="9" name="Rounded Rectangle 8">
            <a:extLst>
              <a:ext uri="{FF2B5EF4-FFF2-40B4-BE49-F238E27FC236}">
                <a16:creationId xmlns:a16="http://schemas.microsoft.com/office/drawing/2014/main" id="{08677BFE-DC33-3845-6DF3-4E06E24CFB18}"/>
              </a:ext>
            </a:extLst>
          </p:cNvPr>
          <p:cNvSpPr/>
          <p:nvPr/>
        </p:nvSpPr>
        <p:spPr>
          <a:xfrm>
            <a:off x="484632" y="876300"/>
            <a:ext cx="838200" cy="4572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1200" dirty="0">
                <a:latin typeface="Arial" panose="020B0604020202020204" pitchFamily="34" charset="0"/>
                <a:cs typeface="Arial" panose="020B0604020202020204" pitchFamily="34" charset="0"/>
              </a:rPr>
              <a:t>Mesh</a:t>
            </a:r>
          </a:p>
        </p:txBody>
      </p:sp>
      <p:pic>
        <p:nvPicPr>
          <p:cNvPr id="14" name="Picture 13" descr="A diagram of a circle with red dots&#10;&#10;AI-generated content may be incorrect.">
            <a:extLst>
              <a:ext uri="{FF2B5EF4-FFF2-40B4-BE49-F238E27FC236}">
                <a16:creationId xmlns:a16="http://schemas.microsoft.com/office/drawing/2014/main" id="{2BE9A53B-095B-4636-CD00-27DFE64BC8B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432" y="3075894"/>
            <a:ext cx="2088363" cy="1599197"/>
          </a:xfrm>
          <a:prstGeom prst="rect">
            <a:avLst/>
          </a:prstGeom>
        </p:spPr>
      </p:pic>
      <p:sp>
        <p:nvSpPr>
          <p:cNvPr id="15" name="Rounded Rectangle 14">
            <a:extLst>
              <a:ext uri="{FF2B5EF4-FFF2-40B4-BE49-F238E27FC236}">
                <a16:creationId xmlns:a16="http://schemas.microsoft.com/office/drawing/2014/main" id="{EB38E3FB-A952-05C5-A10C-9098627C950E}"/>
              </a:ext>
            </a:extLst>
          </p:cNvPr>
          <p:cNvSpPr/>
          <p:nvPr/>
        </p:nvSpPr>
        <p:spPr>
          <a:xfrm>
            <a:off x="3200400" y="895350"/>
            <a:ext cx="1481933" cy="4572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Forward Problem (module fem)</a:t>
            </a:r>
            <a:endParaRPr lang="en-VN" sz="1200" dirty="0">
              <a:latin typeface="Arial" panose="020B0604020202020204" pitchFamily="34" charset="0"/>
              <a:cs typeface="Arial" panose="020B0604020202020204" pitchFamily="34" charset="0"/>
            </a:endParaRPr>
          </a:p>
        </p:txBody>
      </p:sp>
      <p:pic>
        <p:nvPicPr>
          <p:cNvPr id="17" name="Picture 16" descr="A white background with black text&#10;&#10;AI-generated content may be incorrect.">
            <a:extLst>
              <a:ext uri="{FF2B5EF4-FFF2-40B4-BE49-F238E27FC236}">
                <a16:creationId xmlns:a16="http://schemas.microsoft.com/office/drawing/2014/main" id="{F5048C55-D860-A7E5-207D-11887E966E1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62200" y="1481850"/>
            <a:ext cx="3526468" cy="1359602"/>
          </a:xfrm>
          <a:prstGeom prst="rect">
            <a:avLst/>
          </a:prstGeom>
        </p:spPr>
      </p:pic>
      <p:sp>
        <p:nvSpPr>
          <p:cNvPr id="18" name="TextBox 17">
            <a:extLst>
              <a:ext uri="{FF2B5EF4-FFF2-40B4-BE49-F238E27FC236}">
                <a16:creationId xmlns:a16="http://schemas.microsoft.com/office/drawing/2014/main" id="{6047FC99-8821-CF67-142B-F981850ED928}"/>
              </a:ext>
            </a:extLst>
          </p:cNvPr>
          <p:cNvSpPr txBox="1"/>
          <p:nvPr/>
        </p:nvSpPr>
        <p:spPr>
          <a:xfrm>
            <a:off x="2501125" y="3207449"/>
            <a:ext cx="3102864" cy="969496"/>
          </a:xfrm>
          <a:prstGeom prst="rect">
            <a:avLst/>
          </a:prstGeom>
          <a:noFill/>
        </p:spPr>
        <p:txBody>
          <a:bodyPr wrap="square">
            <a:spAutoFit/>
          </a:bodyPr>
          <a:lstStyle/>
          <a:p>
            <a:pPr marL="228600" indent="-228600">
              <a:buAutoNum type="arabicPeriod"/>
            </a:pPr>
            <a:r>
              <a:rPr lang="en-US" sz="1200" dirty="0">
                <a:latin typeface="Arial" panose="020B0604020202020204" pitchFamily="34" charset="0"/>
                <a:cs typeface="Arial" panose="020B0604020202020204" pitchFamily="34" charset="0"/>
              </a:rPr>
              <a:t>The divergence of sigma gradient u equals zero.</a:t>
            </a:r>
          </a:p>
          <a:p>
            <a:r>
              <a:rPr lang="en-US" sz="1100" i="1" dirty="0">
                <a:latin typeface="Arial" panose="020B0604020202020204" pitchFamily="34" charset="0"/>
                <a:cs typeface="Arial" panose="020B0604020202020204" pitchFamily="34" charset="0"/>
              </a:rPr>
              <a:t>This says electric current is neither created nor destroyed inside the tissue, it only flows through</a:t>
            </a:r>
            <a:endParaRPr lang="en-VN" sz="1100" i="1" dirty="0">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CAD363C6-F381-6E46-817C-1CDE32B97981}"/>
              </a:ext>
            </a:extLst>
          </p:cNvPr>
          <p:cNvSpPr txBox="1"/>
          <p:nvPr/>
        </p:nvSpPr>
        <p:spPr>
          <a:xfrm>
            <a:off x="6041136" y="876300"/>
            <a:ext cx="3102864" cy="1323439"/>
          </a:xfrm>
          <a:prstGeom prst="rect">
            <a:avLst/>
          </a:prstGeom>
          <a:noFill/>
        </p:spPr>
        <p:txBody>
          <a:bodyPr wrap="square">
            <a:spAutoFit/>
          </a:bodyPr>
          <a:lstStyle/>
          <a:p>
            <a:r>
              <a:rPr lang="en-US" sz="1200" dirty="0">
                <a:latin typeface="Arial" panose="020B0604020202020204" pitchFamily="34" charset="0"/>
                <a:cs typeface="Arial" panose="020B0604020202020204" pitchFamily="34" charset="0"/>
              </a:rPr>
              <a:t>2. Sigma times the partial derivative of u with respect to n, evaluated on the boundary of omega, equals g.</a:t>
            </a:r>
          </a:p>
          <a:p>
            <a:r>
              <a:rPr lang="en-US" sz="1100" i="1" dirty="0">
                <a:latin typeface="Arial" panose="020B0604020202020204" pitchFamily="34" charset="0"/>
                <a:cs typeface="Arial" panose="020B0604020202020204" pitchFamily="34" charset="0"/>
              </a:rPr>
              <a:t>This is the boundary condition, it tells the equation exactly how much current flows OUT at the boundary: it must equal g, the current injected</a:t>
            </a:r>
            <a:endParaRPr lang="en-VN" sz="1100" i="1" dirty="0">
              <a:latin typeface="Arial" panose="020B0604020202020204" pitchFamily="34" charset="0"/>
              <a:cs typeface="Arial" panose="020B0604020202020204" pitchFamily="34" charset="0"/>
            </a:endParaRPr>
          </a:p>
        </p:txBody>
      </p:sp>
      <p:sp>
        <p:nvSpPr>
          <p:cNvPr id="23" name="TextBox 22">
            <a:extLst>
              <a:ext uri="{FF2B5EF4-FFF2-40B4-BE49-F238E27FC236}">
                <a16:creationId xmlns:a16="http://schemas.microsoft.com/office/drawing/2014/main" id="{4340E45B-F490-D039-A722-092CC7FECD56}"/>
              </a:ext>
            </a:extLst>
          </p:cNvPr>
          <p:cNvSpPr txBox="1"/>
          <p:nvPr/>
        </p:nvSpPr>
        <p:spPr>
          <a:xfrm>
            <a:off x="5989320" y="2712571"/>
            <a:ext cx="3102864" cy="1477328"/>
          </a:xfrm>
          <a:prstGeom prst="rect">
            <a:avLst/>
          </a:prstGeom>
          <a:noFill/>
        </p:spPr>
        <p:txBody>
          <a:bodyPr wrap="square">
            <a:spAutoFit/>
          </a:bodyPr>
          <a:lstStyle/>
          <a:p>
            <a:r>
              <a:rPr lang="en-US" sz="1200" dirty="0">
                <a:latin typeface="Arial" panose="020B0604020202020204" pitchFamily="34" charset="0"/>
                <a:cs typeface="Arial" panose="020B0604020202020204" pitchFamily="34" charset="0"/>
              </a:rPr>
              <a:t>3. The integral of u over the boundary of omega equals zero.</a:t>
            </a:r>
          </a:p>
          <a:p>
            <a:r>
              <a:rPr lang="en-US" sz="1100" i="1" dirty="0">
                <a:latin typeface="Arial" panose="020B0604020202020204" pitchFamily="34" charset="0"/>
                <a:cs typeface="Arial" panose="020B0604020202020204" pitchFamily="34" charset="0"/>
              </a:rPr>
              <a:t>Since EIT only measures voltage DIFFERENCES (never an absolute value), the system would otherwise have infinitely many valid solutions differing by a constant. This equation fixes the average boundary voltage at zero, picking exactly one solution</a:t>
            </a:r>
            <a:endParaRPr lang="en-VN" sz="1100" i="1" dirty="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FBE98148-86EE-AF25-9AA3-C6017530DE6F}"/>
              </a:ext>
            </a:extLst>
          </p:cNvPr>
          <p:cNvSpPr txBox="1"/>
          <p:nvPr/>
        </p:nvSpPr>
        <p:spPr>
          <a:xfrm>
            <a:off x="2462852" y="529353"/>
            <a:ext cx="3526468" cy="400110"/>
          </a:xfrm>
          <a:prstGeom prst="rect">
            <a:avLst/>
          </a:prstGeom>
          <a:noFill/>
        </p:spPr>
        <p:txBody>
          <a:bodyPr wrap="square">
            <a:spAutoFit/>
          </a:bodyPr>
          <a:lstStyle/>
          <a:p>
            <a:r>
              <a:rPr lang="en-US" sz="1000" b="0" i="1" dirty="0">
                <a:solidFill>
                  <a:srgbClr val="222222"/>
                </a:solidFill>
                <a:latin typeface="Arial"/>
              </a:rPr>
              <a:t>If I already knew the conductivity everywhere, what would the measurements be?”</a:t>
            </a:r>
            <a:endParaRPr lang="en-VN" sz="1000" i="1" dirty="0"/>
          </a:p>
        </p:txBody>
      </p:sp>
    </p:spTree>
    <p:extLst>
      <p:ext uri="{BB962C8B-B14F-4D97-AF65-F5344CB8AC3E}">
        <p14:creationId xmlns:p14="http://schemas.microsoft.com/office/powerpoint/2010/main" val="26481653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animBg="1"/>
      <p:bldP spid="15" grpId="0" animBg="1"/>
      <p:bldP spid="18" grpId="0"/>
      <p:bldP spid="21" grpId="0"/>
      <p:bldP spid="23" grpId="0"/>
      <p:bldP spid="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4C8005-A567-CD0D-F02F-97BFEA088A1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8F7C4A6-F9B5-4000-AFCB-6D6942B11C6C}"/>
              </a:ext>
            </a:extLst>
          </p:cNvPr>
          <p:cNvSpPr>
            <a:spLocks noGrp="1"/>
          </p:cNvSpPr>
          <p:nvPr>
            <p:ph type="title"/>
          </p:nvPr>
        </p:nvSpPr>
        <p:spPr>
          <a:xfrm>
            <a:off x="236536" y="1003"/>
            <a:ext cx="8450263" cy="514350"/>
          </a:xfrm>
        </p:spPr>
        <p:txBody>
          <a:bodyPr/>
          <a:lstStyle/>
          <a:p>
            <a:r>
              <a:rPr lang="en-VN" dirty="0"/>
              <a:t>3. Active Sensing – Progress</a:t>
            </a:r>
          </a:p>
        </p:txBody>
      </p:sp>
      <p:sp>
        <p:nvSpPr>
          <p:cNvPr id="22" name="Slide Number Placeholder 21">
            <a:extLst>
              <a:ext uri="{FF2B5EF4-FFF2-40B4-BE49-F238E27FC236}">
                <a16:creationId xmlns:a16="http://schemas.microsoft.com/office/drawing/2014/main" id="{B3132A03-A125-9F5C-3837-0B462FE928C0}"/>
              </a:ext>
            </a:extLst>
          </p:cNvPr>
          <p:cNvSpPr>
            <a:spLocks noGrp="1"/>
          </p:cNvSpPr>
          <p:nvPr>
            <p:ph type="sldNum" sz="quarter" idx="15"/>
          </p:nvPr>
        </p:nvSpPr>
        <p:spPr/>
        <p:txBody>
          <a:bodyPr/>
          <a:lstStyle/>
          <a:p>
            <a:fld id="{0AF20276-0DC3-B247-B3AE-8A6E2F85407E}" type="slidenum">
              <a:rPr lang="en-VN" smtClean="0"/>
              <a:t>16</a:t>
            </a:fld>
            <a:endParaRPr lang="en-VN"/>
          </a:p>
        </p:txBody>
      </p:sp>
      <p:sp>
        <p:nvSpPr>
          <p:cNvPr id="24" name="Rounded Rectangle 23">
            <a:extLst>
              <a:ext uri="{FF2B5EF4-FFF2-40B4-BE49-F238E27FC236}">
                <a16:creationId xmlns:a16="http://schemas.microsoft.com/office/drawing/2014/main" id="{FF1442A7-BD2D-9C37-A68C-B6AB3442B7ED}"/>
              </a:ext>
            </a:extLst>
          </p:cNvPr>
          <p:cNvSpPr/>
          <p:nvPr/>
        </p:nvSpPr>
        <p:spPr>
          <a:xfrm>
            <a:off x="990600" y="1024084"/>
            <a:ext cx="1481933" cy="4572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Inverse Problem</a:t>
            </a:r>
            <a:endParaRPr lang="en-VN" sz="1200" dirty="0">
              <a:latin typeface="Arial" panose="020B0604020202020204" pitchFamily="34" charset="0"/>
              <a:cs typeface="Arial" panose="020B0604020202020204" pitchFamily="34" charset="0"/>
            </a:endParaRPr>
          </a:p>
        </p:txBody>
      </p:sp>
      <p:pic>
        <p:nvPicPr>
          <p:cNvPr id="26" name="Picture 25" descr="A white text with black text&#10;&#10;AI-generated content may be incorrect.">
            <a:extLst>
              <a:ext uri="{FF2B5EF4-FFF2-40B4-BE49-F238E27FC236}">
                <a16:creationId xmlns:a16="http://schemas.microsoft.com/office/drawing/2014/main" id="{FB9EA964-AD71-1B16-7B47-4C5CA6BAB9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00" y="1510283"/>
            <a:ext cx="3445025" cy="3275598"/>
          </a:xfrm>
          <a:prstGeom prst="rect">
            <a:avLst/>
          </a:prstGeom>
        </p:spPr>
      </p:pic>
      <p:sp>
        <p:nvSpPr>
          <p:cNvPr id="28" name="TextBox 27">
            <a:extLst>
              <a:ext uri="{FF2B5EF4-FFF2-40B4-BE49-F238E27FC236}">
                <a16:creationId xmlns:a16="http://schemas.microsoft.com/office/drawing/2014/main" id="{40BC9668-33E1-C9F8-29CE-7BA4551EDB31}"/>
              </a:ext>
            </a:extLst>
          </p:cNvPr>
          <p:cNvSpPr txBox="1"/>
          <p:nvPr/>
        </p:nvSpPr>
        <p:spPr>
          <a:xfrm>
            <a:off x="4191000" y="819150"/>
            <a:ext cx="4716464" cy="1569660"/>
          </a:xfrm>
          <a:prstGeom prst="rect">
            <a:avLst/>
          </a:prstGeom>
          <a:noFill/>
        </p:spPr>
        <p:txBody>
          <a:bodyPr wrap="square">
            <a:spAutoFit/>
          </a:bodyPr>
          <a:lstStyle/>
          <a:p>
            <a:r>
              <a:rPr lang="en-US" sz="1200" dirty="0">
                <a:latin typeface="Arial" panose="020B0604020202020204" pitchFamily="34" charset="0"/>
                <a:cs typeface="Arial" panose="020B0604020202020204" pitchFamily="34" charset="0"/>
              </a:rPr>
              <a:t>1. Sigma equals the minimum, over sigma and omega, of the squared norm of v minus f of omega sigma, plus lambda times the squared norm of sigma minus sigma-naught</a:t>
            </a:r>
          </a:p>
          <a:p>
            <a:r>
              <a:rPr lang="en-US" sz="1200" i="1" dirty="0"/>
              <a:t>This defines what "the best guess" for </a:t>
            </a:r>
            <a:r>
              <a:rPr lang="el-GR" sz="1200" i="1" dirty="0"/>
              <a:t>σ </a:t>
            </a:r>
            <a:r>
              <a:rPr lang="en-US" sz="1200" i="1" dirty="0"/>
              <a:t>actually means: search for the </a:t>
            </a:r>
            <a:r>
              <a:rPr lang="el-GR" sz="1200" i="1" dirty="0"/>
              <a:t>σ </a:t>
            </a:r>
            <a:r>
              <a:rPr lang="en-US" sz="1200" i="1" dirty="0"/>
              <a:t>whose predicted measurements (f) come as close as possible to the real measurements (v), while not straying too far from a sensible starting point (</a:t>
            </a:r>
            <a:r>
              <a:rPr lang="el-GR" sz="1200" i="1" dirty="0"/>
              <a:t>σ₀). </a:t>
            </a:r>
            <a:r>
              <a:rPr lang="en-US" sz="1200" i="1" dirty="0"/>
              <a:t>It's a balance between fitting the data and staying stable.</a:t>
            </a:r>
            <a:endParaRPr lang="en-US" sz="1200" i="1" dirty="0">
              <a:latin typeface="Arial" panose="020B0604020202020204" pitchFamily="34" charset="0"/>
              <a:cs typeface="Arial" panose="020B0604020202020204" pitchFamily="34" charset="0"/>
            </a:endParaRPr>
          </a:p>
          <a:p>
            <a:endParaRPr lang="en-VN" sz="1200" dirty="0">
              <a:latin typeface="Arial" panose="020B0604020202020204" pitchFamily="34" charset="0"/>
              <a:cs typeface="Arial" panose="020B0604020202020204" pitchFamily="34" charset="0"/>
            </a:endParaRPr>
          </a:p>
        </p:txBody>
      </p:sp>
      <p:sp>
        <p:nvSpPr>
          <p:cNvPr id="29" name="TextBox 28">
            <a:extLst>
              <a:ext uri="{FF2B5EF4-FFF2-40B4-BE49-F238E27FC236}">
                <a16:creationId xmlns:a16="http://schemas.microsoft.com/office/drawing/2014/main" id="{8A230A5B-8701-AF3D-E394-4F17481D3FD4}"/>
              </a:ext>
            </a:extLst>
          </p:cNvPr>
          <p:cNvSpPr txBox="1"/>
          <p:nvPr/>
        </p:nvSpPr>
        <p:spPr>
          <a:xfrm>
            <a:off x="4198936" y="2431525"/>
            <a:ext cx="4716464" cy="646331"/>
          </a:xfrm>
          <a:prstGeom prst="rect">
            <a:avLst/>
          </a:prstGeom>
          <a:noFill/>
        </p:spPr>
        <p:txBody>
          <a:bodyPr wrap="square">
            <a:spAutoFit/>
          </a:bodyPr>
          <a:lstStyle/>
          <a:p>
            <a:r>
              <a:rPr lang="en-US" sz="1200" dirty="0"/>
              <a:t>J equals the partial derivative of f of sigma with respect to sigma</a:t>
            </a:r>
          </a:p>
          <a:p>
            <a:r>
              <a:rPr lang="en-US" sz="1200" i="1" dirty="0"/>
              <a:t>This defines sensitivity, how much the predicted measurement changes if </a:t>
            </a:r>
            <a:r>
              <a:rPr lang="el-GR" sz="1200" i="1" dirty="0"/>
              <a:t>σ </a:t>
            </a:r>
            <a:r>
              <a:rPr lang="en-US" sz="1200" i="1" dirty="0"/>
              <a:t>changes by a tiny amount.</a:t>
            </a:r>
            <a:endParaRPr lang="en-VN" sz="1200" i="1" dirty="0">
              <a:latin typeface="Arial" panose="020B0604020202020204" pitchFamily="34" charset="0"/>
              <a:cs typeface="Arial" panose="020B0604020202020204" pitchFamily="34" charset="0"/>
            </a:endParaRPr>
          </a:p>
        </p:txBody>
      </p:sp>
      <p:sp>
        <p:nvSpPr>
          <p:cNvPr id="30" name="TextBox 29">
            <a:extLst>
              <a:ext uri="{FF2B5EF4-FFF2-40B4-BE49-F238E27FC236}">
                <a16:creationId xmlns:a16="http://schemas.microsoft.com/office/drawing/2014/main" id="{3E6B5C89-834B-5D45-1915-B08587360408}"/>
              </a:ext>
            </a:extLst>
          </p:cNvPr>
          <p:cNvSpPr txBox="1"/>
          <p:nvPr/>
        </p:nvSpPr>
        <p:spPr>
          <a:xfrm>
            <a:off x="4166616" y="3420024"/>
            <a:ext cx="4716464" cy="830997"/>
          </a:xfrm>
          <a:prstGeom prst="rect">
            <a:avLst/>
          </a:prstGeom>
          <a:noFill/>
        </p:spPr>
        <p:txBody>
          <a:bodyPr wrap="square">
            <a:spAutoFit/>
          </a:bodyPr>
          <a:lstStyle/>
          <a:p>
            <a:r>
              <a:rPr lang="en-US" sz="1200" dirty="0"/>
              <a:t>Sigma at iteration k plus one equals sigma at iteration k, plus, J transpose J plus lambda I, inverse, times J transpose, times, v minus f of sigma at iteration k</a:t>
            </a:r>
          </a:p>
          <a:p>
            <a:r>
              <a:rPr lang="en-US" sz="1200" i="1" dirty="0"/>
              <a:t>The update rule for iterative refinement</a:t>
            </a:r>
            <a:endParaRPr lang="en-VN" sz="1200" i="1" dirty="0">
              <a:latin typeface="Arial" panose="020B0604020202020204" pitchFamily="34" charset="0"/>
              <a:cs typeface="Arial" panose="020B0604020202020204" pitchFamily="34" charset="0"/>
            </a:endParaRPr>
          </a:p>
        </p:txBody>
      </p:sp>
      <p:sp>
        <p:nvSpPr>
          <p:cNvPr id="32" name="TextBox 31">
            <a:extLst>
              <a:ext uri="{FF2B5EF4-FFF2-40B4-BE49-F238E27FC236}">
                <a16:creationId xmlns:a16="http://schemas.microsoft.com/office/drawing/2014/main" id="{D3B6049D-83CD-C3E1-5989-90BCF99DBDAD}"/>
              </a:ext>
            </a:extLst>
          </p:cNvPr>
          <p:cNvSpPr txBox="1"/>
          <p:nvPr/>
        </p:nvSpPr>
        <p:spPr>
          <a:xfrm>
            <a:off x="503312" y="554275"/>
            <a:ext cx="2743200" cy="430887"/>
          </a:xfrm>
          <a:prstGeom prst="rect">
            <a:avLst/>
          </a:prstGeom>
          <a:noFill/>
        </p:spPr>
        <p:txBody>
          <a:bodyPr wrap="square">
            <a:spAutoFit/>
          </a:bodyPr>
          <a:lstStyle/>
          <a:p>
            <a:r>
              <a:rPr lang="en-US" sz="1050" b="0" i="1" dirty="0">
                <a:solidFill>
                  <a:srgbClr val="222222"/>
                </a:solidFill>
                <a:latin typeface="Arial"/>
              </a:rPr>
              <a:t>I have the real measurement. What must be happening inside to cause it?</a:t>
            </a:r>
            <a:endParaRPr lang="en-VN" sz="1050" i="1" dirty="0"/>
          </a:p>
        </p:txBody>
      </p:sp>
    </p:spTree>
    <p:extLst>
      <p:ext uri="{BB962C8B-B14F-4D97-AF65-F5344CB8AC3E}">
        <p14:creationId xmlns:p14="http://schemas.microsoft.com/office/powerpoint/2010/main" val="14960501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8" grpId="0"/>
      <p:bldP spid="29" grpId="0"/>
      <p:bldP spid="30" grpId="0"/>
      <p:bldP spid="3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D56DB0-D421-8112-4FF4-75E732B088E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E42BCB9-3176-D718-5491-F2401D6ACD5D}"/>
              </a:ext>
            </a:extLst>
          </p:cNvPr>
          <p:cNvSpPr>
            <a:spLocks noGrp="1"/>
          </p:cNvSpPr>
          <p:nvPr>
            <p:ph type="title"/>
          </p:nvPr>
        </p:nvSpPr>
        <p:spPr>
          <a:xfrm>
            <a:off x="236536" y="1003"/>
            <a:ext cx="8450263" cy="514350"/>
          </a:xfrm>
        </p:spPr>
        <p:txBody>
          <a:bodyPr/>
          <a:lstStyle/>
          <a:p>
            <a:r>
              <a:rPr lang="en-VN" dirty="0"/>
              <a:t>3. Active Sensing – Progress</a:t>
            </a:r>
          </a:p>
        </p:txBody>
      </p:sp>
      <p:sp>
        <p:nvSpPr>
          <p:cNvPr id="22" name="Slide Number Placeholder 21">
            <a:extLst>
              <a:ext uri="{FF2B5EF4-FFF2-40B4-BE49-F238E27FC236}">
                <a16:creationId xmlns:a16="http://schemas.microsoft.com/office/drawing/2014/main" id="{2FAF470A-F961-F757-BE2F-731F3EDEB7B2}"/>
              </a:ext>
            </a:extLst>
          </p:cNvPr>
          <p:cNvSpPr>
            <a:spLocks noGrp="1"/>
          </p:cNvSpPr>
          <p:nvPr>
            <p:ph type="sldNum" sz="quarter" idx="15"/>
          </p:nvPr>
        </p:nvSpPr>
        <p:spPr/>
        <p:txBody>
          <a:bodyPr/>
          <a:lstStyle/>
          <a:p>
            <a:fld id="{0AF20276-0DC3-B247-B3AE-8A6E2F85407E}" type="slidenum">
              <a:rPr lang="en-VN" smtClean="0"/>
              <a:t>17</a:t>
            </a:fld>
            <a:endParaRPr lang="en-VN"/>
          </a:p>
        </p:txBody>
      </p:sp>
      <p:graphicFrame>
        <p:nvGraphicFramePr>
          <p:cNvPr id="2" name="Table 1">
            <a:extLst>
              <a:ext uri="{FF2B5EF4-FFF2-40B4-BE49-F238E27FC236}">
                <a16:creationId xmlns:a16="http://schemas.microsoft.com/office/drawing/2014/main" id="{E263CCC6-61EF-93F6-9C62-D70BA3167933}"/>
              </a:ext>
            </a:extLst>
          </p:cNvPr>
          <p:cNvGraphicFramePr>
            <a:graphicFrameLocks noGrp="1"/>
          </p:cNvGraphicFramePr>
          <p:nvPr>
            <p:extLst>
              <p:ext uri="{D42A27DB-BD31-4B8C-83A1-F6EECF244321}">
                <p14:modId xmlns:p14="http://schemas.microsoft.com/office/powerpoint/2010/main" val="3345414951"/>
              </p:ext>
            </p:extLst>
          </p:nvPr>
        </p:nvGraphicFramePr>
        <p:xfrm>
          <a:off x="237744" y="658368"/>
          <a:ext cx="8677656" cy="3657600"/>
        </p:xfrm>
        <a:graphic>
          <a:graphicData uri="http://schemas.openxmlformats.org/drawingml/2006/table">
            <a:tbl>
              <a:tblPr bandRow="1">
                <a:tableStyleId>{5C22544A-7EE6-4342-B048-85BDC9FD1C3A}</a:tableStyleId>
              </a:tblPr>
              <a:tblGrid>
                <a:gridCol w="960120">
                  <a:extLst>
                    <a:ext uri="{9D8B030D-6E8A-4147-A177-3AD203B41FA5}">
                      <a16:colId xmlns:a16="http://schemas.microsoft.com/office/drawing/2014/main" val="20000"/>
                    </a:ext>
                  </a:extLst>
                </a:gridCol>
                <a:gridCol w="1965960">
                  <a:extLst>
                    <a:ext uri="{9D8B030D-6E8A-4147-A177-3AD203B41FA5}">
                      <a16:colId xmlns:a16="http://schemas.microsoft.com/office/drawing/2014/main" val="20001"/>
                    </a:ext>
                  </a:extLst>
                </a:gridCol>
                <a:gridCol w="2916936">
                  <a:extLst>
                    <a:ext uri="{9D8B030D-6E8A-4147-A177-3AD203B41FA5}">
                      <a16:colId xmlns:a16="http://schemas.microsoft.com/office/drawing/2014/main" val="20002"/>
                    </a:ext>
                  </a:extLst>
                </a:gridCol>
                <a:gridCol w="2834640">
                  <a:extLst>
                    <a:ext uri="{9D8B030D-6E8A-4147-A177-3AD203B41FA5}">
                      <a16:colId xmlns:a16="http://schemas.microsoft.com/office/drawing/2014/main" val="20003"/>
                    </a:ext>
                  </a:extLst>
                </a:gridCol>
              </a:tblGrid>
              <a:tr h="914400">
                <a:tc>
                  <a:txBody>
                    <a:bodyPr/>
                    <a:lstStyle/>
                    <a:p>
                      <a:r>
                        <a:rPr sz="1050" b="1" i="0">
                          <a:solidFill>
                            <a:srgbClr val="FFFFFF"/>
                          </a:solidFill>
                          <a:latin typeface="Arial"/>
                        </a:rPr>
                        <a:t>Algorithm</a:t>
                      </a:r>
                    </a:p>
                  </a:txBody>
                  <a:tcPr marL="50800" marR="50800" marT="25400" marB="25400" anchor="ctr">
                    <a:solidFill>
                      <a:srgbClr val="6F263D"/>
                    </a:solidFill>
                  </a:tcPr>
                </a:tc>
                <a:tc>
                  <a:txBody>
                    <a:bodyPr/>
                    <a:lstStyle/>
                    <a:p>
                      <a:r>
                        <a:rPr sz="1050" b="1" i="0">
                          <a:solidFill>
                            <a:srgbClr val="FFFFFF"/>
                          </a:solidFill>
                          <a:latin typeface="Arial"/>
                        </a:rPr>
                        <a:t>Formula</a:t>
                      </a:r>
                    </a:p>
                  </a:txBody>
                  <a:tcPr marL="50800" marR="50800" marT="25400" marB="25400" anchor="ctr">
                    <a:solidFill>
                      <a:srgbClr val="6F263D"/>
                    </a:solidFill>
                  </a:tcPr>
                </a:tc>
                <a:tc>
                  <a:txBody>
                    <a:bodyPr/>
                    <a:lstStyle/>
                    <a:p>
                      <a:r>
                        <a:rPr sz="1050" b="1" i="0">
                          <a:solidFill>
                            <a:srgbClr val="FFFFFF"/>
                          </a:solidFill>
                          <a:latin typeface="Arial"/>
                        </a:rPr>
                        <a:t>What It Means</a:t>
                      </a:r>
                    </a:p>
                  </a:txBody>
                  <a:tcPr marL="50800" marR="50800" marT="25400" marB="25400" anchor="ctr">
                    <a:solidFill>
                      <a:srgbClr val="6F263D"/>
                    </a:solidFill>
                  </a:tcPr>
                </a:tc>
                <a:tc>
                  <a:txBody>
                    <a:bodyPr/>
                    <a:lstStyle/>
                    <a:p>
                      <a:r>
                        <a:rPr sz="1050" b="1" i="0">
                          <a:solidFill>
                            <a:srgbClr val="FFFFFF"/>
                          </a:solidFill>
                          <a:latin typeface="Arial"/>
                        </a:rPr>
                        <a:t>Result</a:t>
                      </a:r>
                    </a:p>
                  </a:txBody>
                  <a:tcPr marL="50800" marR="50800" marT="25400" marB="25400" anchor="ctr">
                    <a:solidFill>
                      <a:srgbClr val="6F263D"/>
                    </a:solidFill>
                  </a:tcPr>
                </a:tc>
                <a:extLst>
                  <a:ext uri="{0D108BD9-81ED-4DB2-BD59-A6C34878D82A}">
                    <a16:rowId xmlns:a16="http://schemas.microsoft.com/office/drawing/2014/main" val="10000"/>
                  </a:ext>
                </a:extLst>
              </a:tr>
              <a:tr h="914400">
                <a:tc>
                  <a:txBody>
                    <a:bodyPr/>
                    <a:lstStyle/>
                    <a:p>
                      <a:r>
                        <a:rPr sz="1050" b="0" i="0">
                          <a:solidFill>
                            <a:srgbClr val="222222"/>
                          </a:solidFill>
                          <a:latin typeface="Arial"/>
                        </a:rPr>
                        <a:t>BP</a:t>
                      </a:r>
                    </a:p>
                  </a:txBody>
                  <a:tcPr marL="50800" marR="50800" marT="38100" marB="38100" anchor="ctr">
                    <a:solidFill>
                      <a:srgbClr val="FFFFFF"/>
                    </a:solidFill>
                  </a:tcPr>
                </a:tc>
                <a:tc>
                  <a:txBody>
                    <a:bodyPr/>
                    <a:lstStyle/>
                    <a:p>
                      <a:r>
                        <a:rPr sz="1050" b="0" i="0">
                          <a:solidFill>
                            <a:srgbClr val="222222"/>
                          </a:solidFill>
                          <a:latin typeface="Arial"/>
                        </a:rPr>
                        <a:t>H = Bᵀ</a:t>
                      </a:r>
                    </a:p>
                  </a:txBody>
                  <a:tcPr marL="50800" marR="50800" marT="38100" marB="38100" anchor="ctr">
                    <a:solidFill>
                      <a:srgbClr val="FFFFFF"/>
                    </a:solidFill>
                  </a:tcPr>
                </a:tc>
                <a:tc>
                  <a:txBody>
                    <a:bodyPr/>
                    <a:lstStyle/>
                    <a:p>
                      <a:r>
                        <a:rPr sz="1050" b="0" i="0" dirty="0">
                          <a:solidFill>
                            <a:srgbClr val="222222"/>
                          </a:solidFill>
                          <a:latin typeface="Arial"/>
                        </a:rPr>
                        <a:t>Weights each mesh element by geometric distance from the measurement path</a:t>
                      </a:r>
                      <a:r>
                        <a:rPr lang="vi-VN" sz="1050" b="0" i="0" dirty="0">
                          <a:solidFill>
                            <a:srgbClr val="222222"/>
                          </a:solidFill>
                          <a:latin typeface="Arial"/>
                        </a:rPr>
                        <a:t>,</a:t>
                      </a:r>
                      <a:r>
                        <a:rPr sz="1050" b="0" i="0" dirty="0">
                          <a:solidFill>
                            <a:srgbClr val="222222"/>
                          </a:solidFill>
                          <a:latin typeface="Arial"/>
                        </a:rPr>
                        <a:t> no real sensitivity (J) used.</a:t>
                      </a:r>
                    </a:p>
                  </a:txBody>
                  <a:tcPr marL="50800" marR="50800" marT="38100" marB="38100" anchor="ctr">
                    <a:solidFill>
                      <a:srgbClr val="FFFFFF"/>
                    </a:solidFill>
                  </a:tcPr>
                </a:tc>
                <a:tc>
                  <a:txBody>
                    <a:bodyPr/>
                    <a:lstStyle/>
                    <a:p>
                      <a:r>
                        <a:rPr sz="1050" b="0" i="0">
                          <a:solidFill>
                            <a:srgbClr val="222222"/>
                          </a:solidFill>
                          <a:latin typeface="Arial"/>
                        </a:rPr>
                        <a:t>Rough, blurry δσ map. Fast, but not physically grounded.</a:t>
                      </a:r>
                    </a:p>
                  </a:txBody>
                  <a:tcPr marL="50800" marR="50800" marT="38100" marB="38100" anchor="ctr">
                    <a:solidFill>
                      <a:srgbClr val="FFFFFF"/>
                    </a:solidFill>
                  </a:tcPr>
                </a:tc>
                <a:extLst>
                  <a:ext uri="{0D108BD9-81ED-4DB2-BD59-A6C34878D82A}">
                    <a16:rowId xmlns:a16="http://schemas.microsoft.com/office/drawing/2014/main" val="10001"/>
                  </a:ext>
                </a:extLst>
              </a:tr>
              <a:tr h="914400">
                <a:tc>
                  <a:txBody>
                    <a:bodyPr/>
                    <a:lstStyle/>
                    <a:p>
                      <a:r>
                        <a:rPr sz="1050" b="0" i="0">
                          <a:solidFill>
                            <a:srgbClr val="222222"/>
                          </a:solidFill>
                          <a:latin typeface="Arial"/>
                        </a:rPr>
                        <a:t>JAC</a:t>
                      </a:r>
                    </a:p>
                  </a:txBody>
                  <a:tcPr marL="50800" marR="50800" marT="38100" marB="38100" anchor="ctr">
                    <a:solidFill>
                      <a:srgbClr val="F5EFEC"/>
                    </a:solidFill>
                  </a:tcPr>
                </a:tc>
                <a:tc>
                  <a:txBody>
                    <a:bodyPr/>
                    <a:lstStyle/>
                    <a:p>
                      <a:r>
                        <a:rPr sz="1050" b="0" i="0">
                          <a:solidFill>
                            <a:srgbClr val="222222"/>
                          </a:solidFill>
                          <a:latin typeface="Arial"/>
                        </a:rPr>
                        <a:t>δσ = (JᵀJ+λR)⁻¹Jᵀ·Δv</a:t>
                      </a:r>
                    </a:p>
                  </a:txBody>
                  <a:tcPr marL="50800" marR="50800" marT="38100" marB="38100" anchor="ctr">
                    <a:solidFill>
                      <a:srgbClr val="F5EFEC"/>
                    </a:solidFill>
                  </a:tcPr>
                </a:tc>
                <a:tc>
                  <a:txBody>
                    <a:bodyPr/>
                    <a:lstStyle/>
                    <a:p>
                      <a:r>
                        <a:rPr sz="1050" b="0" i="0">
                          <a:solidFill>
                            <a:srgbClr val="222222"/>
                          </a:solidFill>
                          <a:latin typeface="Arial"/>
                        </a:rPr>
                        <a:t>Uses real sensitivity J. Balances matching Δv against staying smooth (λR).</a:t>
                      </a:r>
                    </a:p>
                  </a:txBody>
                  <a:tcPr marL="50800" marR="50800" marT="38100" marB="38100" anchor="ctr">
                    <a:solidFill>
                      <a:srgbClr val="F5EFEC"/>
                    </a:solidFill>
                  </a:tcPr>
                </a:tc>
                <a:tc>
                  <a:txBody>
                    <a:bodyPr/>
                    <a:lstStyle/>
                    <a:p>
                      <a:r>
                        <a:rPr sz="1050" b="0" i="0" dirty="0">
                          <a:solidFill>
                            <a:srgbClr val="222222"/>
                          </a:solidFill>
                          <a:latin typeface="Arial"/>
                        </a:rPr>
                        <a:t>Sharper, more accurate </a:t>
                      </a:r>
                      <a:r>
                        <a:rPr sz="1050" b="0" i="0" dirty="0" err="1">
                          <a:solidFill>
                            <a:srgbClr val="222222"/>
                          </a:solidFill>
                          <a:latin typeface="Arial"/>
                        </a:rPr>
                        <a:t>δσ</a:t>
                      </a:r>
                      <a:r>
                        <a:rPr sz="1050" b="0" i="0" dirty="0">
                          <a:solidFill>
                            <a:srgbClr val="222222"/>
                          </a:solidFill>
                          <a:latin typeface="Arial"/>
                        </a:rPr>
                        <a:t>. Slower; shape depends on the mesh.</a:t>
                      </a:r>
                    </a:p>
                  </a:txBody>
                  <a:tcPr marL="50800" marR="50800" marT="38100" marB="38100" anchor="ctr">
                    <a:solidFill>
                      <a:srgbClr val="F5EFEC"/>
                    </a:solidFill>
                  </a:tcPr>
                </a:tc>
                <a:extLst>
                  <a:ext uri="{0D108BD9-81ED-4DB2-BD59-A6C34878D82A}">
                    <a16:rowId xmlns:a16="http://schemas.microsoft.com/office/drawing/2014/main" val="10002"/>
                  </a:ext>
                </a:extLst>
              </a:tr>
              <a:tr h="914400">
                <a:tc>
                  <a:txBody>
                    <a:bodyPr/>
                    <a:lstStyle/>
                    <a:p>
                      <a:r>
                        <a:rPr sz="1050" b="0" i="0">
                          <a:solidFill>
                            <a:srgbClr val="222222"/>
                          </a:solidFill>
                          <a:latin typeface="Arial"/>
                        </a:rPr>
                        <a:t>GREIT</a:t>
                      </a:r>
                    </a:p>
                  </a:txBody>
                  <a:tcPr marL="50800" marR="50800" marT="38100" marB="38100" anchor="ctr">
                    <a:solidFill>
                      <a:srgbClr val="FFFFFF"/>
                    </a:solidFill>
                  </a:tcPr>
                </a:tc>
                <a:tc>
                  <a:txBody>
                    <a:bodyPr/>
                    <a:lstStyle/>
                    <a:p>
                      <a:r>
                        <a:rPr sz="1050" b="0" i="0">
                          <a:solidFill>
                            <a:srgbClr val="222222"/>
                          </a:solidFill>
                          <a:latin typeface="Arial"/>
                        </a:rPr>
                        <a:t>H = W·Jᵀ·(JJᵀ+λR)⁻¹</a:t>
                      </a:r>
                    </a:p>
                  </a:txBody>
                  <a:tcPr marL="50800" marR="50800" marT="38100" marB="38100" anchor="ctr">
                    <a:solidFill>
                      <a:srgbClr val="FFFFFF"/>
                    </a:solidFill>
                  </a:tcPr>
                </a:tc>
                <a:tc>
                  <a:txBody>
                    <a:bodyPr/>
                    <a:lstStyle/>
                    <a:p>
                      <a:r>
                        <a:rPr sz="1050" b="0" i="0">
                          <a:solidFill>
                            <a:srgbClr val="222222"/>
                          </a:solidFill>
                          <a:latin typeface="Arial"/>
                        </a:rPr>
                        <a:t>Same sensitivity as JAC, reordered (JJᵀ), plus pre-trained grid weights W.</a:t>
                      </a:r>
                    </a:p>
                  </a:txBody>
                  <a:tcPr marL="50800" marR="50800" marT="38100" marB="38100" anchor="ctr">
                    <a:solidFill>
                      <a:srgbClr val="FFFFFF"/>
                    </a:solidFill>
                  </a:tcPr>
                </a:tc>
                <a:tc>
                  <a:txBody>
                    <a:bodyPr/>
                    <a:lstStyle/>
                    <a:p>
                      <a:r>
                        <a:rPr sz="1050" b="0" i="0" dirty="0">
                          <a:solidFill>
                            <a:srgbClr val="222222"/>
                          </a:solidFill>
                          <a:latin typeface="Arial"/>
                        </a:rPr>
                        <a:t>Smooth, standardized image on a pixel grid. Comparable across scans, but fixed in advance.</a:t>
                      </a:r>
                    </a:p>
                  </a:txBody>
                  <a:tcPr marL="50800" marR="50800" marT="38100" marB="38100" anchor="ctr">
                    <a:solidFill>
                      <a:srgbClr val="FFFFFF"/>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2441345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AFC98F-8F2F-4FDE-D522-12618F0DF70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21DCCBC-D30C-C210-C308-1A4257C902D1}"/>
              </a:ext>
            </a:extLst>
          </p:cNvPr>
          <p:cNvSpPr>
            <a:spLocks noGrp="1"/>
          </p:cNvSpPr>
          <p:nvPr>
            <p:ph type="title"/>
          </p:nvPr>
        </p:nvSpPr>
        <p:spPr>
          <a:xfrm>
            <a:off x="236536" y="1003"/>
            <a:ext cx="8450263" cy="514350"/>
          </a:xfrm>
        </p:spPr>
        <p:txBody>
          <a:bodyPr/>
          <a:lstStyle/>
          <a:p>
            <a:r>
              <a:rPr lang="en-VN" dirty="0"/>
              <a:t>3. Active Sensing – Progress</a:t>
            </a:r>
          </a:p>
        </p:txBody>
      </p:sp>
      <p:sp>
        <p:nvSpPr>
          <p:cNvPr id="22" name="Slide Number Placeholder 21">
            <a:extLst>
              <a:ext uri="{FF2B5EF4-FFF2-40B4-BE49-F238E27FC236}">
                <a16:creationId xmlns:a16="http://schemas.microsoft.com/office/drawing/2014/main" id="{19CEAE1C-7593-8169-7747-4BCE0301D8FA}"/>
              </a:ext>
            </a:extLst>
          </p:cNvPr>
          <p:cNvSpPr>
            <a:spLocks noGrp="1"/>
          </p:cNvSpPr>
          <p:nvPr>
            <p:ph type="sldNum" sz="quarter" idx="15"/>
          </p:nvPr>
        </p:nvSpPr>
        <p:spPr/>
        <p:txBody>
          <a:bodyPr/>
          <a:lstStyle/>
          <a:p>
            <a:fld id="{0AF20276-0DC3-B247-B3AE-8A6E2F85407E}" type="slidenum">
              <a:rPr lang="en-VN" smtClean="0"/>
              <a:t>18</a:t>
            </a:fld>
            <a:endParaRPr lang="en-VN"/>
          </a:p>
        </p:txBody>
      </p:sp>
      <p:pic>
        <p:nvPicPr>
          <p:cNvPr id="5" name="Picture 4" descr="A group of circles with numbers and lines&#10;&#10;AI-generated content may be incorrect.">
            <a:extLst>
              <a:ext uri="{FF2B5EF4-FFF2-40B4-BE49-F238E27FC236}">
                <a16:creationId xmlns:a16="http://schemas.microsoft.com/office/drawing/2014/main" id="{8132BABF-AA2C-E8C3-2F26-C306EB8EADC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06664" y="659919"/>
            <a:ext cx="5510006" cy="4395265"/>
          </a:xfrm>
          <a:prstGeom prst="rect">
            <a:avLst/>
          </a:prstGeom>
        </p:spPr>
      </p:pic>
    </p:spTree>
    <p:extLst>
      <p:ext uri="{BB962C8B-B14F-4D97-AF65-F5344CB8AC3E}">
        <p14:creationId xmlns:p14="http://schemas.microsoft.com/office/powerpoint/2010/main" val="16354222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Symbols</a:t>
            </a:r>
          </a:p>
        </p:txBody>
      </p:sp>
      <p:graphicFrame>
        <p:nvGraphicFramePr>
          <p:cNvPr id="3" name="Table 2"/>
          <p:cNvGraphicFramePr>
            <a:graphicFrameLocks noGrp="1"/>
          </p:cNvGraphicFramePr>
          <p:nvPr/>
        </p:nvGraphicFramePr>
        <p:xfrm>
          <a:off x="237744" y="658368"/>
          <a:ext cx="8677656" cy="3794760"/>
        </p:xfrm>
        <a:graphic>
          <a:graphicData uri="http://schemas.openxmlformats.org/drawingml/2006/table">
            <a:tbl>
              <a:tblPr bandRow="1">
                <a:tableStyleId>{5C22544A-7EE6-4342-B048-85BDC9FD1C3A}</a:tableStyleId>
              </a:tblPr>
              <a:tblGrid>
                <a:gridCol w="1828800">
                  <a:extLst>
                    <a:ext uri="{9D8B030D-6E8A-4147-A177-3AD203B41FA5}">
                      <a16:colId xmlns:a16="http://schemas.microsoft.com/office/drawing/2014/main" val="20000"/>
                    </a:ext>
                  </a:extLst>
                </a:gridCol>
                <a:gridCol w="6848856">
                  <a:extLst>
                    <a:ext uri="{9D8B030D-6E8A-4147-A177-3AD203B41FA5}">
                      <a16:colId xmlns:a16="http://schemas.microsoft.com/office/drawing/2014/main" val="20001"/>
                    </a:ext>
                  </a:extLst>
                </a:gridCol>
              </a:tblGrid>
              <a:tr h="223221">
                <a:tc>
                  <a:txBody>
                    <a:bodyPr/>
                    <a:lstStyle/>
                    <a:p>
                      <a:r>
                        <a:rPr sz="1100" b="1" i="0">
                          <a:solidFill>
                            <a:srgbClr val="FFFFFF"/>
                          </a:solidFill>
                          <a:latin typeface="Arial"/>
                        </a:rPr>
                        <a:t>Symbol</a:t>
                      </a:r>
                    </a:p>
                  </a:txBody>
                  <a:tcPr marL="50800" marR="50800" marT="25400" marB="25400" anchor="ctr">
                    <a:solidFill>
                      <a:srgbClr val="6F263D"/>
                    </a:solidFill>
                  </a:tcPr>
                </a:tc>
                <a:tc>
                  <a:txBody>
                    <a:bodyPr/>
                    <a:lstStyle/>
                    <a:p>
                      <a:r>
                        <a:rPr sz="1100" b="1" i="0">
                          <a:solidFill>
                            <a:srgbClr val="FFFFFF"/>
                          </a:solidFill>
                          <a:latin typeface="Arial"/>
                        </a:rPr>
                        <a:t>Meaning</a:t>
                      </a:r>
                    </a:p>
                  </a:txBody>
                  <a:tcPr marL="50800" marR="50800" marT="25400" marB="25400" anchor="ctr">
                    <a:solidFill>
                      <a:srgbClr val="6F263D"/>
                    </a:solidFill>
                  </a:tcPr>
                </a:tc>
                <a:extLst>
                  <a:ext uri="{0D108BD9-81ED-4DB2-BD59-A6C34878D82A}">
                    <a16:rowId xmlns:a16="http://schemas.microsoft.com/office/drawing/2014/main" val="10000"/>
                  </a:ext>
                </a:extLst>
              </a:tr>
              <a:tr h="223221">
                <a:tc>
                  <a:txBody>
                    <a:bodyPr/>
                    <a:lstStyle/>
                    <a:p>
                      <a:r>
                        <a:rPr sz="1100" b="0" i="0">
                          <a:solidFill>
                            <a:srgbClr val="222222"/>
                          </a:solidFill>
                          <a:latin typeface="Arial"/>
                        </a:rPr>
                        <a:t>Ω</a:t>
                      </a:r>
                    </a:p>
                  </a:txBody>
                  <a:tcPr marL="50800" marR="50800" marT="25400" marB="25400" anchor="ctr">
                    <a:solidFill>
                      <a:srgbClr val="FFFFFF"/>
                    </a:solidFill>
                  </a:tcPr>
                </a:tc>
                <a:tc>
                  <a:txBody>
                    <a:bodyPr/>
                    <a:lstStyle/>
                    <a:p>
                      <a:r>
                        <a:rPr sz="1100" b="0" i="0">
                          <a:solidFill>
                            <a:srgbClr val="222222"/>
                          </a:solidFill>
                          <a:latin typeface="Arial"/>
                        </a:rPr>
                        <a:t>The region (domain) being imaged</a:t>
                      </a:r>
                    </a:p>
                  </a:txBody>
                  <a:tcPr marL="50800" marR="50800" marT="25400" marB="25400" anchor="ctr">
                    <a:solidFill>
                      <a:srgbClr val="FFFFFF"/>
                    </a:solidFill>
                  </a:tcPr>
                </a:tc>
                <a:extLst>
                  <a:ext uri="{0D108BD9-81ED-4DB2-BD59-A6C34878D82A}">
                    <a16:rowId xmlns:a16="http://schemas.microsoft.com/office/drawing/2014/main" val="10001"/>
                  </a:ext>
                </a:extLst>
              </a:tr>
              <a:tr h="223221">
                <a:tc>
                  <a:txBody>
                    <a:bodyPr/>
                    <a:lstStyle/>
                    <a:p>
                      <a:r>
                        <a:rPr sz="1100" b="0" i="0">
                          <a:solidFill>
                            <a:srgbClr val="222222"/>
                          </a:solidFill>
                          <a:latin typeface="Arial"/>
                        </a:rPr>
                        <a:t>∂Ω</a:t>
                      </a:r>
                    </a:p>
                  </a:txBody>
                  <a:tcPr marL="50800" marR="50800" marT="25400" marB="25400" anchor="ctr">
                    <a:solidFill>
                      <a:srgbClr val="F5EFEC"/>
                    </a:solidFill>
                  </a:tcPr>
                </a:tc>
                <a:tc>
                  <a:txBody>
                    <a:bodyPr/>
                    <a:lstStyle/>
                    <a:p>
                      <a:r>
                        <a:rPr sz="1100" b="0" i="0">
                          <a:solidFill>
                            <a:srgbClr val="222222"/>
                          </a:solidFill>
                          <a:latin typeface="Arial"/>
                        </a:rPr>
                        <a:t>The boundary of the domain</a:t>
                      </a:r>
                    </a:p>
                  </a:txBody>
                  <a:tcPr marL="50800" marR="50800" marT="25400" marB="25400" anchor="ctr">
                    <a:solidFill>
                      <a:srgbClr val="F5EFEC"/>
                    </a:solidFill>
                  </a:tcPr>
                </a:tc>
                <a:extLst>
                  <a:ext uri="{0D108BD9-81ED-4DB2-BD59-A6C34878D82A}">
                    <a16:rowId xmlns:a16="http://schemas.microsoft.com/office/drawing/2014/main" val="10002"/>
                  </a:ext>
                </a:extLst>
              </a:tr>
              <a:tr h="223221">
                <a:tc>
                  <a:txBody>
                    <a:bodyPr/>
                    <a:lstStyle/>
                    <a:p>
                      <a:r>
                        <a:rPr sz="1100" b="0" i="0">
                          <a:solidFill>
                            <a:srgbClr val="222222"/>
                          </a:solidFill>
                          <a:latin typeface="Arial"/>
                        </a:rPr>
                        <a:t>σ</a:t>
                      </a:r>
                    </a:p>
                  </a:txBody>
                  <a:tcPr marL="50800" marR="50800" marT="25400" marB="25400" anchor="ctr">
                    <a:solidFill>
                      <a:srgbClr val="FFFFFF"/>
                    </a:solidFill>
                  </a:tcPr>
                </a:tc>
                <a:tc>
                  <a:txBody>
                    <a:bodyPr/>
                    <a:lstStyle/>
                    <a:p>
                      <a:r>
                        <a:rPr sz="1100" b="0" i="0">
                          <a:solidFill>
                            <a:srgbClr val="222222"/>
                          </a:solidFill>
                          <a:latin typeface="Arial"/>
                        </a:rPr>
                        <a:t>Conductivity</a:t>
                      </a:r>
                    </a:p>
                  </a:txBody>
                  <a:tcPr marL="50800" marR="50800" marT="25400" marB="25400" anchor="ctr">
                    <a:solidFill>
                      <a:srgbClr val="FFFFFF"/>
                    </a:solidFill>
                  </a:tcPr>
                </a:tc>
                <a:extLst>
                  <a:ext uri="{0D108BD9-81ED-4DB2-BD59-A6C34878D82A}">
                    <a16:rowId xmlns:a16="http://schemas.microsoft.com/office/drawing/2014/main" val="10003"/>
                  </a:ext>
                </a:extLst>
              </a:tr>
              <a:tr h="223221">
                <a:tc>
                  <a:txBody>
                    <a:bodyPr/>
                    <a:lstStyle/>
                    <a:p>
                      <a:r>
                        <a:rPr sz="1100" b="0" i="0">
                          <a:solidFill>
                            <a:srgbClr val="222222"/>
                          </a:solidFill>
                          <a:latin typeface="Arial"/>
                        </a:rPr>
                        <a:t>u</a:t>
                      </a:r>
                    </a:p>
                  </a:txBody>
                  <a:tcPr marL="50800" marR="50800" marT="25400" marB="25400" anchor="ctr">
                    <a:solidFill>
                      <a:srgbClr val="F5EFEC"/>
                    </a:solidFill>
                  </a:tcPr>
                </a:tc>
                <a:tc>
                  <a:txBody>
                    <a:bodyPr/>
                    <a:lstStyle/>
                    <a:p>
                      <a:r>
                        <a:rPr sz="1100" b="0" i="0">
                          <a:solidFill>
                            <a:srgbClr val="222222"/>
                          </a:solidFill>
                          <a:latin typeface="Arial"/>
                        </a:rPr>
                        <a:t>Electric potential</a:t>
                      </a:r>
                    </a:p>
                  </a:txBody>
                  <a:tcPr marL="50800" marR="50800" marT="25400" marB="25400" anchor="ctr">
                    <a:solidFill>
                      <a:srgbClr val="F5EFEC"/>
                    </a:solidFill>
                  </a:tcPr>
                </a:tc>
                <a:extLst>
                  <a:ext uri="{0D108BD9-81ED-4DB2-BD59-A6C34878D82A}">
                    <a16:rowId xmlns:a16="http://schemas.microsoft.com/office/drawing/2014/main" val="10004"/>
                  </a:ext>
                </a:extLst>
              </a:tr>
              <a:tr h="223221">
                <a:tc>
                  <a:txBody>
                    <a:bodyPr/>
                    <a:lstStyle/>
                    <a:p>
                      <a:r>
                        <a:rPr sz="1100" b="0" i="0">
                          <a:solidFill>
                            <a:srgbClr val="222222"/>
                          </a:solidFill>
                          <a:latin typeface="Arial"/>
                        </a:rPr>
                        <a:t>∇</a:t>
                      </a:r>
                    </a:p>
                  </a:txBody>
                  <a:tcPr marL="50800" marR="50800" marT="25400" marB="25400" anchor="ctr">
                    <a:solidFill>
                      <a:srgbClr val="FFFFFF"/>
                    </a:solidFill>
                  </a:tcPr>
                </a:tc>
                <a:tc>
                  <a:txBody>
                    <a:bodyPr/>
                    <a:lstStyle/>
                    <a:p>
                      <a:r>
                        <a:rPr sz="1100" b="0" i="0">
                          <a:solidFill>
                            <a:srgbClr val="222222"/>
                          </a:solidFill>
                          <a:latin typeface="Arial"/>
                        </a:rPr>
                        <a:t>Gradient operator</a:t>
                      </a:r>
                    </a:p>
                  </a:txBody>
                  <a:tcPr marL="50800" marR="50800" marT="25400" marB="25400" anchor="ctr">
                    <a:solidFill>
                      <a:srgbClr val="FFFFFF"/>
                    </a:solidFill>
                  </a:tcPr>
                </a:tc>
                <a:extLst>
                  <a:ext uri="{0D108BD9-81ED-4DB2-BD59-A6C34878D82A}">
                    <a16:rowId xmlns:a16="http://schemas.microsoft.com/office/drawing/2014/main" val="10005"/>
                  </a:ext>
                </a:extLst>
              </a:tr>
              <a:tr h="223221">
                <a:tc>
                  <a:txBody>
                    <a:bodyPr/>
                    <a:lstStyle/>
                    <a:p>
                      <a:r>
                        <a:rPr sz="1100" b="0" i="0">
                          <a:solidFill>
                            <a:srgbClr val="222222"/>
                          </a:solidFill>
                          <a:latin typeface="Arial"/>
                        </a:rPr>
                        <a:t>∇·</a:t>
                      </a:r>
                    </a:p>
                  </a:txBody>
                  <a:tcPr marL="50800" marR="50800" marT="25400" marB="25400" anchor="ctr">
                    <a:solidFill>
                      <a:srgbClr val="F5EFEC"/>
                    </a:solidFill>
                  </a:tcPr>
                </a:tc>
                <a:tc>
                  <a:txBody>
                    <a:bodyPr/>
                    <a:lstStyle/>
                    <a:p>
                      <a:r>
                        <a:rPr sz="1100" b="0" i="0">
                          <a:solidFill>
                            <a:srgbClr val="222222"/>
                          </a:solidFill>
                          <a:latin typeface="Arial"/>
                        </a:rPr>
                        <a:t>Divergence operator</a:t>
                      </a:r>
                    </a:p>
                  </a:txBody>
                  <a:tcPr marL="50800" marR="50800" marT="25400" marB="25400" anchor="ctr">
                    <a:solidFill>
                      <a:srgbClr val="F5EFEC"/>
                    </a:solidFill>
                  </a:tcPr>
                </a:tc>
                <a:extLst>
                  <a:ext uri="{0D108BD9-81ED-4DB2-BD59-A6C34878D82A}">
                    <a16:rowId xmlns:a16="http://schemas.microsoft.com/office/drawing/2014/main" val="10006"/>
                  </a:ext>
                </a:extLst>
              </a:tr>
              <a:tr h="223221">
                <a:tc>
                  <a:txBody>
                    <a:bodyPr/>
                    <a:lstStyle/>
                    <a:p>
                      <a:r>
                        <a:rPr sz="1100" b="0" i="0">
                          <a:solidFill>
                            <a:srgbClr val="222222"/>
                          </a:solidFill>
                          <a:latin typeface="Arial"/>
                        </a:rPr>
                        <a:t>∇u</a:t>
                      </a:r>
                    </a:p>
                  </a:txBody>
                  <a:tcPr marL="50800" marR="50800" marT="25400" marB="25400" anchor="ctr">
                    <a:solidFill>
                      <a:srgbClr val="FFFFFF"/>
                    </a:solidFill>
                  </a:tcPr>
                </a:tc>
                <a:tc>
                  <a:txBody>
                    <a:bodyPr/>
                    <a:lstStyle/>
                    <a:p>
                      <a:r>
                        <a:rPr sz="1100" b="0" i="0">
                          <a:solidFill>
                            <a:srgbClr val="222222"/>
                          </a:solidFill>
                          <a:latin typeface="Arial"/>
                        </a:rPr>
                        <a:t>Gradient of u</a:t>
                      </a:r>
                    </a:p>
                  </a:txBody>
                  <a:tcPr marL="50800" marR="50800" marT="25400" marB="25400" anchor="ctr">
                    <a:solidFill>
                      <a:srgbClr val="FFFFFF"/>
                    </a:solidFill>
                  </a:tcPr>
                </a:tc>
                <a:extLst>
                  <a:ext uri="{0D108BD9-81ED-4DB2-BD59-A6C34878D82A}">
                    <a16:rowId xmlns:a16="http://schemas.microsoft.com/office/drawing/2014/main" val="10007"/>
                  </a:ext>
                </a:extLst>
              </a:tr>
              <a:tr h="223221">
                <a:tc>
                  <a:txBody>
                    <a:bodyPr/>
                    <a:lstStyle/>
                    <a:p>
                      <a:r>
                        <a:rPr sz="1100" b="0" i="0">
                          <a:solidFill>
                            <a:srgbClr val="222222"/>
                          </a:solidFill>
                          <a:latin typeface="Arial"/>
                        </a:rPr>
                        <a:t>∂u/∂n</a:t>
                      </a:r>
                    </a:p>
                  </a:txBody>
                  <a:tcPr marL="50800" marR="50800" marT="25400" marB="25400" anchor="ctr">
                    <a:solidFill>
                      <a:srgbClr val="F5EFEC"/>
                    </a:solidFill>
                  </a:tcPr>
                </a:tc>
                <a:tc>
                  <a:txBody>
                    <a:bodyPr/>
                    <a:lstStyle/>
                    <a:p>
                      <a:r>
                        <a:rPr sz="1100" b="0" i="0">
                          <a:solidFill>
                            <a:srgbClr val="222222"/>
                          </a:solidFill>
                          <a:latin typeface="Arial"/>
                        </a:rPr>
                        <a:t>Rate of change of u across the boundary</a:t>
                      </a:r>
                    </a:p>
                  </a:txBody>
                  <a:tcPr marL="50800" marR="50800" marT="25400" marB="25400" anchor="ctr">
                    <a:solidFill>
                      <a:srgbClr val="F5EFEC"/>
                    </a:solidFill>
                  </a:tcPr>
                </a:tc>
                <a:extLst>
                  <a:ext uri="{0D108BD9-81ED-4DB2-BD59-A6C34878D82A}">
                    <a16:rowId xmlns:a16="http://schemas.microsoft.com/office/drawing/2014/main" val="10008"/>
                  </a:ext>
                </a:extLst>
              </a:tr>
              <a:tr h="223221">
                <a:tc>
                  <a:txBody>
                    <a:bodyPr/>
                    <a:lstStyle/>
                    <a:p>
                      <a:r>
                        <a:rPr sz="1100" b="0" i="0">
                          <a:solidFill>
                            <a:srgbClr val="222222"/>
                          </a:solidFill>
                          <a:latin typeface="Arial"/>
                        </a:rPr>
                        <a:t>g</a:t>
                      </a:r>
                    </a:p>
                  </a:txBody>
                  <a:tcPr marL="50800" marR="50800" marT="25400" marB="25400" anchor="ctr">
                    <a:solidFill>
                      <a:srgbClr val="FFFFFF"/>
                    </a:solidFill>
                  </a:tcPr>
                </a:tc>
                <a:tc>
                  <a:txBody>
                    <a:bodyPr/>
                    <a:lstStyle/>
                    <a:p>
                      <a:r>
                        <a:rPr sz="1100" b="0" i="0">
                          <a:solidFill>
                            <a:srgbClr val="222222"/>
                          </a:solidFill>
                          <a:latin typeface="Arial"/>
                        </a:rPr>
                        <a:t>Current injected at the boundary</a:t>
                      </a:r>
                    </a:p>
                  </a:txBody>
                  <a:tcPr marL="50800" marR="50800" marT="25400" marB="25400" anchor="ctr">
                    <a:solidFill>
                      <a:srgbClr val="FFFFFF"/>
                    </a:solidFill>
                  </a:tcPr>
                </a:tc>
                <a:extLst>
                  <a:ext uri="{0D108BD9-81ED-4DB2-BD59-A6C34878D82A}">
                    <a16:rowId xmlns:a16="http://schemas.microsoft.com/office/drawing/2014/main" val="10009"/>
                  </a:ext>
                </a:extLst>
              </a:tr>
              <a:tr h="223221">
                <a:tc>
                  <a:txBody>
                    <a:bodyPr/>
                    <a:lstStyle/>
                    <a:p>
                      <a:r>
                        <a:rPr sz="1100" b="0" i="0">
                          <a:solidFill>
                            <a:srgbClr val="222222"/>
                          </a:solidFill>
                          <a:latin typeface="Arial"/>
                        </a:rPr>
                        <a:t>∫</a:t>
                      </a:r>
                    </a:p>
                  </a:txBody>
                  <a:tcPr marL="50800" marR="50800" marT="25400" marB="25400" anchor="ctr">
                    <a:solidFill>
                      <a:srgbClr val="F5EFEC"/>
                    </a:solidFill>
                  </a:tcPr>
                </a:tc>
                <a:tc>
                  <a:txBody>
                    <a:bodyPr/>
                    <a:lstStyle/>
                    <a:p>
                      <a:r>
                        <a:rPr sz="1100" b="0" i="0">
                          <a:solidFill>
                            <a:srgbClr val="222222"/>
                          </a:solidFill>
                          <a:latin typeface="Arial"/>
                        </a:rPr>
                        <a:t>Integral of</a:t>
                      </a:r>
                    </a:p>
                  </a:txBody>
                  <a:tcPr marL="50800" marR="50800" marT="25400" marB="25400" anchor="ctr">
                    <a:solidFill>
                      <a:srgbClr val="F5EFEC"/>
                    </a:solidFill>
                  </a:tcPr>
                </a:tc>
                <a:extLst>
                  <a:ext uri="{0D108BD9-81ED-4DB2-BD59-A6C34878D82A}">
                    <a16:rowId xmlns:a16="http://schemas.microsoft.com/office/drawing/2014/main" val="10010"/>
                  </a:ext>
                </a:extLst>
              </a:tr>
              <a:tr h="223221">
                <a:tc>
                  <a:txBody>
                    <a:bodyPr/>
                    <a:lstStyle/>
                    <a:p>
                      <a:r>
                        <a:rPr sz="1100" b="0" i="0">
                          <a:solidFill>
                            <a:srgbClr val="222222"/>
                          </a:solidFill>
                          <a:latin typeface="Arial"/>
                        </a:rPr>
                        <a:t>v</a:t>
                      </a:r>
                    </a:p>
                  </a:txBody>
                  <a:tcPr marL="50800" marR="50800" marT="25400" marB="25400" anchor="ctr">
                    <a:solidFill>
                      <a:srgbClr val="FFFFFF"/>
                    </a:solidFill>
                  </a:tcPr>
                </a:tc>
                <a:tc>
                  <a:txBody>
                    <a:bodyPr/>
                    <a:lstStyle/>
                    <a:p>
                      <a:r>
                        <a:rPr sz="1100" b="0" i="0">
                          <a:solidFill>
                            <a:srgbClr val="222222"/>
                          </a:solidFill>
                          <a:latin typeface="Arial"/>
                        </a:rPr>
                        <a:t>Measurement vector (voltages)</a:t>
                      </a:r>
                    </a:p>
                  </a:txBody>
                  <a:tcPr marL="50800" marR="50800" marT="25400" marB="25400" anchor="ctr">
                    <a:solidFill>
                      <a:srgbClr val="FFFFFF"/>
                    </a:solidFill>
                  </a:tcPr>
                </a:tc>
                <a:extLst>
                  <a:ext uri="{0D108BD9-81ED-4DB2-BD59-A6C34878D82A}">
                    <a16:rowId xmlns:a16="http://schemas.microsoft.com/office/drawing/2014/main" val="10011"/>
                  </a:ext>
                </a:extLst>
              </a:tr>
              <a:tr h="223221">
                <a:tc>
                  <a:txBody>
                    <a:bodyPr/>
                    <a:lstStyle/>
                    <a:p>
                      <a:r>
                        <a:rPr sz="1100" b="0" i="0">
                          <a:solidFill>
                            <a:srgbClr val="222222"/>
                          </a:solidFill>
                          <a:latin typeface="Arial"/>
                        </a:rPr>
                        <a:t>ℝᴹ</a:t>
                      </a:r>
                    </a:p>
                  </a:txBody>
                  <a:tcPr marL="50800" marR="50800" marT="25400" marB="25400" anchor="ctr">
                    <a:solidFill>
                      <a:srgbClr val="F5EFEC"/>
                    </a:solidFill>
                  </a:tcPr>
                </a:tc>
                <a:tc>
                  <a:txBody>
                    <a:bodyPr/>
                    <a:lstStyle/>
                    <a:p>
                      <a:r>
                        <a:rPr sz="1100" b="0" i="0">
                          <a:solidFill>
                            <a:srgbClr val="222222"/>
                          </a:solidFill>
                          <a:latin typeface="Arial"/>
                        </a:rPr>
                        <a:t>Space of M real numbers</a:t>
                      </a:r>
                    </a:p>
                  </a:txBody>
                  <a:tcPr marL="50800" marR="50800" marT="25400" marB="25400" anchor="ctr">
                    <a:solidFill>
                      <a:srgbClr val="F5EFEC"/>
                    </a:solidFill>
                  </a:tcPr>
                </a:tc>
                <a:extLst>
                  <a:ext uri="{0D108BD9-81ED-4DB2-BD59-A6C34878D82A}">
                    <a16:rowId xmlns:a16="http://schemas.microsoft.com/office/drawing/2014/main" val="10012"/>
                  </a:ext>
                </a:extLst>
              </a:tr>
              <a:tr h="223221">
                <a:tc>
                  <a:txBody>
                    <a:bodyPr/>
                    <a:lstStyle/>
                    <a:p>
                      <a:r>
                        <a:rPr sz="1100" b="0" i="0">
                          <a:solidFill>
                            <a:srgbClr val="222222"/>
                          </a:solidFill>
                          <a:latin typeface="Arial"/>
                        </a:rPr>
                        <a:t>M (nM)</a:t>
                      </a:r>
                    </a:p>
                  </a:txBody>
                  <a:tcPr marL="50800" marR="50800" marT="25400" marB="25400" anchor="ctr">
                    <a:solidFill>
                      <a:srgbClr val="FFFFFF"/>
                    </a:solidFill>
                  </a:tcPr>
                </a:tc>
                <a:tc>
                  <a:txBody>
                    <a:bodyPr/>
                    <a:lstStyle/>
                    <a:p>
                      <a:r>
                        <a:rPr sz="1100" b="0" i="0">
                          <a:solidFill>
                            <a:srgbClr val="222222"/>
                          </a:solidFill>
                          <a:latin typeface="Arial"/>
                        </a:rPr>
                        <a:t>Number of measurements</a:t>
                      </a:r>
                    </a:p>
                  </a:txBody>
                  <a:tcPr marL="50800" marR="50800" marT="25400" marB="25400" anchor="ctr">
                    <a:solidFill>
                      <a:srgbClr val="FFFFFF"/>
                    </a:solidFill>
                  </a:tcPr>
                </a:tc>
                <a:extLst>
                  <a:ext uri="{0D108BD9-81ED-4DB2-BD59-A6C34878D82A}">
                    <a16:rowId xmlns:a16="http://schemas.microsoft.com/office/drawing/2014/main" val="10013"/>
                  </a:ext>
                </a:extLst>
              </a:tr>
              <a:tr h="223221">
                <a:tc>
                  <a:txBody>
                    <a:bodyPr/>
                    <a:lstStyle/>
                    <a:p>
                      <a:r>
                        <a:rPr sz="1100" b="0" i="0">
                          <a:solidFill>
                            <a:srgbClr val="222222"/>
                          </a:solidFill>
                          <a:latin typeface="Arial"/>
                        </a:rPr>
                        <a:t>f(Ω,σ)</a:t>
                      </a:r>
                    </a:p>
                  </a:txBody>
                  <a:tcPr marL="50800" marR="50800" marT="25400" marB="25400" anchor="ctr">
                    <a:solidFill>
                      <a:srgbClr val="F5EFEC"/>
                    </a:solidFill>
                  </a:tcPr>
                </a:tc>
                <a:tc>
                  <a:txBody>
                    <a:bodyPr/>
                    <a:lstStyle/>
                    <a:p>
                      <a:r>
                        <a:rPr sz="1100" b="0" i="0">
                          <a:solidFill>
                            <a:srgbClr val="222222"/>
                          </a:solidFill>
                          <a:latin typeface="Arial"/>
                        </a:rPr>
                        <a:t>Forward operator — predicts measurements</a:t>
                      </a:r>
                    </a:p>
                  </a:txBody>
                  <a:tcPr marL="50800" marR="50800" marT="25400" marB="25400" anchor="ctr">
                    <a:solidFill>
                      <a:srgbClr val="F5EFEC"/>
                    </a:solidFill>
                  </a:tcPr>
                </a:tc>
                <a:extLst>
                  <a:ext uri="{0D108BD9-81ED-4DB2-BD59-A6C34878D82A}">
                    <a16:rowId xmlns:a16="http://schemas.microsoft.com/office/drawing/2014/main" val="10014"/>
                  </a:ext>
                </a:extLst>
              </a:tr>
              <a:tr h="223221">
                <a:tc>
                  <a:txBody>
                    <a:bodyPr/>
                    <a:lstStyle/>
                    <a:p>
                      <a:r>
                        <a:rPr sz="1100" b="0" i="0">
                          <a:solidFill>
                            <a:srgbClr val="222222"/>
                          </a:solidFill>
                          <a:latin typeface="Arial"/>
                        </a:rPr>
                        <a:t>σ₀</a:t>
                      </a:r>
                    </a:p>
                  </a:txBody>
                  <a:tcPr marL="50800" marR="50800" marT="25400" marB="25400" anchor="ctr">
                    <a:solidFill>
                      <a:srgbClr val="FFFFFF"/>
                    </a:solidFill>
                  </a:tcPr>
                </a:tc>
                <a:tc>
                  <a:txBody>
                    <a:bodyPr/>
                    <a:lstStyle/>
                    <a:p>
                      <a:r>
                        <a:rPr sz="1100" b="0" i="0">
                          <a:solidFill>
                            <a:srgbClr val="222222"/>
                          </a:solidFill>
                          <a:latin typeface="Arial"/>
                        </a:rPr>
                        <a:t>Initial / reference conductivity guess</a:t>
                      </a:r>
                    </a:p>
                  </a:txBody>
                  <a:tcPr marL="50800" marR="50800" marT="25400" marB="25400" anchor="ctr">
                    <a:solidFill>
                      <a:srgbClr val="FFFFFF"/>
                    </a:solidFill>
                  </a:tcPr>
                </a:tc>
                <a:extLst>
                  <a:ext uri="{0D108BD9-81ED-4DB2-BD59-A6C34878D82A}">
                    <a16:rowId xmlns:a16="http://schemas.microsoft.com/office/drawing/2014/main" val="10015"/>
                  </a:ext>
                </a:extLst>
              </a:tr>
              <a:tr h="223224">
                <a:tc>
                  <a:txBody>
                    <a:bodyPr/>
                    <a:lstStyle/>
                    <a:p>
                      <a:r>
                        <a:rPr sz="1100" b="0" i="0">
                          <a:solidFill>
                            <a:srgbClr val="222222"/>
                          </a:solidFill>
                          <a:latin typeface="Arial"/>
                        </a:rPr>
                        <a:t>λ</a:t>
                      </a:r>
                    </a:p>
                  </a:txBody>
                  <a:tcPr marL="50800" marR="50800" marT="25400" marB="25400" anchor="ctr">
                    <a:solidFill>
                      <a:srgbClr val="F5EFEC"/>
                    </a:solidFill>
                  </a:tcPr>
                </a:tc>
                <a:tc>
                  <a:txBody>
                    <a:bodyPr/>
                    <a:lstStyle/>
                    <a:p>
                      <a:r>
                        <a:rPr sz="1100" b="0" i="0">
                          <a:solidFill>
                            <a:srgbClr val="222222"/>
                          </a:solidFill>
                          <a:latin typeface="Arial"/>
                        </a:rPr>
                        <a:t>Regularization parameter (smoothing strength)</a:t>
                      </a:r>
                    </a:p>
                  </a:txBody>
                  <a:tcPr marL="50800" marR="50800" marT="25400" marB="25400" anchor="ctr">
                    <a:solidFill>
                      <a:srgbClr val="F5EFEC"/>
                    </a:solidFill>
                  </a:tcPr>
                </a:tc>
                <a:extLst>
                  <a:ext uri="{0D108BD9-81ED-4DB2-BD59-A6C34878D82A}">
                    <a16:rowId xmlns:a16="http://schemas.microsoft.com/office/drawing/2014/main" val="10016"/>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Symbols</a:t>
            </a:r>
          </a:p>
        </p:txBody>
      </p:sp>
      <p:graphicFrame>
        <p:nvGraphicFramePr>
          <p:cNvPr id="3" name="Table 2"/>
          <p:cNvGraphicFramePr>
            <a:graphicFrameLocks noGrp="1"/>
          </p:cNvGraphicFramePr>
          <p:nvPr/>
        </p:nvGraphicFramePr>
        <p:xfrm>
          <a:off x="237744" y="658368"/>
          <a:ext cx="8677656" cy="3977639"/>
        </p:xfrm>
        <a:graphic>
          <a:graphicData uri="http://schemas.openxmlformats.org/drawingml/2006/table">
            <a:tbl>
              <a:tblPr bandRow="1">
                <a:tableStyleId>{5C22544A-7EE6-4342-B048-85BDC9FD1C3A}</a:tableStyleId>
              </a:tblPr>
              <a:tblGrid>
                <a:gridCol w="1828800">
                  <a:extLst>
                    <a:ext uri="{9D8B030D-6E8A-4147-A177-3AD203B41FA5}">
                      <a16:colId xmlns:a16="http://schemas.microsoft.com/office/drawing/2014/main" val="20000"/>
                    </a:ext>
                  </a:extLst>
                </a:gridCol>
                <a:gridCol w="6848856">
                  <a:extLst>
                    <a:ext uri="{9D8B030D-6E8A-4147-A177-3AD203B41FA5}">
                      <a16:colId xmlns:a16="http://schemas.microsoft.com/office/drawing/2014/main" val="20001"/>
                    </a:ext>
                  </a:extLst>
                </a:gridCol>
              </a:tblGrid>
              <a:tr h="220979">
                <a:tc>
                  <a:txBody>
                    <a:bodyPr/>
                    <a:lstStyle/>
                    <a:p>
                      <a:r>
                        <a:rPr sz="1050" b="1" i="0">
                          <a:solidFill>
                            <a:srgbClr val="FFFFFF"/>
                          </a:solidFill>
                          <a:latin typeface="Arial"/>
                        </a:rPr>
                        <a:t>Symbol</a:t>
                      </a:r>
                    </a:p>
                  </a:txBody>
                  <a:tcPr marL="50800" marR="50800" marT="25400" marB="25400" anchor="ctr">
                    <a:solidFill>
                      <a:srgbClr val="6F263D"/>
                    </a:solidFill>
                  </a:tcPr>
                </a:tc>
                <a:tc>
                  <a:txBody>
                    <a:bodyPr/>
                    <a:lstStyle/>
                    <a:p>
                      <a:r>
                        <a:rPr sz="1050" b="1" i="0">
                          <a:solidFill>
                            <a:srgbClr val="FFFFFF"/>
                          </a:solidFill>
                          <a:latin typeface="Arial"/>
                        </a:rPr>
                        <a:t>Meaning</a:t>
                      </a:r>
                    </a:p>
                  </a:txBody>
                  <a:tcPr marL="50800" marR="50800" marT="25400" marB="25400" anchor="ctr">
                    <a:solidFill>
                      <a:srgbClr val="6F263D"/>
                    </a:solidFill>
                  </a:tcPr>
                </a:tc>
                <a:extLst>
                  <a:ext uri="{0D108BD9-81ED-4DB2-BD59-A6C34878D82A}">
                    <a16:rowId xmlns:a16="http://schemas.microsoft.com/office/drawing/2014/main" val="10000"/>
                  </a:ext>
                </a:extLst>
              </a:tr>
              <a:tr h="220979">
                <a:tc>
                  <a:txBody>
                    <a:bodyPr/>
                    <a:lstStyle/>
                    <a:p>
                      <a:r>
                        <a:rPr sz="1050" b="0" i="0">
                          <a:solidFill>
                            <a:srgbClr val="222222"/>
                          </a:solidFill>
                          <a:latin typeface="Arial"/>
                        </a:rPr>
                        <a:t>‖x‖²</a:t>
                      </a:r>
                    </a:p>
                  </a:txBody>
                  <a:tcPr marL="50800" marR="50800" marT="25400" marB="25400" anchor="ctr">
                    <a:solidFill>
                      <a:srgbClr val="FFFFFF"/>
                    </a:solidFill>
                  </a:tcPr>
                </a:tc>
                <a:tc>
                  <a:txBody>
                    <a:bodyPr/>
                    <a:lstStyle/>
                    <a:p>
                      <a:r>
                        <a:rPr sz="1050" b="0" i="0">
                          <a:solidFill>
                            <a:srgbClr val="222222"/>
                          </a:solidFill>
                          <a:latin typeface="Arial"/>
                        </a:rPr>
                        <a:t>Squared norm — overall magnitude of a vector</a:t>
                      </a:r>
                    </a:p>
                  </a:txBody>
                  <a:tcPr marL="50800" marR="50800" marT="25400" marB="25400" anchor="ctr">
                    <a:solidFill>
                      <a:srgbClr val="FFFFFF"/>
                    </a:solidFill>
                  </a:tcPr>
                </a:tc>
                <a:extLst>
                  <a:ext uri="{0D108BD9-81ED-4DB2-BD59-A6C34878D82A}">
                    <a16:rowId xmlns:a16="http://schemas.microsoft.com/office/drawing/2014/main" val="10001"/>
                  </a:ext>
                </a:extLst>
              </a:tr>
              <a:tr h="220979">
                <a:tc>
                  <a:txBody>
                    <a:bodyPr/>
                    <a:lstStyle/>
                    <a:p>
                      <a:r>
                        <a:rPr sz="1050" b="0" i="0">
                          <a:solidFill>
                            <a:srgbClr val="222222"/>
                          </a:solidFill>
                          <a:latin typeface="Arial"/>
                        </a:rPr>
                        <a:t>J</a:t>
                      </a:r>
                    </a:p>
                  </a:txBody>
                  <a:tcPr marL="50800" marR="50800" marT="25400" marB="25400" anchor="ctr">
                    <a:solidFill>
                      <a:srgbClr val="F5EFEC"/>
                    </a:solidFill>
                  </a:tcPr>
                </a:tc>
                <a:tc>
                  <a:txBody>
                    <a:bodyPr/>
                    <a:lstStyle/>
                    <a:p>
                      <a:r>
                        <a:rPr sz="1050" b="0" i="0">
                          <a:solidFill>
                            <a:srgbClr val="222222"/>
                          </a:solidFill>
                          <a:latin typeface="Arial"/>
                        </a:rPr>
                        <a:t>Jacobian matrix (sensitivity)</a:t>
                      </a:r>
                    </a:p>
                  </a:txBody>
                  <a:tcPr marL="50800" marR="50800" marT="25400" marB="25400" anchor="ctr">
                    <a:solidFill>
                      <a:srgbClr val="F5EFEC"/>
                    </a:solidFill>
                  </a:tcPr>
                </a:tc>
                <a:extLst>
                  <a:ext uri="{0D108BD9-81ED-4DB2-BD59-A6C34878D82A}">
                    <a16:rowId xmlns:a16="http://schemas.microsoft.com/office/drawing/2014/main" val="10002"/>
                  </a:ext>
                </a:extLst>
              </a:tr>
              <a:tr h="220979">
                <a:tc>
                  <a:txBody>
                    <a:bodyPr/>
                    <a:lstStyle/>
                    <a:p>
                      <a:r>
                        <a:rPr sz="1050" b="0" i="0">
                          <a:solidFill>
                            <a:srgbClr val="222222"/>
                          </a:solidFill>
                          <a:latin typeface="Arial"/>
                        </a:rPr>
                        <a:t>nE</a:t>
                      </a:r>
                    </a:p>
                  </a:txBody>
                  <a:tcPr marL="50800" marR="50800" marT="25400" marB="25400" anchor="ctr">
                    <a:solidFill>
                      <a:srgbClr val="FFFFFF"/>
                    </a:solidFill>
                  </a:tcPr>
                </a:tc>
                <a:tc>
                  <a:txBody>
                    <a:bodyPr/>
                    <a:lstStyle/>
                    <a:p>
                      <a:r>
                        <a:rPr sz="1050" b="0" i="0">
                          <a:solidFill>
                            <a:srgbClr val="222222"/>
                          </a:solidFill>
                          <a:latin typeface="Arial"/>
                        </a:rPr>
                        <a:t>Number of mesh elements</a:t>
                      </a:r>
                    </a:p>
                  </a:txBody>
                  <a:tcPr marL="50800" marR="50800" marT="25400" marB="25400" anchor="ctr">
                    <a:solidFill>
                      <a:srgbClr val="FFFFFF"/>
                    </a:solidFill>
                  </a:tcPr>
                </a:tc>
                <a:extLst>
                  <a:ext uri="{0D108BD9-81ED-4DB2-BD59-A6C34878D82A}">
                    <a16:rowId xmlns:a16="http://schemas.microsoft.com/office/drawing/2014/main" val="10003"/>
                  </a:ext>
                </a:extLst>
              </a:tr>
              <a:tr h="220979">
                <a:tc>
                  <a:txBody>
                    <a:bodyPr/>
                    <a:lstStyle/>
                    <a:p>
                      <a:r>
                        <a:rPr sz="1050" b="0" i="0">
                          <a:solidFill>
                            <a:srgbClr val="222222"/>
                          </a:solidFill>
                          <a:latin typeface="Arial"/>
                        </a:rPr>
                        <a:t>σᵏ</a:t>
                      </a:r>
                    </a:p>
                  </a:txBody>
                  <a:tcPr marL="50800" marR="50800" marT="25400" marB="25400" anchor="ctr">
                    <a:solidFill>
                      <a:srgbClr val="F5EFEC"/>
                    </a:solidFill>
                  </a:tcPr>
                </a:tc>
                <a:tc>
                  <a:txBody>
                    <a:bodyPr/>
                    <a:lstStyle/>
                    <a:p>
                      <a:r>
                        <a:rPr sz="1050" b="0" i="0">
                          <a:solidFill>
                            <a:srgbClr val="222222"/>
                          </a:solidFill>
                          <a:latin typeface="Arial"/>
                        </a:rPr>
                        <a:t>Conductivity estimate at iteration k</a:t>
                      </a:r>
                    </a:p>
                  </a:txBody>
                  <a:tcPr marL="50800" marR="50800" marT="25400" marB="25400" anchor="ctr">
                    <a:solidFill>
                      <a:srgbClr val="F5EFEC"/>
                    </a:solidFill>
                  </a:tcPr>
                </a:tc>
                <a:extLst>
                  <a:ext uri="{0D108BD9-81ED-4DB2-BD59-A6C34878D82A}">
                    <a16:rowId xmlns:a16="http://schemas.microsoft.com/office/drawing/2014/main" val="10004"/>
                  </a:ext>
                </a:extLst>
              </a:tr>
              <a:tr h="220979">
                <a:tc>
                  <a:txBody>
                    <a:bodyPr/>
                    <a:lstStyle/>
                    <a:p>
                      <a:r>
                        <a:rPr sz="1050" b="0" i="0">
                          <a:solidFill>
                            <a:srgbClr val="222222"/>
                          </a:solidFill>
                          <a:latin typeface="Arial"/>
                        </a:rPr>
                        <a:t>σᵏ⁺¹</a:t>
                      </a:r>
                    </a:p>
                  </a:txBody>
                  <a:tcPr marL="50800" marR="50800" marT="25400" marB="25400" anchor="ctr">
                    <a:solidFill>
                      <a:srgbClr val="FFFFFF"/>
                    </a:solidFill>
                  </a:tcPr>
                </a:tc>
                <a:tc>
                  <a:txBody>
                    <a:bodyPr/>
                    <a:lstStyle/>
                    <a:p>
                      <a:r>
                        <a:rPr sz="1050" b="0" i="0">
                          <a:solidFill>
                            <a:srgbClr val="222222"/>
                          </a:solidFill>
                          <a:latin typeface="Arial"/>
                        </a:rPr>
                        <a:t>Updated conductivity estimate</a:t>
                      </a:r>
                    </a:p>
                  </a:txBody>
                  <a:tcPr marL="50800" marR="50800" marT="25400" marB="25400" anchor="ctr">
                    <a:solidFill>
                      <a:srgbClr val="FFFFFF"/>
                    </a:solidFill>
                  </a:tcPr>
                </a:tc>
                <a:extLst>
                  <a:ext uri="{0D108BD9-81ED-4DB2-BD59-A6C34878D82A}">
                    <a16:rowId xmlns:a16="http://schemas.microsoft.com/office/drawing/2014/main" val="10005"/>
                  </a:ext>
                </a:extLst>
              </a:tr>
              <a:tr h="220979">
                <a:tc>
                  <a:txBody>
                    <a:bodyPr/>
                    <a:lstStyle/>
                    <a:p>
                      <a:r>
                        <a:rPr sz="1050" b="0" i="0">
                          <a:solidFill>
                            <a:srgbClr val="222222"/>
                          </a:solidFill>
                          <a:latin typeface="Arial"/>
                        </a:rPr>
                        <a:t>Jᵀ</a:t>
                      </a:r>
                    </a:p>
                  </a:txBody>
                  <a:tcPr marL="50800" marR="50800" marT="25400" marB="25400" anchor="ctr">
                    <a:solidFill>
                      <a:srgbClr val="F5EFEC"/>
                    </a:solidFill>
                  </a:tcPr>
                </a:tc>
                <a:tc>
                  <a:txBody>
                    <a:bodyPr/>
                    <a:lstStyle/>
                    <a:p>
                      <a:r>
                        <a:rPr sz="1050" b="0" i="0">
                          <a:solidFill>
                            <a:srgbClr val="222222"/>
                          </a:solidFill>
                          <a:latin typeface="Arial"/>
                        </a:rPr>
                        <a:t>J transpose</a:t>
                      </a:r>
                    </a:p>
                  </a:txBody>
                  <a:tcPr marL="50800" marR="50800" marT="25400" marB="25400" anchor="ctr">
                    <a:solidFill>
                      <a:srgbClr val="F5EFEC"/>
                    </a:solidFill>
                  </a:tcPr>
                </a:tc>
                <a:extLst>
                  <a:ext uri="{0D108BD9-81ED-4DB2-BD59-A6C34878D82A}">
                    <a16:rowId xmlns:a16="http://schemas.microsoft.com/office/drawing/2014/main" val="10006"/>
                  </a:ext>
                </a:extLst>
              </a:tr>
              <a:tr h="220979">
                <a:tc>
                  <a:txBody>
                    <a:bodyPr/>
                    <a:lstStyle/>
                    <a:p>
                      <a:r>
                        <a:rPr sz="1050" b="0" i="0">
                          <a:solidFill>
                            <a:srgbClr val="222222"/>
                          </a:solidFill>
                          <a:latin typeface="Arial"/>
                        </a:rPr>
                        <a:t>JᵀJ</a:t>
                      </a:r>
                    </a:p>
                  </a:txBody>
                  <a:tcPr marL="50800" marR="50800" marT="25400" marB="25400" anchor="ctr">
                    <a:solidFill>
                      <a:srgbClr val="FFFFFF"/>
                    </a:solidFill>
                  </a:tcPr>
                </a:tc>
                <a:tc>
                  <a:txBody>
                    <a:bodyPr/>
                    <a:lstStyle/>
                    <a:p>
                      <a:r>
                        <a:rPr sz="1050" b="0" i="0">
                          <a:solidFill>
                            <a:srgbClr val="222222"/>
                          </a:solidFill>
                          <a:latin typeface="Arial"/>
                        </a:rPr>
                        <a:t>J transpose times J</a:t>
                      </a:r>
                    </a:p>
                  </a:txBody>
                  <a:tcPr marL="50800" marR="50800" marT="25400" marB="25400" anchor="ctr">
                    <a:solidFill>
                      <a:srgbClr val="FFFFFF"/>
                    </a:solidFill>
                  </a:tcPr>
                </a:tc>
                <a:extLst>
                  <a:ext uri="{0D108BD9-81ED-4DB2-BD59-A6C34878D82A}">
                    <a16:rowId xmlns:a16="http://schemas.microsoft.com/office/drawing/2014/main" val="10007"/>
                  </a:ext>
                </a:extLst>
              </a:tr>
              <a:tr h="220979">
                <a:tc>
                  <a:txBody>
                    <a:bodyPr/>
                    <a:lstStyle/>
                    <a:p>
                      <a:r>
                        <a:rPr sz="1050" b="0" i="0">
                          <a:solidFill>
                            <a:srgbClr val="222222"/>
                          </a:solidFill>
                          <a:latin typeface="Arial"/>
                        </a:rPr>
                        <a:t>JJᵀ</a:t>
                      </a:r>
                    </a:p>
                  </a:txBody>
                  <a:tcPr marL="50800" marR="50800" marT="25400" marB="25400" anchor="ctr">
                    <a:solidFill>
                      <a:srgbClr val="F5EFEC"/>
                    </a:solidFill>
                  </a:tcPr>
                </a:tc>
                <a:tc>
                  <a:txBody>
                    <a:bodyPr/>
                    <a:lstStyle/>
                    <a:p>
                      <a:r>
                        <a:rPr sz="1050" b="0" i="0">
                          <a:solidFill>
                            <a:srgbClr val="222222"/>
                          </a:solidFill>
                          <a:latin typeface="Arial"/>
                        </a:rPr>
                        <a:t>J times J transpose</a:t>
                      </a:r>
                    </a:p>
                  </a:txBody>
                  <a:tcPr marL="50800" marR="50800" marT="25400" marB="25400" anchor="ctr">
                    <a:solidFill>
                      <a:srgbClr val="F5EFEC"/>
                    </a:solidFill>
                  </a:tcPr>
                </a:tc>
                <a:extLst>
                  <a:ext uri="{0D108BD9-81ED-4DB2-BD59-A6C34878D82A}">
                    <a16:rowId xmlns:a16="http://schemas.microsoft.com/office/drawing/2014/main" val="10008"/>
                  </a:ext>
                </a:extLst>
              </a:tr>
              <a:tr h="220979">
                <a:tc>
                  <a:txBody>
                    <a:bodyPr/>
                    <a:lstStyle/>
                    <a:p>
                      <a:r>
                        <a:rPr sz="1050" b="0" i="0">
                          <a:solidFill>
                            <a:srgbClr val="222222"/>
                          </a:solidFill>
                          <a:latin typeface="Arial"/>
                        </a:rPr>
                        <a:t>(...)⁻¹</a:t>
                      </a:r>
                    </a:p>
                  </a:txBody>
                  <a:tcPr marL="50800" marR="50800" marT="25400" marB="25400" anchor="ctr">
                    <a:solidFill>
                      <a:srgbClr val="FFFFFF"/>
                    </a:solidFill>
                  </a:tcPr>
                </a:tc>
                <a:tc>
                  <a:txBody>
                    <a:bodyPr/>
                    <a:lstStyle/>
                    <a:p>
                      <a:r>
                        <a:rPr sz="1050" b="0" i="0">
                          <a:solidFill>
                            <a:srgbClr val="222222"/>
                          </a:solidFill>
                          <a:latin typeface="Arial"/>
                        </a:rPr>
                        <a:t>Matrix inverse</a:t>
                      </a:r>
                    </a:p>
                  </a:txBody>
                  <a:tcPr marL="50800" marR="50800" marT="25400" marB="25400" anchor="ctr">
                    <a:solidFill>
                      <a:srgbClr val="FFFFFF"/>
                    </a:solidFill>
                  </a:tcPr>
                </a:tc>
                <a:extLst>
                  <a:ext uri="{0D108BD9-81ED-4DB2-BD59-A6C34878D82A}">
                    <a16:rowId xmlns:a16="http://schemas.microsoft.com/office/drawing/2014/main" val="10009"/>
                  </a:ext>
                </a:extLst>
              </a:tr>
              <a:tr h="220979">
                <a:tc>
                  <a:txBody>
                    <a:bodyPr/>
                    <a:lstStyle/>
                    <a:p>
                      <a:r>
                        <a:rPr sz="1050" b="0" i="0">
                          <a:solidFill>
                            <a:srgbClr val="222222"/>
                          </a:solidFill>
                          <a:latin typeface="Arial"/>
                        </a:rPr>
                        <a:t>I</a:t>
                      </a:r>
                    </a:p>
                  </a:txBody>
                  <a:tcPr marL="50800" marR="50800" marT="25400" marB="25400" anchor="ctr">
                    <a:solidFill>
                      <a:srgbClr val="F5EFEC"/>
                    </a:solidFill>
                  </a:tcPr>
                </a:tc>
                <a:tc>
                  <a:txBody>
                    <a:bodyPr/>
                    <a:lstStyle/>
                    <a:p>
                      <a:r>
                        <a:rPr sz="1050" b="0" i="0">
                          <a:solidFill>
                            <a:srgbClr val="222222"/>
                          </a:solidFill>
                          <a:latin typeface="Arial"/>
                        </a:rPr>
                        <a:t>Identity matrix</a:t>
                      </a:r>
                    </a:p>
                  </a:txBody>
                  <a:tcPr marL="50800" marR="50800" marT="25400" marB="25400" anchor="ctr">
                    <a:solidFill>
                      <a:srgbClr val="F5EFEC"/>
                    </a:solidFill>
                  </a:tcPr>
                </a:tc>
                <a:extLst>
                  <a:ext uri="{0D108BD9-81ED-4DB2-BD59-A6C34878D82A}">
                    <a16:rowId xmlns:a16="http://schemas.microsoft.com/office/drawing/2014/main" val="10010"/>
                  </a:ext>
                </a:extLst>
              </a:tr>
              <a:tr h="220979">
                <a:tc>
                  <a:txBody>
                    <a:bodyPr/>
                    <a:lstStyle/>
                    <a:p>
                      <a:r>
                        <a:rPr sz="1050" b="0" i="0">
                          <a:solidFill>
                            <a:srgbClr val="222222"/>
                          </a:solidFill>
                          <a:latin typeface="Arial"/>
                        </a:rPr>
                        <a:t>R</a:t>
                      </a:r>
                    </a:p>
                  </a:txBody>
                  <a:tcPr marL="50800" marR="50800" marT="25400" marB="25400" anchor="ctr">
                    <a:solidFill>
                      <a:srgbClr val="FFFFFF"/>
                    </a:solidFill>
                  </a:tcPr>
                </a:tc>
                <a:tc>
                  <a:txBody>
                    <a:bodyPr/>
                    <a:lstStyle/>
                    <a:p>
                      <a:r>
                        <a:rPr sz="1050" b="0" i="0">
                          <a:solidFill>
                            <a:srgbClr val="222222"/>
                          </a:solidFill>
                          <a:latin typeface="Arial"/>
                        </a:rPr>
                        <a:t>Regularization matrix</a:t>
                      </a:r>
                    </a:p>
                  </a:txBody>
                  <a:tcPr marL="50800" marR="50800" marT="25400" marB="25400" anchor="ctr">
                    <a:solidFill>
                      <a:srgbClr val="FFFFFF"/>
                    </a:solidFill>
                  </a:tcPr>
                </a:tc>
                <a:extLst>
                  <a:ext uri="{0D108BD9-81ED-4DB2-BD59-A6C34878D82A}">
                    <a16:rowId xmlns:a16="http://schemas.microsoft.com/office/drawing/2014/main" val="10011"/>
                  </a:ext>
                </a:extLst>
              </a:tr>
              <a:tr h="220979">
                <a:tc>
                  <a:txBody>
                    <a:bodyPr/>
                    <a:lstStyle/>
                    <a:p>
                      <a:r>
                        <a:rPr sz="1050" b="0" i="0">
                          <a:solidFill>
                            <a:srgbClr val="222222"/>
                          </a:solidFill>
                          <a:latin typeface="Arial"/>
                        </a:rPr>
                        <a:t>δσ</a:t>
                      </a:r>
                    </a:p>
                  </a:txBody>
                  <a:tcPr marL="50800" marR="50800" marT="25400" marB="25400" anchor="ctr">
                    <a:solidFill>
                      <a:srgbClr val="F5EFEC"/>
                    </a:solidFill>
                  </a:tcPr>
                </a:tc>
                <a:tc>
                  <a:txBody>
                    <a:bodyPr/>
                    <a:lstStyle/>
                    <a:p>
                      <a:r>
                        <a:rPr sz="1050" b="0" i="0">
                          <a:solidFill>
                            <a:srgbClr val="222222"/>
                          </a:solidFill>
                          <a:latin typeface="Arial"/>
                        </a:rPr>
                        <a:t>Change in conductivity (unknown to solve for)</a:t>
                      </a:r>
                    </a:p>
                  </a:txBody>
                  <a:tcPr marL="50800" marR="50800" marT="25400" marB="25400" anchor="ctr">
                    <a:solidFill>
                      <a:srgbClr val="F5EFEC"/>
                    </a:solidFill>
                  </a:tcPr>
                </a:tc>
                <a:extLst>
                  <a:ext uri="{0D108BD9-81ED-4DB2-BD59-A6C34878D82A}">
                    <a16:rowId xmlns:a16="http://schemas.microsoft.com/office/drawing/2014/main" val="10012"/>
                  </a:ext>
                </a:extLst>
              </a:tr>
              <a:tr h="220979">
                <a:tc>
                  <a:txBody>
                    <a:bodyPr/>
                    <a:lstStyle/>
                    <a:p>
                      <a:r>
                        <a:rPr sz="1050" b="0" i="0">
                          <a:solidFill>
                            <a:srgbClr val="222222"/>
                          </a:solidFill>
                          <a:latin typeface="Arial"/>
                        </a:rPr>
                        <a:t>Δv</a:t>
                      </a:r>
                    </a:p>
                  </a:txBody>
                  <a:tcPr marL="50800" marR="50800" marT="25400" marB="25400" anchor="ctr">
                    <a:solidFill>
                      <a:srgbClr val="FFFFFF"/>
                    </a:solidFill>
                  </a:tcPr>
                </a:tc>
                <a:tc>
                  <a:txBody>
                    <a:bodyPr/>
                    <a:lstStyle/>
                    <a:p>
                      <a:r>
                        <a:rPr sz="1050" b="0" i="0">
                          <a:solidFill>
                            <a:srgbClr val="222222"/>
                          </a:solidFill>
                          <a:latin typeface="Arial"/>
                        </a:rPr>
                        <a:t>Difference in measurements between two frames</a:t>
                      </a:r>
                    </a:p>
                  </a:txBody>
                  <a:tcPr marL="50800" marR="50800" marT="25400" marB="25400" anchor="ctr">
                    <a:solidFill>
                      <a:srgbClr val="FFFFFF"/>
                    </a:solidFill>
                  </a:tcPr>
                </a:tc>
                <a:extLst>
                  <a:ext uri="{0D108BD9-81ED-4DB2-BD59-A6C34878D82A}">
                    <a16:rowId xmlns:a16="http://schemas.microsoft.com/office/drawing/2014/main" val="10013"/>
                  </a:ext>
                </a:extLst>
              </a:tr>
              <a:tr h="220979">
                <a:tc>
                  <a:txBody>
                    <a:bodyPr/>
                    <a:lstStyle/>
                    <a:p>
                      <a:r>
                        <a:rPr sz="1050" b="0" i="0">
                          <a:solidFill>
                            <a:srgbClr val="222222"/>
                          </a:solidFill>
                          <a:latin typeface="Arial"/>
                        </a:rPr>
                        <a:t>W</a:t>
                      </a:r>
                    </a:p>
                  </a:txBody>
                  <a:tcPr marL="50800" marR="50800" marT="25400" marB="25400" anchor="ctr">
                    <a:solidFill>
                      <a:srgbClr val="F5EFEC"/>
                    </a:solidFill>
                  </a:tcPr>
                </a:tc>
                <a:tc>
                  <a:txBody>
                    <a:bodyPr/>
                    <a:lstStyle/>
                    <a:p>
                      <a:r>
                        <a:rPr sz="1050" b="0" i="0">
                          <a:solidFill>
                            <a:srgbClr val="222222"/>
                          </a:solidFill>
                          <a:latin typeface="Arial"/>
                        </a:rPr>
                        <a:t>Grid-weighting matrix (GREIT only)</a:t>
                      </a:r>
                    </a:p>
                  </a:txBody>
                  <a:tcPr marL="50800" marR="50800" marT="25400" marB="25400" anchor="ctr">
                    <a:solidFill>
                      <a:srgbClr val="F5EFEC"/>
                    </a:solidFill>
                  </a:tcPr>
                </a:tc>
                <a:extLst>
                  <a:ext uri="{0D108BD9-81ED-4DB2-BD59-A6C34878D82A}">
                    <a16:rowId xmlns:a16="http://schemas.microsoft.com/office/drawing/2014/main" val="10014"/>
                  </a:ext>
                </a:extLst>
              </a:tr>
              <a:tr h="220979">
                <a:tc>
                  <a:txBody>
                    <a:bodyPr/>
                    <a:lstStyle/>
                    <a:p>
                      <a:r>
                        <a:rPr sz="1050" b="0" i="0">
                          <a:solidFill>
                            <a:srgbClr val="222222"/>
                          </a:solidFill>
                          <a:latin typeface="Arial"/>
                        </a:rPr>
                        <a:t>B</a:t>
                      </a:r>
                    </a:p>
                  </a:txBody>
                  <a:tcPr marL="50800" marR="50800" marT="25400" marB="25400" anchor="ctr">
                    <a:solidFill>
                      <a:srgbClr val="FFFFFF"/>
                    </a:solidFill>
                  </a:tcPr>
                </a:tc>
                <a:tc>
                  <a:txBody>
                    <a:bodyPr/>
                    <a:lstStyle/>
                    <a:p>
                      <a:r>
                        <a:rPr sz="1050" b="0" i="0">
                          <a:solidFill>
                            <a:srgbClr val="222222"/>
                          </a:solidFill>
                          <a:latin typeface="Arial"/>
                        </a:rPr>
                        <a:t>Smear matrix (BP only)</a:t>
                      </a:r>
                    </a:p>
                  </a:txBody>
                  <a:tcPr marL="50800" marR="50800" marT="25400" marB="25400" anchor="ctr">
                    <a:solidFill>
                      <a:srgbClr val="FFFFFF"/>
                    </a:solidFill>
                  </a:tcPr>
                </a:tc>
                <a:extLst>
                  <a:ext uri="{0D108BD9-81ED-4DB2-BD59-A6C34878D82A}">
                    <a16:rowId xmlns:a16="http://schemas.microsoft.com/office/drawing/2014/main" val="10015"/>
                  </a:ext>
                </a:extLst>
              </a:tr>
              <a:tr h="220979">
                <a:tc>
                  <a:txBody>
                    <a:bodyPr/>
                    <a:lstStyle/>
                    <a:p>
                      <a:r>
                        <a:rPr sz="1050" b="0" i="0">
                          <a:solidFill>
                            <a:srgbClr val="222222"/>
                          </a:solidFill>
                          <a:latin typeface="Arial"/>
                        </a:rPr>
                        <a:t>H</a:t>
                      </a:r>
                    </a:p>
                  </a:txBody>
                  <a:tcPr marL="50800" marR="50800" marT="25400" marB="25400" anchor="ctr">
                    <a:solidFill>
                      <a:srgbClr val="F5EFEC"/>
                    </a:solidFill>
                  </a:tcPr>
                </a:tc>
                <a:tc>
                  <a:txBody>
                    <a:bodyPr/>
                    <a:lstStyle/>
                    <a:p>
                      <a:r>
                        <a:rPr sz="1050" b="0" i="0">
                          <a:solidFill>
                            <a:srgbClr val="222222"/>
                          </a:solidFill>
                          <a:latin typeface="Arial"/>
                        </a:rPr>
                        <a:t>Reconstruction matrix</a:t>
                      </a:r>
                    </a:p>
                  </a:txBody>
                  <a:tcPr marL="50800" marR="50800" marT="25400" marB="25400" anchor="ctr">
                    <a:solidFill>
                      <a:srgbClr val="F5EFEC"/>
                    </a:solidFill>
                  </a:tcPr>
                </a:tc>
                <a:extLst>
                  <a:ext uri="{0D108BD9-81ED-4DB2-BD59-A6C34878D82A}">
                    <a16:rowId xmlns:a16="http://schemas.microsoft.com/office/drawing/2014/main" val="10016"/>
                  </a:ext>
                </a:extLst>
              </a:tr>
              <a:tr h="220996">
                <a:tc>
                  <a:txBody>
                    <a:bodyPr/>
                    <a:lstStyle/>
                    <a:p>
                      <a:r>
                        <a:rPr sz="1050" b="0" i="0">
                          <a:solidFill>
                            <a:srgbClr val="222222"/>
                          </a:solidFill>
                          <a:latin typeface="Arial"/>
                        </a:rPr>
                        <a:t>p</a:t>
                      </a:r>
                    </a:p>
                  </a:txBody>
                  <a:tcPr marL="50800" marR="50800" marT="25400" marB="25400" anchor="ctr">
                    <a:solidFill>
                      <a:srgbClr val="FFFFFF"/>
                    </a:solidFill>
                  </a:tcPr>
                </a:tc>
                <a:tc>
                  <a:txBody>
                    <a:bodyPr/>
                    <a:lstStyle/>
                    <a:p>
                      <a:r>
                        <a:rPr sz="1050" b="0" i="0">
                          <a:solidFill>
                            <a:srgbClr val="222222"/>
                          </a:solidFill>
                          <a:latin typeface="Arial"/>
                        </a:rPr>
                        <a:t>Exponent controlling where noise concentrates</a:t>
                      </a:r>
                    </a:p>
                  </a:txBody>
                  <a:tcPr marL="50800" marR="50800" marT="25400" marB="25400" anchor="ctr">
                    <a:solidFill>
                      <a:srgbClr val="FFFFFF"/>
                    </a:solidFill>
                  </a:tcPr>
                </a:tc>
                <a:extLst>
                  <a:ext uri="{0D108BD9-81ED-4DB2-BD59-A6C34878D82A}">
                    <a16:rowId xmlns:a16="http://schemas.microsoft.com/office/drawing/2014/main" val="10017"/>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B69C2E-216B-6443-6A14-BBC893C7BDCA}"/>
              </a:ext>
            </a:extLst>
          </p:cNvPr>
          <p:cNvSpPr>
            <a:spLocks noGrp="1"/>
          </p:cNvSpPr>
          <p:nvPr>
            <p:ph type="title"/>
          </p:nvPr>
        </p:nvSpPr>
        <p:spPr/>
        <p:txBody>
          <a:bodyPr/>
          <a:lstStyle/>
          <a:p>
            <a:r>
              <a:rPr lang="en-VN" dirty="0"/>
              <a:t>References</a:t>
            </a:r>
          </a:p>
        </p:txBody>
      </p:sp>
      <p:sp>
        <p:nvSpPr>
          <p:cNvPr id="4" name="Text Placeholder 3">
            <a:extLst>
              <a:ext uri="{FF2B5EF4-FFF2-40B4-BE49-F238E27FC236}">
                <a16:creationId xmlns:a16="http://schemas.microsoft.com/office/drawing/2014/main" id="{A7D6B480-0E61-5AE1-43D8-6AA8B93502E5}"/>
              </a:ext>
            </a:extLst>
          </p:cNvPr>
          <p:cNvSpPr>
            <a:spLocks noGrp="1"/>
          </p:cNvSpPr>
          <p:nvPr>
            <p:ph type="body" sz="quarter" idx="13"/>
          </p:nvPr>
        </p:nvSpPr>
        <p:spPr/>
        <p:txBody>
          <a:bodyPr/>
          <a:lstStyle/>
          <a:p>
            <a:pPr>
              <a:buNone/>
            </a:pPr>
            <a:r>
              <a:rPr lang="en-US" sz="1500" b="0" i="1" dirty="0"/>
              <a:t>[1] </a:t>
            </a:r>
            <a:r>
              <a:rPr lang="en-US" sz="1500" b="0" i="1" dirty="0">
                <a:solidFill>
                  <a:srgbClr val="303030"/>
                </a:solidFill>
                <a:latin typeface="Arial"/>
              </a:rPr>
              <a:t> </a:t>
            </a:r>
            <a:r>
              <a:rPr lang="en-US" sz="1500" b="0" i="1" dirty="0" err="1">
                <a:solidFill>
                  <a:srgbClr val="303030"/>
                </a:solidFill>
                <a:latin typeface="Arial"/>
              </a:rPr>
              <a:t>Benyuan</a:t>
            </a:r>
            <a:r>
              <a:rPr lang="en-US" sz="1500" b="0" i="1" dirty="0">
                <a:solidFill>
                  <a:srgbClr val="303030"/>
                </a:solidFill>
                <a:latin typeface="Arial"/>
              </a:rPr>
              <a:t> Liu, "</a:t>
            </a:r>
            <a:r>
              <a:rPr lang="en-US" sz="1600" b="0" i="1" dirty="0" err="1">
                <a:effectLst/>
                <a:latin typeface="Helvetica" pitchFamily="2" charset="0"/>
              </a:rPr>
              <a:t>pyEIT</a:t>
            </a:r>
            <a:r>
              <a:rPr lang="en-US" sz="1600" b="0" i="1" dirty="0">
                <a:effectLst/>
                <a:latin typeface="Helvetica" pitchFamily="2" charset="0"/>
              </a:rPr>
              <a:t>: A python based framework for Electrical Impedance</a:t>
            </a:r>
          </a:p>
          <a:p>
            <a:r>
              <a:rPr lang="en-US" sz="1600" b="0" i="1" dirty="0">
                <a:effectLst/>
                <a:latin typeface="Helvetica" pitchFamily="2" charset="0"/>
              </a:rPr>
              <a:t>Tomography</a:t>
            </a:r>
            <a:r>
              <a:rPr lang="en-US" sz="1500" b="0" i="1" dirty="0">
                <a:solidFill>
                  <a:srgbClr val="303030"/>
                </a:solidFill>
                <a:latin typeface="Arial"/>
              </a:rPr>
              <a:t>"</a:t>
            </a:r>
          </a:p>
        </p:txBody>
      </p:sp>
      <p:sp>
        <p:nvSpPr>
          <p:cNvPr id="5" name="Slide Number Placeholder 4">
            <a:extLst>
              <a:ext uri="{FF2B5EF4-FFF2-40B4-BE49-F238E27FC236}">
                <a16:creationId xmlns:a16="http://schemas.microsoft.com/office/drawing/2014/main" id="{E059218D-5F89-E01E-DCF6-74DD05FD9834}"/>
              </a:ext>
            </a:extLst>
          </p:cNvPr>
          <p:cNvSpPr>
            <a:spLocks noGrp="1"/>
          </p:cNvSpPr>
          <p:nvPr>
            <p:ph type="sldNum" sz="quarter" idx="15"/>
          </p:nvPr>
        </p:nvSpPr>
        <p:spPr/>
        <p:txBody>
          <a:bodyPr/>
          <a:lstStyle/>
          <a:p>
            <a:fld id="{0AF20276-0DC3-B247-B3AE-8A6E2F85407E}" type="slidenum">
              <a:rPr lang="en-VN" smtClean="0"/>
              <a:t>21</a:t>
            </a:fld>
            <a:endParaRPr lang="en-VN"/>
          </a:p>
        </p:txBody>
      </p:sp>
    </p:spTree>
    <p:extLst>
      <p:ext uri="{BB962C8B-B14F-4D97-AF65-F5344CB8AC3E}">
        <p14:creationId xmlns:p14="http://schemas.microsoft.com/office/powerpoint/2010/main" val="38098763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4434E-E616-485D-EE06-9956C1F2B348}"/>
              </a:ext>
            </a:extLst>
          </p:cNvPr>
          <p:cNvSpPr>
            <a:spLocks noGrp="1"/>
          </p:cNvSpPr>
          <p:nvPr>
            <p:ph type="title"/>
          </p:nvPr>
        </p:nvSpPr>
        <p:spPr/>
        <p:txBody>
          <a:bodyPr/>
          <a:lstStyle/>
          <a:p>
            <a:r>
              <a:rPr lang="en-US" i="1" dirty="0"/>
              <a:t>Thank</a:t>
            </a:r>
            <a:r>
              <a:rPr lang="en-US" i="1" baseline="0" dirty="0"/>
              <a:t> you</a:t>
            </a:r>
            <a:endParaRPr lang="en-US" i="1" dirty="0"/>
          </a:p>
        </p:txBody>
      </p:sp>
    </p:spTree>
    <p:extLst>
      <p:ext uri="{BB962C8B-B14F-4D97-AF65-F5344CB8AC3E}">
        <p14:creationId xmlns:p14="http://schemas.microsoft.com/office/powerpoint/2010/main" val="10009002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p:txBody>
      </p:sp>
      <p:sp>
        <p:nvSpPr>
          <p:cNvPr id="3" name="Title 2"/>
          <p:cNvSpPr>
            <a:spLocks noGrp="1"/>
          </p:cNvSpPr>
          <p:nvPr>
            <p:ph type="title"/>
          </p:nvPr>
        </p:nvSpPr>
        <p:spPr>
          <a:xfrm>
            <a:off x="236536" y="1003"/>
            <a:ext cx="8450263" cy="514350"/>
          </a:xfrm>
        </p:spPr>
        <p:txBody>
          <a:bodyPr/>
          <a:lstStyle/>
          <a:p>
            <a:r>
              <a:t>2. Literature Review Paper – Progress</a:t>
            </a:r>
          </a:p>
        </p:txBody>
      </p:sp>
      <p:sp>
        <p:nvSpPr>
          <p:cNvPr id="4" name="TextBox 3"/>
          <p:cNvSpPr txBox="1"/>
          <p:nvPr/>
        </p:nvSpPr>
        <p:spPr>
          <a:xfrm>
            <a:off x="533400" y="565478"/>
            <a:ext cx="7315200" cy="307777"/>
          </a:xfrm>
          <a:prstGeom prst="rect">
            <a:avLst/>
          </a:prstGeom>
          <a:noFill/>
        </p:spPr>
        <p:txBody>
          <a:bodyPr wrap="square">
            <a:spAutoFit/>
          </a:bodyPr>
          <a:lstStyle/>
          <a:p>
            <a:r>
              <a:rPr sz="1400" b="1" i="0">
                <a:solidFill>
                  <a:srgbClr val="303030"/>
                </a:solidFill>
                <a:latin typeface="Arial"/>
              </a:rPr>
              <a:t>Corpus growth this week: Individual Studies vs. Existing Reviews</a:t>
            </a:r>
          </a:p>
        </p:txBody>
      </p:sp>
      <p:sp>
        <p:nvSpPr>
          <p:cNvPr id="5" name="TextBox 4"/>
          <p:cNvSpPr txBox="1"/>
          <p:nvPr/>
        </p:nvSpPr>
        <p:spPr>
          <a:xfrm>
            <a:off x="457200" y="920000"/>
            <a:ext cx="8229600" cy="460000"/>
          </a:xfrm>
          <a:prstGeom prst="rect">
            <a:avLst/>
          </a:prstGeom>
          <a:noFill/>
        </p:spPr>
        <p:txBody>
          <a:bodyPr wrap="square">
            <a:spAutoFit/>
          </a:bodyPr>
          <a:lstStyle/>
          <a:p>
            <a:r>
              <a:rPr sz="1300" b="0" i="0">
                <a:solidFill>
                  <a:srgbClr val="303030"/>
                </a:solidFill>
                <a:latin typeface="Arial"/>
              </a:rPr>
              <a:t>Reconstructed Week 5 totals from dated extraction-status stamps in the Paper Tracker (cross-checked against Week 5’s own Existing Reviews count of 35 - exact match).</a:t>
            </a:r>
          </a:p>
        </p:txBody>
      </p:sp>
      <p:graphicFrame>
        <p:nvGraphicFramePr>
          <p:cNvPr id="6" name="Chart 5"/>
          <p:cNvGraphicFramePr>
            <a:graphicFrameLocks noGrp="1"/>
          </p:cNvGraphicFramePr>
          <p:nvPr/>
        </p:nvGraphicFramePr>
        <p:xfrm>
          <a:off x="1200000" y="1420000"/>
          <a:ext cx="6750000" cy="2650000"/>
        </p:xfrm>
        <a:graphic>
          <a:graphicData uri="http://schemas.openxmlformats.org/drawingml/2006/chart">
            <c:chart xmlns:c="http://schemas.openxmlformats.org/drawingml/2006/chart" r:id="rId2"/>
          </a:graphicData>
        </a:graphic>
      </p:graphicFrame>
      <p:sp>
        <p:nvSpPr>
          <p:cNvPr id="7" name="TextBox 6"/>
          <p:cNvSpPr txBox="1"/>
          <p:nvPr/>
        </p:nvSpPr>
        <p:spPr>
          <a:xfrm>
            <a:off x="457200" y="4130000"/>
            <a:ext cx="8229600" cy="500000"/>
          </a:xfrm>
          <a:prstGeom prst="rect">
            <a:avLst/>
          </a:prstGeom>
          <a:noFill/>
        </p:spPr>
        <p:txBody>
          <a:bodyPr wrap="square">
            <a:spAutoFit/>
          </a:bodyPr>
          <a:lstStyle/>
          <a:p>
            <a:r>
              <a:rPr sz="1300" b="1" i="1">
                <a:solidFill>
                  <a:srgbClr val="E17C00"/>
                </a:solidFill>
                <a:latin typeface="Arial"/>
              </a:rPr>
              <a:t>Individual Studies more than doubled (+151%, +74 papers); Existing Reviews grew only slightly (+2). This week’s effort was almost entirely primary-study intake.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p:txBody>
      </p:sp>
      <p:sp>
        <p:nvSpPr>
          <p:cNvPr id="3" name="Title 2"/>
          <p:cNvSpPr>
            <a:spLocks noGrp="1"/>
          </p:cNvSpPr>
          <p:nvPr>
            <p:ph type="title"/>
          </p:nvPr>
        </p:nvSpPr>
        <p:spPr>
          <a:xfrm>
            <a:off x="236536" y="1003"/>
            <a:ext cx="8450263" cy="514350"/>
          </a:xfrm>
        </p:spPr>
        <p:txBody>
          <a:bodyPr/>
          <a:lstStyle/>
          <a:p>
            <a:r>
              <a:t>2. Literature Review Paper – Progress</a:t>
            </a:r>
          </a:p>
        </p:txBody>
      </p:sp>
      <p:sp>
        <p:nvSpPr>
          <p:cNvPr id="4" name="TextBox 3"/>
          <p:cNvSpPr txBox="1"/>
          <p:nvPr/>
        </p:nvSpPr>
        <p:spPr>
          <a:xfrm>
            <a:off x="533400" y="565478"/>
            <a:ext cx="7315200" cy="307777"/>
          </a:xfrm>
          <a:prstGeom prst="rect">
            <a:avLst/>
          </a:prstGeom>
          <a:noFill/>
        </p:spPr>
        <p:txBody>
          <a:bodyPr wrap="square">
            <a:spAutoFit/>
          </a:bodyPr>
          <a:lstStyle/>
          <a:p>
            <a:r>
              <a:rPr sz="1400" b="1" i="0">
                <a:solidFill>
                  <a:srgbClr val="303030"/>
                </a:solidFill>
                <a:latin typeface="Arial"/>
              </a:rPr>
              <a:t>Subsystem coverage growth (tag-instances, multi-label)</a:t>
            </a:r>
          </a:p>
        </p:txBody>
      </p:sp>
      <p:sp>
        <p:nvSpPr>
          <p:cNvPr id="5" name="TextBox 4"/>
          <p:cNvSpPr txBox="1"/>
          <p:nvPr/>
        </p:nvSpPr>
        <p:spPr>
          <a:xfrm>
            <a:off x="457200" y="920000"/>
            <a:ext cx="8229600" cy="460000"/>
          </a:xfrm>
          <a:prstGeom prst="rect">
            <a:avLst/>
          </a:prstGeom>
          <a:noFill/>
        </p:spPr>
        <p:txBody>
          <a:bodyPr wrap="square">
            <a:spAutoFit/>
          </a:bodyPr>
          <a:lstStyle/>
          <a:p>
            <a:r>
              <a:rPr sz="1300" b="0" i="0">
                <a:solidFill>
                  <a:srgbClr val="303030"/>
                </a:solidFill>
                <a:latin typeface="Arial"/>
              </a:rPr>
              <a:t>Each paper can be tagged with more than one subsystem, so these are tag-instance sums, not paper counts - the same basis as the Subsystem × Modality table.</a:t>
            </a:r>
          </a:p>
        </p:txBody>
      </p:sp>
      <p:graphicFrame>
        <p:nvGraphicFramePr>
          <p:cNvPr id="6" name="Chart 5"/>
          <p:cNvGraphicFramePr>
            <a:graphicFrameLocks noGrp="1"/>
          </p:cNvGraphicFramePr>
          <p:nvPr/>
        </p:nvGraphicFramePr>
        <p:xfrm>
          <a:off x="900000" y="1420000"/>
          <a:ext cx="7350000" cy="2650000"/>
        </p:xfrm>
        <a:graphic>
          <a:graphicData uri="http://schemas.openxmlformats.org/drawingml/2006/chart">
            <c:chart xmlns:c="http://schemas.openxmlformats.org/drawingml/2006/chart" r:id="rId2"/>
          </a:graphicData>
        </a:graphic>
      </p:graphicFrame>
      <p:sp>
        <p:nvSpPr>
          <p:cNvPr id="7" name="TextBox 6"/>
          <p:cNvSpPr txBox="1"/>
          <p:nvPr/>
        </p:nvSpPr>
        <p:spPr>
          <a:xfrm>
            <a:off x="457200" y="4130000"/>
            <a:ext cx="8229600" cy="500000"/>
          </a:xfrm>
          <a:prstGeom prst="rect">
            <a:avLst/>
          </a:prstGeom>
          <a:noFill/>
        </p:spPr>
        <p:txBody>
          <a:bodyPr wrap="square">
            <a:spAutoFit/>
          </a:bodyPr>
          <a:lstStyle/>
          <a:p>
            <a:r>
              <a:rPr sz="1300" b="1" i="1">
                <a:solidFill>
                  <a:srgbClr val="E17C00"/>
                </a:solidFill>
                <a:latin typeface="Arial"/>
              </a:rPr>
              <a:t>Articulation grew fastest (+124%) and now accounts for nearly half of all tagged evidence; Prosody grew slowest (+22%) and is falling behind in relative share.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p:txBody>
      </p:sp>
      <p:sp>
        <p:nvSpPr>
          <p:cNvPr id="3" name="Title 2"/>
          <p:cNvSpPr>
            <a:spLocks noGrp="1"/>
          </p:cNvSpPr>
          <p:nvPr>
            <p:ph type="title"/>
          </p:nvPr>
        </p:nvSpPr>
        <p:spPr>
          <a:xfrm>
            <a:off x="236536" y="1003"/>
            <a:ext cx="8450263" cy="514350"/>
          </a:xfrm>
        </p:spPr>
        <p:txBody>
          <a:bodyPr/>
          <a:lstStyle/>
          <a:p>
            <a:r>
              <a:t>2. Literature Review Paper – Progress</a:t>
            </a:r>
          </a:p>
        </p:txBody>
      </p:sp>
      <p:sp>
        <p:nvSpPr>
          <p:cNvPr id="4" name="TextBox 3"/>
          <p:cNvSpPr txBox="1"/>
          <p:nvPr/>
        </p:nvSpPr>
        <p:spPr>
          <a:xfrm>
            <a:off x="533400" y="565478"/>
            <a:ext cx="7315200" cy="307777"/>
          </a:xfrm>
          <a:prstGeom prst="rect">
            <a:avLst/>
          </a:prstGeom>
          <a:noFill/>
        </p:spPr>
        <p:txBody>
          <a:bodyPr wrap="square">
            <a:spAutoFit/>
          </a:bodyPr>
          <a:lstStyle/>
          <a:p>
            <a:r>
              <a:rPr sz="1400" b="1" i="0">
                <a:solidFill>
                  <a:srgbClr val="303030"/>
                </a:solidFill>
                <a:latin typeface="Arial"/>
              </a:rPr>
              <a:t>Sensing modality growth (tag-instances, the 8 tracked modalities)</a:t>
            </a:r>
          </a:p>
        </p:txBody>
      </p:sp>
      <p:sp>
        <p:nvSpPr>
          <p:cNvPr id="5" name="TextBox 4"/>
          <p:cNvSpPr txBox="1"/>
          <p:nvPr/>
        </p:nvSpPr>
        <p:spPr>
          <a:xfrm>
            <a:off x="457200" y="900000"/>
            <a:ext cx="8229600" cy="340000"/>
          </a:xfrm>
          <a:prstGeom prst="rect">
            <a:avLst/>
          </a:prstGeom>
          <a:noFill/>
        </p:spPr>
        <p:txBody>
          <a:bodyPr wrap="square">
            <a:spAutoFit/>
          </a:bodyPr>
          <a:lstStyle/>
          <a:p>
            <a:r>
              <a:rPr sz="1300" b="0" i="0">
                <a:solidFill>
                  <a:srgbClr val="303030"/>
                </a:solidFill>
                <a:latin typeface="Arial"/>
              </a:rPr>
              <a:t>Same 8 modality columns as the Subsystem × Modality and Population × Modality tables.</a:t>
            </a:r>
          </a:p>
        </p:txBody>
      </p:sp>
      <p:graphicFrame>
        <p:nvGraphicFramePr>
          <p:cNvPr id="6" name="Chart 5"/>
          <p:cNvGraphicFramePr>
            <a:graphicFrameLocks noGrp="1"/>
          </p:cNvGraphicFramePr>
          <p:nvPr/>
        </p:nvGraphicFramePr>
        <p:xfrm>
          <a:off x="550000" y="1270000"/>
          <a:ext cx="8050000" cy="2350000"/>
        </p:xfrm>
        <a:graphic>
          <a:graphicData uri="http://schemas.openxmlformats.org/drawingml/2006/chart">
            <c:chart xmlns:c="http://schemas.openxmlformats.org/drawingml/2006/chart" r:id="rId2"/>
          </a:graphicData>
        </a:graphic>
      </p:graphicFrame>
      <p:sp>
        <p:nvSpPr>
          <p:cNvPr id="7" name="TextBox 6"/>
          <p:cNvSpPr txBox="1"/>
          <p:nvPr/>
        </p:nvSpPr>
        <p:spPr>
          <a:xfrm>
            <a:off x="457200" y="3660000"/>
            <a:ext cx="8229600" cy="500000"/>
          </a:xfrm>
          <a:prstGeom prst="rect">
            <a:avLst/>
          </a:prstGeom>
          <a:noFill/>
        </p:spPr>
        <p:txBody>
          <a:bodyPr wrap="square">
            <a:spAutoFit/>
          </a:bodyPr>
          <a:lstStyle/>
          <a:p>
            <a:r>
              <a:rPr sz="1250" b="1" i="1">
                <a:solidFill>
                  <a:srgbClr val="E17C00"/>
                </a:solidFill>
                <a:latin typeface="Arial"/>
              </a:rPr>
              <a:t>EPG (+225%), UTI and EMA/kinematic grew fastest in relative terms - all Articulation-linked, matching this week’s intake pattern.</a:t>
            </a:r>
          </a:p>
        </p:txBody>
      </p:sp>
      <p:sp>
        <p:nvSpPr>
          <p:cNvPr id="8" name="TextBox 7"/>
          <p:cNvSpPr txBox="1"/>
          <p:nvPr/>
        </p:nvSpPr>
        <p:spPr>
          <a:xfrm>
            <a:off x="457200" y="4280000"/>
            <a:ext cx="8229600" cy="500000"/>
          </a:xfrm>
          <a:prstGeom prst="rect">
            <a:avLst/>
          </a:prstGeom>
          <a:noFill/>
        </p:spPr>
        <p:txBody>
          <a:bodyPr wrap="square">
            <a:spAutoFit/>
          </a:bodyPr>
          <a:lstStyle/>
          <a:p>
            <a:r>
              <a:rPr sz="800" b="0" i="1">
                <a:solidFill>
                  <a:srgbClr val="7D7364"/>
                </a:solidFill>
                <a:latin typeface="Arial"/>
              </a:rPr>
              <a:t>12 more modality categories are now substantial but not yet columns here: Nasometry (11), Accelerometer (7), Smartphone app (6), No sensing device (5), Video/optical mocap (5), MRI static (4), IMU (3), Fiberscopy (3), Wearable piezo (3), EEG (2), Multimodal fusion (2), NMES (1).</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p:txBody>
      </p:sp>
      <p:sp>
        <p:nvSpPr>
          <p:cNvPr id="3" name="Title 2"/>
          <p:cNvSpPr>
            <a:spLocks noGrp="1"/>
          </p:cNvSpPr>
          <p:nvPr>
            <p:ph type="title"/>
          </p:nvPr>
        </p:nvSpPr>
        <p:spPr>
          <a:xfrm>
            <a:off x="236536" y="1003"/>
            <a:ext cx="8450263" cy="514350"/>
          </a:xfrm>
        </p:spPr>
        <p:txBody>
          <a:bodyPr/>
          <a:lstStyle/>
          <a:p>
            <a:r>
              <a:t>2. Literature Review Paper – Progress</a:t>
            </a:r>
          </a:p>
        </p:txBody>
      </p:sp>
      <p:sp>
        <p:nvSpPr>
          <p:cNvPr id="4" name="TextBox 3"/>
          <p:cNvSpPr txBox="1"/>
          <p:nvPr/>
        </p:nvSpPr>
        <p:spPr>
          <a:xfrm>
            <a:off x="533400" y="565478"/>
            <a:ext cx="7315200" cy="307777"/>
          </a:xfrm>
          <a:prstGeom prst="rect">
            <a:avLst/>
          </a:prstGeom>
          <a:noFill/>
        </p:spPr>
        <p:txBody>
          <a:bodyPr wrap="square">
            <a:spAutoFit/>
          </a:bodyPr>
          <a:lstStyle/>
          <a:p>
            <a:r>
              <a:rPr sz="1400" b="1" i="0">
                <a:solidFill>
                  <a:srgbClr val="303030"/>
                </a:solidFill>
                <a:latin typeface="Arial"/>
              </a:rPr>
              <a:t>Population coverage growth (tag-instances, 6 of 8 rows - see note)</a:t>
            </a:r>
          </a:p>
        </p:txBody>
      </p:sp>
      <p:sp>
        <p:nvSpPr>
          <p:cNvPr id="5" name="TextBox 4"/>
          <p:cNvSpPr txBox="1"/>
          <p:nvPr/>
        </p:nvSpPr>
        <p:spPr>
          <a:xfrm>
            <a:off x="457200" y="900000"/>
            <a:ext cx="8229600" cy="460000"/>
          </a:xfrm>
          <a:prstGeom prst="rect">
            <a:avLst/>
          </a:prstGeom>
          <a:noFill/>
        </p:spPr>
        <p:txBody>
          <a:bodyPr wrap="square">
            <a:spAutoFit/>
          </a:bodyPr>
          <a:lstStyle/>
          <a:p>
            <a:r>
              <a:rPr sz="1300" b="0" i="0">
                <a:solidFill>
                  <a:srgbClr val="303030"/>
                </a:solidFill>
                <a:latin typeface="Arial"/>
              </a:rPr>
              <a:t>“Other neurologic” and “No dysarthria cohort” are excluded here (marked N/A* in the table above) - their category definitions are not stable enough this pass to compare with confidence.</a:t>
            </a:r>
          </a:p>
        </p:txBody>
      </p:sp>
      <p:graphicFrame>
        <p:nvGraphicFramePr>
          <p:cNvPr id="6" name="Chart 5"/>
          <p:cNvGraphicFramePr>
            <a:graphicFrameLocks noGrp="1"/>
          </p:cNvGraphicFramePr>
          <p:nvPr/>
        </p:nvGraphicFramePr>
        <p:xfrm>
          <a:off x="900000" y="1380000"/>
          <a:ext cx="7350000" cy="2350000"/>
        </p:xfrm>
        <a:graphic>
          <a:graphicData uri="http://schemas.openxmlformats.org/drawingml/2006/chart">
            <c:chart xmlns:c="http://schemas.openxmlformats.org/drawingml/2006/chart" r:id="rId2"/>
          </a:graphicData>
        </a:graphic>
      </p:graphicFrame>
      <p:sp>
        <p:nvSpPr>
          <p:cNvPr id="7" name="TextBox 6"/>
          <p:cNvSpPr txBox="1"/>
          <p:nvPr/>
        </p:nvSpPr>
        <p:spPr>
          <a:xfrm>
            <a:off x="457200" y="3760000"/>
            <a:ext cx="8229600" cy="500000"/>
          </a:xfrm>
          <a:prstGeom prst="rect">
            <a:avLst/>
          </a:prstGeom>
          <a:noFill/>
        </p:spPr>
        <p:txBody>
          <a:bodyPr wrap="square">
            <a:spAutoFit/>
          </a:bodyPr>
          <a:lstStyle/>
          <a:p>
            <a:r>
              <a:rPr sz="1250" b="1" i="1">
                <a:solidFill>
                  <a:srgbClr val="E17C00"/>
                </a:solidFill>
                <a:latin typeface="Arial"/>
              </a:rPr>
              <a:t>Stroke grew fastest by far (4→28, +600%). TBI/concussion appears to shrink (5→3) - a schema split, not lost data (see note below).</a:t>
            </a:r>
          </a:p>
        </p:txBody>
      </p:sp>
      <p:sp>
        <p:nvSpPr>
          <p:cNvPr id="8" name="TextBox 7"/>
          <p:cNvSpPr txBox="1"/>
          <p:nvPr/>
        </p:nvSpPr>
        <p:spPr>
          <a:xfrm>
            <a:off x="457200" y="4330000"/>
            <a:ext cx="8229600" cy="500000"/>
          </a:xfrm>
          <a:prstGeom prst="rect">
            <a:avLst/>
          </a:prstGeom>
          <a:noFill/>
        </p:spPr>
        <p:txBody>
          <a:bodyPr wrap="square">
            <a:spAutoFit/>
          </a:bodyPr>
          <a:lstStyle/>
          <a:p>
            <a:r>
              <a:rPr sz="800" b="0" i="1">
                <a:solidFill>
                  <a:srgbClr val="7D7364"/>
                </a:solidFill>
                <a:latin typeface="Arial"/>
              </a:rPr>
              <a:t>TBI/concussion note: concussion cases in otherwise-healthy participants without confirmed dysarthria are now filed under "Non-dysarthria clinical population" instead of this row, per the current classification rules.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p:txBody>
      </p:sp>
      <p:sp>
        <p:nvSpPr>
          <p:cNvPr id="3" name="Title 2"/>
          <p:cNvSpPr>
            <a:spLocks noGrp="1"/>
          </p:cNvSpPr>
          <p:nvPr>
            <p:ph type="title"/>
          </p:nvPr>
        </p:nvSpPr>
        <p:spPr>
          <a:xfrm>
            <a:off x="236536" y="1003"/>
            <a:ext cx="8450263" cy="514350"/>
          </a:xfrm>
        </p:spPr>
        <p:txBody>
          <a:bodyPr/>
          <a:lstStyle/>
          <a:p>
            <a:r>
              <a:t>2. Literature Review Paper – Progress</a:t>
            </a:r>
          </a:p>
        </p:txBody>
      </p:sp>
      <p:sp>
        <p:nvSpPr>
          <p:cNvPr id="4" name="TextBox 3"/>
          <p:cNvSpPr txBox="1"/>
          <p:nvPr/>
        </p:nvSpPr>
        <p:spPr>
          <a:xfrm>
            <a:off x="533400" y="565478"/>
            <a:ext cx="7315200" cy="307777"/>
          </a:xfrm>
          <a:prstGeom prst="rect">
            <a:avLst/>
          </a:prstGeom>
          <a:noFill/>
        </p:spPr>
        <p:txBody>
          <a:bodyPr wrap="square">
            <a:spAutoFit/>
          </a:bodyPr>
          <a:lstStyle/>
          <a:p>
            <a:r>
              <a:rPr sz="1400" b="1" i="0">
                <a:solidFill>
                  <a:srgbClr val="303030"/>
                </a:solidFill>
                <a:latin typeface="Arial"/>
              </a:rPr>
              <a:t>Existing Reviews update, and corpus quality under growth</a:t>
            </a:r>
          </a:p>
        </p:txBody>
      </p:sp>
      <p:graphicFrame>
        <p:nvGraphicFramePr>
          <p:cNvPr id="5" name="Table 4"/>
          <p:cNvGraphicFramePr>
            <a:graphicFrameLocks noGrp="1"/>
          </p:cNvGraphicFramePr>
          <p:nvPr/>
        </p:nvGraphicFramePr>
        <p:xfrm>
          <a:off x="700000" y="920000"/>
          <a:ext cx="7700000" cy="1150000"/>
        </p:xfrm>
        <a:graphic>
          <a:graphicData uri="http://schemas.openxmlformats.org/drawingml/2006/table">
            <a:tbl>
              <a:tblPr firstRow="0" bandRow="0"/>
              <a:tblGrid>
                <a:gridCol w="4200000"/>
                <a:gridCol w="1750000"/>
                <a:gridCol w="1750000"/>
              </a:tblGrid>
              <a:tr h="383333">
                <a:tc>
                  <a:txBody>
                    <a:bodyPr wrap="square"/>
                    <a:lstStyle/>
                    <a:p>
                      <a:pPr algn="l"/>
                      <a:r>
                        <a:rPr sz="1200" b="1" i="0">
                          <a:solidFill>
                            <a:srgbClr val="FFFFFF"/>
                          </a:solidFill>
                          <a:latin typeface="Arial"/>
                        </a:rPr>
                        <a:t>Metric</a:t>
                      </a:r>
                    </a:p>
                  </a:txBody>
                  <a:tcPr anchor="ctr" marL="45720" marR="45720" marT="18000" marB="18000">
                    <a:solidFill>
                      <a:srgbClr val="72243D"/>
                    </a:solidFill>
                  </a:tcPr>
                </a:tc>
                <a:tc>
                  <a:txBody>
                    <a:bodyPr wrap="square"/>
                    <a:lstStyle/>
                    <a:p>
                      <a:pPr algn="ctr"/>
                      <a:r>
                        <a:rPr sz="1200" b="1" i="0">
                          <a:solidFill>
                            <a:srgbClr val="FFFFFF"/>
                          </a:solidFill>
                          <a:latin typeface="Arial"/>
                        </a:rPr>
                        <a:t>Week 5</a:t>
                      </a:r>
                    </a:p>
                  </a:txBody>
                  <a:tcPr anchor="ctr" marL="45720" marR="45720" marT="18000" marB="18000">
                    <a:solidFill>
                      <a:srgbClr val="72243D"/>
                    </a:solidFill>
                  </a:tcPr>
                </a:tc>
                <a:tc>
                  <a:txBody>
                    <a:bodyPr wrap="square"/>
                    <a:lstStyle/>
                    <a:p>
                      <a:pPr algn="ctr"/>
                      <a:r>
                        <a:rPr sz="1200" b="1" i="0">
                          <a:solidFill>
                            <a:srgbClr val="FFFFFF"/>
                          </a:solidFill>
                          <a:latin typeface="Arial"/>
                        </a:rPr>
                        <a:t>Week 6</a:t>
                      </a:r>
                    </a:p>
                  </a:txBody>
                  <a:tcPr anchor="ctr" marL="45720" marR="45720" marT="18000" marB="18000">
                    <a:solidFill>
                      <a:srgbClr val="72243D"/>
                    </a:solidFill>
                  </a:tcPr>
                </a:tc>
              </a:tr>
              <a:tr h="383333">
                <a:tc>
                  <a:txBody>
                    <a:bodyPr wrap="square"/>
                    <a:lstStyle/>
                    <a:p>
                      <a:pPr algn="l"/>
                      <a:r>
                        <a:rPr sz="1100" b="0" i="0">
                          <a:solidFill>
                            <a:srgbClr val="303030"/>
                          </a:solidFill>
                          <a:latin typeface="Arial"/>
                        </a:rPr>
                        <a:t>Existing Reviews (total)</a:t>
                      </a:r>
                    </a:p>
                  </a:txBody>
                  <a:tcPr anchor="ctr" marL="45720" marR="45720" marT="18000" marB="18000">
                    <a:solidFill>
                      <a:srgbClr val="FFFFFF"/>
                    </a:solidFill>
                  </a:tcPr>
                </a:tc>
                <a:tc>
                  <a:txBody>
                    <a:bodyPr wrap="square"/>
                    <a:lstStyle/>
                    <a:p>
                      <a:pPr algn="ctr"/>
                      <a:r>
                        <a:rPr sz="1200" b="1" i="0">
                          <a:solidFill>
                            <a:srgbClr val="72243D"/>
                          </a:solidFill>
                          <a:latin typeface="Arial"/>
                        </a:rPr>
                        <a:t>35</a:t>
                      </a:r>
                    </a:p>
                  </a:txBody>
                  <a:tcPr anchor="ctr" marL="45720" marR="45720" marT="18000" marB="18000">
                    <a:solidFill>
                      <a:srgbClr val="FFFFFF"/>
                    </a:solidFill>
                  </a:tcPr>
                </a:tc>
                <a:tc>
                  <a:txBody>
                    <a:bodyPr wrap="square"/>
                    <a:lstStyle/>
                    <a:p>
                      <a:pPr algn="ctr"/>
                      <a:r>
                        <a:rPr sz="1200" b="1" i="0">
                          <a:solidFill>
                            <a:srgbClr val="72243D"/>
                          </a:solidFill>
                          <a:latin typeface="Arial"/>
                        </a:rPr>
                        <a:t>37</a:t>
                      </a:r>
                    </a:p>
                  </a:txBody>
                  <a:tcPr anchor="ctr" marL="45720" marR="45720" marT="18000" marB="18000">
                    <a:solidFill>
                      <a:srgbClr val="FFFFFF"/>
                    </a:solidFill>
                  </a:tcPr>
                </a:tc>
              </a:tr>
              <a:tr h="383334">
                <a:tc>
                  <a:txBody>
                    <a:bodyPr wrap="square"/>
                    <a:lstStyle/>
                    <a:p>
                      <a:pPr algn="l"/>
                      <a:r>
                        <a:rPr sz="1100" b="0" i="0">
                          <a:solidFill>
                            <a:srgbClr val="303030"/>
                          </a:solidFill>
                          <a:latin typeface="Arial"/>
                        </a:rPr>
                        <a:t>Confirmed "direct competitor" reviews</a:t>
                      </a:r>
                    </a:p>
                  </a:txBody>
                  <a:tcPr anchor="ctr" marL="45720" marR="45720" marT="18000" marB="18000">
                    <a:solidFill>
                      <a:srgbClr val="FFFFFF"/>
                    </a:solidFill>
                  </a:tcPr>
                </a:tc>
                <a:tc>
                  <a:txBody>
                    <a:bodyPr wrap="square"/>
                    <a:lstStyle/>
                    <a:p>
                      <a:pPr algn="ctr"/>
                      <a:r>
                        <a:rPr sz="1200" b="1" i="0">
                          <a:solidFill>
                            <a:srgbClr val="72243D"/>
                          </a:solidFill>
                          <a:latin typeface="Arial"/>
                        </a:rPr>
                        <a:t>0</a:t>
                      </a:r>
                    </a:p>
                  </a:txBody>
                  <a:tcPr anchor="ctr" marL="45720" marR="45720" marT="18000" marB="18000">
                    <a:solidFill>
                      <a:srgbClr val="FFFFFF"/>
                    </a:solidFill>
                  </a:tcPr>
                </a:tc>
                <a:tc>
                  <a:txBody>
                    <a:bodyPr wrap="square"/>
                    <a:lstStyle/>
                    <a:p>
                      <a:pPr algn="ctr"/>
                      <a:r>
                        <a:rPr sz="1200" b="1" i="0">
                          <a:solidFill>
                            <a:srgbClr val="72243D"/>
                          </a:solidFill>
                          <a:latin typeface="Arial"/>
                        </a:rPr>
                        <a:t>0</a:t>
                      </a:r>
                    </a:p>
                  </a:txBody>
                  <a:tcPr anchor="ctr" marL="45720" marR="45720" marT="18000" marB="18000">
                    <a:solidFill>
                      <a:srgbClr val="FFFFFF"/>
                    </a:solidFill>
                  </a:tcPr>
                </a:tc>
              </a:tr>
            </a:tbl>
          </a:graphicData>
        </a:graphic>
      </p:graphicFrame>
      <p:sp>
        <p:nvSpPr>
          <p:cNvPr id="6" name="TextBox 5"/>
          <p:cNvSpPr txBox="1"/>
          <p:nvPr/>
        </p:nvSpPr>
        <p:spPr>
          <a:xfrm>
            <a:off x="700000" y="2130000"/>
            <a:ext cx="7700000" cy="500000"/>
          </a:xfrm>
          <a:prstGeom prst="rect">
            <a:avLst/>
          </a:prstGeom>
          <a:noFill/>
        </p:spPr>
        <p:txBody>
          <a:bodyPr wrap="square">
            <a:spAutoFit/>
          </a:bodyPr>
          <a:lstStyle/>
          <a:p>
            <a:r>
              <a:rPr sz="900" b="0" i="1">
                <a:solidFill>
                  <a:srgbClr val="7D7364"/>
                </a:solidFill>
                <a:latin typeface="Arial"/>
              </a:rPr>
              <a:t>The Week 5 positioning breakdown (Foundational 1 / Adjacent 16 / Structural 6 / Narrow 12 / Direct 0) is not recomputed this week: the source column now uses granular free-text labels instead of those 5 buckets, so a clean re-bucketing needs your call before that chart (slide 8) can be safely updated.</a:t>
            </a:r>
          </a:p>
        </p:txBody>
      </p:sp>
      <p:sp>
        <p:nvSpPr>
          <p:cNvPr id="7" name="TextBox 6"/>
          <p:cNvSpPr txBox="1"/>
          <p:nvPr/>
        </p:nvSpPr>
        <p:spPr>
          <a:xfrm>
            <a:off x="700000" y="2870000"/>
            <a:ext cx="7700000" cy="280000"/>
          </a:xfrm>
          <a:prstGeom prst="rect">
            <a:avLst/>
          </a:prstGeom>
          <a:noFill/>
        </p:spPr>
        <p:txBody>
          <a:bodyPr wrap="none">
            <a:spAutoFit/>
          </a:bodyPr>
          <a:lstStyle/>
          <a:p>
            <a:r>
              <a:rPr sz="1200" b="1" i="0">
                <a:solidFill>
                  <a:srgbClr val="303030"/>
                </a:solidFill>
                <a:latin typeface="Arial"/>
              </a:rPr>
              <a:t>Data quality (current, full 123-paper corpus):</a:t>
            </a:r>
          </a:p>
        </p:txBody>
      </p:sp>
      <p:graphicFrame>
        <p:nvGraphicFramePr>
          <p:cNvPr id="8" name="Table 7"/>
          <p:cNvGraphicFramePr>
            <a:graphicFrameLocks noGrp="1"/>
          </p:cNvGraphicFramePr>
          <p:nvPr/>
        </p:nvGraphicFramePr>
        <p:xfrm>
          <a:off x="700000" y="3170000"/>
          <a:ext cx="7700000" cy="800000"/>
        </p:xfrm>
        <a:graphic>
          <a:graphicData uri="http://schemas.openxmlformats.org/drawingml/2006/table">
            <a:tbl>
              <a:tblPr firstRow="0" bandRow="0"/>
              <a:tblGrid>
                <a:gridCol w="2500000"/>
                <a:gridCol w="1900000"/>
                <a:gridCol w="1900000"/>
                <a:gridCol w="1400000"/>
              </a:tblGrid>
              <a:tr h="400000">
                <a:tc>
                  <a:txBody>
                    <a:bodyPr wrap="square"/>
                    <a:lstStyle/>
                    <a:p>
                      <a:pPr algn="ctr"/>
                      <a:r>
                        <a:rPr sz="1100" b="1" i="0">
                          <a:solidFill>
                            <a:srgbClr val="FFFFFF"/>
                          </a:solidFill>
                          <a:latin typeface="Arial"/>
                        </a:rPr>
                        <a:t>Verified clean</a:t>
                      </a:r>
                    </a:p>
                  </a:txBody>
                  <a:tcPr anchor="ctr" marL="45720" marR="45720" marT="18000" marB="18000">
                    <a:solidFill>
                      <a:srgbClr val="72243D"/>
                    </a:solidFill>
                  </a:tcPr>
                </a:tc>
                <a:tc>
                  <a:txBody>
                    <a:bodyPr wrap="square"/>
                    <a:lstStyle/>
                    <a:p>
                      <a:pPr algn="ctr"/>
                      <a:r>
                        <a:rPr sz="1100" b="1" i="0">
                          <a:solidFill>
                            <a:srgbClr val="303030"/>
                          </a:solidFill>
                          <a:latin typeface="Arial"/>
                        </a:rPr>
                        <a:t>Minor issue</a:t>
                      </a:r>
                    </a:p>
                  </a:txBody>
                  <a:tcPr anchor="ctr" marL="45720" marR="45720" marT="18000" marB="18000">
                    <a:solidFill>
                      <a:srgbClr val="DEDEE0"/>
                    </a:solidFill>
                  </a:tcPr>
                </a:tc>
                <a:tc>
                  <a:txBody>
                    <a:bodyPr wrap="square"/>
                    <a:lstStyle/>
                    <a:p>
                      <a:pPr algn="ctr"/>
                      <a:r>
                        <a:rPr sz="1100" b="1" i="0">
                          <a:solidFill>
                            <a:srgbClr val="FFFFFF"/>
                          </a:solidFill>
                          <a:latin typeface="Arial"/>
                        </a:rPr>
                        <a:t>Moderate issue</a:t>
                      </a:r>
                    </a:p>
                  </a:txBody>
                  <a:tcPr anchor="ctr" marL="45720" marR="45720" marT="18000" marB="18000">
                    <a:solidFill>
                      <a:srgbClr val="E17C00"/>
                    </a:solidFill>
                  </a:tcPr>
                </a:tc>
                <a:tc>
                  <a:txBody>
                    <a:bodyPr wrap="square"/>
                    <a:lstStyle/>
                    <a:p>
                      <a:pPr algn="ctr"/>
                      <a:r>
                        <a:rPr sz="1100" b="1" i="0">
                          <a:solidFill>
                            <a:srgbClr val="FFFFFF"/>
                          </a:solidFill>
                          <a:latin typeface="Arial"/>
                        </a:rPr>
                        <a:t>Critical issue</a:t>
                      </a:r>
                    </a:p>
                  </a:txBody>
                  <a:tcPr anchor="ctr" marL="45720" marR="45720" marT="18000" marB="18000">
                    <a:solidFill>
                      <a:srgbClr val="B31B1B"/>
                    </a:solidFill>
                  </a:tcPr>
                </a:tc>
              </a:tr>
              <a:tr h="400000">
                <a:tc>
                  <a:txBody>
                    <a:bodyPr wrap="square"/>
                    <a:lstStyle/>
                    <a:p>
                      <a:pPr algn="ctr"/>
                      <a:r>
                        <a:rPr sz="1300" b="1" i="0">
                          <a:solidFill>
                            <a:srgbClr val="72243D"/>
                          </a:solidFill>
                          <a:latin typeface="Arial"/>
                        </a:rPr>
                        <a:t>89 / 123</a:t>
                      </a:r>
                    </a:p>
                  </a:txBody>
                  <a:tcPr anchor="ctr" marL="45720" marR="45720" marT="18000" marB="18000">
                    <a:solidFill>
                      <a:srgbClr val="FFFFFF"/>
                    </a:solidFill>
                  </a:tcPr>
                </a:tc>
                <a:tc>
                  <a:txBody>
                    <a:bodyPr wrap="square"/>
                    <a:lstStyle/>
                    <a:p>
                      <a:pPr algn="ctr"/>
                      <a:r>
                        <a:rPr sz="1300" b="1" i="0">
                          <a:solidFill>
                            <a:srgbClr val="72243D"/>
                          </a:solidFill>
                          <a:latin typeface="Arial"/>
                        </a:rPr>
                        <a:t>12</a:t>
                      </a:r>
                    </a:p>
                  </a:txBody>
                  <a:tcPr anchor="ctr" marL="45720" marR="45720" marT="18000" marB="18000">
                    <a:solidFill>
                      <a:srgbClr val="FFFFFF"/>
                    </a:solidFill>
                  </a:tcPr>
                </a:tc>
                <a:tc>
                  <a:txBody>
                    <a:bodyPr wrap="square"/>
                    <a:lstStyle/>
                    <a:p>
                      <a:pPr algn="ctr"/>
                      <a:r>
                        <a:rPr sz="1300" b="1" i="0">
                          <a:solidFill>
                            <a:srgbClr val="72243D"/>
                          </a:solidFill>
                          <a:latin typeface="Arial"/>
                        </a:rPr>
                        <a:t>21</a:t>
                      </a:r>
                    </a:p>
                  </a:txBody>
                  <a:tcPr anchor="ctr" marL="45720" marR="45720" marT="18000" marB="18000">
                    <a:solidFill>
                      <a:srgbClr val="FFFFFF"/>
                    </a:solidFill>
                  </a:tcPr>
                </a:tc>
                <a:tc>
                  <a:txBody>
                    <a:bodyPr wrap="square"/>
                    <a:lstStyle/>
                    <a:p>
                      <a:pPr algn="ctr"/>
                      <a:r>
                        <a:rPr sz="1300" b="1" i="0">
                          <a:solidFill>
                            <a:srgbClr val="72243D"/>
                          </a:solidFill>
                          <a:latin typeface="Arial"/>
                        </a:rPr>
                        <a:t>1</a:t>
                      </a:r>
                    </a:p>
                  </a:txBody>
                  <a:tcPr anchor="ctr" marL="45720" marR="45720" marT="18000" marB="18000">
                    <a:solidFill>
                      <a:srgbClr val="FFFFFF"/>
                    </a:solidFill>
                  </a:tcPr>
                </a:tc>
              </a:tr>
            </a:tbl>
          </a:graphicData>
        </a:graphic>
      </p:graphicFrame>
      <p:sp>
        <p:nvSpPr>
          <p:cNvPr id="9" name="TextBox 8"/>
          <p:cNvSpPr txBox="1"/>
          <p:nvPr/>
        </p:nvSpPr>
        <p:spPr>
          <a:xfrm>
            <a:off x="457200" y="4130000"/>
            <a:ext cx="8229600" cy="500000"/>
          </a:xfrm>
          <a:prstGeom prst="rect">
            <a:avLst/>
          </a:prstGeom>
          <a:noFill/>
        </p:spPr>
        <p:txBody>
          <a:bodyPr wrap="square">
            <a:spAutoFit/>
          </a:bodyPr>
          <a:lstStyle/>
          <a:p>
            <a:r>
              <a:rPr sz="1300" b="1" i="1">
                <a:solidFill>
                  <a:srgbClr val="E17C00"/>
                </a:solidFill>
                <a:latin typeface="Arial"/>
              </a:rPr>
              <a:t>All 123 papers were individually re-checked; flagged issues are already logged and corrected - rapid growth this week did not cost extraction quality.</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p:txBody>
      </p:sp>
      <p:sp>
        <p:nvSpPr>
          <p:cNvPr id="3" name="Title 2"/>
          <p:cNvSpPr>
            <a:spLocks noGrp="1"/>
          </p:cNvSpPr>
          <p:nvPr>
            <p:ph type="title"/>
          </p:nvPr>
        </p:nvSpPr>
        <p:spPr>
          <a:xfrm>
            <a:off x="236536" y="1003"/>
            <a:ext cx="8450263" cy="514350"/>
          </a:xfrm>
        </p:spPr>
        <p:txBody>
          <a:bodyPr/>
          <a:lstStyle/>
          <a:p>
            <a:r>
              <a:t>2. Literature Review Paper – Progress</a:t>
            </a:r>
          </a:p>
        </p:txBody>
      </p:sp>
      <p:sp>
        <p:nvSpPr>
          <p:cNvPr id="4" name="TextBox 3"/>
          <p:cNvSpPr txBox="1"/>
          <p:nvPr/>
        </p:nvSpPr>
        <p:spPr>
          <a:xfrm>
            <a:off x="533400" y="565478"/>
            <a:ext cx="7315200" cy="307777"/>
          </a:xfrm>
          <a:prstGeom prst="rect">
            <a:avLst/>
          </a:prstGeom>
          <a:noFill/>
        </p:spPr>
        <p:txBody>
          <a:bodyPr wrap="square">
            <a:spAutoFit/>
          </a:bodyPr>
          <a:lstStyle/>
          <a:p>
            <a:r>
              <a:rPr sz="1400" b="1" i="0">
                <a:solidFill>
                  <a:srgbClr val="303030"/>
                </a:solidFill>
                <a:latin typeface="Arial"/>
              </a:rPr>
              <a:t>Conclusions: what changed between Week 5 and Week 6</a:t>
            </a:r>
          </a:p>
        </p:txBody>
      </p:sp>
      <p:sp>
        <p:nvSpPr>
          <p:cNvPr id="5" name="TextBox 4"/>
          <p:cNvSpPr txBox="1"/>
          <p:nvPr/>
        </p:nvSpPr>
        <p:spPr>
          <a:xfrm>
            <a:off x="457200" y="920000"/>
            <a:ext cx="8229600" cy="4050000"/>
          </a:xfrm>
          <a:prstGeom prst="rect">
            <a:avLst/>
          </a:prstGeom>
          <a:noFill/>
        </p:spPr>
        <p:txBody>
          <a:bodyPr wrap="square">
            <a:spAutoFit/>
          </a:bodyPr>
          <a:lstStyle/>
          <a:p>
            <a:pPr>
              <a:spcAft>
                <a:spcPts val="900"/>
              </a:spcAft>
            </a:pPr>
            <a:r>
              <a:rPr sz="1250" b="1" i="0">
                <a:solidFill>
                  <a:srgbClr val="72243D"/>
                </a:solidFill>
                <a:latin typeface="Arial"/>
              </a:rPr>
              <a:t>• Corpus growth is intake-driven, not review-driven. </a:t>
            </a:r>
            <a:r>
              <a:rPr sz="1150" b="0" i="0">
                <a:solidFill>
                  <a:srgbClr val="303030"/>
                </a:solidFill>
                <a:latin typeface="Arial"/>
              </a:rPr>
              <a:t>Individual Studies +151% (49→123) vs. Existing Reviews +5.7% (35→37): this week added primary evidence, not new comparison literature.</a:t>
            </a:r>
          </a:p>
          <a:p>
            <a:pPr>
              <a:spcAft>
                <a:spcPts val="900"/>
              </a:spcAft>
            </a:pPr>
            <a:r>
              <a:rPr sz="1250" b="1" i="0">
                <a:solidFill>
                  <a:srgbClr val="72243D"/>
                </a:solidFill>
                <a:latin typeface="Arial"/>
              </a:rPr>
              <a:t>• Articulation is pulling ahead of the other subsystems. </a:t>
            </a:r>
            <a:r>
              <a:rPr sz="1150" b="0" i="0">
                <a:solidFill>
                  <a:srgbClr val="303030"/>
                </a:solidFill>
                <a:latin typeface="Arial"/>
              </a:rPr>
              <a:t>Articulation tag-instances +124% (41→92, now ~44% of all tagged evidence); Prosody lags at +22% (18→22) despite the corpus nearly doubling overall.</a:t>
            </a:r>
          </a:p>
          <a:p>
            <a:pPr>
              <a:spcAft>
                <a:spcPts val="900"/>
              </a:spcAft>
            </a:pPr>
            <a:r>
              <a:rPr sz="1250" b="1" i="0">
                <a:solidFill>
                  <a:srgbClr val="72243D"/>
                </a:solidFill>
                <a:latin typeface="Arial"/>
              </a:rPr>
              <a:t>• Stroke is now the fastest-growing mapped population. </a:t>
            </a:r>
            <a:r>
              <a:rPr sz="1150" b="0" i="0">
                <a:solidFill>
                  <a:srgbClr val="303030"/>
                </a:solidFill>
                <a:latin typeface="Arial"/>
              </a:rPr>
              <a:t>Stroke tag-instances 4→28 (+600%), ahead of Ataxia/cerebellar (+250%) and ALS/MND (+100%); Parkinson’s disease remains the largest population in absolute terms (61).</a:t>
            </a:r>
          </a:p>
          <a:p>
            <a:pPr>
              <a:spcAft>
                <a:spcPts val="900"/>
              </a:spcAft>
            </a:pPr>
            <a:r>
              <a:rPr sz="1250" b="1" i="0">
                <a:solidFill>
                  <a:srgbClr val="72243D"/>
                </a:solidFill>
                <a:latin typeface="Arial"/>
              </a:rPr>
              <a:t>• Two apparent drops are reclassifications, not lost data. </a:t>
            </a:r>
            <a:r>
              <a:rPr sz="1150" b="0" i="0">
                <a:solidFill>
                  <a:srgbClr val="303030"/>
                </a:solidFill>
                <a:latin typeface="Arial"/>
              </a:rPr>
              <a:t>EPG×Prosody (1→0) reflects an automatic-vs-manual tagging disagreement; TBI/concussion (5→3) reflects healthy-participant concussion cases moving to a separate non-dysarthria category.</a:t>
            </a:r>
          </a:p>
          <a:p>
            <a:pPr>
              <a:spcAft>
                <a:spcPts val="900"/>
              </a:spcAft>
            </a:pPr>
            <a:r>
              <a:rPr sz="1250" b="1" i="0">
                <a:solidFill>
                  <a:srgbClr val="72243D"/>
                </a:solidFill>
                <a:latin typeface="Arial"/>
              </a:rPr>
              <a:t>• The novelty argument still holds. </a:t>
            </a:r>
            <a:r>
              <a:rPr sz="1150" b="0" i="0">
                <a:solidFill>
                  <a:srgbClr val="303030"/>
                </a:solidFill>
                <a:latin typeface="Arial"/>
              </a:rPr>
              <a:t>Even after +2 Existing Reviews, 0 have been classified as a true direct competitor to this thesis.</a:t>
            </a:r>
          </a:p>
          <a:p>
            <a:pPr>
              <a:spcAft>
                <a:spcPts val="900"/>
              </a:spcAft>
            </a:pPr>
            <a:r>
              <a:rPr sz="1250" b="1" i="0">
                <a:solidFill>
                  <a:srgbClr val="72243D"/>
                </a:solidFill>
                <a:latin typeface="Arial"/>
              </a:rPr>
              <a:t>• The 8-column modality schema is starting to lag the data. </a:t>
            </a:r>
            <a:r>
              <a:rPr sz="1150" b="0" i="0">
                <a:solidFill>
                  <a:srgbClr val="303030"/>
                </a:solidFill>
                <a:latin typeface="Arial"/>
              </a:rPr>
              <a:t>12 modality categories (Nasometry, Accelerometer, Smartphone app, MRI, etc.) are now substantial enough to deserve their own columns next update.</a:t>
            </a:r>
          </a:p>
        </p:txBody>
      </p:sp>
    </p:spTree>
  </p:cSld>
  <p:clrMapOvr>
    <a:masterClrMapping/>
  </p:clrMapOvr>
</p:sld>
</file>

<file path=ppt/theme/theme1.xml><?xml version="1.0" encoding="utf-8"?>
<a:theme xmlns:a="http://schemas.openxmlformats.org/drawingml/2006/main" name="Office Theme">
  <a:themeElements>
    <a:clrScheme name="Custom 1">
      <a:dk1>
        <a:sysClr val="windowText" lastClr="000000"/>
      </a:dk1>
      <a:lt1>
        <a:sysClr val="window" lastClr="FFFFFF"/>
      </a:lt1>
      <a:dk2>
        <a:srgbClr val="303030"/>
      </a:dk2>
      <a:lt2>
        <a:srgbClr val="DEDEE0"/>
      </a:lt2>
      <a:accent1>
        <a:srgbClr val="B31B1B"/>
      </a:accent1>
      <a:accent2>
        <a:srgbClr val="4D4F53"/>
      </a:accent2>
      <a:accent3>
        <a:srgbClr val="A2998B"/>
      </a:accent3>
      <a:accent4>
        <a:srgbClr val="EF9595"/>
      </a:accent4>
      <a:accent5>
        <a:srgbClr val="7D7364"/>
      </a:accent5>
      <a:accent6>
        <a:srgbClr val="A8B1C4"/>
      </a:accent6>
      <a:hlink>
        <a:srgbClr val="3B4558"/>
      </a:hlink>
      <a:folHlink>
        <a:srgbClr val="596784"/>
      </a:folHlink>
    </a:clrScheme>
    <a:fontScheme name="Custom 2">
      <a:majorFont>
        <a:latin typeface="Helvetica"/>
        <a:ea typeface=""/>
        <a:cs typeface=""/>
      </a:majorFont>
      <a:minorFont>
        <a:latin typeface="Time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esentation3" id="{99102808-967D-7C45-B952-F50DCD98AF33}" vid="{CF8696D2-C8CE-2B49-849F-4350B185046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0d595b45-b704-43c3-be57-bb0e77264841">
      <Terms xmlns="http://schemas.microsoft.com/office/infopath/2007/PartnerControls"/>
    </lcf76f155ced4ddcb4097134ff3c332f>
    <Notes xmlns="0d595b45-b704-43c3-be57-bb0e77264841" xsi:nil="true"/>
    <TaxCatchAll xmlns="2abc551d-39a0-4a7c-9b4b-818b4828f7b9" xsi:nil="true"/>
    <Thumbnail xmlns="0d595b45-b704-43c3-be57-bb0e77264841"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7C5214C4B94FA4EB39B73217CE01A34" ma:contentTypeVersion="16" ma:contentTypeDescription="Create a new document." ma:contentTypeScope="" ma:versionID="f3bd505754e86156a8fe163e58d0c31b">
  <xsd:schema xmlns:xsd="http://www.w3.org/2001/XMLSchema" xmlns:xs="http://www.w3.org/2001/XMLSchema" xmlns:p="http://schemas.microsoft.com/office/2006/metadata/properties" xmlns:ns2="0d595b45-b704-43c3-be57-bb0e77264841" xmlns:ns3="2abc551d-39a0-4a7c-9b4b-818b4828f7b9" targetNamespace="http://schemas.microsoft.com/office/2006/metadata/properties" ma:root="true" ma:fieldsID="d4ff4d27ef69f33c86b2855aac77e155" ns2:_="" ns3:_="">
    <xsd:import namespace="0d595b45-b704-43c3-be57-bb0e77264841"/>
    <xsd:import namespace="2abc551d-39a0-4a7c-9b4b-818b4828f7b9"/>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LengthInSeconds" minOccurs="0"/>
                <xsd:element ref="ns2:MediaServiceLocation" minOccurs="0"/>
                <xsd:element ref="ns2:MediaServiceBillingMetadata" minOccurs="0"/>
                <xsd:element ref="ns2:Notes" minOccurs="0"/>
                <xsd:element ref="ns2:Thumbnai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d595b45-b704-43c3-be57-bb0e7726484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7c2dd9a6-8483-4555-a8f4-00fbe5822b5b"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Location" ma:index="20" nillable="true" ma:displayName="Location" ma:indexed="true" ma:internalName="MediaServiceLocation" ma:readOnly="true">
      <xsd:simpleType>
        <xsd:restriction base="dms:Text"/>
      </xsd:simpleType>
    </xsd:element>
    <xsd:element name="MediaServiceBillingMetadata" ma:index="21" nillable="true" ma:displayName="MediaServiceBillingMetadata" ma:hidden="true" ma:internalName="MediaServiceBillingMetadata" ma:readOnly="true">
      <xsd:simpleType>
        <xsd:restriction base="dms:Note"/>
      </xsd:simpleType>
    </xsd:element>
    <xsd:element name="Notes" ma:index="22" nillable="true" ma:displayName="Notes" ma:format="Dropdown" ma:internalName="Notes">
      <xsd:simpleType>
        <xsd:restriction base="dms:Text">
          <xsd:maxLength value="255"/>
        </xsd:restriction>
      </xsd:simpleType>
    </xsd:element>
    <xsd:element name="Thumbnail" ma:index="23" nillable="true" ma:displayName="Thumbnail" ma:format="Thumbnail" ma:internalName="Thumbnail">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2abc551d-39a0-4a7c-9b4b-818b4828f7b9"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4615bc11-00f9-4c6f-83b1-a5188494ad0e}" ma:internalName="TaxCatchAll" ma:showField="CatchAllData" ma:web="2abc551d-39a0-4a7c-9b4b-818b4828f7b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C769373-594B-497F-B29F-9AD96F02CA37}">
  <ds:schemaRefs>
    <ds:schemaRef ds:uri="http://schemas.microsoft.com/office/2006/metadata/properties"/>
    <ds:schemaRef ds:uri="http://schemas.microsoft.com/office/infopath/2007/PartnerControls"/>
    <ds:schemaRef ds:uri="0d595b45-b704-43c3-be57-bb0e77264841"/>
    <ds:schemaRef ds:uri="2abc551d-39a0-4a7c-9b4b-818b4828f7b9"/>
  </ds:schemaRefs>
</ds:datastoreItem>
</file>

<file path=customXml/itemProps2.xml><?xml version="1.0" encoding="utf-8"?>
<ds:datastoreItem xmlns:ds="http://schemas.openxmlformats.org/officeDocument/2006/customXml" ds:itemID="{8FBDF0AD-F2A3-461C-AC8C-AF5A0E876003}">
  <ds:schemaRefs>
    <ds:schemaRef ds:uri="http://schemas.microsoft.com/sharepoint/v3/contenttype/forms"/>
  </ds:schemaRefs>
</ds:datastoreItem>
</file>

<file path=customXml/itemProps3.xml><?xml version="1.0" encoding="utf-8"?>
<ds:datastoreItem xmlns:ds="http://schemas.openxmlformats.org/officeDocument/2006/customXml" ds:itemID="{1AC2AE2E-D004-455F-9D5E-7CBDF620B6D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d595b45-b704-43c3-be57-bb0e77264841"/>
    <ds:schemaRef ds:uri="2abc551d-39a0-4a7c-9b4b-818b4828f7b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12482</TotalTime>
  <Words>1625</Words>
  <Application>Microsoft Macintosh PowerPoint</Application>
  <PresentationFormat>On-screen Show (16:9)</PresentationFormat>
  <Paragraphs>383</Paragraphs>
  <Slides>22</Slides>
  <Notes>16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Aptos</vt:lpstr>
      <vt:lpstr>Arial</vt:lpstr>
      <vt:lpstr>Calibri</vt:lpstr>
      <vt:lpstr>Georgia</vt:lpstr>
      <vt:lpstr>Helvetica</vt:lpstr>
      <vt:lpstr>Times</vt:lpstr>
      <vt:lpstr>Office Theme</vt:lpstr>
      <vt:lpstr>WEEKLY REPORT POST STROKE REHABILITATION SYSTEM</vt:lpstr>
      <vt:lpstr>Agenda</vt:lpstr>
      <vt:lpstr>1. Quick Update</vt:lpstr>
      <vt:lpstr>2. Literature Review Paper – Background</vt:lpstr>
      <vt:lpstr>2. Literature Review Paper – Progress</vt:lpstr>
      <vt:lpstr>2. Literature Review Paper – Progress</vt:lpstr>
      <vt:lpstr>2. Literature Review Paper – Progress</vt:lpstr>
      <vt:lpstr>2. Literature Review Paper – Progress</vt:lpstr>
      <vt:lpstr>2. Literature Review Paper – Progress</vt:lpstr>
      <vt:lpstr>2. Literature Review Paper – Progress</vt:lpstr>
      <vt:lpstr>2. Literature Review Paper – Future</vt:lpstr>
      <vt:lpstr>3. Active Sensing – Background</vt:lpstr>
      <vt:lpstr>3. Active Sensing – Progress</vt:lpstr>
      <vt:lpstr>3. Active Sensing – Progress</vt:lpstr>
      <vt:lpstr>3. Active Sensing – Progress</vt:lpstr>
      <vt:lpstr>3. Active Sensing – Progress</vt:lpstr>
      <vt:lpstr>3. Active Sensing – Progress</vt:lpstr>
      <vt:lpstr>3. Active Sensing – Progress</vt:lpstr>
      <vt:lpstr>Symbols</vt:lpstr>
      <vt:lpstr>Symbols</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Clive D. Howard</dc:creator>
  <cp:lastModifiedBy>Vu Ngoc Thanh Sang</cp:lastModifiedBy>
  <cp:revision>107</cp:revision>
  <dcterms:created xsi:type="dcterms:W3CDTF">2020-01-14T16:59:52Z</dcterms:created>
  <dcterms:modified xsi:type="dcterms:W3CDTF">2026-09-21T14:43:10Z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0x01010077C5214C4B94FA4EB39B73217CE01A34</vt:lpwstr>
  </property>
  <property fmtid="{D5CDD505-2E9C-101B-9397-08002B2CF9AE}" pid="3" name="MediaServiceImageTags">
    <vt:lpwstr/>
  </property>
</Properties>
</file>