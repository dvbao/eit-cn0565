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83" r:id="rId26"/>
    <p:sldId id="684" r:id="rId25"/>
    <p:sldId id="685" r:id="rId24"/>
    <p:sldId id="686" r:id="rId23"/>
    <p:sldId id="687" r:id="rId22"/>
    <p:sldId id="688" r:id="rId21"/>
    <p:sldId id="689" r:id="rId20"/>
    <p:sldId id="690" r:id="rId19"/>
    <p:sldId id="691" r:id="rId18"/>
    <p:sldId id="692" r:id="rId17"/>
    <p:sldId id="693" r:id="rId16"/>
    <p:sldId id="694" r:id="rId39"/>
    <p:sldId id="695" r:id="rId40"/>
    <p:sldId id="696" r:id="rId41"/>
    <p:sldId id="697" r:id="rId42"/>
    <p:sldId id="698" r:id="rId43"/>
    <p:sldId id="699" r:id="rId44"/>
    <p:sldId id="700" r:id="rId45"/>
    <p:sldId id="701" r:id="rId4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7.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22.xml"/><Relationship Id="rId23" Type="http://schemas.openxmlformats.org/officeDocument/2006/relationships/slide" Target="slides/slide21.xml"/><Relationship Id="rId24" Type="http://schemas.openxmlformats.org/officeDocument/2006/relationships/slide" Target="slides/slide20.xml"/><Relationship Id="rId25" Type="http://schemas.openxmlformats.org/officeDocument/2006/relationships/slide" Target="slides/slide19.xml"/><Relationship Id="rId26" Type="http://schemas.openxmlformats.org/officeDocument/2006/relationships/slide" Target="slides/slide18.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This section starts from the physical measurement, not from the algorithms. I will first show where the 208 values come from, then explain the conductivity model, the finite-element mesh, the voltage data, and finally the three reconstruction methods.</a:t>
            </a:r>
          </a:p>
          <a:p/>
          <a:p>
            <a:r>
              <a:t>VIETNAMESE EXPLANATION</a:t>
            </a:r>
          </a:p>
          <a:p>
            <a:r>
              <a:t>Phần này bắt đầu từ phép đo vật lý chứ chưa vào thuật toán ngay. Trình tự là: 16 điện cực tạo ra 208 hiệu điện thế, xây dựng mô hình conductivity, forward solve, rồi mới so sánh BP, JAC và GREIT.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A useful sentence is: EIT does not photograph the object. It applies current on the boundary and observes how the boundary-voltage pattern changes. A more conductive or less conductive object perturbs the current distribution. Reconstruction is the inverse step that estimates where that internal conductivity change occurred.</a:t>
            </a:r>
          </a:p>
          <a:p/>
          <a:p>
            <a:r>
              <a:t>VIETNAMESE EXPLANATION</a:t>
            </a:r>
          </a:p>
          <a:p>
            <a:r>
              <a:t>Câu dễ nhớ: EIT không chụp trực tiếp vật thể. Nó bơm dòng ở biên, đo hiệu điện thế ở biên, rồi suy ngược vị trí thay đổi conductivity bên trong. Object chỉ được nhận ra vì nó làm thay đổi pattern điện áp.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A frame is not one simultaneous reading. It is a sequence. First drive E1-E2 and measure thirteen valid adjacent voltage pairs. Then rotate the drive to E2-E3 and repeat. Sixteen drive positions times thirteen values gives 208. The three adjacent pairs touching E1 or E2 are excluded in the E1-E2 example.</a:t>
            </a:r>
          </a:p>
          <a:p/>
          <a:p>
            <a:r>
              <a:t>VIETNAMESE EXPLANATION</a:t>
            </a:r>
          </a:p>
          <a:p>
            <a:r>
              <a:t>Một frame là chuỗi phép đo. Với drive E1-E2, ba cặp sense chạm vào điện cực drive bị loại, còn 13 cặp hợp lệ. Lặp cho 16 vị trí drive nên được 16 × 13 = 208. Không phải 12 vì 14 điện cực còn lại tạo 13 khoảng liền kề trên cung mở.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We use time-difference EIT. v0 is the homogeneous or initial reference frame. v1 is measured after the target is present. The algorithms reconstruct from delta-v. Do not interpret one voltage sign in isolation because electrode geometry changes the sign and sensitivity of each channel.</a:t>
            </a:r>
          </a:p>
          <a:p/>
          <a:p>
            <a:r>
              <a:t>VIETNAMESE EXPLANATION</a:t>
            </a:r>
          </a:p>
          <a:p>
            <a:r>
              <a:t>Đây là time-difference EIT. v0 là trạng thái reference, v1 là trạng thái có target, và đầu vào thuật toán là Δv. Một phần tử Δv âm hoặc dương riêng lẻ chưa đủ kết luận target dẫn tốt hay dẫn kém; phải dùng toàn bộ 208 giá trị cùng sensitivity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Simulation is not a replacement for hardware testing. It is a controlled algorithm experiment. Because the conductivity map is known, I can quantify whether an algorithm localizes the target, preserves its sign, resolves two targets, or amplifies noise.</a:t>
            </a:r>
          </a:p>
          <a:p/>
          <a:p>
            <a:r>
              <a:t>VIETNAMESE EXPLANATION</a:t>
            </a:r>
          </a:p>
          <a:p>
            <a:r>
              <a:t>Simulation không thay thế hardware. Nó tạo một bài test có đáp án: ta biết target thật ở đâu nên có thể đánh giá localization, sign, resolution và noise sensitivity của thuật toán.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Background equals one because the simulation is normalized. We divide every conductivity by the background value. The target value ten means ten times the background conductivity, and therefore one tenth of the background resistivity. Radius 0.12R and coordinates are also normalized by the tank radius. The base-ten log maps ten-times and one-tenth to plus one and minus one.</a:t>
            </a:r>
          </a:p>
          <a:p/>
          <a:p>
            <a:r>
              <a:t>VIETNAMESE EXPLANATION</a:t>
            </a:r>
          </a:p>
          <a:p>
            <a:r>
              <a:t>Background = 1 chỉ là chuẩn hóa. perm = 10 nghĩa là conductivity gấp 10 lần background và resistivity bằng 1/10. r = 0.12R nghĩa là bán kính object bằng 12% bán kính tank. Trục x/R, y/R là tọa độ chuẩn hóa. log10 giúp 10× và 0.1× nằm đối xứng +1 và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numbers 583 and 1083 are not chosen independently. I specify the circle, sixteen electrode locations, and h0 equals 0.08. The distmesh-style generator then returns a valid triangular mesh. Nodes hold potential unknowns; elements hold conductivity. A smaller h0 creates a finer mesh and more unknowns, but after a point it costs more computation without adding measurement information.</a:t>
            </a:r>
          </a:p>
          <a:p/>
          <a:p>
            <a:r>
              <a:t>VIETNAMESE EXPLANATION</a:t>
            </a:r>
          </a:p>
          <a:p>
            <a:r>
              <a:t>583 và 1083 là output của mesh generator. Input là geometry, 16 electrodes và h0 = 0.08. Node là nơi giải potential; element là tam giác giữ conductivity. Giảm h0 làm mesh mịn hơn, tăng số node/element và thời gian tính, nhưng không tạo thêm dữ liệu đo.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x-axis is channel index, not time or physical position. Channels zero to twelve belong to the first drive, the next thirteen to the second drive, and so on. The top plot confirms that v1 is a small perturbation of v0. The lower plot isolates that perturbation. A peak means that a particular drive-sense geometry is sensitive to the target, not that the target is located at that x-axis index.</a:t>
            </a:r>
          </a:p>
          <a:p/>
          <a:p>
            <a:r>
              <a:t>VIETNAMESE EXPLANATION</a:t>
            </a:r>
          </a:p>
          <a:p>
            <a:r>
              <a:t>Trục x là index của 208 channels, không phải thời gian hay vị trí target. Mỗi block 13 channels thuộc một drive pair. Hai đường trên gần nhau vì target chỉ perturb baseline. Plot dưới là Δv dùng để reconstruct. Peak chỉ nói channel đó nhạy với target, không phải target nằm tại index đó.</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This is a fair comparison because all input data are identical. BP is a direct smearing or backprojection. JAC explicitly uses the derivative of each channel with respect to each mesh element. GREIT precomputes a linear reconstruction matrix designed to produce a regular output image with useful performance characteristics.</a:t>
            </a:r>
          </a:p>
          <a:p/>
          <a:p>
            <a:r>
              <a:t>VIETNAMESE EXPLANATION</a:t>
            </a:r>
          </a:p>
          <a:p>
            <a:r>
              <a:t>So sánh công bằng vì input giống nhau. BP smear ngược signal. JAC dùng sensitivity của từng measurement đối với từng element. GREIT precompute một matrix từ 208 measurements sang pixel image. Không nên chỉ chọn ảnh đẹp nhất; phải đo position, spread, artifacts và noise.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Jacobian has 208 rows and 1083 columns in this model. Entry J-i-j predicts the change in voltage channel i for a small conductivity change in element j. Because there are more unknown elements than measurements, direct inversion is unstable. Regularization adds a prior penalty. Lambda must be tuned using noise and resolution tests; the paper supports the trade-off, not a universal lambda of 0.01.</a:t>
            </a:r>
          </a:p>
          <a:p/>
          <a:p>
            <a:r>
              <a:t>VIETNAMESE EXPLANATION</a:t>
            </a:r>
          </a:p>
          <a:p>
            <a:r>
              <a:t>J có 208 hàng và 1083 cột. J(i,j) cho biết measurement i nhạy thế nào với conductivity của element j. Vì unknown nhiều hơn measurements nên inverse problem không duy nhất và rất nhạy noise. Regularization thêm penalty để ổn định. Paper chứng minh trade-off của λ, nhưng không chứng minh λ=0.01 luôn đúng; phải sweep.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Both methods are linear after their reconstruction matrix has been built. BP uses a direct smear map. GREIT uses a matrix that maps the measurement vector to a regular grid. In the original GREIT framework the matrix is optimized using forward, target, and noise models. The pyEIT implementation here is a sensitivity-based GREIT-style linear map. Increasing n only draws more pixels; it cannot create information that was not present in the 208 channels.</a:t>
            </a:r>
          </a:p>
          <a:p/>
          <a:p>
            <a:r>
              <a:t>VIETNAMESE EXPLANATION</a:t>
            </a:r>
          </a:p>
          <a:p>
            <a:r>
              <a:t>Sau khi setup, cả BP và GREIT đều là matrix multiplication. BP dùng smear matrix. GREIT map 208 values sang grid pixel. n=32 chỉ là sampling của output grid, không tăng resolution vật lý. s và ratio thay đổi spatial weighting/blur nên cũng phải sensitivity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algorithm first returns numbers, not colours. BP returns node values, JAC returns element values which I interpolate to nodes for plotting, and GREIT returns a regular grid. The plotting code assigns red to positive conductivity change and blue to negative change. In the demonstration figure I normalize each algorithm independently, so I compare location and shape, not raw amplitude.</a:t>
            </a:r>
          </a:p>
          <a:p/>
          <a:p>
            <a:r>
              <a:t>VIETNAMESE EXPLANATION</a:t>
            </a:r>
          </a:p>
          <a:p>
            <a:r>
              <a:t>Thuật toán output số. BP output node values, JAC output element values rồi interpolate, GREIT output grid. Heatmap chỉ là cách đặt các số lên vị trí và tô màu. Nếu normalize từng ảnh riêng thì chỉ nên so sánh location, sign, spread, artifacts, không so raw amplitude.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All three methods recover the four general locations and signs in this ideal noise-free example. BP spreads the targets broadly. JAC produces concentrated peaks but also mesh-related structure. GREIT is smoother because it maps to a regular grid with target weighting. This single case is not enough to declare a winner.</a:t>
            </a:r>
          </a:p>
          <a:p/>
          <a:p>
            <a:r>
              <a:t>VIETNAMESE EXPLANATION</a:t>
            </a:r>
          </a:p>
          <a:p>
            <a:r>
              <a:t>Cả ba tìm được vị trí và sign cơ bản khi noise = 0. BP blur rộng, JAC peak tập trung nhưng có artifact theo mesh, GREIT smooth trên regular grid. Một case duy nhất chưa đủ xếp hạng thuật toán.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center case shows the point-spread shape. The boundary case exposes radial bias and edge distortion. The two-target case tests spatial resolution; in this setup the targets tend to merge. The noisy case tests stability. These rows already show why one visually attractive four-target image is not a complete comparison.</a:t>
            </a:r>
          </a:p>
          <a:p/>
          <a:p>
            <a:r>
              <a:t>VIETNAMESE EXPLANATION</a:t>
            </a:r>
          </a:p>
          <a:p>
            <a:r>
              <a:t>Center case đo point-spread. Boundary case lộ position bias và distortion. Two close targets kiểm tra resolution và thường bị merge. Noise case kiểm tra stability. Vì vậy cần nhiều case có kiểm soát, không thể kết luận từ một ảnh Figure 14.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GREIT paper recommends performance measures such as amplitude response, position error, resolution, shape deformation, ringing, and noise amplification. I will use the same principle for all three algorithms. I should also avoid the inverse crime by eventually generating data on a different or finer mesh than the reconstruction mesh.</a:t>
            </a:r>
          </a:p>
          <a:p/>
          <a:p>
            <a:r>
              <a:t>VIETNAMESE EXPLANATION</a:t>
            </a:r>
          </a:p>
          <a:p>
            <a:r>
              <a:t>Test đúng là thay một variable mỗi lần, giữ nguyên data giữa ba thuật toán và đo metric. Có thể dùng position error, resolution/spread, amplitude response, shape deformation, ringing và noise amplification. Sau đó nên tránh inverse crime bằng forward mesh khác reconstruction mesh.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This slide separates evidence from configuration. The papers support the measurement model, FEM, Jacobian, regularization trade-off, linear reconstruction, and evaluation metrics. They do not establish that h0 equals 0.08 or lambda equals 0.01 is optimal for CN0565. Those values are hypotheses or starting settings that must be tested with parameter sweeps and physical data.</a:t>
            </a:r>
          </a:p>
          <a:p/>
          <a:p>
            <a:r>
              <a:t>VIETNAMESE EXPLANATION</a:t>
            </a:r>
          </a:p>
          <a:p>
            <a:r>
              <a:t>Cần phân biệt paper support concept với prove parameter. Paper support EIT model, FEM, Jacobian, regularization trade-off và metrics. Nhưng h0=0.08, λ=0.01, n=32 hay object r=0.12R là lựa chọn implement ban đầu, phải sweep và validate bằng hardware.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saline tank is the bridge between simulation and human measurements. Begin with an electrical phantom or known load to verify the switching matrix and acquisition. Then use homogeneous saline to quantify baseline stability and noise. Finally insert known objects at controlled positions. Human testing comes only after safety, ethics, and repeatable performance are established.</a:t>
            </a:r>
          </a:p>
          <a:p/>
          <a:p>
            <a:r>
              <a:t>VIETNAMESE EXPLANATION</a:t>
            </a:r>
          </a:p>
          <a:p>
            <a:r>
              <a:t>Petri dish/saline tank là bước đúng trước human. Trước đó nên test electrical load để xác minh switching và gain. Saline homogeneous đo baseline/noise/drift. Sau đó đặt inclusion biết rõ vị trí và conductivity. Human chỉ sau safety, ethics và performance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ENGLISH SCRIPT</a:t>
            </a:r>
          </a:p>
          <a:p>
            <a:r>
              <a:t>The first three papers are available in the repository's papers folder. The CN0565 circuit note motivates the four-target example, but it does not publish enough simulation detail for a pixel-level reproduction. The exact solver parameter meanings are also checked against the pyEIT implementation used by the script.</a:t>
            </a:r>
          </a:p>
          <a:p/>
          <a:p>
            <a:r>
              <a:t>VIETNAMESE EXPLANATION</a:t>
            </a:r>
          </a:p>
          <a:p>
            <a:r>
              <a:t>Ba paper đầu nằm trong folder papers. CN0565 Figure 14 là nguồn cảm hứng cho four-target case nhưng không công bố đủ parameter để reproduce pixel-by-pixel. Ý nghĩa parameter cụ thể được đối chiếu thêm với source code pyEIT đang dùng.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500" b="1">
                <a:solidFill>
                  <a:srgbClr val="711F3B"/>
                </a:solidFill>
                <a:latin typeface="Arial"/>
              </a:rPr>
              <a:t>3. Active Sensing - EIT Simulation Study</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18</a:t>
            </a:r>
          </a:p>
        </p:txBody>
      </p:sp>
      <p:sp>
        <p:nvSpPr>
          <p:cNvPr id="5" name="TextBox 4"/>
          <p:cNvSpPr txBox="1"/>
          <p:nvPr/>
        </p:nvSpPr>
        <p:spPr>
          <a:xfrm>
            <a:off x="777240" y="1261872"/>
            <a:ext cx="7543800" cy="658368"/>
          </a:xfrm>
          <a:prstGeom prst="rect">
            <a:avLst/>
          </a:prstGeom>
          <a:noFill/>
        </p:spPr>
        <p:txBody>
          <a:bodyPr wrap="square" anchor="ctr" lIns="0" rIns="0" tIns="0" bIns="0">
            <a:spAutoFit/>
          </a:bodyPr>
          <a:lstStyle/>
          <a:p>
            <a:pPr algn="ctr">
              <a:spcAft>
                <a:spcPts val="0"/>
              </a:spcAft>
            </a:pPr>
            <a:r>
              <a:rPr sz="2400" b="1">
                <a:solidFill>
                  <a:srgbClr val="222222"/>
                </a:solidFill>
                <a:latin typeface="Arial"/>
              </a:rPr>
              <a:t>From boundary measurements to a reconstructed conductivity-change image</a:t>
            </a:r>
          </a:p>
        </p:txBody>
      </p:sp>
      <p:sp>
        <p:nvSpPr>
          <p:cNvPr id="6" name="TextBox 5"/>
          <p:cNvSpPr txBox="1"/>
          <p:nvPr/>
        </p:nvSpPr>
        <p:spPr>
          <a:xfrm>
            <a:off x="1188720" y="2148840"/>
            <a:ext cx="6766560" cy="384048"/>
          </a:xfrm>
          <a:prstGeom prst="rect">
            <a:avLst/>
          </a:prstGeom>
          <a:noFill/>
        </p:spPr>
        <p:txBody>
          <a:bodyPr wrap="square" anchor="t" lIns="0" rIns="0" tIns="0" bIns="0">
            <a:spAutoFit/>
          </a:bodyPr>
          <a:lstStyle/>
          <a:p>
            <a:pPr algn="ctr">
              <a:spcAft>
                <a:spcPts val="0"/>
              </a:spcAft>
            </a:pPr>
            <a:r>
              <a:rPr sz="1800" b="0">
                <a:solidFill>
                  <a:srgbClr val="711F3B"/>
                </a:solidFill>
                <a:latin typeface="Arial"/>
              </a:rPr>
              <a:t>Physical setup  →  208 voltage differences  →  BP / JAC / GREIT</a:t>
            </a:r>
          </a:p>
        </p:txBody>
      </p:sp>
      <p:sp>
        <p:nvSpPr>
          <p:cNvPr id="7" name="TextBox 6"/>
          <p:cNvSpPr txBox="1"/>
          <p:nvPr/>
        </p:nvSpPr>
        <p:spPr>
          <a:xfrm>
            <a:off x="914400" y="2926080"/>
            <a:ext cx="7315200" cy="658368"/>
          </a:xfrm>
          <a:prstGeom prst="rect">
            <a:avLst/>
          </a:prstGeom>
          <a:noFill/>
        </p:spPr>
        <p:txBody>
          <a:bodyPr wrap="square" anchor="t" lIns="0" rIns="0" tIns="0" bIns="0">
            <a:spAutoFit/>
          </a:bodyPr>
          <a:lstStyle/>
          <a:p>
            <a:pPr algn="ctr">
              <a:spcAft>
                <a:spcPts val="0"/>
              </a:spcAft>
            </a:pPr>
            <a:r>
              <a:rPr sz="1600" b="0">
                <a:solidFill>
                  <a:srgbClr val="5C5C5C"/>
                </a:solidFill>
                <a:latin typeface="Arial"/>
              </a:rPr>
              <a:t>Goal: understand what is simulated, what each parameter means, and how to compare algorithms fairly before testing hardware.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600" b="1">
                <a:solidFill>
                  <a:srgbClr val="711F3B"/>
                </a:solidFill>
                <a:latin typeface="Arial"/>
              </a:rPr>
              <a:t>What EIT Actually Measures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19</a:t>
            </a:r>
          </a:p>
        </p:txBody>
      </p:sp>
      <p:pic>
        <p:nvPicPr>
          <p:cNvPr id="5" name="Picture 4" descr="eit_setup.png"/>
          <p:cNvPicPr>
            <a:picLocks noChangeAspect="1"/>
          </p:cNvPicPr>
          <p:nvPr/>
        </p:nvPicPr>
        <p:blipFill>
          <a:blip r:embed="rId2"/>
          <a:stretch>
            <a:fillRect/>
          </a:stretch>
        </p:blipFill>
        <p:spPr>
          <a:xfrm>
            <a:off x="320040" y="744582"/>
            <a:ext cx="4892040" cy="3494314"/>
          </a:xfrm>
          <a:prstGeom prst="rect">
            <a:avLst/>
          </a:prstGeom>
        </p:spPr>
      </p:pic>
      <p:sp>
        <p:nvSpPr>
          <p:cNvPr id="6" name="Rounded Rectangle 5"/>
          <p:cNvSpPr/>
          <p:nvPr/>
        </p:nvSpPr>
        <p:spPr>
          <a:xfrm>
            <a:off x="5349240" y="749808"/>
            <a:ext cx="3246120" cy="896112"/>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58968" y="841247"/>
            <a:ext cx="3026663" cy="274320"/>
          </a:xfrm>
          <a:prstGeom prst="rect">
            <a:avLst/>
          </a:prstGeom>
          <a:noFill/>
        </p:spPr>
        <p:txBody>
          <a:bodyPr wrap="square" anchor="t" lIns="0" rIns="0" tIns="0" bIns="0">
            <a:spAutoFit/>
          </a:bodyPr>
          <a:lstStyle/>
          <a:p>
            <a:pPr algn="l">
              <a:spcAft>
                <a:spcPts val="0"/>
              </a:spcAft>
            </a:pPr>
            <a:r>
              <a:rPr sz="1550" b="1">
                <a:solidFill>
                  <a:srgbClr val="711F3B"/>
                </a:solidFill>
                <a:latin typeface="Arial"/>
              </a:rPr>
              <a:t>1. Conductive medium</a:t>
            </a:r>
          </a:p>
        </p:txBody>
      </p:sp>
      <p:sp>
        <p:nvSpPr>
          <p:cNvPr id="8" name="TextBox 7"/>
          <p:cNvSpPr txBox="1"/>
          <p:nvPr/>
        </p:nvSpPr>
        <p:spPr>
          <a:xfrm>
            <a:off x="5458968" y="1188719"/>
            <a:ext cx="3026663" cy="365760"/>
          </a:xfrm>
          <a:prstGeom prst="rect">
            <a:avLst/>
          </a:prstGeom>
          <a:noFill/>
        </p:spPr>
        <p:txBody>
          <a:bodyPr wrap="square" anchor="t" lIns="0" rIns="0" tIns="0" bIns="0">
            <a:spAutoFit/>
          </a:bodyPr>
          <a:lstStyle/>
          <a:p>
            <a:pPr algn="l">
              <a:spcAft>
                <a:spcPts val="0"/>
              </a:spcAft>
            </a:pPr>
            <a:r>
              <a:rPr sz="1150" b="0">
                <a:solidFill>
                  <a:srgbClr val="222222"/>
                </a:solidFill>
                <a:latin typeface="Arial"/>
              </a:rPr>
              <a:t>Saline or tissue provides background conductivity σbg.</a:t>
            </a:r>
          </a:p>
        </p:txBody>
      </p:sp>
      <p:sp>
        <p:nvSpPr>
          <p:cNvPr id="9" name="Rounded Rectangle 8"/>
          <p:cNvSpPr/>
          <p:nvPr/>
        </p:nvSpPr>
        <p:spPr>
          <a:xfrm>
            <a:off x="5349240" y="1746504"/>
            <a:ext cx="3246120" cy="896112"/>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58968" y="1837943"/>
            <a:ext cx="3026663" cy="274320"/>
          </a:xfrm>
          <a:prstGeom prst="rect">
            <a:avLst/>
          </a:prstGeom>
          <a:noFill/>
        </p:spPr>
        <p:txBody>
          <a:bodyPr wrap="square" anchor="t" lIns="0" rIns="0" tIns="0" bIns="0">
            <a:spAutoFit/>
          </a:bodyPr>
          <a:lstStyle/>
          <a:p>
            <a:pPr algn="l">
              <a:spcAft>
                <a:spcPts val="0"/>
              </a:spcAft>
            </a:pPr>
            <a:r>
              <a:rPr sz="1550" b="1">
                <a:solidFill>
                  <a:srgbClr val="711F3B"/>
                </a:solidFill>
                <a:latin typeface="Arial"/>
              </a:rPr>
              <a:t>2. Boundary current</a:t>
            </a:r>
          </a:p>
        </p:txBody>
      </p:sp>
      <p:sp>
        <p:nvSpPr>
          <p:cNvPr id="11" name="TextBox 10"/>
          <p:cNvSpPr txBox="1"/>
          <p:nvPr/>
        </p:nvSpPr>
        <p:spPr>
          <a:xfrm>
            <a:off x="5458968" y="2185415"/>
            <a:ext cx="3026663" cy="365760"/>
          </a:xfrm>
          <a:prstGeom prst="rect">
            <a:avLst/>
          </a:prstGeom>
          <a:noFill/>
        </p:spPr>
        <p:txBody>
          <a:bodyPr wrap="square" anchor="t" lIns="0" rIns="0" tIns="0" bIns="0">
            <a:spAutoFit/>
          </a:bodyPr>
          <a:lstStyle/>
          <a:p>
            <a:pPr algn="l">
              <a:spcAft>
                <a:spcPts val="0"/>
              </a:spcAft>
            </a:pPr>
            <a:r>
              <a:rPr sz="1150" b="0">
                <a:solidFill>
                  <a:srgbClr val="222222"/>
                </a:solidFill>
                <a:latin typeface="Arial"/>
              </a:rPr>
              <a:t>One adjacent pair injects +I and removes −I.</a:t>
            </a:r>
          </a:p>
        </p:txBody>
      </p:sp>
      <p:sp>
        <p:nvSpPr>
          <p:cNvPr id="12" name="Rounded Rectangle 11"/>
          <p:cNvSpPr/>
          <p:nvPr/>
        </p:nvSpPr>
        <p:spPr>
          <a:xfrm>
            <a:off x="5349240" y="2743200"/>
            <a:ext cx="3246120" cy="1005840"/>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58968" y="2834640"/>
            <a:ext cx="3026663" cy="274320"/>
          </a:xfrm>
          <a:prstGeom prst="rect">
            <a:avLst/>
          </a:prstGeom>
          <a:noFill/>
        </p:spPr>
        <p:txBody>
          <a:bodyPr wrap="square" anchor="t" lIns="0" rIns="0" tIns="0" bIns="0">
            <a:spAutoFit/>
          </a:bodyPr>
          <a:lstStyle/>
          <a:p>
            <a:pPr algn="l">
              <a:spcAft>
                <a:spcPts val="0"/>
              </a:spcAft>
            </a:pPr>
            <a:r>
              <a:rPr sz="1550" b="1">
                <a:solidFill>
                  <a:srgbClr val="711F3B"/>
                </a:solidFill>
                <a:latin typeface="Arial"/>
              </a:rPr>
              <a:t>3. Boundary voltage</a:t>
            </a:r>
          </a:p>
        </p:txBody>
      </p:sp>
      <p:sp>
        <p:nvSpPr>
          <p:cNvPr id="14" name="TextBox 13"/>
          <p:cNvSpPr txBox="1"/>
          <p:nvPr/>
        </p:nvSpPr>
        <p:spPr>
          <a:xfrm>
            <a:off x="5458968" y="3182112"/>
            <a:ext cx="3026663" cy="475488"/>
          </a:xfrm>
          <a:prstGeom prst="rect">
            <a:avLst/>
          </a:prstGeom>
          <a:noFill/>
        </p:spPr>
        <p:txBody>
          <a:bodyPr wrap="square" anchor="t" lIns="0" rIns="0" tIns="0" bIns="0">
            <a:spAutoFit/>
          </a:bodyPr>
          <a:lstStyle/>
          <a:p>
            <a:pPr algn="l">
              <a:spcAft>
                <a:spcPts val="0"/>
              </a:spcAft>
            </a:pPr>
            <a:r>
              <a:rPr sz="1120" b="0">
                <a:solidFill>
                  <a:srgbClr val="222222"/>
                </a:solidFill>
                <a:latin typeface="Arial"/>
              </a:rPr>
              <a:t>A conductivity change perturbs current paths and the voltage pattern measured by the sense pairs.</a:t>
            </a:r>
          </a:p>
        </p:txBody>
      </p:sp>
      <p:sp>
        <p:nvSpPr>
          <p:cNvPr id="15" name="Rounded Rectangle 14"/>
          <p:cNvSpPr/>
          <p:nvPr/>
        </p:nvSpPr>
        <p:spPr>
          <a:xfrm>
            <a:off x="5376672" y="3858768"/>
            <a:ext cx="3200400" cy="438912"/>
          </a:xfrm>
          <a:prstGeom prst="roundRect">
            <a:avLst/>
          </a:prstGeom>
          <a:solidFill>
            <a:srgbClr val="ECF3F9"/>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250" b="1">
                <a:solidFill>
                  <a:srgbClr val="31485E"/>
                </a:solidFill>
                <a:latin typeface="Arial"/>
              </a:rPr>
              <a:t>EIT infers the object from the complete boundary pattern.</a:t>
            </a:r>
          </a:p>
        </p:txBody>
      </p:sp>
      <p:sp>
        <p:nvSpPr>
          <p:cNvPr id="16" name="TextBox 15"/>
          <p:cNvSpPr txBox="1"/>
          <p:nvPr/>
        </p:nvSpPr>
        <p:spPr>
          <a:xfrm>
            <a:off x="502920" y="4498848"/>
            <a:ext cx="7498079" cy="201168"/>
          </a:xfrm>
          <a:prstGeom prst="rect">
            <a:avLst/>
          </a:prstGeom>
          <a:noFill/>
        </p:spPr>
        <p:txBody>
          <a:bodyPr wrap="square" anchor="t" lIns="0" rIns="0" tIns="0" bIns="0">
            <a:spAutoFit/>
          </a:bodyPr>
          <a:lstStyle/>
          <a:p>
            <a:pPr algn="l">
              <a:spcAft>
                <a:spcPts val="0"/>
              </a:spcAft>
            </a:pPr>
            <a:r>
              <a:rPr sz="819" b="0">
                <a:solidFill>
                  <a:srgbClr val="5C5C5C"/>
                </a:solidFill>
                <a:latin typeface="Arial"/>
              </a:rPr>
              <a:t>Concept supported by Liu et al. (2018): current is injected through a boundary pair and voltage differences are measured on remaining pairs.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500" b="1">
                <a:solidFill>
                  <a:srgbClr val="711F3B"/>
                </a:solidFill>
                <a:latin typeface="Arial"/>
              </a:rPr>
              <a:t>Where the 208 Voltage Differences Come From</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20</a:t>
            </a:r>
          </a:p>
        </p:txBody>
      </p:sp>
      <p:sp>
        <p:nvSpPr>
          <p:cNvPr id="5" name="Rounded Rectangle 4"/>
          <p:cNvSpPr/>
          <p:nvPr/>
        </p:nvSpPr>
        <p:spPr>
          <a:xfrm>
            <a:off x="502920" y="841248"/>
            <a:ext cx="2103120" cy="1097280"/>
          </a:xfrm>
          <a:prstGeom prst="roundRect">
            <a:avLst/>
          </a:prstGeom>
          <a:solidFill>
            <a:srgbClr val="FFF1F4"/>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932688"/>
            <a:ext cx="1883663" cy="274320"/>
          </a:xfrm>
          <a:prstGeom prst="rect">
            <a:avLst/>
          </a:prstGeom>
          <a:noFill/>
        </p:spPr>
        <p:txBody>
          <a:bodyPr wrap="square" anchor="t" lIns="0" rIns="0" tIns="0" bIns="0">
            <a:spAutoFit/>
          </a:bodyPr>
          <a:lstStyle/>
          <a:p>
            <a:pPr algn="l">
              <a:spcAft>
                <a:spcPts val="0"/>
              </a:spcAft>
            </a:pPr>
            <a:r>
              <a:rPr sz="1800" b="1">
                <a:solidFill>
                  <a:srgbClr val="C51B3A"/>
                </a:solidFill>
                <a:latin typeface="Arial"/>
              </a:rPr>
              <a:t>16 drive pairs</a:t>
            </a:r>
          </a:p>
        </p:txBody>
      </p:sp>
      <p:sp>
        <p:nvSpPr>
          <p:cNvPr id="7" name="TextBox 6"/>
          <p:cNvSpPr txBox="1"/>
          <p:nvPr/>
        </p:nvSpPr>
        <p:spPr>
          <a:xfrm>
            <a:off x="612648" y="1280160"/>
            <a:ext cx="1883663" cy="566928"/>
          </a:xfrm>
          <a:prstGeom prst="rect">
            <a:avLst/>
          </a:prstGeom>
          <a:noFill/>
        </p:spPr>
        <p:txBody>
          <a:bodyPr wrap="square" anchor="t" lIns="0" rIns="0" tIns="0" bIns="0">
            <a:spAutoFit/>
          </a:bodyPr>
          <a:lstStyle/>
          <a:p>
            <a:pPr algn="l">
              <a:spcAft>
                <a:spcPts val="0"/>
              </a:spcAft>
            </a:pPr>
            <a:r>
              <a:rPr sz="1130" b="0">
                <a:solidFill>
                  <a:srgbClr val="222222"/>
                </a:solidFill>
                <a:latin typeface="Arial"/>
              </a:rPr>
              <a:t>The adjacent drive rotates through all electrodes.</a:t>
            </a:r>
          </a:p>
        </p:txBody>
      </p:sp>
      <p:sp>
        <p:nvSpPr>
          <p:cNvPr id="8" name="Right Arrow 7"/>
          <p:cNvSpPr/>
          <p:nvPr/>
        </p:nvSpPr>
        <p:spPr>
          <a:xfrm>
            <a:off x="2697480" y="1243584"/>
            <a:ext cx="384048" cy="256032"/>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00400" y="841248"/>
            <a:ext cx="2103120" cy="1097280"/>
          </a:xfrm>
          <a:prstGeom prst="roundRect">
            <a:avLst/>
          </a:prstGeom>
          <a:solidFill>
            <a:srgbClr val="EFF7F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932688"/>
            <a:ext cx="1883663" cy="274320"/>
          </a:xfrm>
          <a:prstGeom prst="rect">
            <a:avLst/>
          </a:prstGeom>
          <a:noFill/>
        </p:spPr>
        <p:txBody>
          <a:bodyPr wrap="square" anchor="t" lIns="0" rIns="0" tIns="0" bIns="0">
            <a:spAutoFit/>
          </a:bodyPr>
          <a:lstStyle/>
          <a:p>
            <a:pPr algn="l">
              <a:spcAft>
                <a:spcPts val="0"/>
              </a:spcAft>
            </a:pPr>
            <a:r>
              <a:rPr sz="1800" b="1">
                <a:solidFill>
                  <a:srgbClr val="276FBF"/>
                </a:solidFill>
                <a:latin typeface="Arial"/>
              </a:rPr>
              <a:t>13 sense pairs</a:t>
            </a:r>
          </a:p>
        </p:txBody>
      </p:sp>
      <p:sp>
        <p:nvSpPr>
          <p:cNvPr id="11" name="TextBox 10"/>
          <p:cNvSpPr txBox="1"/>
          <p:nvPr/>
        </p:nvSpPr>
        <p:spPr>
          <a:xfrm>
            <a:off x="3310128" y="1280160"/>
            <a:ext cx="1883663" cy="566928"/>
          </a:xfrm>
          <a:prstGeom prst="rect">
            <a:avLst/>
          </a:prstGeom>
          <a:noFill/>
        </p:spPr>
        <p:txBody>
          <a:bodyPr wrap="square" anchor="t" lIns="0" rIns="0" tIns="0" bIns="0">
            <a:spAutoFit/>
          </a:bodyPr>
          <a:lstStyle/>
          <a:p>
            <a:pPr algn="l">
              <a:spcAft>
                <a:spcPts val="0"/>
              </a:spcAft>
            </a:pPr>
            <a:r>
              <a:rPr sz="1130" b="0">
                <a:solidFill>
                  <a:srgbClr val="222222"/>
                </a:solidFill>
                <a:latin typeface="Arial"/>
              </a:rPr>
              <a:t>Each drive retains 13 valid adjacent sense pairs.</a:t>
            </a:r>
          </a:p>
        </p:txBody>
      </p:sp>
      <p:sp>
        <p:nvSpPr>
          <p:cNvPr id="12" name="Right Arrow 11"/>
          <p:cNvSpPr/>
          <p:nvPr/>
        </p:nvSpPr>
        <p:spPr>
          <a:xfrm>
            <a:off x="5394960" y="1243584"/>
            <a:ext cx="384048" cy="256032"/>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897880" y="841248"/>
            <a:ext cx="2423160" cy="1097280"/>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932688"/>
            <a:ext cx="2203704" cy="274320"/>
          </a:xfrm>
          <a:prstGeom prst="rect">
            <a:avLst/>
          </a:prstGeom>
          <a:noFill/>
        </p:spPr>
        <p:txBody>
          <a:bodyPr wrap="square" anchor="t" lIns="0" rIns="0" tIns="0" bIns="0">
            <a:spAutoFit/>
          </a:bodyPr>
          <a:lstStyle/>
          <a:p>
            <a:pPr algn="l">
              <a:spcAft>
                <a:spcPts val="0"/>
              </a:spcAft>
            </a:pPr>
            <a:r>
              <a:rPr sz="1800" b="1">
                <a:solidFill>
                  <a:srgbClr val="711F3B"/>
                </a:solidFill>
                <a:latin typeface="Arial"/>
              </a:rPr>
              <a:t>208 / frame</a:t>
            </a:r>
          </a:p>
        </p:txBody>
      </p:sp>
      <p:sp>
        <p:nvSpPr>
          <p:cNvPr id="15" name="TextBox 14"/>
          <p:cNvSpPr txBox="1"/>
          <p:nvPr/>
        </p:nvSpPr>
        <p:spPr>
          <a:xfrm>
            <a:off x="6007608" y="1280160"/>
            <a:ext cx="2203704" cy="566928"/>
          </a:xfrm>
          <a:prstGeom prst="rect">
            <a:avLst/>
          </a:prstGeom>
          <a:noFill/>
        </p:spPr>
        <p:txBody>
          <a:bodyPr wrap="square" anchor="t" lIns="0" rIns="0" tIns="0" bIns="0">
            <a:spAutoFit/>
          </a:bodyPr>
          <a:lstStyle/>
          <a:p>
            <a:pPr algn="l">
              <a:spcAft>
                <a:spcPts val="0"/>
              </a:spcAft>
            </a:pPr>
            <a:r>
              <a:rPr sz="1130" b="0">
                <a:solidFill>
                  <a:srgbClr val="222222"/>
                </a:solidFill>
                <a:latin typeface="Arial"/>
              </a:rPr>
              <a:t>16 × 13 sequential voltage differences.</a:t>
            </a:r>
          </a:p>
        </p:txBody>
      </p:sp>
      <p:sp>
        <p:nvSpPr>
          <p:cNvPr id="16" name="TextBox 15"/>
          <p:cNvSpPr txBox="1"/>
          <p:nvPr/>
        </p:nvSpPr>
        <p:spPr>
          <a:xfrm>
            <a:off x="640080" y="2249424"/>
            <a:ext cx="7863840" cy="310896"/>
          </a:xfrm>
          <a:prstGeom prst="rect">
            <a:avLst/>
          </a:prstGeom>
          <a:noFill/>
        </p:spPr>
        <p:txBody>
          <a:bodyPr wrap="square" anchor="t" lIns="0" rIns="0" tIns="0" bIns="0">
            <a:spAutoFit/>
          </a:bodyPr>
          <a:lstStyle/>
          <a:p>
            <a:pPr algn="ctr">
              <a:spcAft>
                <a:spcPts val="0"/>
              </a:spcAft>
            </a:pPr>
            <a:r>
              <a:rPr sz="1800" b="1">
                <a:solidFill>
                  <a:srgbClr val="711F3B"/>
                </a:solidFill>
                <a:latin typeface="Arial"/>
              </a:rPr>
              <a:t>Example for drive pair E1-E2</a:t>
            </a:r>
          </a:p>
        </p:txBody>
      </p:sp>
      <p:sp>
        <p:nvSpPr>
          <p:cNvPr id="17" name="Rounded Rectangle 16"/>
          <p:cNvSpPr/>
          <p:nvPr/>
        </p:nvSpPr>
        <p:spPr>
          <a:xfrm>
            <a:off x="685800" y="2706624"/>
            <a:ext cx="1417320" cy="475488"/>
          </a:xfrm>
          <a:prstGeom prst="roundRect">
            <a:avLst/>
          </a:prstGeom>
          <a:solidFill>
            <a:srgbClr val="FFECF0"/>
          </a:solidFill>
          <a:ln w="12700">
            <a:solidFill>
              <a:srgbClr val="C51B3A"/>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400" b="1">
                <a:solidFill>
                  <a:srgbClr val="C51B3A"/>
                </a:solidFill>
                <a:latin typeface="Arial"/>
              </a:rPr>
              <a:t>Invalid pairs</a:t>
            </a:r>
          </a:p>
        </p:txBody>
      </p:sp>
      <p:sp>
        <p:nvSpPr>
          <p:cNvPr id="18" name="Rounded Rectangle 17"/>
          <p:cNvSpPr/>
          <p:nvPr/>
        </p:nvSpPr>
        <p:spPr>
          <a:xfrm>
            <a:off x="2212848" y="2706624"/>
            <a:ext cx="2057400" cy="475488"/>
          </a:xfrm>
          <a:prstGeom prst="roundRect">
            <a:avLst/>
          </a:prstGeom>
          <a:solidFill>
            <a:srgbClr val="FFFFF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E16-E1, E1-E2, E2-E3</a:t>
            </a:r>
          </a:p>
        </p:txBody>
      </p:sp>
      <p:sp>
        <p:nvSpPr>
          <p:cNvPr id="19" name="Rounded Rectangle 18"/>
          <p:cNvSpPr/>
          <p:nvPr/>
        </p:nvSpPr>
        <p:spPr>
          <a:xfrm>
            <a:off x="4462272" y="2706624"/>
            <a:ext cx="1417320" cy="475488"/>
          </a:xfrm>
          <a:prstGeom prst="roundRect">
            <a:avLst/>
          </a:prstGeom>
          <a:solidFill>
            <a:srgbClr val="EDF6FF"/>
          </a:solidFill>
          <a:ln w="12700">
            <a:solidFill>
              <a:srgbClr val="276F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400" b="1">
                <a:solidFill>
                  <a:srgbClr val="276FBF"/>
                </a:solidFill>
                <a:latin typeface="Arial"/>
              </a:rPr>
              <a:t>Valid pairs</a:t>
            </a:r>
          </a:p>
        </p:txBody>
      </p:sp>
      <p:sp>
        <p:nvSpPr>
          <p:cNvPr id="20" name="Rounded Rectangle 19"/>
          <p:cNvSpPr/>
          <p:nvPr/>
        </p:nvSpPr>
        <p:spPr>
          <a:xfrm>
            <a:off x="5989320" y="2706624"/>
            <a:ext cx="2423160" cy="475488"/>
          </a:xfrm>
          <a:prstGeom prst="roundRect">
            <a:avLst/>
          </a:prstGeom>
          <a:solidFill>
            <a:srgbClr val="FFFFF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E3-E4, E4-E5, ... , E15-E16</a:t>
            </a:r>
          </a:p>
        </p:txBody>
      </p:sp>
      <p:sp>
        <p:nvSpPr>
          <p:cNvPr id="21" name="Rounded Rectangle 20"/>
          <p:cNvSpPr/>
          <p:nvPr/>
        </p:nvSpPr>
        <p:spPr>
          <a:xfrm>
            <a:off x="731520" y="3401568"/>
            <a:ext cx="7680960" cy="877824"/>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ctr">
              <a:lnSpc>
                <a:spcPct val="100000"/>
              </a:lnSpc>
              <a:spcAft>
                <a:spcPts val="200"/>
              </a:spcAft>
            </a:pPr>
            <a:r>
              <a:rPr sz="1450" b="1" i="0">
                <a:solidFill>
                  <a:srgbClr val="711F3B"/>
                </a:solidFill>
                <a:latin typeface="Arial"/>
              </a:rPr>
              <a:t>Why 13, not 12?</a:t>
            </a:r>
          </a:p>
          <a:p>
            <a:pPr algn="ctr">
              <a:lnSpc>
                <a:spcPct val="100000"/>
              </a:lnSpc>
              <a:spcAft>
                <a:spcPts val="500"/>
              </a:spcAft>
            </a:pPr>
            <a:r>
              <a:rPr sz="1220" b="0" i="0">
                <a:solidFill>
                  <a:srgbClr val="222222"/>
                </a:solidFill>
                <a:latin typeface="Arial"/>
              </a:rPr>
              <a:t>Remove the two drive electrodes: 14 electrodes remain on one open arc, and 14 points form 13 adjacent sensing gaps.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600" b="1">
                <a:solidFill>
                  <a:srgbClr val="711F3B"/>
                </a:solidFill>
                <a:latin typeface="Arial"/>
              </a:rPr>
              <a:t>Reference, Target, and Change Frames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21</a:t>
            </a:r>
          </a:p>
        </p:txBody>
      </p:sp>
      <p:sp>
        <p:nvSpPr>
          <p:cNvPr id="5" name="Oval 4"/>
          <p:cNvSpPr/>
          <p:nvPr/>
        </p:nvSpPr>
        <p:spPr>
          <a:xfrm>
            <a:off x="658368" y="1051560"/>
            <a:ext cx="1417320" cy="1417320"/>
          </a:xfrm>
          <a:prstGeom prst="ellipse">
            <a:avLst/>
          </a:prstGeom>
          <a:solidFill>
            <a:srgbClr val="EBEFF2"/>
          </a:solidFill>
          <a:ln w="19050">
            <a:solidFill>
              <a:srgbClr val="31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335024" y="1024127"/>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04466" y="1077723"/>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32889" y="1230350"/>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85516" y="1458773"/>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039112" y="1728216"/>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985516" y="1997658"/>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832889" y="2226081"/>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04466" y="2378708"/>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335024" y="2432303"/>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65581" y="2378708"/>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7158" y="2226081"/>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4531" y="1997658"/>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0936" y="1728216"/>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4531" y="1458773"/>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7158" y="1230350"/>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5581" y="1077723"/>
            <a:ext cx="64008" cy="64008"/>
          </a:xfrm>
          <a:prstGeom prst="ellipse">
            <a:avLst/>
          </a:prstGeom>
          <a:solidFill>
            <a:srgbClr val="314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606039"/>
            <a:ext cx="1417320" cy="274320"/>
          </a:xfrm>
          <a:prstGeom prst="rect">
            <a:avLst/>
          </a:prstGeom>
          <a:noFill/>
        </p:spPr>
        <p:txBody>
          <a:bodyPr wrap="square" anchor="t" lIns="0" rIns="0" tIns="0" bIns="0">
            <a:spAutoFit/>
          </a:bodyPr>
          <a:lstStyle/>
          <a:p>
            <a:pPr algn="ctr">
              <a:spcAft>
                <a:spcPts val="0"/>
              </a:spcAft>
            </a:pPr>
            <a:r>
              <a:rPr sz="1600" b="1">
                <a:solidFill>
                  <a:srgbClr val="31485E"/>
                </a:solidFill>
                <a:latin typeface="Arial"/>
              </a:rPr>
              <a:t>Reference state  v₀</a:t>
            </a:r>
          </a:p>
        </p:txBody>
      </p:sp>
      <p:sp>
        <p:nvSpPr>
          <p:cNvPr id="23" name="Right Arrow 22"/>
          <p:cNvSpPr/>
          <p:nvPr/>
        </p:nvSpPr>
        <p:spPr>
          <a:xfrm>
            <a:off x="2331720" y="1609344"/>
            <a:ext cx="457200" cy="310896"/>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971800" y="1051560"/>
            <a:ext cx="1417320" cy="1417320"/>
          </a:xfrm>
          <a:prstGeom prst="ellipse">
            <a:avLst/>
          </a:prstGeom>
          <a:solidFill>
            <a:srgbClr val="EBEFF2"/>
          </a:solidFill>
          <a:ln w="19050">
            <a:solidFill>
              <a:srgbClr val="31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49039" y="1399031"/>
            <a:ext cx="274320" cy="274320"/>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48456" y="1024127"/>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17898" y="1077723"/>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46321" y="1230350"/>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98948" y="1458773"/>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352544" y="1728216"/>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298948" y="1997658"/>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46321" y="2226081"/>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917898" y="2378708"/>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48456" y="2432303"/>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379013" y="2378708"/>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150590" y="2226081"/>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97963" y="1997658"/>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44368" y="1728216"/>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97963" y="1458773"/>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150590" y="1230350"/>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379013" y="1077723"/>
            <a:ext cx="64008" cy="64008"/>
          </a:xfrm>
          <a:prstGeom prst="ellipse">
            <a:avLst/>
          </a:prstGeom>
          <a:solidFill>
            <a:srgbClr val="C51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71800" y="2606039"/>
            <a:ext cx="1417320" cy="274320"/>
          </a:xfrm>
          <a:prstGeom prst="rect">
            <a:avLst/>
          </a:prstGeom>
          <a:noFill/>
        </p:spPr>
        <p:txBody>
          <a:bodyPr wrap="square" anchor="t" lIns="0" rIns="0" tIns="0" bIns="0">
            <a:spAutoFit/>
          </a:bodyPr>
          <a:lstStyle/>
          <a:p>
            <a:pPr algn="ctr">
              <a:spcAft>
                <a:spcPts val="0"/>
              </a:spcAft>
            </a:pPr>
            <a:r>
              <a:rPr sz="1600" b="1">
                <a:solidFill>
                  <a:srgbClr val="C51B3A"/>
                </a:solidFill>
                <a:latin typeface="Arial"/>
              </a:rPr>
              <a:t>Target state  v₁</a:t>
            </a:r>
          </a:p>
        </p:txBody>
      </p:sp>
      <p:sp>
        <p:nvSpPr>
          <p:cNvPr id="43" name="Right Arrow 42"/>
          <p:cNvSpPr/>
          <p:nvPr/>
        </p:nvSpPr>
        <p:spPr>
          <a:xfrm>
            <a:off x="4645152" y="1609344"/>
            <a:ext cx="457200" cy="310896"/>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349240" y="960120"/>
            <a:ext cx="3017520" cy="1938528"/>
          </a:xfrm>
          <a:prstGeom prst="roundRect">
            <a:avLst/>
          </a:prstGeom>
          <a:solidFill>
            <a:srgbClr val="F5EBEF"/>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lnSpc>
                <a:spcPct val="100000"/>
              </a:lnSpc>
              <a:spcAft>
                <a:spcPts val="800"/>
              </a:spcAft>
            </a:pPr>
            <a:r>
              <a:rPr sz="2400" b="1" i="0">
                <a:solidFill>
                  <a:srgbClr val="711F3B"/>
                </a:solidFill>
                <a:latin typeface="Arial"/>
              </a:rPr>
              <a:t>Δv = v₁ − v₀</a:t>
            </a:r>
          </a:p>
          <a:p>
            <a:pPr algn="ctr">
              <a:lnSpc>
                <a:spcPct val="100000"/>
              </a:lnSpc>
              <a:spcAft>
                <a:spcPts val="700"/>
              </a:spcAft>
            </a:pPr>
            <a:r>
              <a:rPr sz="1700" b="1" i="0">
                <a:solidFill>
                  <a:srgbClr val="222222"/>
                </a:solidFill>
                <a:latin typeface="Arial"/>
              </a:rPr>
              <a:t>208 measured changes</a:t>
            </a:r>
          </a:p>
          <a:p>
            <a:pPr algn="ctr">
              <a:lnSpc>
                <a:spcPct val="100000"/>
              </a:lnSpc>
              <a:spcAft>
                <a:spcPts val="500"/>
              </a:spcAft>
            </a:pPr>
            <a:r>
              <a:rPr sz="1400" b="0" i="0">
                <a:solidFill>
                  <a:srgbClr val="222222"/>
                </a:solidFill>
                <a:latin typeface="Arial"/>
              </a:rPr>
              <a:t>This change vector is the input to BP, JAC, and GREIT.</a:t>
            </a:r>
          </a:p>
        </p:txBody>
      </p:sp>
      <p:sp>
        <p:nvSpPr>
          <p:cNvPr id="45" name="Rounded Rectangle 44"/>
          <p:cNvSpPr/>
          <p:nvPr/>
        </p:nvSpPr>
        <p:spPr>
          <a:xfrm>
            <a:off x="777240" y="3200400"/>
            <a:ext cx="7589520" cy="941832"/>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ctr">
              <a:lnSpc>
                <a:spcPct val="100000"/>
              </a:lnSpc>
              <a:spcAft>
                <a:spcPts val="300"/>
              </a:spcAft>
            </a:pPr>
            <a:r>
              <a:rPr sz="1500" b="1" i="0">
                <a:solidFill>
                  <a:srgbClr val="711F3B"/>
                </a:solidFill>
                <a:latin typeface="Arial"/>
              </a:rPr>
              <a:t>Important interpretation</a:t>
            </a:r>
          </a:p>
          <a:p>
            <a:pPr algn="ctr">
              <a:lnSpc>
                <a:spcPct val="100000"/>
              </a:lnSpc>
              <a:spcAft>
                <a:spcPts val="500"/>
              </a:spcAft>
            </a:pPr>
            <a:r>
              <a:rPr sz="1210" b="0" i="0">
                <a:solidFill>
                  <a:srgbClr val="222222"/>
                </a:solidFill>
                <a:latin typeface="Arial"/>
              </a:rPr>
              <a:t>One positive or negative Δv does not alone identify a conductive or resistive target: its sign depends on the drive/sense geometry. Infer location and sign from all 208 values together.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500" b="1">
                <a:solidFill>
                  <a:srgbClr val="711F3B"/>
                </a:solidFill>
                <a:latin typeface="Arial"/>
              </a:rPr>
              <a:t>Why Simulate Before Using CN0565 Hardware?</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22</a:t>
            </a:r>
          </a:p>
        </p:txBody>
      </p:sp>
      <p:sp>
        <p:nvSpPr>
          <p:cNvPr id="5" name="Rounded Rectangle 4"/>
          <p:cNvSpPr/>
          <p:nvPr/>
        </p:nvSpPr>
        <p:spPr>
          <a:xfrm>
            <a:off x="438912" y="960120"/>
            <a:ext cx="1828800"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900" b="1">
                <a:solidFill>
                  <a:srgbClr val="FFFFFF"/>
                </a:solidFill>
                <a:latin typeface="Arial"/>
              </a:rPr>
              <a:t>1</a:t>
            </a:r>
          </a:p>
        </p:txBody>
      </p:sp>
      <p:sp>
        <p:nvSpPr>
          <p:cNvPr id="6" name="TextBox 5"/>
          <p:cNvSpPr txBox="1"/>
          <p:nvPr/>
        </p:nvSpPr>
        <p:spPr>
          <a:xfrm>
            <a:off x="438912" y="1463040"/>
            <a:ext cx="1828800" cy="411480"/>
          </a:xfrm>
          <a:prstGeom prst="rect">
            <a:avLst/>
          </a:prstGeom>
          <a:noFill/>
        </p:spPr>
        <p:txBody>
          <a:bodyPr wrap="square" anchor="t" lIns="0" rIns="0" tIns="0" bIns="0">
            <a:spAutoFit/>
          </a:bodyPr>
          <a:lstStyle/>
          <a:p>
            <a:pPr algn="ctr">
              <a:spcAft>
                <a:spcPts val="0"/>
              </a:spcAft>
            </a:pPr>
            <a:r>
              <a:rPr sz="1600" b="1">
                <a:solidFill>
                  <a:srgbClr val="711F3B"/>
                </a:solidFill>
                <a:latin typeface="Arial"/>
              </a:rPr>
              <a:t>Define ground truth</a:t>
            </a:r>
          </a:p>
        </p:txBody>
      </p:sp>
      <p:sp>
        <p:nvSpPr>
          <p:cNvPr id="7" name="Rounded Rectangle 6"/>
          <p:cNvSpPr/>
          <p:nvPr/>
        </p:nvSpPr>
        <p:spPr>
          <a:xfrm>
            <a:off x="438912" y="1920240"/>
            <a:ext cx="1828800" cy="84124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00" b="0">
                <a:solidFill>
                  <a:srgbClr val="222222"/>
                </a:solidFill>
                <a:latin typeface="Arial"/>
              </a:rPr>
              <a:t>Known σ at every mesh element</a:t>
            </a:r>
          </a:p>
        </p:txBody>
      </p:sp>
      <p:sp>
        <p:nvSpPr>
          <p:cNvPr id="8" name="Right Arrow 7"/>
          <p:cNvSpPr/>
          <p:nvPr/>
        </p:nvSpPr>
        <p:spPr>
          <a:xfrm>
            <a:off x="2295144" y="2167128"/>
            <a:ext cx="274320"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6040" y="960120"/>
            <a:ext cx="1828800"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900" b="1">
                <a:solidFill>
                  <a:srgbClr val="FFFFFF"/>
                </a:solidFill>
                <a:latin typeface="Arial"/>
              </a:rPr>
              <a:t>2</a:t>
            </a:r>
          </a:p>
        </p:txBody>
      </p:sp>
      <p:sp>
        <p:nvSpPr>
          <p:cNvPr id="10" name="TextBox 9"/>
          <p:cNvSpPr txBox="1"/>
          <p:nvPr/>
        </p:nvSpPr>
        <p:spPr>
          <a:xfrm>
            <a:off x="2606040" y="1463040"/>
            <a:ext cx="1828800" cy="411480"/>
          </a:xfrm>
          <a:prstGeom prst="rect">
            <a:avLst/>
          </a:prstGeom>
          <a:noFill/>
        </p:spPr>
        <p:txBody>
          <a:bodyPr wrap="square" anchor="t" lIns="0" rIns="0" tIns="0" bIns="0">
            <a:spAutoFit/>
          </a:bodyPr>
          <a:lstStyle/>
          <a:p>
            <a:pPr algn="ctr">
              <a:spcAft>
                <a:spcPts val="0"/>
              </a:spcAft>
            </a:pPr>
            <a:r>
              <a:rPr sz="1600" b="1">
                <a:solidFill>
                  <a:srgbClr val="711F3B"/>
                </a:solidFill>
                <a:latin typeface="Arial"/>
              </a:rPr>
              <a:t>Forward solve</a:t>
            </a:r>
          </a:p>
        </p:txBody>
      </p:sp>
      <p:sp>
        <p:nvSpPr>
          <p:cNvPr id="11" name="Rounded Rectangle 10"/>
          <p:cNvSpPr/>
          <p:nvPr/>
        </p:nvSpPr>
        <p:spPr>
          <a:xfrm>
            <a:off x="2606040" y="1920240"/>
            <a:ext cx="1828800" cy="84124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00" b="0">
                <a:solidFill>
                  <a:srgbClr val="222222"/>
                </a:solidFill>
                <a:latin typeface="Arial"/>
              </a:rPr>
              <a:t>Predict v₀ and v₁ at the boundary</a:t>
            </a:r>
          </a:p>
        </p:txBody>
      </p:sp>
      <p:sp>
        <p:nvSpPr>
          <p:cNvPr id="12" name="Right Arrow 11"/>
          <p:cNvSpPr/>
          <p:nvPr/>
        </p:nvSpPr>
        <p:spPr>
          <a:xfrm>
            <a:off x="4462272" y="2167128"/>
            <a:ext cx="274320"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73168" y="960120"/>
            <a:ext cx="1828800"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900" b="1">
                <a:solidFill>
                  <a:srgbClr val="FFFFFF"/>
                </a:solidFill>
                <a:latin typeface="Arial"/>
              </a:rPr>
              <a:t>3</a:t>
            </a:r>
          </a:p>
        </p:txBody>
      </p:sp>
      <p:sp>
        <p:nvSpPr>
          <p:cNvPr id="14" name="TextBox 13"/>
          <p:cNvSpPr txBox="1"/>
          <p:nvPr/>
        </p:nvSpPr>
        <p:spPr>
          <a:xfrm>
            <a:off x="4773168" y="1463040"/>
            <a:ext cx="1828800" cy="411480"/>
          </a:xfrm>
          <a:prstGeom prst="rect">
            <a:avLst/>
          </a:prstGeom>
          <a:noFill/>
        </p:spPr>
        <p:txBody>
          <a:bodyPr wrap="square" anchor="t" lIns="0" rIns="0" tIns="0" bIns="0">
            <a:spAutoFit/>
          </a:bodyPr>
          <a:lstStyle/>
          <a:p>
            <a:pPr algn="ctr">
              <a:spcAft>
                <a:spcPts val="0"/>
              </a:spcAft>
            </a:pPr>
            <a:r>
              <a:rPr sz="1600" b="1">
                <a:solidFill>
                  <a:srgbClr val="711F3B"/>
                </a:solidFill>
                <a:latin typeface="Arial"/>
              </a:rPr>
              <a:t>Reconstruct</a:t>
            </a:r>
          </a:p>
        </p:txBody>
      </p:sp>
      <p:sp>
        <p:nvSpPr>
          <p:cNvPr id="15" name="Rounded Rectangle 14"/>
          <p:cNvSpPr/>
          <p:nvPr/>
        </p:nvSpPr>
        <p:spPr>
          <a:xfrm>
            <a:off x="4773168" y="1920240"/>
            <a:ext cx="1828800" cy="84124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00" b="0">
                <a:solidFill>
                  <a:srgbClr val="222222"/>
                </a:solidFill>
                <a:latin typeface="Arial"/>
              </a:rPr>
              <a:t>Give the same Δv to BP, JAC, GREIT</a:t>
            </a:r>
          </a:p>
        </p:txBody>
      </p:sp>
      <p:sp>
        <p:nvSpPr>
          <p:cNvPr id="16" name="Right Arrow 15"/>
          <p:cNvSpPr/>
          <p:nvPr/>
        </p:nvSpPr>
        <p:spPr>
          <a:xfrm>
            <a:off x="6629400" y="2167128"/>
            <a:ext cx="274320"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40296" y="960120"/>
            <a:ext cx="1828800"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900" b="1">
                <a:solidFill>
                  <a:srgbClr val="FFFFFF"/>
                </a:solidFill>
                <a:latin typeface="Arial"/>
              </a:rPr>
              <a:t>4</a:t>
            </a:r>
          </a:p>
        </p:txBody>
      </p:sp>
      <p:sp>
        <p:nvSpPr>
          <p:cNvPr id="18" name="TextBox 17"/>
          <p:cNvSpPr txBox="1"/>
          <p:nvPr/>
        </p:nvSpPr>
        <p:spPr>
          <a:xfrm>
            <a:off x="6940296" y="1463040"/>
            <a:ext cx="1828800" cy="411480"/>
          </a:xfrm>
          <a:prstGeom prst="rect">
            <a:avLst/>
          </a:prstGeom>
          <a:noFill/>
        </p:spPr>
        <p:txBody>
          <a:bodyPr wrap="square" anchor="t" lIns="0" rIns="0" tIns="0" bIns="0">
            <a:spAutoFit/>
          </a:bodyPr>
          <a:lstStyle/>
          <a:p>
            <a:pPr algn="ctr">
              <a:spcAft>
                <a:spcPts val="0"/>
              </a:spcAft>
            </a:pPr>
            <a:r>
              <a:rPr sz="1600" b="1">
                <a:solidFill>
                  <a:srgbClr val="711F3B"/>
                </a:solidFill>
                <a:latin typeface="Arial"/>
              </a:rPr>
              <a:t>Compare</a:t>
            </a:r>
          </a:p>
        </p:txBody>
      </p:sp>
      <p:sp>
        <p:nvSpPr>
          <p:cNvPr id="19" name="Rounded Rectangle 18"/>
          <p:cNvSpPr/>
          <p:nvPr/>
        </p:nvSpPr>
        <p:spPr>
          <a:xfrm>
            <a:off x="6940296" y="1920240"/>
            <a:ext cx="1828800" cy="84124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00" b="0">
                <a:solidFill>
                  <a:srgbClr val="222222"/>
                </a:solidFill>
                <a:latin typeface="Arial"/>
              </a:rPr>
              <a:t>Check each image against the known answer</a:t>
            </a:r>
          </a:p>
        </p:txBody>
      </p:sp>
      <p:sp>
        <p:nvSpPr>
          <p:cNvPr id="20" name="Rounded Rectangle 19"/>
          <p:cNvSpPr/>
          <p:nvPr/>
        </p:nvSpPr>
        <p:spPr>
          <a:xfrm>
            <a:off x="777240" y="3182112"/>
            <a:ext cx="7589520" cy="932688"/>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00584" rIns="100584" tIns="100584" bIns="100584"/>
          <a:lstStyle/>
          <a:p>
            <a:pPr algn="ctr">
              <a:lnSpc>
                <a:spcPct val="100000"/>
              </a:lnSpc>
              <a:spcAft>
                <a:spcPts val="300"/>
              </a:spcAft>
            </a:pPr>
            <a:r>
              <a:rPr sz="1700" b="1" i="0">
                <a:solidFill>
                  <a:srgbClr val="711F3B"/>
                </a:solidFill>
                <a:latin typeface="Arial"/>
              </a:rPr>
              <a:t>The simulation provides an answer key.</a:t>
            </a:r>
          </a:p>
          <a:p>
            <a:pPr algn="ctr">
              <a:lnSpc>
                <a:spcPct val="100000"/>
              </a:lnSpc>
              <a:spcAft>
                <a:spcPts val="500"/>
              </a:spcAft>
            </a:pPr>
            <a:r>
              <a:rPr sz="1260" b="0" i="0">
                <a:solidFill>
                  <a:srgbClr val="222222"/>
                </a:solidFill>
                <a:latin typeface="Arial"/>
              </a:rPr>
              <a:t>Because the true object is known, output differences can be attributed to the algorithm and its settings—not unknown hardware errors.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600" b="1">
                <a:solidFill>
                  <a:srgbClr val="711F3B"/>
                </a:solidFill>
                <a:latin typeface="Arial"/>
              </a:rPr>
              <a:t>How to Read the Conductivity Model</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23</a:t>
            </a:r>
          </a:p>
        </p:txBody>
      </p:sp>
      <p:pic>
        <p:nvPicPr>
          <p:cNvPr id="5" name="Picture 4" descr="ground_truth.png"/>
          <p:cNvPicPr>
            <a:picLocks noChangeAspect="1"/>
          </p:cNvPicPr>
          <p:nvPr/>
        </p:nvPicPr>
        <p:blipFill>
          <a:blip r:embed="rId2"/>
          <a:stretch>
            <a:fillRect/>
          </a:stretch>
        </p:blipFill>
        <p:spPr>
          <a:xfrm>
            <a:off x="292608" y="676640"/>
            <a:ext cx="4846320" cy="3666774"/>
          </a:xfrm>
          <a:prstGeom prst="rect">
            <a:avLst/>
          </a:prstGeom>
        </p:spPr>
      </p:pic>
      <p:sp>
        <p:nvSpPr>
          <p:cNvPr id="6" name="Rounded Rectangle 5"/>
          <p:cNvSpPr/>
          <p:nvPr/>
        </p:nvSpPr>
        <p:spPr>
          <a:xfrm>
            <a:off x="5230368" y="722376"/>
            <a:ext cx="3310128" cy="3602736"/>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lnSpc>
                <a:spcPct val="100000"/>
              </a:lnSpc>
              <a:spcAft>
                <a:spcPts val="200"/>
              </a:spcAft>
            </a:pPr>
            <a:r>
              <a:rPr sz="1550" b="1" i="0">
                <a:solidFill>
                  <a:srgbClr val="711F3B"/>
                </a:solidFill>
                <a:latin typeface="Arial"/>
              </a:rPr>
              <a:t>Relative conductivity</a:t>
            </a:r>
          </a:p>
          <a:p>
            <a:pPr algn="l">
              <a:lnSpc>
                <a:spcPct val="100000"/>
              </a:lnSpc>
              <a:spcAft>
                <a:spcPts val="500"/>
              </a:spcAft>
            </a:pPr>
            <a:r>
              <a:rPr sz="1130" b="0" i="0">
                <a:solidFill>
                  <a:srgbClr val="222222"/>
                </a:solidFill>
                <a:latin typeface="Arial"/>
              </a:rPr>
              <a:t>σrel = σ/σbg. Background = 1 by normalization; it is not automatically water, air, tissue, or 1 S/m.</a:t>
            </a:r>
          </a:p>
          <a:p>
            <a:pPr algn="l">
              <a:lnSpc>
                <a:spcPct val="100000"/>
              </a:lnSpc>
              <a:spcAft>
                <a:spcPts val="200"/>
              </a:spcAft>
            </a:pPr>
            <a:r>
              <a:rPr sz="1550" b="1" i="0">
                <a:solidFill>
                  <a:srgbClr val="711F3B"/>
                </a:solidFill>
                <a:latin typeface="Arial"/>
              </a:rPr>
              <a:t>Target radius = 0.12R</a:t>
            </a:r>
          </a:p>
          <a:p>
            <a:pPr algn="l">
              <a:lnSpc>
                <a:spcPct val="100000"/>
              </a:lnSpc>
              <a:spcAft>
                <a:spcPts val="500"/>
              </a:spcAft>
            </a:pPr>
            <a:r>
              <a:rPr sz="1130" b="0" i="0">
                <a:solidFill>
                  <a:srgbClr val="222222"/>
                </a:solidFill>
                <a:latin typeface="Arial"/>
              </a:rPr>
              <a:t>R is tank radius. Target radius is 12% of R; target diameter is 24% of R.</a:t>
            </a:r>
          </a:p>
          <a:p>
            <a:pPr algn="l">
              <a:lnSpc>
                <a:spcPct val="100000"/>
              </a:lnSpc>
              <a:spcAft>
                <a:spcPts val="200"/>
              </a:spcAft>
            </a:pPr>
            <a:r>
              <a:rPr sz="1550" b="1" i="0">
                <a:solidFill>
                  <a:srgbClr val="711F3B"/>
                </a:solidFill>
                <a:latin typeface="Arial"/>
              </a:rPr>
              <a:t>Normalized coordinates</a:t>
            </a:r>
          </a:p>
          <a:p>
            <a:pPr algn="l">
              <a:lnSpc>
                <a:spcPct val="100000"/>
              </a:lnSpc>
              <a:spcAft>
                <a:spcPts val="500"/>
              </a:spcAft>
            </a:pPr>
            <a:r>
              <a:rPr sz="1130" b="0" i="0">
                <a:solidFill>
                  <a:srgbClr val="222222"/>
                </a:solidFill>
                <a:latin typeface="Arial"/>
              </a:rPr>
              <a:t>x/R and y/R run from −1 to +1. (0.5, −0.5) means half a radius right and half a radius down.</a:t>
            </a:r>
          </a:p>
          <a:p>
            <a:pPr algn="l">
              <a:lnSpc>
                <a:spcPct val="100000"/>
              </a:lnSpc>
              <a:spcAft>
                <a:spcPts val="200"/>
              </a:spcAft>
            </a:pPr>
            <a:r>
              <a:rPr sz="1550" b="1" i="0">
                <a:solidFill>
                  <a:srgbClr val="711F3B"/>
                </a:solidFill>
                <a:latin typeface="Arial"/>
              </a:rPr>
              <a:t>Log colour scale</a:t>
            </a:r>
          </a:p>
          <a:p>
            <a:pPr algn="l">
              <a:lnSpc>
                <a:spcPct val="100000"/>
              </a:lnSpc>
              <a:spcAft>
                <a:spcPts val="500"/>
              </a:spcAft>
            </a:pPr>
            <a:r>
              <a:rPr sz="1130" b="0" i="0">
                <a:solidFill>
                  <a:srgbClr val="222222"/>
                </a:solidFill>
                <a:latin typeface="Arial"/>
              </a:rPr>
              <a:t>log₁₀(σ/σbg): 10× → +1, 1× → 0, 0.1× → −1, so reciprocal contrasts are visually symmetric.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Where 583 Nodes and 1083 Elements Come From</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24</a:t>
            </a:r>
          </a:p>
        </p:txBody>
      </p:sp>
      <p:pic>
        <p:nvPicPr>
          <p:cNvPr id="5" name="Picture 4" descr="mesh_sweep.png"/>
          <p:cNvPicPr>
            <a:picLocks noChangeAspect="1"/>
          </p:cNvPicPr>
          <p:nvPr/>
        </p:nvPicPr>
        <p:blipFill>
          <a:blip r:embed="rId2"/>
          <a:stretch>
            <a:fillRect/>
          </a:stretch>
        </p:blipFill>
        <p:spPr>
          <a:xfrm>
            <a:off x="256032" y="722955"/>
            <a:ext cx="8503920" cy="2275696"/>
          </a:xfrm>
          <a:prstGeom prst="rect">
            <a:avLst/>
          </a:prstGeom>
        </p:spPr>
      </p:pic>
      <p:sp>
        <p:nvSpPr>
          <p:cNvPr id="6" name="Rounded Rectangle 5"/>
          <p:cNvSpPr/>
          <p:nvPr/>
        </p:nvSpPr>
        <p:spPr>
          <a:xfrm>
            <a:off x="566928" y="3182112"/>
            <a:ext cx="2450592" cy="950976"/>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3273552"/>
            <a:ext cx="2231136" cy="274320"/>
          </a:xfrm>
          <a:prstGeom prst="rect">
            <a:avLst/>
          </a:prstGeom>
          <a:noFill/>
        </p:spPr>
        <p:txBody>
          <a:bodyPr wrap="square" anchor="t" lIns="0" rIns="0" tIns="0" bIns="0">
            <a:spAutoFit/>
          </a:bodyPr>
          <a:lstStyle/>
          <a:p>
            <a:pPr algn="l">
              <a:spcAft>
                <a:spcPts val="0"/>
              </a:spcAft>
            </a:pPr>
            <a:r>
              <a:rPr sz="2000" b="1">
                <a:solidFill>
                  <a:srgbClr val="711F3B"/>
                </a:solidFill>
                <a:latin typeface="Arial"/>
              </a:rPr>
              <a:t>h0 = 0.08</a:t>
            </a:r>
          </a:p>
        </p:txBody>
      </p:sp>
      <p:sp>
        <p:nvSpPr>
          <p:cNvPr id="8" name="TextBox 7"/>
          <p:cNvSpPr txBox="1"/>
          <p:nvPr/>
        </p:nvSpPr>
        <p:spPr>
          <a:xfrm>
            <a:off x="676656" y="3621024"/>
            <a:ext cx="2231136" cy="420624"/>
          </a:xfrm>
          <a:prstGeom prst="rect">
            <a:avLst/>
          </a:prstGeom>
          <a:noFill/>
        </p:spPr>
        <p:txBody>
          <a:bodyPr wrap="square" anchor="t" lIns="0" rIns="0" tIns="0" bIns="0">
            <a:spAutoFit/>
          </a:bodyPr>
          <a:lstStyle/>
          <a:p>
            <a:pPr algn="l">
              <a:spcAft>
                <a:spcPts val="0"/>
              </a:spcAft>
            </a:pPr>
            <a:r>
              <a:rPr sz="1250" b="0">
                <a:solidFill>
                  <a:srgbClr val="222222"/>
                </a:solidFill>
                <a:latin typeface="Arial"/>
              </a:rPr>
              <a:t>Requested characteristic triangle spacing in the unit-radius geometry.</a:t>
            </a:r>
          </a:p>
        </p:txBody>
      </p:sp>
      <p:sp>
        <p:nvSpPr>
          <p:cNvPr id="9" name="Rounded Rectangle 8"/>
          <p:cNvSpPr/>
          <p:nvPr/>
        </p:nvSpPr>
        <p:spPr>
          <a:xfrm>
            <a:off x="3319272" y="3182112"/>
            <a:ext cx="2450592" cy="950976"/>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3273552"/>
            <a:ext cx="2231136" cy="274320"/>
          </a:xfrm>
          <a:prstGeom prst="rect">
            <a:avLst/>
          </a:prstGeom>
          <a:noFill/>
        </p:spPr>
        <p:txBody>
          <a:bodyPr wrap="square" anchor="t" lIns="0" rIns="0" tIns="0" bIns="0">
            <a:spAutoFit/>
          </a:bodyPr>
          <a:lstStyle/>
          <a:p>
            <a:pPr algn="l">
              <a:spcAft>
                <a:spcPts val="0"/>
              </a:spcAft>
            </a:pPr>
            <a:r>
              <a:rPr sz="2000" b="1">
                <a:solidFill>
                  <a:srgbClr val="31485E"/>
                </a:solidFill>
                <a:latin typeface="Arial"/>
              </a:rPr>
              <a:t>583 nodes</a:t>
            </a:r>
          </a:p>
        </p:txBody>
      </p:sp>
      <p:sp>
        <p:nvSpPr>
          <p:cNvPr id="11" name="TextBox 10"/>
          <p:cNvSpPr txBox="1"/>
          <p:nvPr/>
        </p:nvSpPr>
        <p:spPr>
          <a:xfrm>
            <a:off x="3429000" y="3621024"/>
            <a:ext cx="2231136" cy="420624"/>
          </a:xfrm>
          <a:prstGeom prst="rect">
            <a:avLst/>
          </a:prstGeom>
          <a:noFill/>
        </p:spPr>
        <p:txBody>
          <a:bodyPr wrap="square" anchor="t" lIns="0" rIns="0" tIns="0" bIns="0">
            <a:spAutoFit/>
          </a:bodyPr>
          <a:lstStyle/>
          <a:p>
            <a:pPr algn="l">
              <a:spcAft>
                <a:spcPts val="0"/>
              </a:spcAft>
            </a:pPr>
            <a:r>
              <a:rPr sz="1250" b="0">
                <a:solidFill>
                  <a:srgbClr val="222222"/>
                </a:solidFill>
                <a:latin typeface="Arial"/>
              </a:rPr>
              <a:t>Locations where the FEM solves electric potential u.</a:t>
            </a:r>
          </a:p>
        </p:txBody>
      </p:sp>
      <p:sp>
        <p:nvSpPr>
          <p:cNvPr id="12" name="Rounded Rectangle 11"/>
          <p:cNvSpPr/>
          <p:nvPr/>
        </p:nvSpPr>
        <p:spPr>
          <a:xfrm>
            <a:off x="6071616" y="3182112"/>
            <a:ext cx="2450592" cy="950976"/>
          </a:xfrm>
          <a:prstGeom prst="roundRect">
            <a:avLst/>
          </a:prstGeom>
          <a:solidFill>
            <a:srgbClr val="FFF1F4"/>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273552"/>
            <a:ext cx="2231136" cy="274320"/>
          </a:xfrm>
          <a:prstGeom prst="rect">
            <a:avLst/>
          </a:prstGeom>
          <a:noFill/>
        </p:spPr>
        <p:txBody>
          <a:bodyPr wrap="square" anchor="t" lIns="0" rIns="0" tIns="0" bIns="0">
            <a:spAutoFit/>
          </a:bodyPr>
          <a:lstStyle/>
          <a:p>
            <a:pPr algn="l">
              <a:spcAft>
                <a:spcPts val="0"/>
              </a:spcAft>
            </a:pPr>
            <a:r>
              <a:rPr sz="2000" b="1">
                <a:solidFill>
                  <a:srgbClr val="C51B3A"/>
                </a:solidFill>
                <a:latin typeface="Arial"/>
              </a:rPr>
              <a:t>1083 elements</a:t>
            </a:r>
          </a:p>
        </p:txBody>
      </p:sp>
      <p:sp>
        <p:nvSpPr>
          <p:cNvPr id="14" name="TextBox 13"/>
          <p:cNvSpPr txBox="1"/>
          <p:nvPr/>
        </p:nvSpPr>
        <p:spPr>
          <a:xfrm>
            <a:off x="6181344" y="3621024"/>
            <a:ext cx="2231136" cy="420624"/>
          </a:xfrm>
          <a:prstGeom prst="rect">
            <a:avLst/>
          </a:prstGeom>
          <a:noFill/>
        </p:spPr>
        <p:txBody>
          <a:bodyPr wrap="square" anchor="t" lIns="0" rIns="0" tIns="0" bIns="0">
            <a:spAutoFit/>
          </a:bodyPr>
          <a:lstStyle/>
          <a:p>
            <a:pPr algn="l">
              <a:spcAft>
                <a:spcPts val="0"/>
              </a:spcAft>
            </a:pPr>
            <a:r>
              <a:rPr sz="1250" b="0">
                <a:solidFill>
                  <a:srgbClr val="222222"/>
                </a:solidFill>
                <a:latin typeface="Arial"/>
              </a:rPr>
              <a:t>Triangles carrying piecewise conductivity values σ.</a:t>
            </a:r>
          </a:p>
        </p:txBody>
      </p:sp>
      <p:sp>
        <p:nvSpPr>
          <p:cNvPr id="15" name="TextBox 14"/>
          <p:cNvSpPr txBox="1"/>
          <p:nvPr/>
        </p:nvSpPr>
        <p:spPr>
          <a:xfrm>
            <a:off x="502920" y="4498848"/>
            <a:ext cx="7498079" cy="201168"/>
          </a:xfrm>
          <a:prstGeom prst="rect">
            <a:avLst/>
          </a:prstGeom>
          <a:noFill/>
        </p:spPr>
        <p:txBody>
          <a:bodyPr wrap="square" anchor="t" lIns="0" rIns="0" tIns="0" bIns="0">
            <a:spAutoFit/>
          </a:bodyPr>
          <a:lstStyle/>
          <a:p>
            <a:pPr algn="l">
              <a:spcAft>
                <a:spcPts val="0"/>
              </a:spcAft>
            </a:pPr>
            <a:r>
              <a:rPr sz="819" b="0">
                <a:solidFill>
                  <a:srgbClr val="5C5C5C"/>
                </a:solidFill>
                <a:latin typeface="Arial"/>
              </a:rPr>
              <a:t>Counts are outputs of mesh.create(16, h0=0.08), not universal EIT constants. Smaller h0 increases computation and reduces discretization error.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How to Interpret the Synthetic Voltage Chart</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25</a:t>
            </a:r>
          </a:p>
        </p:txBody>
      </p:sp>
      <p:pic>
        <p:nvPicPr>
          <p:cNvPr id="5" name="Picture 4" descr="voltage_frames.png"/>
          <p:cNvPicPr>
            <a:picLocks noChangeAspect="1"/>
          </p:cNvPicPr>
          <p:nvPr/>
        </p:nvPicPr>
        <p:blipFill>
          <a:blip r:embed="rId2"/>
          <a:stretch>
            <a:fillRect/>
          </a:stretch>
        </p:blipFill>
        <p:spPr>
          <a:xfrm>
            <a:off x="320040" y="1120736"/>
            <a:ext cx="5532120" cy="2742007"/>
          </a:xfrm>
          <a:prstGeom prst="rect">
            <a:avLst/>
          </a:prstGeom>
        </p:spPr>
      </p:pic>
      <p:sp>
        <p:nvSpPr>
          <p:cNvPr id="6" name="Rounded Rectangle 5"/>
          <p:cNvSpPr/>
          <p:nvPr/>
        </p:nvSpPr>
        <p:spPr>
          <a:xfrm>
            <a:off x="5897880" y="731520"/>
            <a:ext cx="2743200" cy="3566160"/>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00584" rIns="100584" tIns="100584" bIns="100584"/>
          <a:lstStyle/>
          <a:p>
            <a:pPr algn="l">
              <a:lnSpc>
                <a:spcPct val="100000"/>
              </a:lnSpc>
              <a:spcAft>
                <a:spcPts val="200"/>
              </a:spcAft>
            </a:pPr>
            <a:r>
              <a:rPr sz="1450" b="1" i="0">
                <a:solidFill>
                  <a:srgbClr val="711F3B"/>
                </a:solidFill>
                <a:latin typeface="Arial"/>
              </a:rPr>
              <a:t>Top: v₀ and v₁</a:t>
            </a:r>
          </a:p>
          <a:p>
            <a:pPr algn="l">
              <a:lnSpc>
                <a:spcPct val="100000"/>
              </a:lnSpc>
              <a:spcAft>
                <a:spcPts val="500"/>
              </a:spcAft>
            </a:pPr>
            <a:r>
              <a:rPr sz="1060" b="0" i="0">
                <a:solidFill>
                  <a:srgbClr val="222222"/>
                </a:solidFill>
                <a:latin typeface="Arial"/>
              </a:rPr>
              <a:t>Each curve has 208 channels: 16 repeated drive groups × 13 sense values.</a:t>
            </a:r>
          </a:p>
          <a:p>
            <a:pPr algn="l">
              <a:lnSpc>
                <a:spcPct val="100000"/>
              </a:lnSpc>
              <a:spcAft>
                <a:spcPts val="200"/>
              </a:spcAft>
            </a:pPr>
            <a:r>
              <a:rPr sz="1450" b="1" i="0">
                <a:solidFill>
                  <a:srgbClr val="711F3B"/>
                </a:solidFill>
                <a:latin typeface="Arial"/>
              </a:rPr>
              <a:t>Why they nearly overlap</a:t>
            </a:r>
          </a:p>
          <a:p>
            <a:pPr algn="l">
              <a:lnSpc>
                <a:spcPct val="100000"/>
              </a:lnSpc>
              <a:spcAft>
                <a:spcPts val="500"/>
              </a:spcAft>
            </a:pPr>
            <a:r>
              <a:rPr sz="1060" b="0" i="0">
                <a:solidFill>
                  <a:srgbClr val="222222"/>
                </a:solidFill>
                <a:latin typeface="Arial"/>
              </a:rPr>
              <a:t>The target only perturbs the baseline field; Δv is smaller than the absolute model voltage.</a:t>
            </a:r>
          </a:p>
          <a:p>
            <a:pPr algn="l">
              <a:lnSpc>
                <a:spcPct val="100000"/>
              </a:lnSpc>
              <a:spcAft>
                <a:spcPts val="200"/>
              </a:spcAft>
            </a:pPr>
            <a:r>
              <a:rPr sz="1450" b="1" i="0">
                <a:solidFill>
                  <a:srgbClr val="711F3B"/>
                </a:solidFill>
                <a:latin typeface="Arial"/>
              </a:rPr>
              <a:t>Bottom: Δv</a:t>
            </a:r>
          </a:p>
          <a:p>
            <a:pPr algn="l">
              <a:lnSpc>
                <a:spcPct val="100000"/>
              </a:lnSpc>
              <a:spcAft>
                <a:spcPts val="500"/>
              </a:spcAft>
            </a:pPr>
            <a:r>
              <a:rPr sz="1060" b="0" i="0">
                <a:solidFill>
                  <a:srgbClr val="222222"/>
                </a:solidFill>
                <a:latin typeface="Arial"/>
              </a:rPr>
              <a:t>The algorithms use the full 208-value shape. Peaks mark drive/sense channels that are strongly affected.</a:t>
            </a:r>
          </a:p>
          <a:p>
            <a:pPr algn="l">
              <a:lnSpc>
                <a:spcPct val="100000"/>
              </a:lnSpc>
              <a:spcAft>
                <a:spcPts val="200"/>
              </a:spcAft>
            </a:pPr>
            <a:r>
              <a:rPr sz="1450" b="1" i="0">
                <a:solidFill>
                  <a:srgbClr val="711F3B"/>
                </a:solidFill>
                <a:latin typeface="Arial"/>
              </a:rPr>
              <a:t>Not hardware volts</a:t>
            </a:r>
          </a:p>
          <a:p>
            <a:pPr algn="l">
              <a:lnSpc>
                <a:spcPct val="100000"/>
              </a:lnSpc>
              <a:spcAft>
                <a:spcPts val="500"/>
              </a:spcAft>
            </a:pPr>
            <a:r>
              <a:rPr sz="1060" b="0" i="0">
                <a:solidFill>
                  <a:srgbClr val="222222"/>
                </a:solidFill>
                <a:latin typeface="Arial"/>
              </a:rPr>
              <a:t>The y-axis is ideal unit-current model output, not yet calibrated to CN0565 amplitude.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600" b="1">
                <a:solidFill>
                  <a:srgbClr val="711F3B"/>
                </a:solidFill>
                <a:latin typeface="Arial"/>
              </a:rPr>
              <a:t>Three Algorithms, One Shared Input</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26</a:t>
            </a:r>
          </a:p>
        </p:txBody>
      </p:sp>
      <p:sp>
        <p:nvSpPr>
          <p:cNvPr id="5" name="TextBox 4"/>
          <p:cNvSpPr txBox="1"/>
          <p:nvPr/>
        </p:nvSpPr>
        <p:spPr>
          <a:xfrm>
            <a:off x="685800" y="676656"/>
            <a:ext cx="7772400" cy="384048"/>
          </a:xfrm>
          <a:prstGeom prst="rect">
            <a:avLst/>
          </a:prstGeom>
          <a:noFill/>
        </p:spPr>
        <p:txBody>
          <a:bodyPr wrap="square" anchor="t" lIns="0" rIns="0" tIns="0" bIns="0">
            <a:spAutoFit/>
          </a:bodyPr>
          <a:lstStyle/>
          <a:p>
            <a:pPr algn="ctr">
              <a:spcAft>
                <a:spcPts val="0"/>
              </a:spcAft>
            </a:pPr>
            <a:r>
              <a:rPr sz="1600" b="1">
                <a:solidFill>
                  <a:srgbClr val="31485E"/>
                </a:solidFill>
                <a:latin typeface="Arial"/>
              </a:rPr>
              <a:t>All three receive the same mesh, protocol, v₀, and v₁. None is told the target location.</a:t>
            </a:r>
          </a:p>
        </p:txBody>
      </p:sp>
      <p:sp>
        <p:nvSpPr>
          <p:cNvPr id="6" name="Rounded Rectangle 5"/>
          <p:cNvSpPr/>
          <p:nvPr/>
        </p:nvSpPr>
        <p:spPr>
          <a:xfrm>
            <a:off x="438912" y="1298448"/>
            <a:ext cx="2606040" cy="2176272"/>
          </a:xfrm>
          <a:prstGeom prst="roundRect">
            <a:avLst/>
          </a:prstGeom>
          <a:solidFill>
            <a:srgbClr val="FAF2F5"/>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89888"/>
            <a:ext cx="2386584" cy="274320"/>
          </a:xfrm>
          <a:prstGeom prst="rect">
            <a:avLst/>
          </a:prstGeom>
          <a:noFill/>
        </p:spPr>
        <p:txBody>
          <a:bodyPr wrap="square" anchor="t" lIns="0" rIns="0" tIns="0" bIns="0">
            <a:spAutoFit/>
          </a:bodyPr>
          <a:lstStyle/>
          <a:p>
            <a:pPr algn="l">
              <a:spcAft>
                <a:spcPts val="0"/>
              </a:spcAft>
            </a:pPr>
            <a:r>
              <a:rPr sz="1650" b="1">
                <a:solidFill>
                  <a:srgbClr val="711F3B"/>
                </a:solidFill>
                <a:latin typeface="Arial"/>
              </a:rPr>
              <a:t>BP — smear map</a:t>
            </a:r>
          </a:p>
        </p:txBody>
      </p:sp>
      <p:sp>
        <p:nvSpPr>
          <p:cNvPr id="8" name="TextBox 7"/>
          <p:cNvSpPr txBox="1"/>
          <p:nvPr/>
        </p:nvSpPr>
        <p:spPr>
          <a:xfrm>
            <a:off x="548640" y="1737360"/>
            <a:ext cx="2386584" cy="1645919"/>
          </a:xfrm>
          <a:prstGeom prst="rect">
            <a:avLst/>
          </a:prstGeom>
          <a:noFill/>
        </p:spPr>
        <p:txBody>
          <a:bodyPr wrap="square" anchor="t" lIns="0" rIns="0" tIns="0" bIns="0">
            <a:spAutoFit/>
          </a:bodyPr>
          <a:lstStyle/>
          <a:p>
            <a:pPr algn="l">
              <a:spcAft>
                <a:spcPts val="0"/>
              </a:spcAft>
            </a:pPr>
            <a:r>
              <a:rPr sz="1230" b="0">
                <a:solidFill>
                  <a:srgbClr val="222222"/>
                </a:solidFill>
                <a:latin typeface="Arial"/>
              </a:rPr>
              <a:t>Paint each voltage change back into every region that could have produced it.
Fast baseline; broad and blurry.</a:t>
            </a:r>
          </a:p>
        </p:txBody>
      </p:sp>
      <p:sp>
        <p:nvSpPr>
          <p:cNvPr id="9" name="Rounded Rectangle 8"/>
          <p:cNvSpPr/>
          <p:nvPr/>
        </p:nvSpPr>
        <p:spPr>
          <a:xfrm>
            <a:off x="3273552" y="1298448"/>
            <a:ext cx="2606040" cy="2176272"/>
          </a:xfrm>
          <a:prstGeom prst="roundRect">
            <a:avLst/>
          </a:prstGeom>
          <a:solidFill>
            <a:srgbClr val="F5F7FA"/>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389888"/>
            <a:ext cx="2386584" cy="274320"/>
          </a:xfrm>
          <a:prstGeom prst="rect">
            <a:avLst/>
          </a:prstGeom>
          <a:noFill/>
        </p:spPr>
        <p:txBody>
          <a:bodyPr wrap="square" anchor="t" lIns="0" rIns="0" tIns="0" bIns="0">
            <a:spAutoFit/>
          </a:bodyPr>
          <a:lstStyle/>
          <a:p>
            <a:pPr algn="l">
              <a:spcAft>
                <a:spcPts val="0"/>
              </a:spcAft>
            </a:pPr>
            <a:r>
              <a:rPr sz="1650" b="1">
                <a:solidFill>
                  <a:srgbClr val="711F3B"/>
                </a:solidFill>
                <a:latin typeface="Arial"/>
              </a:rPr>
              <a:t>JAC — Jacobian map</a:t>
            </a:r>
          </a:p>
        </p:txBody>
      </p:sp>
      <p:sp>
        <p:nvSpPr>
          <p:cNvPr id="11" name="TextBox 10"/>
          <p:cNvSpPr txBox="1"/>
          <p:nvPr/>
        </p:nvSpPr>
        <p:spPr>
          <a:xfrm>
            <a:off x="3383280" y="1737360"/>
            <a:ext cx="2386584" cy="1645919"/>
          </a:xfrm>
          <a:prstGeom prst="rect">
            <a:avLst/>
          </a:prstGeom>
          <a:noFill/>
        </p:spPr>
        <p:txBody>
          <a:bodyPr wrap="square" anchor="t" lIns="0" rIns="0" tIns="0" bIns="0">
            <a:spAutoFit/>
          </a:bodyPr>
          <a:lstStyle/>
          <a:p>
            <a:pPr algn="l">
              <a:spcAft>
                <a:spcPts val="0"/>
              </a:spcAft>
            </a:pPr>
            <a:r>
              <a:rPr sz="1230" b="0">
                <a:solidFill>
                  <a:srgbClr val="222222"/>
                </a:solidFill>
                <a:latin typeface="Arial"/>
              </a:rPr>
              <a:t>Use the lookup table of how each triangle affects each channel, then solve backward with a stability penalty.
Detail versus noise trade-off.</a:t>
            </a:r>
          </a:p>
        </p:txBody>
      </p:sp>
      <p:sp>
        <p:nvSpPr>
          <p:cNvPr id="12" name="Rounded Rectangle 11"/>
          <p:cNvSpPr/>
          <p:nvPr/>
        </p:nvSpPr>
        <p:spPr>
          <a:xfrm>
            <a:off x="6108192" y="1298448"/>
            <a:ext cx="2606040" cy="2176272"/>
          </a:xfrm>
          <a:prstGeom prst="roundRect">
            <a:avLst/>
          </a:prstGeom>
          <a:solidFill>
            <a:srgbClr val="F1F7FC"/>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89888"/>
            <a:ext cx="2386584" cy="274320"/>
          </a:xfrm>
          <a:prstGeom prst="rect">
            <a:avLst/>
          </a:prstGeom>
          <a:noFill/>
        </p:spPr>
        <p:txBody>
          <a:bodyPr wrap="square" anchor="t" lIns="0" rIns="0" tIns="0" bIns="0">
            <a:spAutoFit/>
          </a:bodyPr>
          <a:lstStyle/>
          <a:p>
            <a:pPr algn="l">
              <a:spcAft>
                <a:spcPts val="0"/>
              </a:spcAft>
            </a:pPr>
            <a:r>
              <a:rPr sz="1650" b="1">
                <a:solidFill>
                  <a:srgbClr val="711F3B"/>
                </a:solidFill>
                <a:latin typeface="Arial"/>
              </a:rPr>
              <a:t>GREIT — grid map</a:t>
            </a:r>
          </a:p>
        </p:txBody>
      </p:sp>
      <p:sp>
        <p:nvSpPr>
          <p:cNvPr id="14" name="TextBox 13"/>
          <p:cNvSpPr txBox="1"/>
          <p:nvPr/>
        </p:nvSpPr>
        <p:spPr>
          <a:xfrm>
            <a:off x="6217920" y="1737360"/>
            <a:ext cx="2386584" cy="1645919"/>
          </a:xfrm>
          <a:prstGeom prst="rect">
            <a:avLst/>
          </a:prstGeom>
          <a:noFill/>
        </p:spPr>
        <p:txBody>
          <a:bodyPr wrap="square" anchor="t" lIns="0" rIns="0" tIns="0" bIns="0">
            <a:spAutoFit/>
          </a:bodyPr>
          <a:lstStyle/>
          <a:p>
            <a:pPr algn="l">
              <a:spcAft>
                <a:spcPts val="0"/>
              </a:spcAft>
            </a:pPr>
            <a:r>
              <a:rPr sz="1230" b="0">
                <a:solidFill>
                  <a:srgbClr val="222222"/>
                </a:solidFill>
                <a:latin typeface="Arial"/>
              </a:rPr>
              <a:t>Use one matrix to convert the 208-value pattern directly into a regular pixel image.
Smooth and fast at run time.</a:t>
            </a:r>
          </a:p>
        </p:txBody>
      </p:sp>
      <p:sp>
        <p:nvSpPr>
          <p:cNvPr id="15" name="Rounded Rectangle 14"/>
          <p:cNvSpPr/>
          <p:nvPr/>
        </p:nvSpPr>
        <p:spPr>
          <a:xfrm>
            <a:off x="822960" y="3794760"/>
            <a:ext cx="7498079" cy="457200"/>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500" b="1">
                <a:solidFill>
                  <a:srgbClr val="711F3B"/>
                </a:solidFill>
                <a:latin typeface="Arial"/>
              </a:rPr>
              <a:t>Compare location, sign, spread, separation, artifacts, and noise sensitivity - not only which image looks prettier.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JAC: Jacobian Sensitivity and Regularization</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27</a:t>
            </a:r>
          </a:p>
        </p:txBody>
      </p:sp>
      <p:sp>
        <p:nvSpPr>
          <p:cNvPr id="5" name="Rounded Rectangle 4"/>
          <p:cNvSpPr/>
          <p:nvPr/>
        </p:nvSpPr>
        <p:spPr>
          <a:xfrm>
            <a:off x="502920" y="768096"/>
            <a:ext cx="3822191" cy="493776"/>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600" b="1">
                <a:solidFill>
                  <a:srgbClr val="711F3B"/>
                </a:solidFill>
                <a:latin typeface="Arial"/>
              </a:rPr>
              <a:t>Jacobian J: “If element j changes slightly, how does measurement i change?”</a:t>
            </a:r>
          </a:p>
        </p:txBody>
      </p:sp>
      <p:graphicFrame>
        <p:nvGraphicFramePr>
          <p:cNvPr id="6" name="Table 5"/>
          <p:cNvGraphicFramePr>
            <a:graphicFrameLocks noGrp="1"/>
          </p:cNvGraphicFramePr>
          <p:nvPr/>
        </p:nvGraphicFramePr>
        <p:xfrm>
          <a:off x="530352" y="1426464"/>
          <a:ext cx="3749040" cy="1389888"/>
        </p:xfrm>
        <a:graphic>
          <a:graphicData uri="http://schemas.openxmlformats.org/drawingml/2006/table">
            <a:tbl>
              <a:tblPr firstRow="1" bandRow="1">
                <a:tableStyleId>{5C22544A-7EE6-4342-B048-85BDC9FD1C3A}</a:tableStyleId>
              </a:tblPr>
              <a:tblGrid>
                <a:gridCol w="713232"/>
                <a:gridCol w="713232"/>
                <a:gridCol w="713232"/>
                <a:gridCol w="502920"/>
                <a:gridCol w="1106424"/>
              </a:tblGrid>
              <a:tr h="277977">
                <a:tc>
                  <a:txBody>
                    <a:bodyPr/>
                    <a:lstStyle/>
                    <a:p/>
                  </a:txBody>
                  <a:tcPr marL="54864" marR="54864">
                    <a:solidFill>
                      <a:srgbClr val="711F3B"/>
                    </a:solidFill>
                  </a:tcPr>
                </a:tc>
                <a:tc>
                  <a:txBody>
                    <a:bodyPr/>
                    <a:lstStyle/>
                    <a:p>
                      <a:r>
                        <a:rPr sz="850" b="1">
                          <a:solidFill>
                            <a:srgbClr val="FFFFFF"/>
                          </a:solidFill>
                          <a:latin typeface="Arial"/>
                        </a:rPr>
                        <a:t>elem 1</a:t>
                      </a:r>
                    </a:p>
                  </a:txBody>
                  <a:tcPr marL="54864" marR="54864">
                    <a:solidFill>
                      <a:srgbClr val="711F3B"/>
                    </a:solidFill>
                  </a:tcPr>
                </a:tc>
                <a:tc>
                  <a:txBody>
                    <a:bodyPr/>
                    <a:lstStyle/>
                    <a:p>
                      <a:r>
                        <a:rPr sz="850" b="1">
                          <a:solidFill>
                            <a:srgbClr val="FFFFFF"/>
                          </a:solidFill>
                          <a:latin typeface="Arial"/>
                        </a:rPr>
                        <a:t>elem 2</a:t>
                      </a:r>
                    </a:p>
                  </a:txBody>
                  <a:tcPr marL="54864" marR="54864">
                    <a:solidFill>
                      <a:srgbClr val="711F3B"/>
                    </a:solidFill>
                  </a:tcPr>
                </a:tc>
                <a:tc>
                  <a:txBody>
                    <a:bodyPr/>
                    <a:lstStyle/>
                    <a:p>
                      <a:r>
                        <a:rPr sz="850" b="1">
                          <a:solidFill>
                            <a:srgbClr val="FFFFFF"/>
                          </a:solidFill>
                          <a:latin typeface="Arial"/>
                        </a:rPr>
                        <a:t>...</a:t>
                      </a:r>
                    </a:p>
                  </a:txBody>
                  <a:tcPr marL="54864" marR="54864">
                    <a:solidFill>
                      <a:srgbClr val="711F3B"/>
                    </a:solidFill>
                  </a:tcPr>
                </a:tc>
                <a:tc>
                  <a:txBody>
                    <a:bodyPr/>
                    <a:lstStyle/>
                    <a:p>
                      <a:r>
                        <a:rPr sz="850" b="1">
                          <a:solidFill>
                            <a:srgbClr val="FFFFFF"/>
                          </a:solidFill>
                          <a:latin typeface="Arial"/>
                        </a:rPr>
                        <a:t>elem 1083</a:t>
                      </a:r>
                    </a:p>
                  </a:txBody>
                  <a:tcPr marL="54864" marR="54864">
                    <a:solidFill>
                      <a:srgbClr val="711F3B"/>
                    </a:solidFill>
                  </a:tcPr>
                </a:tc>
              </a:tr>
              <a:tr h="277977">
                <a:tc>
                  <a:txBody>
                    <a:bodyPr/>
                    <a:lstStyle/>
                    <a:p>
                      <a:pPr>
                        <a:spcAft>
                          <a:spcPts val="0"/>
                        </a:spcAft>
                      </a:pPr>
                      <a:r>
                        <a:rPr sz="850">
                          <a:solidFill>
                            <a:srgbClr val="222222"/>
                          </a:solidFill>
                          <a:latin typeface="Arial"/>
                        </a:rPr>
                        <a:t>meas 1</a:t>
                      </a:r>
                    </a:p>
                  </a:txBody>
                  <a:tcPr marL="54864" marR="54864" anchor="ctr">
                    <a:solidFill>
                      <a:srgbClr val="FFFFFF"/>
                    </a:solidFill>
                  </a:tcPr>
                </a:tc>
                <a:tc>
                  <a:txBody>
                    <a:bodyPr/>
                    <a:lstStyle/>
                    <a:p>
                      <a:pPr>
                        <a:spcAft>
                          <a:spcPts val="0"/>
                        </a:spcAft>
                      </a:pPr>
                      <a:r>
                        <a:rPr sz="850">
                          <a:solidFill>
                            <a:srgbClr val="222222"/>
                          </a:solidFill>
                          <a:latin typeface="Arial"/>
                        </a:rPr>
                        <a:t>J₁₁</a:t>
                      </a:r>
                    </a:p>
                  </a:txBody>
                  <a:tcPr marL="54864" marR="54864" anchor="ctr">
                    <a:solidFill>
                      <a:srgbClr val="FFFFFF"/>
                    </a:solidFill>
                  </a:tcPr>
                </a:tc>
                <a:tc>
                  <a:txBody>
                    <a:bodyPr/>
                    <a:lstStyle/>
                    <a:p>
                      <a:pPr>
                        <a:spcAft>
                          <a:spcPts val="0"/>
                        </a:spcAft>
                      </a:pPr>
                      <a:r>
                        <a:rPr sz="850">
                          <a:solidFill>
                            <a:srgbClr val="222222"/>
                          </a:solidFill>
                          <a:latin typeface="Arial"/>
                        </a:rPr>
                        <a:t>J₁₂</a:t>
                      </a:r>
                    </a:p>
                  </a:txBody>
                  <a:tcPr marL="54864" marR="54864" anchor="ctr">
                    <a:solidFill>
                      <a:srgbClr val="FFFFFF"/>
                    </a:solidFill>
                  </a:tcPr>
                </a:tc>
                <a:tc>
                  <a:txBody>
                    <a:bodyPr/>
                    <a:lstStyle/>
                    <a:p>
                      <a:pPr>
                        <a:spcAft>
                          <a:spcPts val="0"/>
                        </a:spcAft>
                      </a:pPr>
                      <a:r>
                        <a:rPr sz="850">
                          <a:solidFill>
                            <a:srgbClr val="222222"/>
                          </a:solidFill>
                          <a:latin typeface="Arial"/>
                        </a:rPr>
                        <a:t>...</a:t>
                      </a:r>
                    </a:p>
                  </a:txBody>
                  <a:tcPr marL="54864" marR="54864" anchor="ctr">
                    <a:solidFill>
                      <a:srgbClr val="FFFFFF"/>
                    </a:solidFill>
                  </a:tcPr>
                </a:tc>
                <a:tc>
                  <a:txBody>
                    <a:bodyPr/>
                    <a:lstStyle/>
                    <a:p>
                      <a:pPr>
                        <a:spcAft>
                          <a:spcPts val="0"/>
                        </a:spcAft>
                      </a:pPr>
                      <a:r>
                        <a:rPr sz="850">
                          <a:solidFill>
                            <a:srgbClr val="222222"/>
                          </a:solidFill>
                          <a:latin typeface="Arial"/>
                        </a:rPr>
                        <a:t>J₁,₁₀₈₃</a:t>
                      </a:r>
                    </a:p>
                  </a:txBody>
                  <a:tcPr marL="54864" marR="54864" anchor="ctr">
                    <a:solidFill>
                      <a:srgbClr val="FFFFFF"/>
                    </a:solidFill>
                  </a:tcPr>
                </a:tc>
              </a:tr>
              <a:tr h="277977">
                <a:tc>
                  <a:txBody>
                    <a:bodyPr/>
                    <a:lstStyle/>
                    <a:p>
                      <a:pPr>
                        <a:spcAft>
                          <a:spcPts val="0"/>
                        </a:spcAft>
                      </a:pPr>
                      <a:r>
                        <a:rPr sz="850">
                          <a:solidFill>
                            <a:srgbClr val="222222"/>
                          </a:solidFill>
                          <a:latin typeface="Arial"/>
                        </a:rPr>
                        <a:t>meas 2</a:t>
                      </a:r>
                    </a:p>
                  </a:txBody>
                  <a:tcPr marL="54864" marR="54864" anchor="ctr">
                    <a:solidFill>
                      <a:srgbClr val="F7F1F3"/>
                    </a:solidFill>
                  </a:tcPr>
                </a:tc>
                <a:tc>
                  <a:txBody>
                    <a:bodyPr/>
                    <a:lstStyle/>
                    <a:p>
                      <a:pPr>
                        <a:spcAft>
                          <a:spcPts val="0"/>
                        </a:spcAft>
                      </a:pPr>
                      <a:r>
                        <a:rPr sz="850">
                          <a:solidFill>
                            <a:srgbClr val="222222"/>
                          </a:solidFill>
                          <a:latin typeface="Arial"/>
                        </a:rPr>
                        <a:t>J₂₁</a:t>
                      </a:r>
                    </a:p>
                  </a:txBody>
                  <a:tcPr marL="54864" marR="54864" anchor="ctr">
                    <a:solidFill>
                      <a:srgbClr val="F7F1F3"/>
                    </a:solidFill>
                  </a:tcPr>
                </a:tc>
                <a:tc>
                  <a:txBody>
                    <a:bodyPr/>
                    <a:lstStyle/>
                    <a:p>
                      <a:pPr>
                        <a:spcAft>
                          <a:spcPts val="0"/>
                        </a:spcAft>
                      </a:pPr>
                      <a:r>
                        <a:rPr sz="850">
                          <a:solidFill>
                            <a:srgbClr val="222222"/>
                          </a:solidFill>
                          <a:latin typeface="Arial"/>
                        </a:rPr>
                        <a:t>J₂₂</a:t>
                      </a:r>
                    </a:p>
                  </a:txBody>
                  <a:tcPr marL="54864" marR="54864" anchor="ctr">
                    <a:solidFill>
                      <a:srgbClr val="F7F1F3"/>
                    </a:solidFill>
                  </a:tcPr>
                </a:tc>
                <a:tc>
                  <a:txBody>
                    <a:bodyPr/>
                    <a:lstStyle/>
                    <a:p>
                      <a:pPr>
                        <a:spcAft>
                          <a:spcPts val="0"/>
                        </a:spcAft>
                      </a:pPr>
                      <a:r>
                        <a:rPr sz="850">
                          <a:solidFill>
                            <a:srgbClr val="222222"/>
                          </a:solidFill>
                          <a:latin typeface="Arial"/>
                        </a:rPr>
                        <a:t>...</a:t>
                      </a:r>
                    </a:p>
                  </a:txBody>
                  <a:tcPr marL="54864" marR="54864" anchor="ctr">
                    <a:solidFill>
                      <a:srgbClr val="F7F1F3"/>
                    </a:solidFill>
                  </a:tcPr>
                </a:tc>
                <a:tc>
                  <a:txBody>
                    <a:bodyPr/>
                    <a:lstStyle/>
                    <a:p>
                      <a:pPr>
                        <a:spcAft>
                          <a:spcPts val="0"/>
                        </a:spcAft>
                      </a:pPr>
                      <a:r>
                        <a:rPr sz="850">
                          <a:solidFill>
                            <a:srgbClr val="222222"/>
                          </a:solidFill>
                          <a:latin typeface="Arial"/>
                        </a:rPr>
                        <a:t>J₂,₁₀₈₃</a:t>
                      </a:r>
                    </a:p>
                  </a:txBody>
                  <a:tcPr marL="54864" marR="54864" anchor="ctr">
                    <a:solidFill>
                      <a:srgbClr val="F7F1F3"/>
                    </a:solidFill>
                  </a:tcPr>
                </a:tc>
              </a:tr>
              <a:tr h="277977">
                <a:tc>
                  <a:txBody>
                    <a:bodyPr/>
                    <a:lstStyle/>
                    <a:p>
                      <a:pPr>
                        <a:spcAft>
                          <a:spcPts val="0"/>
                        </a:spcAft>
                      </a:pPr>
                      <a:r>
                        <a:rPr sz="850">
                          <a:solidFill>
                            <a:srgbClr val="222222"/>
                          </a:solidFill>
                          <a:latin typeface="Arial"/>
                        </a:rPr>
                        <a:t>...</a:t>
                      </a:r>
                    </a:p>
                  </a:txBody>
                  <a:tcPr marL="54864" marR="54864" anchor="ctr">
                    <a:solidFill>
                      <a:srgbClr val="FFFFFF"/>
                    </a:solidFill>
                  </a:tcPr>
                </a:tc>
                <a:tc>
                  <a:txBody>
                    <a:bodyPr/>
                    <a:lstStyle/>
                    <a:p>
                      <a:pPr>
                        <a:spcAft>
                          <a:spcPts val="0"/>
                        </a:spcAft>
                      </a:pPr>
                      <a:r>
                        <a:rPr sz="850">
                          <a:solidFill>
                            <a:srgbClr val="222222"/>
                          </a:solidFill>
                          <a:latin typeface="Arial"/>
                        </a:rPr>
                        <a:t>...</a:t>
                      </a:r>
                    </a:p>
                  </a:txBody>
                  <a:tcPr marL="54864" marR="54864" anchor="ctr">
                    <a:solidFill>
                      <a:srgbClr val="FFFFFF"/>
                    </a:solidFill>
                  </a:tcPr>
                </a:tc>
                <a:tc>
                  <a:txBody>
                    <a:bodyPr/>
                    <a:lstStyle/>
                    <a:p>
                      <a:pPr>
                        <a:spcAft>
                          <a:spcPts val="0"/>
                        </a:spcAft>
                      </a:pPr>
                      <a:r>
                        <a:rPr sz="850">
                          <a:solidFill>
                            <a:srgbClr val="222222"/>
                          </a:solidFill>
                          <a:latin typeface="Arial"/>
                        </a:rPr>
                        <a:t>...</a:t>
                      </a:r>
                    </a:p>
                  </a:txBody>
                  <a:tcPr marL="54864" marR="54864" anchor="ctr">
                    <a:solidFill>
                      <a:srgbClr val="FFFFFF"/>
                    </a:solidFill>
                  </a:tcPr>
                </a:tc>
                <a:tc>
                  <a:txBody>
                    <a:bodyPr/>
                    <a:lstStyle/>
                    <a:p>
                      <a:pPr>
                        <a:spcAft>
                          <a:spcPts val="0"/>
                        </a:spcAft>
                      </a:pPr>
                      <a:r>
                        <a:rPr sz="850">
                          <a:solidFill>
                            <a:srgbClr val="222222"/>
                          </a:solidFill>
                          <a:latin typeface="Arial"/>
                        </a:rPr>
                        <a:t>...</a:t>
                      </a:r>
                    </a:p>
                  </a:txBody>
                  <a:tcPr marL="54864" marR="54864" anchor="ctr">
                    <a:solidFill>
                      <a:srgbClr val="FFFFFF"/>
                    </a:solidFill>
                  </a:tcPr>
                </a:tc>
                <a:tc>
                  <a:txBody>
                    <a:bodyPr/>
                    <a:lstStyle/>
                    <a:p>
                      <a:pPr>
                        <a:spcAft>
                          <a:spcPts val="0"/>
                        </a:spcAft>
                      </a:pPr>
                      <a:r>
                        <a:rPr sz="850">
                          <a:solidFill>
                            <a:srgbClr val="222222"/>
                          </a:solidFill>
                          <a:latin typeface="Arial"/>
                        </a:rPr>
                        <a:t>...</a:t>
                      </a:r>
                    </a:p>
                  </a:txBody>
                  <a:tcPr marL="54864" marR="54864" anchor="ctr">
                    <a:solidFill>
                      <a:srgbClr val="FFFFFF"/>
                    </a:solidFill>
                  </a:tcPr>
                </a:tc>
              </a:tr>
              <a:tr h="277980">
                <a:tc>
                  <a:txBody>
                    <a:bodyPr/>
                    <a:lstStyle/>
                    <a:p>
                      <a:pPr>
                        <a:spcAft>
                          <a:spcPts val="0"/>
                        </a:spcAft>
                      </a:pPr>
                      <a:r>
                        <a:rPr sz="850">
                          <a:solidFill>
                            <a:srgbClr val="222222"/>
                          </a:solidFill>
                          <a:latin typeface="Arial"/>
                        </a:rPr>
                        <a:t>meas 208</a:t>
                      </a:r>
                    </a:p>
                  </a:txBody>
                  <a:tcPr marL="54864" marR="54864" anchor="ctr">
                    <a:solidFill>
                      <a:srgbClr val="F7F1F3"/>
                    </a:solidFill>
                  </a:tcPr>
                </a:tc>
                <a:tc>
                  <a:txBody>
                    <a:bodyPr/>
                    <a:lstStyle/>
                    <a:p>
                      <a:pPr>
                        <a:spcAft>
                          <a:spcPts val="0"/>
                        </a:spcAft>
                      </a:pPr>
                      <a:r>
                        <a:rPr sz="850">
                          <a:solidFill>
                            <a:srgbClr val="222222"/>
                          </a:solidFill>
                          <a:latin typeface="Arial"/>
                        </a:rPr>
                        <a:t>J₂₀₈,₁</a:t>
                      </a:r>
                    </a:p>
                  </a:txBody>
                  <a:tcPr marL="54864" marR="54864" anchor="ctr">
                    <a:solidFill>
                      <a:srgbClr val="F7F1F3"/>
                    </a:solidFill>
                  </a:tcPr>
                </a:tc>
                <a:tc>
                  <a:txBody>
                    <a:bodyPr/>
                    <a:lstStyle/>
                    <a:p>
                      <a:pPr>
                        <a:spcAft>
                          <a:spcPts val="0"/>
                        </a:spcAft>
                      </a:pPr>
                      <a:r>
                        <a:rPr sz="850">
                          <a:solidFill>
                            <a:srgbClr val="222222"/>
                          </a:solidFill>
                          <a:latin typeface="Arial"/>
                        </a:rPr>
                        <a:t>J₂₀₈,₂</a:t>
                      </a:r>
                    </a:p>
                  </a:txBody>
                  <a:tcPr marL="54864" marR="54864" anchor="ctr">
                    <a:solidFill>
                      <a:srgbClr val="F7F1F3"/>
                    </a:solidFill>
                  </a:tcPr>
                </a:tc>
                <a:tc>
                  <a:txBody>
                    <a:bodyPr/>
                    <a:lstStyle/>
                    <a:p>
                      <a:pPr>
                        <a:spcAft>
                          <a:spcPts val="0"/>
                        </a:spcAft>
                      </a:pPr>
                      <a:r>
                        <a:rPr sz="850">
                          <a:solidFill>
                            <a:srgbClr val="222222"/>
                          </a:solidFill>
                          <a:latin typeface="Arial"/>
                        </a:rPr>
                        <a:t>...</a:t>
                      </a:r>
                    </a:p>
                  </a:txBody>
                  <a:tcPr marL="54864" marR="54864" anchor="ctr">
                    <a:solidFill>
                      <a:srgbClr val="F7F1F3"/>
                    </a:solidFill>
                  </a:tcPr>
                </a:tc>
                <a:tc>
                  <a:txBody>
                    <a:bodyPr/>
                    <a:lstStyle/>
                    <a:p>
                      <a:pPr>
                        <a:spcAft>
                          <a:spcPts val="0"/>
                        </a:spcAft>
                      </a:pPr>
                      <a:r>
                        <a:rPr sz="850">
                          <a:solidFill>
                            <a:srgbClr val="222222"/>
                          </a:solidFill>
                          <a:latin typeface="Arial"/>
                        </a:rPr>
                        <a:t>J₂₀₈,₁₀₈₃</a:t>
                      </a:r>
                    </a:p>
                  </a:txBody>
                  <a:tcPr marL="54864" marR="54864" anchor="ctr">
                    <a:solidFill>
                      <a:srgbClr val="F7F1F3"/>
                    </a:solidFill>
                  </a:tcPr>
                </a:tc>
              </a:tr>
            </a:tbl>
          </a:graphicData>
        </a:graphic>
      </p:graphicFrame>
      <p:sp>
        <p:nvSpPr>
          <p:cNvPr id="7" name="Rounded Rectangle 6"/>
          <p:cNvSpPr/>
          <p:nvPr/>
        </p:nvSpPr>
        <p:spPr>
          <a:xfrm>
            <a:off x="548640" y="3054096"/>
            <a:ext cx="3749039" cy="713232"/>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000" b="1">
                <a:solidFill>
                  <a:srgbClr val="31485E"/>
                </a:solidFill>
                <a:latin typeface="Arial"/>
              </a:rPr>
              <a:t>Linearized forward model
Δv ≈ J Δσ + noise</a:t>
            </a:r>
          </a:p>
        </p:txBody>
      </p:sp>
      <p:sp>
        <p:nvSpPr>
          <p:cNvPr id="8" name="Rounded Rectangle 7"/>
          <p:cNvSpPr/>
          <p:nvPr/>
        </p:nvSpPr>
        <p:spPr>
          <a:xfrm>
            <a:off x="4553712" y="768096"/>
            <a:ext cx="4041648" cy="3547872"/>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lnSpc>
                <a:spcPct val="100000"/>
              </a:lnSpc>
              <a:spcAft>
                <a:spcPts val="300"/>
              </a:spcAft>
            </a:pPr>
            <a:r>
              <a:rPr sz="1600" b="1" i="0">
                <a:solidFill>
                  <a:srgbClr val="711F3B"/>
                </a:solidFill>
                <a:latin typeface="Arial"/>
              </a:rPr>
              <a:t>Why regularization is necessary</a:t>
            </a:r>
          </a:p>
          <a:p>
            <a:pPr algn="l">
              <a:lnSpc>
                <a:spcPct val="100000"/>
              </a:lnSpc>
              <a:spcAft>
                <a:spcPts val="500"/>
              </a:spcAft>
            </a:pPr>
            <a:r>
              <a:rPr sz="1140" b="0" i="0">
                <a:solidFill>
                  <a:srgbClr val="222222"/>
                </a:solidFill>
                <a:latin typeface="Arial"/>
              </a:rPr>
              <a:t>1083 unknown element changes &gt; 208 measurements. Multiple images can fit similar data, and noise makes direct inversion unstable.</a:t>
            </a:r>
          </a:p>
          <a:p>
            <a:pPr algn="l">
              <a:lnSpc>
                <a:spcPct val="100000"/>
              </a:lnSpc>
              <a:spcAft>
                <a:spcPts val="200"/>
              </a:spcAft>
            </a:pPr>
            <a:r>
              <a:rPr sz="1500" b="1" i="0">
                <a:solidFill>
                  <a:srgbClr val="711F3B"/>
                </a:solidFill>
                <a:latin typeface="Arial"/>
              </a:rPr>
              <a:t>One-step solution</a:t>
            </a:r>
          </a:p>
          <a:p>
            <a:pPr algn="ctr">
              <a:lnSpc>
                <a:spcPct val="100000"/>
              </a:lnSpc>
              <a:spcAft>
                <a:spcPts val="500"/>
              </a:spcAft>
            </a:pPr>
            <a:r>
              <a:rPr sz="1600" b="1" i="0">
                <a:solidFill>
                  <a:srgbClr val="31485E"/>
                </a:solidFill>
                <a:latin typeface="Arial"/>
              </a:rPr>
              <a:t>Δσ̂ = (JᵀJ + λR)⁻¹ JᵀΔv</a:t>
            </a:r>
          </a:p>
          <a:p>
            <a:pPr algn="l">
              <a:lnSpc>
                <a:spcPct val="100000"/>
              </a:lnSpc>
              <a:spcAft>
                <a:spcPts val="200"/>
              </a:spcAft>
            </a:pPr>
            <a:r>
              <a:rPr sz="1450" b="1" i="0">
                <a:solidFill>
                  <a:srgbClr val="711F3B"/>
                </a:solidFill>
                <a:latin typeface="Arial"/>
              </a:rPr>
              <a:t>λ controls the trade-off</a:t>
            </a:r>
          </a:p>
          <a:p>
            <a:pPr algn="l">
              <a:lnSpc>
                <a:spcPct val="100000"/>
              </a:lnSpc>
              <a:spcAft>
                <a:spcPts val="500"/>
              </a:spcAft>
            </a:pPr>
            <a:r>
              <a:rPr sz="1140" b="0" i="0">
                <a:solidFill>
                  <a:srgbClr val="222222"/>
                </a:solidFill>
                <a:latin typeface="Arial"/>
              </a:rPr>
              <a:t>Small λ: more detail and noise. Large λ: more stable, but more blur and lower amplitude.</a:t>
            </a:r>
          </a:p>
          <a:p>
            <a:pPr algn="l">
              <a:lnSpc>
                <a:spcPct val="100000"/>
              </a:lnSpc>
              <a:spcAft>
                <a:spcPts val="200"/>
              </a:spcAft>
            </a:pPr>
            <a:r>
              <a:rPr sz="1450" b="1" i="0">
                <a:solidFill>
                  <a:srgbClr val="711F3B"/>
                </a:solidFill>
                <a:latin typeface="Arial"/>
              </a:rPr>
              <a:t>R and p define the prior</a:t>
            </a:r>
          </a:p>
          <a:p>
            <a:pPr algn="l">
              <a:lnSpc>
                <a:spcPct val="100000"/>
              </a:lnSpc>
              <a:spcAft>
                <a:spcPts val="500"/>
              </a:spcAft>
            </a:pPr>
            <a:r>
              <a:rPr sz="1120" b="0" i="0">
                <a:solidFill>
                  <a:srgbClr val="222222"/>
                </a:solidFill>
                <a:latin typeface="Arial"/>
              </a:rPr>
              <a:t>Kotre R weights elements by sensitivity. Current p=0.5 and λ=0.01 are starting values to sweep—not universal constants.</a:t>
            </a:r>
          </a:p>
        </p:txBody>
      </p:sp>
      <p:sp>
        <p:nvSpPr>
          <p:cNvPr id="9" name="TextBox 8"/>
          <p:cNvSpPr txBox="1"/>
          <p:nvPr/>
        </p:nvSpPr>
        <p:spPr>
          <a:xfrm>
            <a:off x="502920" y="4498848"/>
            <a:ext cx="7498079" cy="201168"/>
          </a:xfrm>
          <a:prstGeom prst="rect">
            <a:avLst/>
          </a:prstGeom>
          <a:noFill/>
        </p:spPr>
        <p:txBody>
          <a:bodyPr wrap="square" anchor="t" lIns="0" rIns="0" tIns="0" bIns="0">
            <a:spAutoFit/>
          </a:bodyPr>
          <a:lstStyle/>
          <a:p>
            <a:pPr algn="l">
              <a:spcAft>
                <a:spcPts val="0"/>
              </a:spcAft>
            </a:pPr>
            <a:r>
              <a:rPr sz="819" b="0">
                <a:solidFill>
                  <a:srgbClr val="5C5C5C"/>
                </a:solidFill>
                <a:latin typeface="Arial"/>
              </a:rPr>
              <a:t>Adler et al. (2007): λ trades resolution against noise attenuation; p=0.5 is a heuristic compromise between boundary and centre noise bias.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BP and GREIT: Two Different Linear Maps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28</a:t>
            </a:r>
          </a:p>
        </p:txBody>
      </p:sp>
      <p:sp>
        <p:nvSpPr>
          <p:cNvPr id="5" name="Rounded Rectangle 4"/>
          <p:cNvSpPr/>
          <p:nvPr/>
        </p:nvSpPr>
        <p:spPr>
          <a:xfrm>
            <a:off x="502920" y="768096"/>
            <a:ext cx="3840480" cy="3547872"/>
          </a:xfrm>
          <a:prstGeom prst="roundRect">
            <a:avLst/>
          </a:prstGeom>
          <a:solidFill>
            <a:srgbClr val="FAF2F5"/>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ctr">
              <a:lnSpc>
                <a:spcPct val="100000"/>
              </a:lnSpc>
              <a:spcAft>
                <a:spcPts val="400"/>
              </a:spcAft>
            </a:pPr>
            <a:r>
              <a:rPr sz="1850" b="1" i="0">
                <a:solidFill>
                  <a:srgbClr val="711F3B"/>
                </a:solidFill>
                <a:latin typeface="Arial"/>
              </a:rPr>
              <a:t>Back Projection (BP)</a:t>
            </a:r>
          </a:p>
          <a:p>
            <a:pPr algn="ctr">
              <a:lnSpc>
                <a:spcPct val="100000"/>
              </a:lnSpc>
              <a:spcAft>
                <a:spcPts val="500"/>
              </a:spcAft>
            </a:pPr>
            <a:r>
              <a:rPr sz="1900" b="1" i="0">
                <a:solidFill>
                  <a:srgbClr val="31485E"/>
                </a:solidFill>
                <a:latin typeface="Arial"/>
              </a:rPr>
              <a:t>Δσ̂ = −HBP Δv</a:t>
            </a:r>
          </a:p>
          <a:p>
            <a:pPr algn="l">
              <a:lnSpc>
                <a:spcPct val="100000"/>
              </a:lnSpc>
              <a:spcAft>
                <a:spcPts val="600"/>
              </a:spcAft>
            </a:pPr>
            <a:r>
              <a:rPr sz="1230" b="0" i="0">
                <a:solidFill>
                  <a:srgbClr val="222222"/>
                </a:solidFill>
                <a:latin typeface="Arial"/>
              </a:rPr>
              <a:t>HBP is a smear matrix: each measurement contributes to many sensitive nodes.</a:t>
            </a:r>
          </a:p>
          <a:p>
            <a:pPr algn="l">
              <a:lnSpc>
                <a:spcPct val="100000"/>
              </a:lnSpc>
              <a:spcAft>
                <a:spcPts val="200"/>
              </a:spcAft>
            </a:pPr>
            <a:r>
              <a:rPr sz="1450" b="1" i="0">
                <a:solidFill>
                  <a:srgbClr val="711F3B"/>
                </a:solidFill>
                <a:latin typeface="Arial"/>
              </a:rPr>
              <a:t>Current setting</a:t>
            </a:r>
          </a:p>
          <a:p>
            <a:pPr algn="ctr">
              <a:lnSpc>
                <a:spcPct val="100000"/>
              </a:lnSpc>
              <a:spcAft>
                <a:spcPts val="600"/>
              </a:spcAft>
            </a:pPr>
            <a:r>
              <a:rPr sz="1250" b="1" i="0">
                <a:solidFill>
                  <a:srgbClr val="222222"/>
                </a:solidFill>
                <a:latin typeface="Arial"/>
              </a:rPr>
              <a:t>weight='none', normalize=True</a:t>
            </a:r>
          </a:p>
          <a:p>
            <a:pPr algn="l">
              <a:lnSpc>
                <a:spcPct val="100000"/>
              </a:lnSpc>
              <a:spcAft>
                <a:spcPts val="200"/>
              </a:spcAft>
            </a:pPr>
            <a:r>
              <a:rPr sz="1450" b="1" i="0">
                <a:solidFill>
                  <a:srgbClr val="711F3B"/>
                </a:solidFill>
                <a:latin typeface="Arial"/>
              </a:rPr>
              <a:t>Expected behaviour</a:t>
            </a:r>
          </a:p>
          <a:p>
            <a:pPr algn="l">
              <a:lnSpc>
                <a:spcPct val="100000"/>
              </a:lnSpc>
              <a:spcAft>
                <a:spcPts val="500"/>
              </a:spcAft>
            </a:pPr>
            <a:r>
              <a:rPr sz="1230" b="0" i="0">
                <a:solidFill>
                  <a:srgbClr val="222222"/>
                </a:solidFill>
                <a:latin typeface="Arial"/>
              </a:rPr>
              <a:t>Very fast baseline, but diffuse sensitivity often creates broad or streaked targets.</a:t>
            </a:r>
          </a:p>
        </p:txBody>
      </p:sp>
      <p:sp>
        <p:nvSpPr>
          <p:cNvPr id="6" name="Rounded Rectangle 5"/>
          <p:cNvSpPr/>
          <p:nvPr/>
        </p:nvSpPr>
        <p:spPr>
          <a:xfrm>
            <a:off x="4572000" y="768096"/>
            <a:ext cx="4041648" cy="3547872"/>
          </a:xfrm>
          <a:prstGeom prst="roundRect">
            <a:avLst/>
          </a:prstGeom>
          <a:solidFill>
            <a:srgbClr val="F1F7FC"/>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lstStyle/>
          <a:p>
            <a:pPr algn="ctr">
              <a:lnSpc>
                <a:spcPct val="100000"/>
              </a:lnSpc>
              <a:spcAft>
                <a:spcPts val="400"/>
              </a:spcAft>
            </a:pPr>
            <a:r>
              <a:rPr sz="1850" b="1" i="0">
                <a:solidFill>
                  <a:srgbClr val="711F3B"/>
                </a:solidFill>
                <a:latin typeface="Arial"/>
              </a:rPr>
              <a:t>GREIT in pyEIT</a:t>
            </a:r>
          </a:p>
          <a:p>
            <a:pPr algn="ctr">
              <a:lnSpc>
                <a:spcPct val="100000"/>
              </a:lnSpc>
              <a:spcAft>
                <a:spcPts val="500"/>
              </a:spcAft>
            </a:pPr>
            <a:r>
              <a:rPr sz="1900" b="1" i="0">
                <a:solidFill>
                  <a:srgbClr val="31485E"/>
                </a:solidFill>
                <a:latin typeface="Arial"/>
              </a:rPr>
              <a:t>image pixels = RGREIT Δv</a:t>
            </a:r>
          </a:p>
          <a:p>
            <a:pPr algn="l">
              <a:lnSpc>
                <a:spcPct val="100000"/>
              </a:lnSpc>
              <a:spcAft>
                <a:spcPts val="600"/>
              </a:spcAft>
            </a:pPr>
            <a:r>
              <a:rPr sz="1230" b="0" i="0">
                <a:solidFill>
                  <a:srgbClr val="222222"/>
                </a:solidFill>
                <a:latin typeface="Arial"/>
              </a:rPr>
              <a:t>Each output pixel is a weighted sum of all 208 voltage changes: pixel k = Σᵢ Rₖᵢ Δvᵢ.</a:t>
            </a:r>
          </a:p>
          <a:p>
            <a:pPr algn="l">
              <a:lnSpc>
                <a:spcPct val="100000"/>
              </a:lnSpc>
              <a:spcAft>
                <a:spcPts val="200"/>
              </a:spcAft>
            </a:pPr>
            <a:r>
              <a:rPr sz="1450" b="1" i="0">
                <a:solidFill>
                  <a:srgbClr val="711F3B"/>
                </a:solidFill>
                <a:latin typeface="Arial"/>
              </a:rPr>
              <a:t>Current settings</a:t>
            </a:r>
          </a:p>
          <a:p>
            <a:pPr algn="ctr">
              <a:lnSpc>
                <a:spcPct val="100000"/>
              </a:lnSpc>
              <a:spcAft>
                <a:spcPts val="600"/>
              </a:spcAft>
            </a:pPr>
            <a:r>
              <a:rPr sz="1220" b="1" i="0">
                <a:solidFill>
                  <a:srgbClr val="222222"/>
                </a:solidFill>
                <a:latin typeface="Arial"/>
              </a:rPr>
              <a:t>n=32, s=20, ratio=0.1, p=0.5, λ=0.01</a:t>
            </a:r>
          </a:p>
          <a:p>
            <a:pPr algn="l">
              <a:lnSpc>
                <a:spcPct val="100000"/>
              </a:lnSpc>
              <a:spcAft>
                <a:spcPts val="200"/>
              </a:spcAft>
            </a:pPr>
            <a:r>
              <a:rPr sz="1450" b="1" i="0">
                <a:solidFill>
                  <a:srgbClr val="711F3B"/>
                </a:solidFill>
                <a:latin typeface="Arial"/>
              </a:rPr>
              <a:t>What they mean</a:t>
            </a:r>
          </a:p>
          <a:p>
            <a:pPr algn="l">
              <a:lnSpc>
                <a:spcPct val="100000"/>
              </a:lnSpc>
              <a:spcAft>
                <a:spcPts val="500"/>
              </a:spcAft>
            </a:pPr>
            <a:r>
              <a:rPr sz="1200" b="0" i="0">
                <a:solidFill>
                  <a:srgbClr val="222222"/>
                </a:solidFill>
                <a:latin typeface="Arial"/>
              </a:rPr>
              <a:t>n samples the output grid; s and ratio shape mesh-to-grid weighting. They change appearance, not the 208 independent data values.</a:t>
            </a:r>
          </a:p>
        </p:txBody>
      </p:sp>
      <p:sp>
        <p:nvSpPr>
          <p:cNvPr id="7" name="TextBox 6"/>
          <p:cNvSpPr txBox="1"/>
          <p:nvPr/>
        </p:nvSpPr>
        <p:spPr>
          <a:xfrm>
            <a:off x="502920" y="4498848"/>
            <a:ext cx="7498079" cy="201168"/>
          </a:xfrm>
          <a:prstGeom prst="rect">
            <a:avLst/>
          </a:prstGeom>
          <a:noFill/>
        </p:spPr>
        <p:txBody>
          <a:bodyPr wrap="square" anchor="t" lIns="0" rIns="0" tIns="0" bIns="0">
            <a:spAutoFit/>
          </a:bodyPr>
          <a:lstStyle/>
          <a:p>
            <a:pPr algn="l">
              <a:spcAft>
                <a:spcPts val="0"/>
              </a:spcAft>
            </a:pPr>
            <a:r>
              <a:rPr sz="819" b="0">
                <a:solidFill>
                  <a:srgbClr val="5C5C5C"/>
                </a:solidFill>
                <a:latin typeface="Arial"/>
              </a:rPr>
              <a:t>GREIT paper: linear reconstruction can be a fast matrix multiplication and should be evaluated using amplitude, position, resolution, shape, ringing, and noise metrics.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How the Reconstruction Becomes a Heat Map</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29</a:t>
            </a:r>
          </a:p>
        </p:txBody>
      </p:sp>
      <p:sp>
        <p:nvSpPr>
          <p:cNvPr id="5" name="Rounded Rectangle 4"/>
          <p:cNvSpPr/>
          <p:nvPr/>
        </p:nvSpPr>
        <p:spPr>
          <a:xfrm>
            <a:off x="320040" y="1225296"/>
            <a:ext cx="1325880" cy="530352"/>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100" b="1">
                <a:solidFill>
                  <a:srgbClr val="FFFFFF"/>
                </a:solidFill>
                <a:latin typeface="Arial"/>
              </a:rPr>
              <a:t>Δv</a:t>
            </a:r>
          </a:p>
        </p:txBody>
      </p:sp>
      <p:sp>
        <p:nvSpPr>
          <p:cNvPr id="6" name="Rounded Rectangle 5"/>
          <p:cNvSpPr/>
          <p:nvPr/>
        </p:nvSpPr>
        <p:spPr>
          <a:xfrm>
            <a:off x="320040" y="1865376"/>
            <a:ext cx="1325880" cy="93268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208 × 1
change vector</a:t>
            </a:r>
          </a:p>
        </p:txBody>
      </p:sp>
      <p:sp>
        <p:nvSpPr>
          <p:cNvPr id="7" name="Right Arrow 6"/>
          <p:cNvSpPr/>
          <p:nvPr/>
        </p:nvSpPr>
        <p:spPr>
          <a:xfrm>
            <a:off x="1709928" y="2139696"/>
            <a:ext cx="283464"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75688" y="1225296"/>
            <a:ext cx="1325880" cy="530352"/>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100" b="1">
                <a:solidFill>
                  <a:srgbClr val="FFFFFF"/>
                </a:solidFill>
                <a:latin typeface="Arial"/>
              </a:rPr>
              <a:t>H or R</a:t>
            </a:r>
          </a:p>
        </p:txBody>
      </p:sp>
      <p:sp>
        <p:nvSpPr>
          <p:cNvPr id="9" name="Rounded Rectangle 8"/>
          <p:cNvSpPr/>
          <p:nvPr/>
        </p:nvSpPr>
        <p:spPr>
          <a:xfrm>
            <a:off x="2075688" y="1865376"/>
            <a:ext cx="1325880" cy="93268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precomputed
reconstruction matrix</a:t>
            </a:r>
          </a:p>
        </p:txBody>
      </p:sp>
      <p:sp>
        <p:nvSpPr>
          <p:cNvPr id="10" name="Right Arrow 9"/>
          <p:cNvSpPr/>
          <p:nvPr/>
        </p:nvSpPr>
        <p:spPr>
          <a:xfrm>
            <a:off x="3465576" y="2139696"/>
            <a:ext cx="283464"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31335" y="1225296"/>
            <a:ext cx="1325880" cy="530352"/>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100" b="1">
                <a:solidFill>
                  <a:srgbClr val="FFFFFF"/>
                </a:solidFill>
                <a:latin typeface="Arial"/>
              </a:rPr>
              <a:t>Δσ̂</a:t>
            </a:r>
          </a:p>
        </p:txBody>
      </p:sp>
      <p:sp>
        <p:nvSpPr>
          <p:cNvPr id="12" name="Rounded Rectangle 11"/>
          <p:cNvSpPr/>
          <p:nvPr/>
        </p:nvSpPr>
        <p:spPr>
          <a:xfrm>
            <a:off x="3831335" y="1865376"/>
            <a:ext cx="1325880" cy="93268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node, element,
or grid values</a:t>
            </a:r>
          </a:p>
        </p:txBody>
      </p:sp>
      <p:sp>
        <p:nvSpPr>
          <p:cNvPr id="13" name="Right Arrow 12"/>
          <p:cNvSpPr/>
          <p:nvPr/>
        </p:nvSpPr>
        <p:spPr>
          <a:xfrm>
            <a:off x="5221223" y="2139696"/>
            <a:ext cx="283464"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586983" y="1225296"/>
            <a:ext cx="1325880" cy="530352"/>
          </a:xfrm>
          <a:prstGeom prst="roundRect">
            <a:avLst/>
          </a:prstGeom>
          <a:solidFill>
            <a:srgbClr val="31485E"/>
          </a:solidFill>
          <a:ln w="12700">
            <a:solidFill>
              <a:srgbClr val="31485E"/>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100" b="1">
                <a:solidFill>
                  <a:srgbClr val="FFFFFF"/>
                </a:solidFill>
                <a:latin typeface="Arial"/>
              </a:rPr>
              <a:t>Plot</a:t>
            </a:r>
          </a:p>
        </p:txBody>
      </p:sp>
      <p:sp>
        <p:nvSpPr>
          <p:cNvPr id="15" name="Rounded Rectangle 14"/>
          <p:cNvSpPr/>
          <p:nvPr/>
        </p:nvSpPr>
        <p:spPr>
          <a:xfrm>
            <a:off x="5586983" y="1865376"/>
            <a:ext cx="1325880" cy="93268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place values on
mesh or 32×32 grid</a:t>
            </a:r>
          </a:p>
        </p:txBody>
      </p:sp>
      <p:sp>
        <p:nvSpPr>
          <p:cNvPr id="16" name="Right Arrow 15"/>
          <p:cNvSpPr/>
          <p:nvPr/>
        </p:nvSpPr>
        <p:spPr>
          <a:xfrm>
            <a:off x="6976871" y="2139696"/>
            <a:ext cx="283464" cy="201168"/>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42631" y="1225296"/>
            <a:ext cx="1325880" cy="530352"/>
          </a:xfrm>
          <a:prstGeom prst="roundRect">
            <a:avLst/>
          </a:prstGeom>
          <a:solidFill>
            <a:srgbClr val="31485E"/>
          </a:solidFill>
          <a:ln w="12700">
            <a:solidFill>
              <a:srgbClr val="31485E"/>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2100" b="1">
                <a:solidFill>
                  <a:srgbClr val="FFFFFF"/>
                </a:solidFill>
                <a:latin typeface="Arial"/>
              </a:rPr>
              <a:t>Colour</a:t>
            </a:r>
          </a:p>
        </p:txBody>
      </p:sp>
      <p:sp>
        <p:nvSpPr>
          <p:cNvPr id="18" name="Rounded Rectangle 17"/>
          <p:cNvSpPr/>
          <p:nvPr/>
        </p:nvSpPr>
        <p:spPr>
          <a:xfrm>
            <a:off x="7342631" y="1865376"/>
            <a:ext cx="1325880" cy="93268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0">
                <a:solidFill>
                  <a:srgbClr val="222222"/>
                </a:solidFill>
                <a:latin typeface="Arial"/>
              </a:rPr>
              <a:t>red = positive
blue = negative</a:t>
            </a:r>
          </a:p>
        </p:txBody>
      </p:sp>
      <p:sp>
        <p:nvSpPr>
          <p:cNvPr id="19" name="Rounded Rectangle 18"/>
          <p:cNvSpPr/>
          <p:nvPr/>
        </p:nvSpPr>
        <p:spPr>
          <a:xfrm>
            <a:off x="685800" y="3163824"/>
            <a:ext cx="7772400" cy="978408"/>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lIns="100584" rIns="100584" tIns="100584" bIns="100584"/>
          <a:lstStyle/>
          <a:p>
            <a:pPr algn="ctr">
              <a:lnSpc>
                <a:spcPct val="100000"/>
              </a:lnSpc>
              <a:spcAft>
                <a:spcPts val="300"/>
              </a:spcAft>
            </a:pPr>
            <a:r>
              <a:rPr sz="1600" b="1" i="0">
                <a:solidFill>
                  <a:srgbClr val="711F3B"/>
                </a:solidFill>
                <a:latin typeface="Arial"/>
              </a:rPr>
              <a:t>The heat map is an estimate, not a camera image.</a:t>
            </a:r>
          </a:p>
          <a:p>
            <a:pPr algn="ctr">
              <a:lnSpc>
                <a:spcPct val="100000"/>
              </a:lnSpc>
              <a:spcAft>
                <a:spcPts val="500"/>
              </a:spcAft>
            </a:pPr>
            <a:r>
              <a:rPr sz="1220" b="0" i="0">
                <a:solidFill>
                  <a:srgbClr val="222222"/>
                </a:solidFill>
                <a:latin typeface="Arial"/>
              </a:rPr>
              <a:t>The algorithm outputs numbers; plotting assigns positions and colours. Interpolation or separate normalization can change apparent smoothness and amplitude, so quantitative tests need consistent scaling.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Same Four Targets, Three Reconstructions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30</a:t>
            </a:r>
          </a:p>
        </p:txBody>
      </p:sp>
      <p:pic>
        <p:nvPicPr>
          <p:cNvPr id="5" name="Picture 4" descr="reconstruction_comparison.png"/>
          <p:cNvPicPr>
            <a:picLocks noChangeAspect="1"/>
          </p:cNvPicPr>
          <p:nvPr/>
        </p:nvPicPr>
        <p:blipFill>
          <a:blip r:embed="rId2"/>
          <a:stretch>
            <a:fillRect/>
          </a:stretch>
        </p:blipFill>
        <p:spPr>
          <a:xfrm>
            <a:off x="274320" y="911161"/>
            <a:ext cx="8549640" cy="2493645"/>
          </a:xfrm>
          <a:prstGeom prst="rect">
            <a:avLst/>
          </a:prstGeom>
        </p:spPr>
      </p:pic>
      <p:sp>
        <p:nvSpPr>
          <p:cNvPr id="6" name="Rounded Rectangle 5"/>
          <p:cNvSpPr/>
          <p:nvPr/>
        </p:nvSpPr>
        <p:spPr>
          <a:xfrm>
            <a:off x="621792" y="3712463"/>
            <a:ext cx="2468880" cy="438912"/>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550" b="1">
                <a:solidFill>
                  <a:srgbClr val="711F3B"/>
                </a:solidFill>
                <a:latin typeface="Arial"/>
              </a:rPr>
              <a:t>BP: broad / diffuse</a:t>
            </a:r>
          </a:p>
        </p:txBody>
      </p:sp>
      <p:sp>
        <p:nvSpPr>
          <p:cNvPr id="7" name="Rounded Rectangle 6"/>
          <p:cNvSpPr/>
          <p:nvPr/>
        </p:nvSpPr>
        <p:spPr>
          <a:xfrm>
            <a:off x="3337560" y="3712463"/>
            <a:ext cx="2468880" cy="438912"/>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550" b="1">
                <a:solidFill>
                  <a:srgbClr val="711F3B"/>
                </a:solidFill>
                <a:latin typeface="Arial"/>
              </a:rPr>
              <a:t>JAC: sharper + artifacts</a:t>
            </a:r>
          </a:p>
        </p:txBody>
      </p:sp>
      <p:sp>
        <p:nvSpPr>
          <p:cNvPr id="8" name="Rounded Rectangle 7"/>
          <p:cNvSpPr/>
          <p:nvPr/>
        </p:nvSpPr>
        <p:spPr>
          <a:xfrm>
            <a:off x="6053328" y="3712463"/>
            <a:ext cx="2468880" cy="438912"/>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550" b="1">
                <a:solidFill>
                  <a:srgbClr val="711F3B"/>
                </a:solidFill>
                <a:latin typeface="Arial"/>
              </a:rPr>
              <a:t>GREIT: smooth pixel grid</a:t>
            </a:r>
          </a:p>
        </p:txBody>
      </p:sp>
      <p:sp>
        <p:nvSpPr>
          <p:cNvPr id="9" name="TextBox 8"/>
          <p:cNvSpPr txBox="1"/>
          <p:nvPr/>
        </p:nvSpPr>
        <p:spPr>
          <a:xfrm>
            <a:off x="502920" y="4498848"/>
            <a:ext cx="7498079" cy="201168"/>
          </a:xfrm>
          <a:prstGeom prst="rect">
            <a:avLst/>
          </a:prstGeom>
          <a:noFill/>
        </p:spPr>
        <p:txBody>
          <a:bodyPr wrap="square" anchor="t" lIns="0" rIns="0" tIns="0" bIns="0">
            <a:spAutoFit/>
          </a:bodyPr>
          <a:lstStyle/>
          <a:p>
            <a:pPr algn="l">
              <a:spcAft>
                <a:spcPts val="0"/>
              </a:spcAft>
            </a:pPr>
            <a:r>
              <a:rPr sz="819" b="0">
                <a:solidFill>
                  <a:srgbClr val="5C5C5C"/>
                </a:solidFill>
                <a:latin typeface="Arial"/>
              </a:rPr>
              <a:t>Noise = 0. Each reconstruction is normalized independently. This is a conceptual Figure 14 workflow, not a pixel-level reproduction of CN0565.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300" b="1">
                <a:solidFill>
                  <a:srgbClr val="711F3B"/>
                </a:solidFill>
                <a:latin typeface="Arial"/>
              </a:rPr>
              <a:t>Additional Cases Reveal Different Failure Modes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31</a:t>
            </a:r>
          </a:p>
        </p:txBody>
      </p:sp>
      <p:pic>
        <p:nvPicPr>
          <p:cNvPr id="5" name="Picture 4" descr="multi_case_results.png"/>
          <p:cNvPicPr>
            <a:picLocks noChangeAspect="1"/>
          </p:cNvPicPr>
          <p:nvPr/>
        </p:nvPicPr>
        <p:blipFill>
          <a:blip r:embed="rId2"/>
          <a:stretch>
            <a:fillRect/>
          </a:stretch>
        </p:blipFill>
        <p:spPr>
          <a:xfrm>
            <a:off x="1450014" y="667512"/>
            <a:ext cx="4122563" cy="3703320"/>
          </a:xfrm>
          <a:prstGeom prst="rect">
            <a:avLst/>
          </a:prstGeom>
        </p:spPr>
      </p:pic>
      <p:sp>
        <p:nvSpPr>
          <p:cNvPr id="6" name="Rounded Rectangle 5"/>
          <p:cNvSpPr/>
          <p:nvPr/>
        </p:nvSpPr>
        <p:spPr>
          <a:xfrm>
            <a:off x="6839712" y="749808"/>
            <a:ext cx="1792224" cy="353872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lnSpc>
                <a:spcPct val="100000"/>
              </a:lnSpc>
              <a:spcAft>
                <a:spcPts val="500"/>
              </a:spcAft>
            </a:pPr>
            <a:r>
              <a:rPr sz="1500" b="1" i="0">
                <a:solidFill>
                  <a:srgbClr val="711F3B"/>
                </a:solidFill>
                <a:latin typeface="Arial"/>
              </a:rPr>
              <a:t>What changes?</a:t>
            </a:r>
          </a:p>
          <a:p>
            <a:pPr algn="l">
              <a:lnSpc>
                <a:spcPct val="100000"/>
              </a:lnSpc>
              <a:spcAft>
                <a:spcPts val="100"/>
              </a:spcAft>
            </a:pPr>
            <a:r>
              <a:rPr sz="1300" b="1" i="0">
                <a:solidFill>
                  <a:srgbClr val="31485E"/>
                </a:solidFill>
                <a:latin typeface="Arial"/>
              </a:rPr>
              <a:t>Center</a:t>
            </a:r>
          </a:p>
          <a:p>
            <a:pPr algn="l">
              <a:lnSpc>
                <a:spcPct val="100000"/>
              </a:lnSpc>
              <a:spcAft>
                <a:spcPts val="500"/>
              </a:spcAft>
            </a:pPr>
            <a:r>
              <a:rPr sz="1050" b="0" i="0">
                <a:solidFill>
                  <a:srgbClr val="222222"/>
                </a:solidFill>
                <a:latin typeface="Arial"/>
              </a:rPr>
              <a:t>Spread and symmetry</a:t>
            </a:r>
          </a:p>
          <a:p>
            <a:pPr algn="l">
              <a:lnSpc>
                <a:spcPct val="100000"/>
              </a:lnSpc>
              <a:spcAft>
                <a:spcPts val="100"/>
              </a:spcAft>
            </a:pPr>
            <a:r>
              <a:rPr sz="1300" b="1" i="0">
                <a:solidFill>
                  <a:srgbClr val="31485E"/>
                </a:solidFill>
                <a:latin typeface="Arial"/>
              </a:rPr>
              <a:t>Near boundary</a:t>
            </a:r>
          </a:p>
          <a:p>
            <a:pPr algn="l">
              <a:lnSpc>
                <a:spcPct val="100000"/>
              </a:lnSpc>
              <a:spcAft>
                <a:spcPts val="500"/>
              </a:spcAft>
            </a:pPr>
            <a:r>
              <a:rPr sz="1050" b="0" i="0">
                <a:solidFill>
                  <a:srgbClr val="222222"/>
                </a:solidFill>
                <a:latin typeface="Arial"/>
              </a:rPr>
              <a:t>Position bias and distortion</a:t>
            </a:r>
          </a:p>
          <a:p>
            <a:pPr algn="l">
              <a:lnSpc>
                <a:spcPct val="100000"/>
              </a:lnSpc>
              <a:spcAft>
                <a:spcPts val="100"/>
              </a:spcAft>
            </a:pPr>
            <a:r>
              <a:rPr sz="1300" b="1" i="0">
                <a:solidFill>
                  <a:srgbClr val="31485E"/>
                </a:solidFill>
                <a:latin typeface="Arial"/>
              </a:rPr>
              <a:t>Two close targets</a:t>
            </a:r>
          </a:p>
          <a:p>
            <a:pPr algn="l">
              <a:lnSpc>
                <a:spcPct val="100000"/>
              </a:lnSpc>
              <a:spcAft>
                <a:spcPts val="500"/>
              </a:spcAft>
            </a:pPr>
            <a:r>
              <a:rPr sz="1050" b="0" i="0">
                <a:solidFill>
                  <a:srgbClr val="222222"/>
                </a:solidFill>
                <a:latin typeface="Arial"/>
              </a:rPr>
              <a:t>Merge or remain separate?</a:t>
            </a:r>
          </a:p>
          <a:p>
            <a:pPr algn="l">
              <a:lnSpc>
                <a:spcPct val="100000"/>
              </a:lnSpc>
              <a:spcAft>
                <a:spcPts val="100"/>
              </a:spcAft>
            </a:pPr>
            <a:r>
              <a:rPr sz="1300" b="1" i="0">
                <a:solidFill>
                  <a:srgbClr val="31485E"/>
                </a:solidFill>
                <a:latin typeface="Arial"/>
              </a:rPr>
              <a:t>0.1% noise</a:t>
            </a:r>
          </a:p>
          <a:p>
            <a:pPr algn="l">
              <a:lnSpc>
                <a:spcPct val="100000"/>
              </a:lnSpc>
              <a:spcAft>
                <a:spcPts val="500"/>
              </a:spcAft>
            </a:pPr>
            <a:r>
              <a:rPr sz="1050" b="0" i="0">
                <a:solidFill>
                  <a:srgbClr val="222222"/>
                </a:solidFill>
                <a:latin typeface="Arial"/>
              </a:rPr>
              <a:t>Artifacts and noise gain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A Fair Test Matrix for BP, JAC, and GREIT</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32</a:t>
            </a:r>
          </a:p>
        </p:txBody>
      </p:sp>
      <p:graphicFrame>
        <p:nvGraphicFramePr>
          <p:cNvPr id="5" name="Table 4"/>
          <p:cNvGraphicFramePr>
            <a:graphicFrameLocks noGrp="1"/>
          </p:cNvGraphicFramePr>
          <p:nvPr/>
        </p:nvGraphicFramePr>
        <p:xfrm>
          <a:off x="384048" y="749808"/>
          <a:ext cx="8366759" cy="3154680"/>
        </p:xfrm>
        <a:graphic>
          <a:graphicData uri="http://schemas.openxmlformats.org/drawingml/2006/table">
            <a:tbl>
              <a:tblPr firstRow="1" bandRow="1">
                <a:tableStyleId>{5C22544A-7EE6-4342-B048-85BDC9FD1C3A}</a:tableStyleId>
              </a:tblPr>
              <a:tblGrid>
                <a:gridCol w="1508760"/>
                <a:gridCol w="1874519"/>
                <a:gridCol w="1600200"/>
                <a:gridCol w="3383280"/>
              </a:tblGrid>
              <a:tr h="394335">
                <a:tc>
                  <a:txBody>
                    <a:bodyPr/>
                    <a:lstStyle/>
                    <a:p>
                      <a:r>
                        <a:rPr sz="1019" b="1">
                          <a:solidFill>
                            <a:srgbClr val="FFFFFF"/>
                          </a:solidFill>
                          <a:latin typeface="Arial"/>
                        </a:rPr>
                        <a:t>Change one variable</a:t>
                      </a:r>
                    </a:p>
                  </a:txBody>
                  <a:tcPr marL="54864" marR="54864">
                    <a:solidFill>
                      <a:srgbClr val="711F3B"/>
                    </a:solidFill>
                  </a:tcPr>
                </a:tc>
                <a:tc>
                  <a:txBody>
                    <a:bodyPr/>
                    <a:lstStyle/>
                    <a:p>
                      <a:r>
                        <a:rPr sz="1019" b="1">
                          <a:solidFill>
                            <a:srgbClr val="FFFFFF"/>
                          </a:solidFill>
                          <a:latin typeface="Arial"/>
                        </a:rPr>
                        <a:t>Suggested values</a:t>
                      </a:r>
                    </a:p>
                  </a:txBody>
                  <a:tcPr marL="54864" marR="54864">
                    <a:solidFill>
                      <a:srgbClr val="711F3B"/>
                    </a:solidFill>
                  </a:tcPr>
                </a:tc>
                <a:tc>
                  <a:txBody>
                    <a:bodyPr/>
                    <a:lstStyle/>
                    <a:p>
                      <a:r>
                        <a:rPr sz="1019" b="1">
                          <a:solidFill>
                            <a:srgbClr val="FFFFFF"/>
                          </a:solidFill>
                          <a:latin typeface="Arial"/>
                        </a:rPr>
                        <a:t>Measure</a:t>
                      </a:r>
                    </a:p>
                  </a:txBody>
                  <a:tcPr marL="54864" marR="54864">
                    <a:solidFill>
                      <a:srgbClr val="711F3B"/>
                    </a:solidFill>
                  </a:tcPr>
                </a:tc>
                <a:tc>
                  <a:txBody>
                    <a:bodyPr/>
                    <a:lstStyle/>
                    <a:p>
                      <a:r>
                        <a:rPr sz="1019" b="1">
                          <a:solidFill>
                            <a:srgbClr val="FFFFFF"/>
                          </a:solidFill>
                          <a:latin typeface="Arial"/>
                        </a:rPr>
                        <a:t>Why it matters</a:t>
                      </a:r>
                    </a:p>
                  </a:txBody>
                  <a:tcPr marL="54864" marR="54864">
                    <a:solidFill>
                      <a:srgbClr val="711F3B"/>
                    </a:solidFill>
                  </a:tcPr>
                </a:tc>
              </a:tr>
              <a:tr h="394335">
                <a:tc>
                  <a:txBody>
                    <a:bodyPr/>
                    <a:lstStyle/>
                    <a:p>
                      <a:pPr>
                        <a:spcAft>
                          <a:spcPts val="0"/>
                        </a:spcAft>
                      </a:pPr>
                      <a:r>
                        <a:rPr sz="1019">
                          <a:solidFill>
                            <a:srgbClr val="222222"/>
                          </a:solidFill>
                          <a:latin typeface="Arial"/>
                        </a:rPr>
                        <a:t>Target position</a:t>
                      </a:r>
                    </a:p>
                  </a:txBody>
                  <a:tcPr marL="54864" marR="54864" anchor="ctr">
                    <a:solidFill>
                      <a:srgbClr val="FFFFFF"/>
                    </a:solidFill>
                  </a:tcPr>
                </a:tc>
                <a:tc>
                  <a:txBody>
                    <a:bodyPr/>
                    <a:lstStyle/>
                    <a:p>
                      <a:pPr>
                        <a:spcAft>
                          <a:spcPts val="0"/>
                        </a:spcAft>
                      </a:pPr>
                      <a:r>
                        <a:rPr sz="1019">
                          <a:solidFill>
                            <a:srgbClr val="222222"/>
                          </a:solidFill>
                          <a:latin typeface="Arial"/>
                        </a:rPr>
                        <a:t>r/R = 0, 0.3, 0.6, 0.8</a:t>
                      </a:r>
                    </a:p>
                  </a:txBody>
                  <a:tcPr marL="54864" marR="54864" anchor="ctr">
                    <a:solidFill>
                      <a:srgbClr val="FFFFFF"/>
                    </a:solidFill>
                  </a:tcPr>
                </a:tc>
                <a:tc>
                  <a:txBody>
                    <a:bodyPr/>
                    <a:lstStyle/>
                    <a:p>
                      <a:pPr>
                        <a:spcAft>
                          <a:spcPts val="0"/>
                        </a:spcAft>
                      </a:pPr>
                      <a:r>
                        <a:rPr sz="1019">
                          <a:solidFill>
                            <a:srgbClr val="222222"/>
                          </a:solidFill>
                          <a:latin typeface="Arial"/>
                        </a:rPr>
                        <a:t>Position error</a:t>
                      </a:r>
                    </a:p>
                  </a:txBody>
                  <a:tcPr marL="54864" marR="54864" anchor="ctr">
                    <a:solidFill>
                      <a:srgbClr val="FFFFFF"/>
                    </a:solidFill>
                  </a:tcPr>
                </a:tc>
                <a:tc>
                  <a:txBody>
                    <a:bodyPr/>
                    <a:lstStyle/>
                    <a:p>
                      <a:pPr>
                        <a:spcAft>
                          <a:spcPts val="0"/>
                        </a:spcAft>
                      </a:pPr>
                      <a:r>
                        <a:rPr sz="1019">
                          <a:solidFill>
                            <a:srgbClr val="222222"/>
                          </a:solidFill>
                          <a:latin typeface="Arial"/>
                        </a:rPr>
                        <a:t>Sensitivity is weaker and less uniform toward the centre.</a:t>
                      </a:r>
                    </a:p>
                  </a:txBody>
                  <a:tcPr marL="54864" marR="54864" anchor="ctr">
                    <a:solidFill>
                      <a:srgbClr val="FFFFFF"/>
                    </a:solidFill>
                  </a:tcPr>
                </a:tc>
              </a:tr>
              <a:tr h="394335">
                <a:tc>
                  <a:txBody>
                    <a:bodyPr/>
                    <a:lstStyle/>
                    <a:p>
                      <a:pPr>
                        <a:spcAft>
                          <a:spcPts val="0"/>
                        </a:spcAft>
                      </a:pPr>
                      <a:r>
                        <a:rPr sz="1019">
                          <a:solidFill>
                            <a:srgbClr val="222222"/>
                          </a:solidFill>
                          <a:latin typeface="Arial"/>
                        </a:rPr>
                        <a:t>Target radius</a:t>
                      </a:r>
                    </a:p>
                  </a:txBody>
                  <a:tcPr marL="54864" marR="54864" anchor="ctr">
                    <a:solidFill>
                      <a:srgbClr val="F7F1F3"/>
                    </a:solidFill>
                  </a:tcPr>
                </a:tc>
                <a:tc>
                  <a:txBody>
                    <a:bodyPr/>
                    <a:lstStyle/>
                    <a:p>
                      <a:pPr>
                        <a:spcAft>
                          <a:spcPts val="0"/>
                        </a:spcAft>
                      </a:pPr>
                      <a:r>
                        <a:rPr sz="1019">
                          <a:solidFill>
                            <a:srgbClr val="222222"/>
                          </a:solidFill>
                          <a:latin typeface="Arial"/>
                        </a:rPr>
                        <a:t>0.05R, 0.10R, 0.20R</a:t>
                      </a:r>
                    </a:p>
                  </a:txBody>
                  <a:tcPr marL="54864" marR="54864" anchor="ctr">
                    <a:solidFill>
                      <a:srgbClr val="F7F1F3"/>
                    </a:solidFill>
                  </a:tcPr>
                </a:tc>
                <a:tc>
                  <a:txBody>
                    <a:bodyPr/>
                    <a:lstStyle/>
                    <a:p>
                      <a:pPr>
                        <a:spcAft>
                          <a:spcPts val="0"/>
                        </a:spcAft>
                      </a:pPr>
                      <a:r>
                        <a:rPr sz="1019">
                          <a:solidFill>
                            <a:srgbClr val="222222"/>
                          </a:solidFill>
                          <a:latin typeface="Arial"/>
                        </a:rPr>
                        <a:t>Resolution / spread</a:t>
                      </a:r>
                    </a:p>
                  </a:txBody>
                  <a:tcPr marL="54864" marR="54864" anchor="ctr">
                    <a:solidFill>
                      <a:srgbClr val="F7F1F3"/>
                    </a:solidFill>
                  </a:tcPr>
                </a:tc>
                <a:tc>
                  <a:txBody>
                    <a:bodyPr/>
                    <a:lstStyle/>
                    <a:p>
                      <a:pPr>
                        <a:spcAft>
                          <a:spcPts val="0"/>
                        </a:spcAft>
                      </a:pPr>
                      <a:r>
                        <a:rPr sz="1019">
                          <a:solidFill>
                            <a:srgbClr val="222222"/>
                          </a:solidFill>
                          <a:latin typeface="Arial"/>
                        </a:rPr>
                        <a:t>Tests whether apparent size follows true size.</a:t>
                      </a:r>
                    </a:p>
                  </a:txBody>
                  <a:tcPr marL="54864" marR="54864" anchor="ctr">
                    <a:solidFill>
                      <a:srgbClr val="F7F1F3"/>
                    </a:solidFill>
                  </a:tcPr>
                </a:tc>
              </a:tr>
              <a:tr h="394335">
                <a:tc>
                  <a:txBody>
                    <a:bodyPr/>
                    <a:lstStyle/>
                    <a:p>
                      <a:pPr>
                        <a:spcAft>
                          <a:spcPts val="0"/>
                        </a:spcAft>
                      </a:pPr>
                      <a:r>
                        <a:rPr sz="1019">
                          <a:solidFill>
                            <a:srgbClr val="222222"/>
                          </a:solidFill>
                          <a:latin typeface="Arial"/>
                        </a:rPr>
                        <a:t>Conductivity ratio</a:t>
                      </a:r>
                    </a:p>
                  </a:txBody>
                  <a:tcPr marL="54864" marR="54864" anchor="ctr">
                    <a:solidFill>
                      <a:srgbClr val="FFFFFF"/>
                    </a:solidFill>
                  </a:tcPr>
                </a:tc>
                <a:tc>
                  <a:txBody>
                    <a:bodyPr/>
                    <a:lstStyle/>
                    <a:p>
                      <a:pPr>
                        <a:spcAft>
                          <a:spcPts val="0"/>
                        </a:spcAft>
                      </a:pPr>
                      <a:r>
                        <a:rPr sz="1019">
                          <a:solidFill>
                            <a:srgbClr val="222222"/>
                          </a:solidFill>
                          <a:latin typeface="Arial"/>
                        </a:rPr>
                        <a:t>0.1×, 0.5×, 2×, 5×, 10×</a:t>
                      </a:r>
                    </a:p>
                  </a:txBody>
                  <a:tcPr marL="54864" marR="54864" anchor="ctr">
                    <a:solidFill>
                      <a:srgbClr val="FFFFFF"/>
                    </a:solidFill>
                  </a:tcPr>
                </a:tc>
                <a:tc>
                  <a:txBody>
                    <a:bodyPr/>
                    <a:lstStyle/>
                    <a:p>
                      <a:pPr>
                        <a:spcAft>
                          <a:spcPts val="0"/>
                        </a:spcAft>
                      </a:pPr>
                      <a:r>
                        <a:rPr sz="1019">
                          <a:solidFill>
                            <a:srgbClr val="222222"/>
                          </a:solidFill>
                          <a:latin typeface="Arial"/>
                        </a:rPr>
                        <a:t>Sign + amplitude response</a:t>
                      </a:r>
                    </a:p>
                  </a:txBody>
                  <a:tcPr marL="54864" marR="54864" anchor="ctr">
                    <a:solidFill>
                      <a:srgbClr val="FFFFFF"/>
                    </a:solidFill>
                  </a:tcPr>
                </a:tc>
                <a:tc>
                  <a:txBody>
                    <a:bodyPr/>
                    <a:lstStyle/>
                    <a:p>
                      <a:pPr>
                        <a:spcAft>
                          <a:spcPts val="0"/>
                        </a:spcAft>
                      </a:pPr>
                      <a:r>
                        <a:rPr sz="1019">
                          <a:solidFill>
                            <a:srgbClr val="222222"/>
                          </a:solidFill>
                          <a:latin typeface="Arial"/>
                        </a:rPr>
                        <a:t>Tests linear range and positive/negative contrast.</a:t>
                      </a:r>
                    </a:p>
                  </a:txBody>
                  <a:tcPr marL="54864" marR="54864" anchor="ctr">
                    <a:solidFill>
                      <a:srgbClr val="FFFFFF"/>
                    </a:solidFill>
                  </a:tcPr>
                </a:tc>
              </a:tr>
              <a:tr h="394335">
                <a:tc>
                  <a:txBody>
                    <a:bodyPr/>
                    <a:lstStyle/>
                    <a:p>
                      <a:pPr>
                        <a:spcAft>
                          <a:spcPts val="0"/>
                        </a:spcAft>
                      </a:pPr>
                      <a:r>
                        <a:rPr sz="1019">
                          <a:solidFill>
                            <a:srgbClr val="222222"/>
                          </a:solidFill>
                          <a:latin typeface="Arial"/>
                        </a:rPr>
                        <a:t>Voltage noise</a:t>
                      </a:r>
                    </a:p>
                  </a:txBody>
                  <a:tcPr marL="54864" marR="54864" anchor="ctr">
                    <a:solidFill>
                      <a:srgbClr val="F7F1F3"/>
                    </a:solidFill>
                  </a:tcPr>
                </a:tc>
                <a:tc>
                  <a:txBody>
                    <a:bodyPr/>
                    <a:lstStyle/>
                    <a:p>
                      <a:pPr>
                        <a:spcAft>
                          <a:spcPts val="0"/>
                        </a:spcAft>
                      </a:pPr>
                      <a:r>
                        <a:rPr sz="1019">
                          <a:solidFill>
                            <a:srgbClr val="222222"/>
                          </a:solidFill>
                          <a:latin typeface="Arial"/>
                        </a:rPr>
                        <a:t>0, 0.01%, 0.1%, 0.5%, 1%</a:t>
                      </a:r>
                    </a:p>
                  </a:txBody>
                  <a:tcPr marL="54864" marR="54864" anchor="ctr">
                    <a:solidFill>
                      <a:srgbClr val="F7F1F3"/>
                    </a:solidFill>
                  </a:tcPr>
                </a:tc>
                <a:tc>
                  <a:txBody>
                    <a:bodyPr/>
                    <a:lstStyle/>
                    <a:p>
                      <a:pPr>
                        <a:spcAft>
                          <a:spcPts val="0"/>
                        </a:spcAft>
                      </a:pPr>
                      <a:r>
                        <a:rPr sz="1019">
                          <a:solidFill>
                            <a:srgbClr val="222222"/>
                          </a:solidFill>
                          <a:latin typeface="Arial"/>
                        </a:rPr>
                        <a:t>Noise figure / artifacts</a:t>
                      </a:r>
                    </a:p>
                  </a:txBody>
                  <a:tcPr marL="54864" marR="54864" anchor="ctr">
                    <a:solidFill>
                      <a:srgbClr val="F7F1F3"/>
                    </a:solidFill>
                  </a:tcPr>
                </a:tc>
                <a:tc>
                  <a:txBody>
                    <a:bodyPr/>
                    <a:lstStyle/>
                    <a:p>
                      <a:pPr>
                        <a:spcAft>
                          <a:spcPts val="0"/>
                        </a:spcAft>
                      </a:pPr>
                      <a:r>
                        <a:rPr sz="1019">
                          <a:solidFill>
                            <a:srgbClr val="222222"/>
                          </a:solidFill>
                          <a:latin typeface="Arial"/>
                        </a:rPr>
                        <a:t>Tests regularization and hardware tolerance.</a:t>
                      </a:r>
                    </a:p>
                  </a:txBody>
                  <a:tcPr marL="54864" marR="54864" anchor="ctr">
                    <a:solidFill>
                      <a:srgbClr val="F7F1F3"/>
                    </a:solidFill>
                  </a:tcPr>
                </a:tc>
              </a:tr>
              <a:tr h="394335">
                <a:tc>
                  <a:txBody>
                    <a:bodyPr/>
                    <a:lstStyle/>
                    <a:p>
                      <a:pPr>
                        <a:spcAft>
                          <a:spcPts val="0"/>
                        </a:spcAft>
                      </a:pPr>
                      <a:r>
                        <a:rPr sz="1019">
                          <a:solidFill>
                            <a:srgbClr val="222222"/>
                          </a:solidFill>
                          <a:latin typeface="Arial"/>
                        </a:rPr>
                        <a:t>Target separation</a:t>
                      </a:r>
                    </a:p>
                  </a:txBody>
                  <a:tcPr marL="54864" marR="54864" anchor="ctr">
                    <a:solidFill>
                      <a:srgbClr val="FFFFFF"/>
                    </a:solidFill>
                  </a:tcPr>
                </a:tc>
                <a:tc>
                  <a:txBody>
                    <a:bodyPr/>
                    <a:lstStyle/>
                    <a:p>
                      <a:pPr>
                        <a:spcAft>
                          <a:spcPts val="0"/>
                        </a:spcAft>
                      </a:pPr>
                      <a:r>
                        <a:rPr sz="1019">
                          <a:solidFill>
                            <a:srgbClr val="222222"/>
                          </a:solidFill>
                          <a:latin typeface="Arial"/>
                        </a:rPr>
                        <a:t>0.1R to 0.6R</a:t>
                      </a:r>
                    </a:p>
                  </a:txBody>
                  <a:tcPr marL="54864" marR="54864" anchor="ctr">
                    <a:solidFill>
                      <a:srgbClr val="FFFFFF"/>
                    </a:solidFill>
                  </a:tcPr>
                </a:tc>
                <a:tc>
                  <a:txBody>
                    <a:bodyPr/>
                    <a:lstStyle/>
                    <a:p>
                      <a:pPr>
                        <a:spcAft>
                          <a:spcPts val="0"/>
                        </a:spcAft>
                      </a:pPr>
                      <a:r>
                        <a:rPr sz="1019">
                          <a:solidFill>
                            <a:srgbClr val="222222"/>
                          </a:solidFill>
                          <a:latin typeface="Arial"/>
                        </a:rPr>
                        <a:t>Two-peak separability</a:t>
                      </a:r>
                    </a:p>
                  </a:txBody>
                  <a:tcPr marL="54864" marR="54864" anchor="ctr">
                    <a:solidFill>
                      <a:srgbClr val="FFFFFF"/>
                    </a:solidFill>
                  </a:tcPr>
                </a:tc>
                <a:tc>
                  <a:txBody>
                    <a:bodyPr/>
                    <a:lstStyle/>
                    <a:p>
                      <a:pPr>
                        <a:spcAft>
                          <a:spcPts val="0"/>
                        </a:spcAft>
                      </a:pPr>
                      <a:r>
                        <a:rPr sz="1019">
                          <a:solidFill>
                            <a:srgbClr val="222222"/>
                          </a:solidFill>
                          <a:latin typeface="Arial"/>
                        </a:rPr>
                        <a:t>Tests ability to distinguish nearby objects.</a:t>
                      </a:r>
                    </a:p>
                  </a:txBody>
                  <a:tcPr marL="54864" marR="54864" anchor="ctr">
                    <a:solidFill>
                      <a:srgbClr val="FFFFFF"/>
                    </a:solidFill>
                  </a:tcPr>
                </a:tc>
              </a:tr>
              <a:tr h="394335">
                <a:tc>
                  <a:txBody>
                    <a:bodyPr/>
                    <a:lstStyle/>
                    <a:p>
                      <a:pPr>
                        <a:spcAft>
                          <a:spcPts val="0"/>
                        </a:spcAft>
                      </a:pPr>
                      <a:r>
                        <a:rPr sz="1019">
                          <a:solidFill>
                            <a:srgbClr val="222222"/>
                          </a:solidFill>
                          <a:latin typeface="Arial"/>
                        </a:rPr>
                        <a:t>Mesh / model mismatch</a:t>
                      </a:r>
                    </a:p>
                  </a:txBody>
                  <a:tcPr marL="54864" marR="54864" anchor="ctr">
                    <a:solidFill>
                      <a:srgbClr val="F7F1F3"/>
                    </a:solidFill>
                  </a:tcPr>
                </a:tc>
                <a:tc>
                  <a:txBody>
                    <a:bodyPr/>
                    <a:lstStyle/>
                    <a:p>
                      <a:pPr>
                        <a:spcAft>
                          <a:spcPts val="0"/>
                        </a:spcAft>
                      </a:pPr>
                      <a:r>
                        <a:rPr sz="1019">
                          <a:solidFill>
                            <a:srgbClr val="222222"/>
                          </a:solidFill>
                          <a:latin typeface="Arial"/>
                        </a:rPr>
                        <a:t>h0 and boundary shape</a:t>
                      </a:r>
                    </a:p>
                  </a:txBody>
                  <a:tcPr marL="54864" marR="54864" anchor="ctr">
                    <a:solidFill>
                      <a:srgbClr val="F7F1F3"/>
                    </a:solidFill>
                  </a:tcPr>
                </a:tc>
                <a:tc>
                  <a:txBody>
                    <a:bodyPr/>
                    <a:lstStyle/>
                    <a:p>
                      <a:pPr>
                        <a:spcAft>
                          <a:spcPts val="0"/>
                        </a:spcAft>
                      </a:pPr>
                      <a:r>
                        <a:rPr sz="1019">
                          <a:solidFill>
                            <a:srgbClr val="222222"/>
                          </a:solidFill>
                          <a:latin typeface="Arial"/>
                        </a:rPr>
                        <a:t>Robustness</a:t>
                      </a:r>
                    </a:p>
                  </a:txBody>
                  <a:tcPr marL="54864" marR="54864" anchor="ctr">
                    <a:solidFill>
                      <a:srgbClr val="F7F1F3"/>
                    </a:solidFill>
                  </a:tcPr>
                </a:tc>
                <a:tc>
                  <a:txBody>
                    <a:bodyPr/>
                    <a:lstStyle/>
                    <a:p>
                      <a:pPr>
                        <a:spcAft>
                          <a:spcPts val="0"/>
                        </a:spcAft>
                      </a:pPr>
                      <a:r>
                        <a:rPr sz="1019">
                          <a:solidFill>
                            <a:srgbClr val="222222"/>
                          </a:solidFill>
                          <a:latin typeface="Arial"/>
                        </a:rPr>
                        <a:t>Avoids testing only on the exact inverse model.</a:t>
                      </a:r>
                    </a:p>
                  </a:txBody>
                  <a:tcPr marL="54864" marR="54864" anchor="ctr">
                    <a:solidFill>
                      <a:srgbClr val="F7F1F3"/>
                    </a:solidFill>
                  </a:tcPr>
                </a:tc>
              </a:tr>
              <a:tr h="394335">
                <a:tc>
                  <a:txBody>
                    <a:bodyPr/>
                    <a:lstStyle/>
                    <a:p>
                      <a:pPr>
                        <a:spcAft>
                          <a:spcPts val="0"/>
                        </a:spcAft>
                      </a:pPr>
                      <a:r>
                        <a:rPr sz="1019">
                          <a:solidFill>
                            <a:srgbClr val="222222"/>
                          </a:solidFill>
                          <a:latin typeface="Arial"/>
                        </a:rPr>
                        <a:t>Algorithm parameters</a:t>
                      </a:r>
                    </a:p>
                  </a:txBody>
                  <a:tcPr marL="54864" marR="54864" anchor="ctr">
                    <a:solidFill>
                      <a:srgbClr val="FFFFFF"/>
                    </a:solidFill>
                  </a:tcPr>
                </a:tc>
                <a:tc>
                  <a:txBody>
                    <a:bodyPr/>
                    <a:lstStyle/>
                    <a:p>
                      <a:pPr>
                        <a:spcAft>
                          <a:spcPts val="0"/>
                        </a:spcAft>
                      </a:pPr>
                      <a:r>
                        <a:rPr sz="1019">
                          <a:solidFill>
                            <a:srgbClr val="222222"/>
                          </a:solidFill>
                          <a:latin typeface="Arial"/>
                        </a:rPr>
                        <a:t>λ, p, GREIT n/s/ratio</a:t>
                      </a:r>
                    </a:p>
                  </a:txBody>
                  <a:tcPr marL="54864" marR="54864" anchor="ctr">
                    <a:solidFill>
                      <a:srgbClr val="FFFFFF"/>
                    </a:solidFill>
                  </a:tcPr>
                </a:tc>
                <a:tc>
                  <a:txBody>
                    <a:bodyPr/>
                    <a:lstStyle/>
                    <a:p>
                      <a:pPr>
                        <a:spcAft>
                          <a:spcPts val="0"/>
                        </a:spcAft>
                      </a:pPr>
                      <a:r>
                        <a:rPr sz="1019">
                          <a:solidFill>
                            <a:srgbClr val="222222"/>
                          </a:solidFill>
                          <a:latin typeface="Arial"/>
                        </a:rPr>
                        <a:t>Metric curves</a:t>
                      </a:r>
                    </a:p>
                  </a:txBody>
                  <a:tcPr marL="54864" marR="54864" anchor="ctr">
                    <a:solidFill>
                      <a:srgbClr val="FFFFFF"/>
                    </a:solidFill>
                  </a:tcPr>
                </a:tc>
                <a:tc>
                  <a:txBody>
                    <a:bodyPr/>
                    <a:lstStyle/>
                    <a:p>
                      <a:pPr>
                        <a:spcAft>
                          <a:spcPts val="0"/>
                        </a:spcAft>
                      </a:pPr>
                      <a:r>
                        <a:rPr sz="1019">
                          <a:solidFill>
                            <a:srgbClr val="222222"/>
                          </a:solidFill>
                          <a:latin typeface="Arial"/>
                        </a:rPr>
                        <a:t>Shows why an algorithm behaves differently.</a:t>
                      </a:r>
                    </a:p>
                  </a:txBody>
                  <a:tcPr marL="54864" marR="54864" anchor="ctr">
                    <a:solidFill>
                      <a:srgbClr val="FFFFFF"/>
                    </a:solidFill>
                  </a:tcPr>
                </a:tc>
              </a:tr>
            </a:tbl>
          </a:graphicData>
        </a:graphic>
      </p:graphicFrame>
      <p:sp>
        <p:nvSpPr>
          <p:cNvPr id="6" name="Rounded Rectangle 5"/>
          <p:cNvSpPr/>
          <p:nvPr/>
        </p:nvSpPr>
        <p:spPr>
          <a:xfrm>
            <a:off x="658368" y="4059936"/>
            <a:ext cx="7818120" cy="347472"/>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50" b="1">
                <a:solidFill>
                  <a:srgbClr val="711F3B"/>
                </a:solidFill>
                <a:latin typeface="Arial"/>
              </a:rPr>
              <a:t>Rule: change one variable at a time; reuse the same v₀/v₁ for all algorithms; report metrics before choosing a winner.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300" b="1">
                <a:solidFill>
                  <a:srgbClr val="711F3B"/>
                </a:solidFill>
                <a:latin typeface="Arial"/>
              </a:rPr>
              <a:t>What the Papers Support - and What We Must Validate</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33</a:t>
            </a:r>
          </a:p>
        </p:txBody>
      </p:sp>
      <p:graphicFrame>
        <p:nvGraphicFramePr>
          <p:cNvPr id="5" name="Table 4"/>
          <p:cNvGraphicFramePr>
            <a:graphicFrameLocks noGrp="1"/>
          </p:cNvGraphicFramePr>
          <p:nvPr/>
        </p:nvGraphicFramePr>
        <p:xfrm>
          <a:off x="384048" y="768096"/>
          <a:ext cx="8366760" cy="3236976"/>
        </p:xfrm>
        <a:graphic>
          <a:graphicData uri="http://schemas.openxmlformats.org/drawingml/2006/table">
            <a:tbl>
              <a:tblPr firstRow="1" bandRow="1">
                <a:tableStyleId>{5C22544A-7EE6-4342-B048-85BDC9FD1C3A}</a:tableStyleId>
              </a:tblPr>
              <a:tblGrid>
                <a:gridCol w="2743200"/>
                <a:gridCol w="2423160"/>
                <a:gridCol w="3200400"/>
              </a:tblGrid>
              <a:tr h="462425">
                <a:tc>
                  <a:txBody>
                    <a:bodyPr/>
                    <a:lstStyle/>
                    <a:p>
                      <a:r>
                        <a:rPr sz="1040" b="1">
                          <a:solidFill>
                            <a:srgbClr val="FFFFFF"/>
                          </a:solidFill>
                          <a:latin typeface="Arial"/>
                        </a:rPr>
                        <a:t>Supported concept</a:t>
                      </a:r>
                    </a:p>
                  </a:txBody>
                  <a:tcPr marL="54864" marR="54864">
                    <a:solidFill>
                      <a:srgbClr val="711F3B"/>
                    </a:solidFill>
                  </a:tcPr>
                </a:tc>
                <a:tc>
                  <a:txBody>
                    <a:bodyPr/>
                    <a:lstStyle/>
                    <a:p>
                      <a:r>
                        <a:rPr sz="1040" b="1">
                          <a:solidFill>
                            <a:srgbClr val="FFFFFF"/>
                          </a:solidFill>
                          <a:latin typeface="Arial"/>
                        </a:rPr>
                        <a:t>Evidence</a:t>
                      </a:r>
                    </a:p>
                  </a:txBody>
                  <a:tcPr marL="54864" marR="54864">
                    <a:solidFill>
                      <a:srgbClr val="711F3B"/>
                    </a:solidFill>
                  </a:tcPr>
                </a:tc>
                <a:tc>
                  <a:txBody>
                    <a:bodyPr/>
                    <a:lstStyle/>
                    <a:p>
                      <a:r>
                        <a:rPr sz="1040" b="1">
                          <a:solidFill>
                            <a:srgbClr val="FFFFFF"/>
                          </a:solidFill>
                          <a:latin typeface="Arial"/>
                        </a:rPr>
                        <a:t>Current implementation choice</a:t>
                      </a:r>
                    </a:p>
                  </a:txBody>
                  <a:tcPr marL="54864" marR="54864">
                    <a:solidFill>
                      <a:srgbClr val="711F3B"/>
                    </a:solidFill>
                  </a:tcPr>
                </a:tc>
              </a:tr>
              <a:tr h="462425">
                <a:tc>
                  <a:txBody>
                    <a:bodyPr/>
                    <a:lstStyle/>
                    <a:p>
                      <a:pPr>
                        <a:spcAft>
                          <a:spcPts val="0"/>
                        </a:spcAft>
                      </a:pPr>
                      <a:r>
                        <a:rPr sz="1040">
                          <a:solidFill>
                            <a:srgbClr val="222222"/>
                          </a:solidFill>
                          <a:latin typeface="Arial"/>
                        </a:rPr>
                        <a:t>Boundary current + boundary voltage measurements</a:t>
                      </a:r>
                    </a:p>
                  </a:txBody>
                  <a:tcPr marL="54864" marR="54864" anchor="ctr">
                    <a:solidFill>
                      <a:srgbClr val="FFFFFF"/>
                    </a:solidFill>
                  </a:tcPr>
                </a:tc>
                <a:tc>
                  <a:txBody>
                    <a:bodyPr/>
                    <a:lstStyle/>
                    <a:p>
                      <a:pPr>
                        <a:spcAft>
                          <a:spcPts val="0"/>
                        </a:spcAft>
                      </a:pPr>
                      <a:r>
                        <a:rPr sz="1040">
                          <a:solidFill>
                            <a:srgbClr val="222222"/>
                          </a:solidFill>
                          <a:latin typeface="Arial"/>
                        </a:rPr>
                        <a:t>pyEIT paper, Fig. 2 and Section 2</a:t>
                      </a:r>
                    </a:p>
                  </a:txBody>
                  <a:tcPr marL="54864" marR="54864" anchor="ctr">
                    <a:solidFill>
                      <a:srgbClr val="FFFFFF"/>
                    </a:solidFill>
                  </a:tcPr>
                </a:tc>
                <a:tc>
                  <a:txBody>
                    <a:bodyPr/>
                    <a:lstStyle/>
                    <a:p>
                      <a:pPr>
                        <a:spcAft>
                          <a:spcPts val="0"/>
                        </a:spcAft>
                      </a:pPr>
                      <a:r>
                        <a:rPr sz="1040">
                          <a:solidFill>
                            <a:srgbClr val="222222"/>
                          </a:solidFill>
                          <a:latin typeface="Arial"/>
                        </a:rPr>
                        <a:t>16 electrodes; adjacent drive and adjacent sense</a:t>
                      </a:r>
                    </a:p>
                  </a:txBody>
                  <a:tcPr marL="54864" marR="54864" anchor="ctr">
                    <a:solidFill>
                      <a:srgbClr val="FFFFFF"/>
                    </a:solidFill>
                  </a:tcPr>
                </a:tc>
              </a:tr>
              <a:tr h="462425">
                <a:tc>
                  <a:txBody>
                    <a:bodyPr/>
                    <a:lstStyle/>
                    <a:p>
                      <a:pPr>
                        <a:spcAft>
                          <a:spcPts val="0"/>
                        </a:spcAft>
                      </a:pPr>
                      <a:r>
                        <a:rPr sz="1040">
                          <a:solidFill>
                            <a:srgbClr val="222222"/>
                          </a:solidFill>
                          <a:latin typeface="Arial"/>
                        </a:rPr>
                        <a:t>FEM forward model and Jacobian sensitivity</a:t>
                      </a:r>
                    </a:p>
                  </a:txBody>
                  <a:tcPr marL="54864" marR="54864" anchor="ctr">
                    <a:solidFill>
                      <a:srgbClr val="F7F1F3"/>
                    </a:solidFill>
                  </a:tcPr>
                </a:tc>
                <a:tc>
                  <a:txBody>
                    <a:bodyPr/>
                    <a:lstStyle/>
                    <a:p>
                      <a:pPr>
                        <a:spcAft>
                          <a:spcPts val="0"/>
                        </a:spcAft>
                      </a:pPr>
                      <a:r>
                        <a:rPr sz="1040">
                          <a:solidFill>
                            <a:srgbClr val="222222"/>
                          </a:solidFill>
                          <a:latin typeface="Arial"/>
                        </a:rPr>
                        <a:t>pyEIT paper; Adler 2007</a:t>
                      </a:r>
                    </a:p>
                  </a:txBody>
                  <a:tcPr marL="54864" marR="54864" anchor="ctr">
                    <a:solidFill>
                      <a:srgbClr val="F7F1F3"/>
                    </a:solidFill>
                  </a:tcPr>
                </a:tc>
                <a:tc>
                  <a:txBody>
                    <a:bodyPr/>
                    <a:lstStyle/>
                    <a:p>
                      <a:pPr>
                        <a:spcAft>
                          <a:spcPts val="0"/>
                        </a:spcAft>
                      </a:pPr>
                      <a:r>
                        <a:rPr sz="1040">
                          <a:solidFill>
                            <a:srgbClr val="222222"/>
                          </a:solidFill>
                          <a:latin typeface="Arial"/>
                        </a:rPr>
                        <a:t>2D unit circle; point-electrode model</a:t>
                      </a:r>
                    </a:p>
                  </a:txBody>
                  <a:tcPr marL="54864" marR="54864" anchor="ctr">
                    <a:solidFill>
                      <a:srgbClr val="F7F1F3"/>
                    </a:solidFill>
                  </a:tcPr>
                </a:tc>
              </a:tr>
              <a:tr h="462425">
                <a:tc>
                  <a:txBody>
                    <a:bodyPr/>
                    <a:lstStyle/>
                    <a:p>
                      <a:pPr>
                        <a:spcAft>
                          <a:spcPts val="0"/>
                        </a:spcAft>
                      </a:pPr>
                      <a:r>
                        <a:rPr sz="1040">
                          <a:solidFill>
                            <a:srgbClr val="222222"/>
                          </a:solidFill>
                          <a:latin typeface="Arial"/>
                        </a:rPr>
                        <a:t>Regularization trades resolution against noise</a:t>
                      </a:r>
                    </a:p>
                  </a:txBody>
                  <a:tcPr marL="54864" marR="54864" anchor="ctr">
                    <a:solidFill>
                      <a:srgbClr val="FFFFFF"/>
                    </a:solidFill>
                  </a:tcPr>
                </a:tc>
                <a:tc>
                  <a:txBody>
                    <a:bodyPr/>
                    <a:lstStyle/>
                    <a:p>
                      <a:pPr>
                        <a:spcAft>
                          <a:spcPts val="0"/>
                        </a:spcAft>
                      </a:pPr>
                      <a:r>
                        <a:rPr sz="1040">
                          <a:solidFill>
                            <a:srgbClr val="222222"/>
                          </a:solidFill>
                          <a:latin typeface="Arial"/>
                        </a:rPr>
                        <a:t>Adler 2007; GREIT 2009</a:t>
                      </a:r>
                    </a:p>
                  </a:txBody>
                  <a:tcPr marL="54864" marR="54864" anchor="ctr">
                    <a:solidFill>
                      <a:srgbClr val="FFFFFF"/>
                    </a:solidFill>
                  </a:tcPr>
                </a:tc>
                <a:tc>
                  <a:txBody>
                    <a:bodyPr/>
                    <a:lstStyle/>
                    <a:p>
                      <a:pPr>
                        <a:spcAft>
                          <a:spcPts val="0"/>
                        </a:spcAft>
                      </a:pPr>
                      <a:r>
                        <a:rPr sz="1040">
                          <a:solidFill>
                            <a:srgbClr val="222222"/>
                          </a:solidFill>
                          <a:latin typeface="Arial"/>
                        </a:rPr>
                        <a:t>JAC: method='kotre', p=0.5, λ=0.01</a:t>
                      </a:r>
                    </a:p>
                  </a:txBody>
                  <a:tcPr marL="54864" marR="54864" anchor="ctr">
                    <a:solidFill>
                      <a:srgbClr val="FFFFFF"/>
                    </a:solidFill>
                  </a:tcPr>
                </a:tc>
              </a:tr>
              <a:tr h="462425">
                <a:tc>
                  <a:txBody>
                    <a:bodyPr/>
                    <a:lstStyle/>
                    <a:p>
                      <a:pPr>
                        <a:spcAft>
                          <a:spcPts val="0"/>
                        </a:spcAft>
                      </a:pPr>
                      <a:r>
                        <a:rPr sz="1040">
                          <a:solidFill>
                            <a:srgbClr val="222222"/>
                          </a:solidFill>
                          <a:latin typeface="Arial"/>
                        </a:rPr>
                        <a:t>Linear reconstruction matrices enable fast imaging</a:t>
                      </a:r>
                    </a:p>
                  </a:txBody>
                  <a:tcPr marL="54864" marR="54864" anchor="ctr">
                    <a:solidFill>
                      <a:srgbClr val="F7F1F3"/>
                    </a:solidFill>
                  </a:tcPr>
                </a:tc>
                <a:tc>
                  <a:txBody>
                    <a:bodyPr/>
                    <a:lstStyle/>
                    <a:p>
                      <a:pPr>
                        <a:spcAft>
                          <a:spcPts val="0"/>
                        </a:spcAft>
                      </a:pPr>
                      <a:r>
                        <a:rPr sz="1040">
                          <a:solidFill>
                            <a:srgbClr val="222222"/>
                          </a:solidFill>
                          <a:latin typeface="Arial"/>
                        </a:rPr>
                        <a:t>Adler 2007 and GREIT 2009</a:t>
                      </a:r>
                    </a:p>
                  </a:txBody>
                  <a:tcPr marL="54864" marR="54864" anchor="ctr">
                    <a:solidFill>
                      <a:srgbClr val="F7F1F3"/>
                    </a:solidFill>
                  </a:tcPr>
                </a:tc>
                <a:tc>
                  <a:txBody>
                    <a:bodyPr/>
                    <a:lstStyle/>
                    <a:p>
                      <a:pPr>
                        <a:spcAft>
                          <a:spcPts val="0"/>
                        </a:spcAft>
                      </a:pPr>
                      <a:r>
                        <a:rPr sz="1040">
                          <a:solidFill>
                            <a:srgbClr val="222222"/>
                          </a:solidFill>
                          <a:latin typeface="Arial"/>
                        </a:rPr>
                        <a:t>BP/JAC/GREIT one-step difference imaging</a:t>
                      </a:r>
                    </a:p>
                  </a:txBody>
                  <a:tcPr marL="54864" marR="54864" anchor="ctr">
                    <a:solidFill>
                      <a:srgbClr val="F7F1F3"/>
                    </a:solidFill>
                  </a:tcPr>
                </a:tc>
              </a:tr>
              <a:tr h="462425">
                <a:tc>
                  <a:txBody>
                    <a:bodyPr/>
                    <a:lstStyle/>
                    <a:p>
                      <a:pPr>
                        <a:spcAft>
                          <a:spcPts val="0"/>
                        </a:spcAft>
                      </a:pPr>
                      <a:r>
                        <a:rPr sz="1040">
                          <a:solidFill>
                            <a:srgbClr val="222222"/>
                          </a:solidFill>
                          <a:latin typeface="Arial"/>
                        </a:rPr>
                        <a:t>GREIT should be evaluated by performance metrics</a:t>
                      </a:r>
                    </a:p>
                  </a:txBody>
                  <a:tcPr marL="54864" marR="54864" anchor="ctr">
                    <a:solidFill>
                      <a:srgbClr val="FFFFFF"/>
                    </a:solidFill>
                  </a:tcPr>
                </a:tc>
                <a:tc>
                  <a:txBody>
                    <a:bodyPr/>
                    <a:lstStyle/>
                    <a:p>
                      <a:pPr>
                        <a:spcAft>
                          <a:spcPts val="0"/>
                        </a:spcAft>
                      </a:pPr>
                      <a:r>
                        <a:rPr sz="1040">
                          <a:solidFill>
                            <a:srgbClr val="222222"/>
                          </a:solidFill>
                          <a:latin typeface="Arial"/>
                        </a:rPr>
                        <a:t>Adler 2009</a:t>
                      </a:r>
                    </a:p>
                  </a:txBody>
                  <a:tcPr marL="54864" marR="54864" anchor="ctr">
                    <a:solidFill>
                      <a:srgbClr val="FFFFFF"/>
                    </a:solidFill>
                  </a:tcPr>
                </a:tc>
                <a:tc>
                  <a:txBody>
                    <a:bodyPr/>
                    <a:lstStyle/>
                    <a:p>
                      <a:pPr>
                        <a:spcAft>
                          <a:spcPts val="0"/>
                        </a:spcAft>
                      </a:pPr>
                      <a:r>
                        <a:rPr sz="1040">
                          <a:solidFill>
                            <a:srgbClr val="222222"/>
                          </a:solidFill>
                          <a:latin typeface="Arial"/>
                        </a:rPr>
                        <a:t>n=32, s=20, ratio=0.1 in pyEIT</a:t>
                      </a:r>
                    </a:p>
                  </a:txBody>
                  <a:tcPr marL="54864" marR="54864" anchor="ctr">
                    <a:solidFill>
                      <a:srgbClr val="FFFFFF"/>
                    </a:solidFill>
                  </a:tcPr>
                </a:tc>
              </a:tr>
              <a:tr h="462426">
                <a:tc>
                  <a:txBody>
                    <a:bodyPr/>
                    <a:lstStyle/>
                    <a:p>
                      <a:pPr>
                        <a:spcAft>
                          <a:spcPts val="0"/>
                        </a:spcAft>
                      </a:pPr>
                      <a:r>
                        <a:rPr sz="1040">
                          <a:solidFill>
                            <a:srgbClr val="222222"/>
                          </a:solidFill>
                          <a:latin typeface="Arial"/>
                        </a:rPr>
                        <a:t>Mesh density, target geometry, and exact contrasts</a:t>
                      </a:r>
                    </a:p>
                  </a:txBody>
                  <a:tcPr marL="54864" marR="54864" anchor="ctr">
                    <a:solidFill>
                      <a:srgbClr val="F7F1F3"/>
                    </a:solidFill>
                  </a:tcPr>
                </a:tc>
                <a:tc>
                  <a:txBody>
                    <a:bodyPr/>
                    <a:lstStyle/>
                    <a:p>
                      <a:pPr>
                        <a:spcAft>
                          <a:spcPts val="0"/>
                        </a:spcAft>
                      </a:pPr>
                      <a:r>
                        <a:rPr sz="1040">
                          <a:solidFill>
                            <a:srgbClr val="222222"/>
                          </a:solidFill>
                          <a:latin typeface="Arial"/>
                        </a:rPr>
                        <a:t>Not fixed by these papers or CN0565 Fig. 14</a:t>
                      </a:r>
                    </a:p>
                  </a:txBody>
                  <a:tcPr marL="54864" marR="54864" anchor="ctr">
                    <a:solidFill>
                      <a:srgbClr val="F7F1F3"/>
                    </a:solidFill>
                  </a:tcPr>
                </a:tc>
                <a:tc>
                  <a:txBody>
                    <a:bodyPr/>
                    <a:lstStyle/>
                    <a:p>
                      <a:pPr>
                        <a:spcAft>
                          <a:spcPts val="0"/>
                        </a:spcAft>
                      </a:pPr>
                      <a:r>
                        <a:rPr sz="1040">
                          <a:solidFill>
                            <a:srgbClr val="222222"/>
                          </a:solidFill>
                          <a:latin typeface="Arial"/>
                        </a:rPr>
                        <a:t>h0=0.08; r=0.12R; selected positions and ratios</a:t>
                      </a:r>
                    </a:p>
                  </a:txBody>
                  <a:tcPr marL="54864" marR="54864" anchor="ctr">
                    <a:solidFill>
                      <a:srgbClr val="F7F1F3"/>
                    </a:solidFill>
                  </a:tcPr>
                </a:tc>
              </a:tr>
            </a:tbl>
          </a:graphicData>
        </a:graphic>
      </p:graphicFrame>
      <p:sp>
        <p:nvSpPr>
          <p:cNvPr id="6" name="TextBox 5"/>
          <p:cNvSpPr txBox="1"/>
          <p:nvPr/>
        </p:nvSpPr>
        <p:spPr>
          <a:xfrm>
            <a:off x="713232" y="4114800"/>
            <a:ext cx="7726679" cy="292608"/>
          </a:xfrm>
          <a:prstGeom prst="rect">
            <a:avLst/>
          </a:prstGeom>
          <a:noFill/>
        </p:spPr>
        <p:txBody>
          <a:bodyPr wrap="square" anchor="t" lIns="0" rIns="0" tIns="0" bIns="0">
            <a:spAutoFit/>
          </a:bodyPr>
          <a:lstStyle/>
          <a:p>
            <a:pPr algn="ctr">
              <a:spcAft>
                <a:spcPts val="0"/>
              </a:spcAft>
            </a:pPr>
            <a:r>
              <a:rPr sz="1330" b="1">
                <a:solidFill>
                  <a:srgbClr val="711F3B"/>
                </a:solidFill>
                <a:latin typeface="Arial"/>
              </a:rPr>
              <a:t>A paper can justify the model or trade-off. It usually does not prove one parameter value is universally optimal for this hardware and medium.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400" b="1">
                <a:solidFill>
                  <a:srgbClr val="711F3B"/>
                </a:solidFill>
                <a:latin typeface="Arial"/>
              </a:rPr>
              <a:t>Next: Validate the CN0565 Measurement Chain</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34</a:t>
            </a:r>
          </a:p>
        </p:txBody>
      </p:sp>
      <p:sp>
        <p:nvSpPr>
          <p:cNvPr id="5" name="Rounded Rectangle 4"/>
          <p:cNvSpPr/>
          <p:nvPr/>
        </p:nvSpPr>
        <p:spPr>
          <a:xfrm>
            <a:off x="384048" y="932688"/>
            <a:ext cx="1874519"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650" b="1">
                <a:solidFill>
                  <a:srgbClr val="FFFFFF"/>
                </a:solidFill>
                <a:latin typeface="Arial"/>
              </a:rPr>
              <a:t>1. Electrical load</a:t>
            </a:r>
          </a:p>
        </p:txBody>
      </p:sp>
      <p:sp>
        <p:nvSpPr>
          <p:cNvPr id="6" name="Rounded Rectangle 5"/>
          <p:cNvSpPr/>
          <p:nvPr/>
        </p:nvSpPr>
        <p:spPr>
          <a:xfrm>
            <a:off x="384048" y="1481328"/>
            <a:ext cx="1874519" cy="148132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20" b="0">
                <a:solidFill>
                  <a:srgbClr val="222222"/>
                </a:solidFill>
                <a:latin typeface="Arial"/>
              </a:rPr>
              <a:t>Known resistors / RC network
Check channel order, gain, repeatability</a:t>
            </a:r>
          </a:p>
        </p:txBody>
      </p:sp>
      <p:sp>
        <p:nvSpPr>
          <p:cNvPr id="7" name="Right Arrow 6"/>
          <p:cNvSpPr/>
          <p:nvPr/>
        </p:nvSpPr>
        <p:spPr>
          <a:xfrm>
            <a:off x="2295144" y="2093976"/>
            <a:ext cx="228600" cy="182880"/>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69464" y="932688"/>
            <a:ext cx="1874519"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650" b="1">
                <a:solidFill>
                  <a:srgbClr val="FFFFFF"/>
                </a:solidFill>
                <a:latin typeface="Arial"/>
              </a:rPr>
              <a:t>2. Homogeneous saline tank</a:t>
            </a:r>
          </a:p>
        </p:txBody>
      </p:sp>
      <p:sp>
        <p:nvSpPr>
          <p:cNvPr id="9" name="Rounded Rectangle 8"/>
          <p:cNvSpPr/>
          <p:nvPr/>
        </p:nvSpPr>
        <p:spPr>
          <a:xfrm>
            <a:off x="2569464" y="1481328"/>
            <a:ext cx="1874519" cy="148132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20" b="0">
                <a:solidFill>
                  <a:srgbClr val="222222"/>
                </a:solidFill>
                <a:latin typeface="Arial"/>
              </a:rPr>
              <a:t>Stable conductive medium
Measure baseline, drift, and noise</a:t>
            </a:r>
          </a:p>
        </p:txBody>
      </p:sp>
      <p:sp>
        <p:nvSpPr>
          <p:cNvPr id="10" name="Right Arrow 9"/>
          <p:cNvSpPr/>
          <p:nvPr/>
        </p:nvSpPr>
        <p:spPr>
          <a:xfrm>
            <a:off x="4480560" y="2093976"/>
            <a:ext cx="228600" cy="182880"/>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54880" y="932688"/>
            <a:ext cx="1874519"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650" b="1">
                <a:solidFill>
                  <a:srgbClr val="FFFFFF"/>
                </a:solidFill>
                <a:latin typeface="Arial"/>
              </a:rPr>
              <a:t>3. Known inclusions</a:t>
            </a:r>
          </a:p>
        </p:txBody>
      </p:sp>
      <p:sp>
        <p:nvSpPr>
          <p:cNvPr id="12" name="Rounded Rectangle 11"/>
          <p:cNvSpPr/>
          <p:nvPr/>
        </p:nvSpPr>
        <p:spPr>
          <a:xfrm>
            <a:off x="4754880" y="1481328"/>
            <a:ext cx="1874519" cy="148132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20" b="0">
                <a:solidFill>
                  <a:srgbClr val="222222"/>
                </a:solidFill>
                <a:latin typeface="Arial"/>
              </a:rPr>
              <a:t>Move conductive and resistive objects
Compare position and contrast</a:t>
            </a:r>
          </a:p>
        </p:txBody>
      </p:sp>
      <p:sp>
        <p:nvSpPr>
          <p:cNvPr id="13" name="Right Arrow 12"/>
          <p:cNvSpPr/>
          <p:nvPr/>
        </p:nvSpPr>
        <p:spPr>
          <a:xfrm>
            <a:off x="6665976" y="2093976"/>
            <a:ext cx="228600" cy="182880"/>
          </a:xfrm>
          <a:prstGeom prst="rightArrow">
            <a:avLst/>
          </a:prstGeom>
          <a:solidFill>
            <a:srgbClr val="71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40296" y="932688"/>
            <a:ext cx="1874519" cy="420624"/>
          </a:xfrm>
          <a:prstGeom prst="roundRect">
            <a:avLst/>
          </a:prstGeom>
          <a:solidFill>
            <a:srgbClr val="711F3B"/>
          </a:solidFill>
          <a:ln w="12700">
            <a:solidFill>
              <a:srgbClr val="711F3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650" b="1">
                <a:solidFill>
                  <a:srgbClr val="FFFFFF"/>
                </a:solidFill>
                <a:latin typeface="Arial"/>
              </a:rPr>
              <a:t>4. Human study</a:t>
            </a:r>
          </a:p>
        </p:txBody>
      </p:sp>
      <p:sp>
        <p:nvSpPr>
          <p:cNvPr id="15" name="Rounded Rectangle 14"/>
          <p:cNvSpPr/>
          <p:nvPr/>
        </p:nvSpPr>
        <p:spPr>
          <a:xfrm>
            <a:off x="6940296" y="1481328"/>
            <a:ext cx="1874519" cy="1481328"/>
          </a:xfrm>
          <a:prstGeom prst="roundRect">
            <a:avLst/>
          </a:prstGeom>
          <a:solidFill>
            <a:srgbClr val="F4F6F8"/>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0"/>
              </a:spcAft>
            </a:pPr>
            <a:r>
              <a:rPr sz="1320" b="0">
                <a:solidFill>
                  <a:srgbClr val="222222"/>
                </a:solidFill>
                <a:latin typeface="Arial"/>
              </a:rPr>
              <a:t>Only after safety, ethics, electrodes,
and performance are established</a:t>
            </a:r>
          </a:p>
        </p:txBody>
      </p:sp>
      <p:sp>
        <p:nvSpPr>
          <p:cNvPr id="16" name="Rounded Rectangle 15"/>
          <p:cNvSpPr/>
          <p:nvPr/>
        </p:nvSpPr>
        <p:spPr>
          <a:xfrm>
            <a:off x="713232" y="3273552"/>
            <a:ext cx="7735824" cy="896112"/>
          </a:xfrm>
          <a:prstGeom prst="roundRect">
            <a:avLst/>
          </a:prstGeom>
          <a:solidFill>
            <a:srgbClr val="F5EBEF"/>
          </a:solidFill>
          <a:ln w="12700">
            <a:solidFill>
              <a:srgbClr val="DEE3E7"/>
            </a:solidFill>
          </a:ln>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ctr">
              <a:lnSpc>
                <a:spcPct val="100000"/>
              </a:lnSpc>
              <a:spcAft>
                <a:spcPts val="300"/>
              </a:spcAft>
            </a:pPr>
            <a:r>
              <a:rPr sz="1550" b="1" i="0">
                <a:solidFill>
                  <a:srgbClr val="711F3B"/>
                </a:solidFill>
                <a:latin typeface="Arial"/>
              </a:rPr>
              <a:t>A Petri dish or saline tank is the correct next medium test—not yet a human test.</a:t>
            </a:r>
          </a:p>
          <a:p>
            <a:pPr algn="ctr">
              <a:lnSpc>
                <a:spcPct val="100000"/>
              </a:lnSpc>
              <a:spcAft>
                <a:spcPts val="500"/>
              </a:spcAft>
            </a:pPr>
            <a:r>
              <a:rPr sz="1220" b="0" i="0">
                <a:solidFill>
                  <a:srgbClr val="222222"/>
                </a:solidFill>
                <a:latin typeface="Arial"/>
              </a:rPr>
              <a:t>It exposes electrode, contact, switching, noise, amplitude, and model errors that simulation cannot test.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65760" y="54864"/>
            <a:ext cx="8275320" cy="502920"/>
          </a:xfrm>
        </p:spPr>
        <p:txBody>
          <a:bodyPr lIns="0" rIns="0" tIns="0" bIns="0" wrap="none"/>
          <a:lstStyle/>
          <a:p>
            <a:pPr algn="l"/>
            <a:r>
              <a:rPr sz="2600" b="1">
                <a:solidFill>
                  <a:srgbClr val="711F3B"/>
                </a:solidFill>
                <a:latin typeface="Arial"/>
              </a:rPr>
              <a:t>References</a:t>
            </a:r>
          </a:p>
        </p:txBody>
      </p:sp>
      <p:sp>
        <p:nvSpPr>
          <p:cNvPr id="4" name="TextBox 3"/>
          <p:cNvSpPr txBox="1"/>
          <p:nvPr/>
        </p:nvSpPr>
        <p:spPr>
          <a:xfrm>
            <a:off x="8394192" y="4754880"/>
            <a:ext cx="384048" cy="182880"/>
          </a:xfrm>
          <a:prstGeom prst="rect">
            <a:avLst/>
          </a:prstGeom>
          <a:noFill/>
        </p:spPr>
        <p:txBody>
          <a:bodyPr wrap="square" anchor="t" lIns="0" rIns="0" tIns="0" bIns="0">
            <a:spAutoFit/>
          </a:bodyPr>
          <a:lstStyle/>
          <a:p>
            <a:pPr algn="r">
              <a:spcAft>
                <a:spcPts val="0"/>
              </a:spcAft>
            </a:pPr>
            <a:r>
              <a:rPr sz="900" b="0">
                <a:solidFill>
                  <a:srgbClr val="5C5C5C"/>
                </a:solidFill>
                <a:latin typeface="Arial"/>
              </a:rPr>
              <a:t>35</a:t>
            </a:r>
          </a:p>
        </p:txBody>
      </p:sp>
      <p:sp>
        <p:nvSpPr>
          <p:cNvPr id="5" name="Rectangle 4"/>
          <p:cNvSpPr/>
          <p:nvPr/>
        </p:nvSpPr>
        <p:spPr>
          <a:xfrm>
            <a:off x="530352" y="804672"/>
            <a:ext cx="8065008" cy="3611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8288" rIns="18288" tIns="18288" bIns="18288"/>
          <a:lstStyle/>
          <a:p>
            <a:pPr algn="l">
              <a:lnSpc>
                <a:spcPct val="100000"/>
              </a:lnSpc>
              <a:spcAft>
                <a:spcPts val="1400"/>
              </a:spcAft>
            </a:pPr>
            <a:r>
              <a:rPr sz="1500" b="1" i="0">
                <a:solidFill>
                  <a:srgbClr val="222222"/>
                </a:solidFill>
                <a:latin typeface="Arial"/>
              </a:rPr>
              <a:t>[1] B. Liu et al., “pyEIT: A Python Based Framework for Electrical Impedance Tomography,” SoftwareX 7 (2018), 304-308.</a:t>
            </a:r>
          </a:p>
          <a:p>
            <a:pPr algn="l">
              <a:lnSpc>
                <a:spcPct val="100000"/>
              </a:lnSpc>
              <a:spcAft>
                <a:spcPts val="1400"/>
              </a:spcAft>
            </a:pPr>
            <a:r>
              <a:rPr sz="1500" b="1" i="0">
                <a:solidFill>
                  <a:srgbClr val="222222"/>
                </a:solidFill>
                <a:latin typeface="Arial"/>
              </a:rPr>
              <a:t>[2] A. Adler et al., “Temporal Image Reconstruction in Electrical Impedance Tomography,” Physiological Measurement 28 (2007), S1-S11.</a:t>
            </a:r>
          </a:p>
          <a:p>
            <a:pPr algn="l">
              <a:lnSpc>
                <a:spcPct val="100000"/>
              </a:lnSpc>
              <a:spcAft>
                <a:spcPts val="1400"/>
              </a:spcAft>
            </a:pPr>
            <a:r>
              <a:rPr sz="1500" b="1" i="0">
                <a:solidFill>
                  <a:srgbClr val="222222"/>
                </a:solidFill>
                <a:latin typeface="Arial"/>
              </a:rPr>
              <a:t>[3] A. Adler et al., “GREIT: A Unified Approach to 2D Linear EIT Reconstruction of Lung Images,” Physiological Measurement 30 (2009), S35-S55.</a:t>
            </a:r>
          </a:p>
          <a:p>
            <a:pPr algn="l">
              <a:lnSpc>
                <a:spcPct val="100000"/>
              </a:lnSpc>
              <a:spcAft>
                <a:spcPts val="1400"/>
              </a:spcAft>
            </a:pPr>
            <a:r>
              <a:rPr sz="1500" b="1" i="0">
                <a:solidFill>
                  <a:srgbClr val="222222"/>
                </a:solidFill>
                <a:latin typeface="Arial"/>
              </a:rPr>
              <a:t>[4] Analog Devices, “CN0565: Electrical Impedance Tomography Measurement System,” Rev. A, Figure 14.</a:t>
            </a:r>
          </a:p>
          <a:p>
            <a:pPr algn="l">
              <a:lnSpc>
                <a:spcPct val="100000"/>
              </a:lnSpc>
              <a:spcAft>
                <a:spcPts val="500"/>
              </a:spcAft>
            </a:pPr>
            <a:r>
              <a:rPr sz="1500" b="1" i="0">
                <a:solidFill>
                  <a:srgbClr val="222222"/>
                </a:solidFill>
                <a:latin typeface="Arial"/>
              </a:rPr>
              <a:t>[5] pyEIT 1.2.4 source used by scripts/eit_sim_playground.py for BP, JAC, GREIT, protocol, FEM, and mesh configuration.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