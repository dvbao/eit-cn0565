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27"/>
  </p:notesMasterIdLst>
  <p:handoutMasterIdLst>
    <p:handoutMasterId r:id="rId28"/>
  </p:handoutMasterIdLst>
  <p:sldIdLst>
    <p:sldId id="273" r:id="rId5"/>
    <p:sldId id="276" r:id="rId6"/>
    <p:sldId id="620" r:id="rId7"/>
    <p:sldId id="647" r:id="rId8"/>
    <p:sldId id="663" r:id="rId9"/>
    <p:sldId id="666" r:id="rId10"/>
    <p:sldId id="667" r:id="rId11"/>
    <p:sldId id="668" r:id="rId12"/>
    <p:sldId id="669" r:id="rId13"/>
    <p:sldId id="670" r:id="rId14"/>
    <p:sldId id="677" r:id="rId33"/>
    <p:sldId id="678" r:id="rId34"/>
    <p:sldId id="679" r:id="rId35"/>
    <p:sldId id="680" r:id="rId36"/>
    <p:sldId id="681" r:id="rId37"/>
    <p:sldId id="682" r:id="rId38"/>
    <p:sldId id="664" r:id="rId15"/>
    <p:sldId id="665" r:id="rId16"/>
    <p:sldId id="671" r:id="rId17"/>
    <p:sldId id="672" r:id="rId18"/>
    <p:sldId id="674" r:id="rId19"/>
    <p:sldId id="673" r:id="rId20"/>
    <p:sldId id="675" r:id="rId21"/>
    <p:sldId id="676" r:id="rId22"/>
    <p:sldId id="257" r:id="rId23"/>
    <p:sldId id="258" r:id="rId24"/>
    <p:sldId id="275" r:id="rId25"/>
    <p:sldId id="266" r:id="rId2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EA9E"/>
    <a:srgbClr val="72243D"/>
    <a:srgbClr val="6F263D"/>
    <a:srgbClr val="70002E"/>
    <a:srgbClr val="ED8B00"/>
    <a:srgbClr val="641E34"/>
    <a:srgbClr val="1C3D34"/>
    <a:srgbClr val="E17C00"/>
    <a:srgbClr val="FF4438"/>
    <a:srgbClr val="BBDD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75" autoAdjust="0"/>
    <p:restoredTop sz="88215" autoAdjust="0"/>
  </p:normalViewPr>
  <p:slideViewPr>
    <p:cSldViewPr>
      <p:cViewPr>
        <p:scale>
          <a:sx n="140" d="100"/>
          <a:sy n="140" d="100"/>
        </p:scale>
        <p:origin x="1152" y="280"/>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Reviews</c:v>
          </c:tx>
          <c:spPr>
            <a:solidFill>
              <a:srgbClr val="72243D"/>
            </a:solidFill>
          </c:spPr>
          <c:invertIfNegative val="1"/>
          <c:dPt>
            <c:idx val="0"/>
            <c:invertIfNegative val="0"/>
            <c:bubble3D val="0"/>
            <c:spPr>
              <a:solidFill>
                <a:srgbClr val="C9BEB7"/>
              </a:solidFill>
            </c:spPr>
            <c:extLst>
              <c:ext xmlns:c16="http://schemas.microsoft.com/office/drawing/2014/chart" uri="{C3380CC4-5D6E-409C-BE32-E72D297353CC}">
                <c16:uniqueId val="{00000001-8432-B546-BBA6-9A66BDE9AEC4}"/>
              </c:ext>
            </c:extLst>
          </c:dPt>
          <c:dPt>
            <c:idx val="1"/>
            <c:invertIfNegative val="0"/>
            <c:bubble3D val="0"/>
            <c:spPr>
              <a:solidFill>
                <a:srgbClr val="AFAFAF"/>
              </a:solidFill>
            </c:spPr>
            <c:extLst>
              <c:ext xmlns:c16="http://schemas.microsoft.com/office/drawing/2014/chart" uri="{C3380CC4-5D6E-409C-BE32-E72D297353CC}">
                <c16:uniqueId val="{00000003-8432-B546-BBA6-9A66BDE9AEC4}"/>
              </c:ext>
            </c:extLst>
          </c:dPt>
          <c:dPt>
            <c:idx val="2"/>
            <c:invertIfNegative val="0"/>
            <c:bubble3D val="0"/>
            <c:spPr>
              <a:solidFill>
                <a:srgbClr val="A78492"/>
              </a:solidFill>
            </c:spPr>
            <c:extLst>
              <c:ext xmlns:c16="http://schemas.microsoft.com/office/drawing/2014/chart" uri="{C3380CC4-5D6E-409C-BE32-E72D297353CC}">
                <c16:uniqueId val="{00000005-8432-B546-BBA6-9A66BDE9AEC4}"/>
              </c:ext>
            </c:extLst>
          </c:dPt>
          <c:dPt>
            <c:idx val="3"/>
            <c:invertIfNegative val="0"/>
            <c:bubble3D val="0"/>
            <c:spPr>
              <a:solidFill>
                <a:srgbClr val="E17C00"/>
              </a:solidFill>
            </c:spPr>
            <c:extLst>
              <c:ext xmlns:c16="http://schemas.microsoft.com/office/drawing/2014/chart" uri="{C3380CC4-5D6E-409C-BE32-E72D297353CC}">
                <c16:uniqueId val="{00000007-8432-B546-BBA6-9A66BDE9AEC4}"/>
              </c:ext>
            </c:extLst>
          </c:dPt>
          <c:dPt>
            <c:idx val="4"/>
            <c:invertIfNegative val="0"/>
            <c:bubble3D val="0"/>
            <c:extLst>
              <c:ext xmlns:c16="http://schemas.microsoft.com/office/drawing/2014/chart" uri="{C3380CC4-5D6E-409C-BE32-E72D297353CC}">
                <c16:uniqueId val="{00000008-8432-B546-BBA6-9A66BDE9AEC4}"/>
              </c:ext>
            </c:extLst>
          </c:dPt>
          <c:dLbls>
            <c:spPr>
              <a:noFill/>
              <a:ln>
                <a:noFill/>
              </a:ln>
              <a:effectLst/>
            </c:spPr>
            <c:txPr>
              <a:bodyPr anchorCtr="1"/>
              <a:lstStyle/>
              <a:p>
                <a:pPr>
                  <a:defRPr sz="975" b="1">
                    <a:solidFill>
                      <a:srgbClr val="303030"/>
                    </a:solidFill>
                    <a:latin typeface="Arial"/>
                    <a:ea typeface="Arial"/>
                    <a:cs typeface="Arial"/>
                  </a:defRPr>
                </a:pPr>
                <a:endParaRPr lang="en-V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Foundational source</c:v>
                </c:pt>
                <c:pt idx="1">
                  <c:v>Adjacent topical review</c:v>
                </c:pt>
                <c:pt idx="2">
                  <c:v>Structural analog</c:v>
                </c:pt>
                <c:pt idx="3">
                  <c:v>Narrow direct predecessor</c:v>
                </c:pt>
                <c:pt idx="4">
                  <c:v>Direct competitor</c:v>
                </c:pt>
              </c:strCache>
            </c:strRef>
          </c:cat>
          <c:val>
            <c:numRef>
              <c:f>'Chart Data'!$B$2:$B$6</c:f>
              <c:numCache>
                <c:formatCode>General</c:formatCode>
                <c:ptCount val="5"/>
                <c:pt idx="0">
                  <c:v>1</c:v>
                </c:pt>
                <c:pt idx="1">
                  <c:v>16</c:v>
                </c:pt>
                <c:pt idx="2">
                  <c:v>6</c:v>
                </c:pt>
                <c:pt idx="3">
                  <c:v>12</c:v>
                </c:pt>
                <c:pt idx="4">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9-8432-B546-BBA6-9A66BDE9AEC4}"/>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w="9525">
              <a:solidFill>
                <a:srgbClr val="ECE9E7"/>
              </a:solidFill>
              <a:prstDash val="solid"/>
            </a:ln>
          </c:spPr>
        </c:majorGridlines>
        <c:numFmt formatCode="General" sourceLinked="1"/>
        <c:majorTickMark val="none"/>
        <c:minorTickMark val="none"/>
        <c:tickLblPos val="nextTo"/>
        <c:spPr>
          <a:ln w="9525">
            <a:solidFill>
              <a:srgbClr val="D9D5D3"/>
            </a:solidFill>
            <a:prstDash val="solid"/>
          </a:ln>
        </c:spPr>
        <c:txPr>
          <a:bodyPr anchorCtr="1"/>
          <a:lstStyle/>
          <a:p>
            <a:pPr>
              <a:defRPr sz="788">
                <a:solidFill>
                  <a:srgbClr val="666666"/>
                </a:solidFill>
                <a:latin typeface="Arial"/>
                <a:ea typeface="Arial"/>
                <a:cs typeface="Arial"/>
              </a:defRPr>
            </a:pPr>
            <a:endParaRPr lang="en-VN"/>
          </a:p>
        </c:txPr>
        <c:crossAx val="48672768"/>
        <c:crosses val="autoZero"/>
        <c:auto val="1"/>
        <c:lblAlgn val="ctr"/>
        <c:lblOffset val="100"/>
        <c:noMultiLvlLbl val="1"/>
      </c:catAx>
      <c:valAx>
        <c:axId val="48672768"/>
        <c:scaling>
          <c:orientation val="minMax"/>
        </c:scaling>
        <c:delete val="0"/>
        <c:axPos val="b"/>
        <c:numFmt formatCode="General" sourceLinked="1"/>
        <c:majorTickMark val="none"/>
        <c:minorTickMark val="none"/>
        <c:tickLblPos val="nextTo"/>
        <c:spPr>
          <a:ln w="9525">
            <a:solidFill>
              <a:srgbClr val="D9D5D3"/>
            </a:solidFill>
            <a:prstDash val="solid"/>
          </a:ln>
        </c:spPr>
        <c:txPr>
          <a:bodyPr anchorCtr="1"/>
          <a:lstStyle/>
          <a:p>
            <a:pPr>
              <a:defRPr sz="900">
                <a:solidFill>
                  <a:srgbClr val="303030"/>
                </a:solidFill>
                <a:latin typeface="Arial"/>
                <a:ea typeface="Arial"/>
                <a:cs typeface="Arial"/>
              </a:defRPr>
            </a:pPr>
            <a:endParaRPr lang="en-VN"/>
          </a:p>
        </c:txPr>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Sheet1!$A$2:$A$3</c:f>
              <c:strCache>
                <c:ptCount val="2"/>
                <c:pt idx="0">
                  <c:v>Individual Studies</c:v>
                </c:pt>
                <c:pt idx="1">
                  <c:v>Existing Reviews</c:v>
                </c:pt>
              </c:strCache>
            </c:strRef>
          </c:cat>
          <c:val>
            <c:numRef>
              <c:f>Sheet1!$B$2:$B$3</c:f>
              <c:numCache>
                <c:formatCode>General</c:formatCode>
                <c:ptCount val="2"/>
                <c:pt idx="0">
                  <c:v>49</c:v>
                </c:pt>
                <c:pt idx="1">
                  <c:v>35</c:v>
                </c:pt>
              </c:numCache>
            </c:numRef>
          </c:val>
        </c:ser>
        <c:ser>
          <c:idx val="1"/>
          <c:order val="1"/>
          <c:tx>
            <c:strRef>
              <c:f>Sheet1!$C$1</c:f>
              <c:strCache>
                <c:ptCount val="1"/>
                <c:pt idx="0">
                  <c:v>Week 6 (Sep 27)</c:v>
                </c:pt>
              </c:strCache>
            </c:strRef>
          </c:tx>
          <c:spPr>
            <a:solidFill>
              <a:srgbClr val="72243D"/>
            </a:solidFill>
          </c:spPr>
          <c:cat>
            <c:strRef>
              <c:f>Sheet1!$A$2:$A$3</c:f>
              <c:strCache>
                <c:ptCount val="2"/>
                <c:pt idx="0">
                  <c:v>Individual Studies</c:v>
                </c:pt>
                <c:pt idx="1">
                  <c:v>Existing Reviews</c:v>
                </c:pt>
              </c:strCache>
            </c:strRef>
          </c:cat>
          <c:val>
            <c:numRef>
              <c:f>Sheet1!$C$2:$C$3</c:f>
              <c:numCache>
                <c:formatCode>General</c:formatCode>
                <c:ptCount val="2"/>
                <c:pt idx="0">
                  <c:v>123</c:v>
                </c:pt>
                <c:pt idx="1">
                  <c:v>37</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Sheet1!$A$2:$A$6</c:f>
              <c:strCache>
                <c:ptCount val="5"/>
                <c:pt idx="0">
                  <c:v>Respiration</c:v>
                </c:pt>
                <c:pt idx="1">
                  <c:v>Phonation</c:v>
                </c:pt>
                <c:pt idx="2">
                  <c:v>Resonance</c:v>
                </c:pt>
                <c:pt idx="3">
                  <c:v>Articulation</c:v>
                </c:pt>
                <c:pt idx="4">
                  <c:v>Prosody</c:v>
                </c:pt>
              </c:strCache>
            </c:strRef>
          </c:cat>
          <c:val>
            <c:numRef>
              <c:f>Sheet1!$B$2:$B$6</c:f>
              <c:numCache>
                <c:formatCode>General</c:formatCode>
                <c:ptCount val="5"/>
                <c:pt idx="0">
                  <c:v>15</c:v>
                </c:pt>
                <c:pt idx="1">
                  <c:v>25</c:v>
                </c:pt>
                <c:pt idx="2">
                  <c:v>9</c:v>
                </c:pt>
                <c:pt idx="3">
                  <c:v>41</c:v>
                </c:pt>
                <c:pt idx="4">
                  <c:v>18</c:v>
                </c:pt>
              </c:numCache>
            </c:numRef>
          </c:val>
        </c:ser>
        <c:ser>
          <c:idx val="1"/>
          <c:order val="1"/>
          <c:tx>
            <c:strRef>
              <c:f>Sheet1!$C$1</c:f>
              <c:strCache>
                <c:ptCount val="1"/>
                <c:pt idx="0">
                  <c:v>Week 6 (Sep 27)</c:v>
                </c:pt>
              </c:strCache>
            </c:strRef>
          </c:tx>
          <c:spPr>
            <a:solidFill>
              <a:srgbClr val="72243D"/>
            </a:solidFill>
          </c:spPr>
          <c:cat>
            <c:strRef>
              <c:f>Sheet1!$A$2:$A$6</c:f>
              <c:strCache>
                <c:ptCount val="5"/>
                <c:pt idx="0">
                  <c:v>Respiration</c:v>
                </c:pt>
                <c:pt idx="1">
                  <c:v>Phonation</c:v>
                </c:pt>
                <c:pt idx="2">
                  <c:v>Resonance</c:v>
                </c:pt>
                <c:pt idx="3">
                  <c:v>Articulation</c:v>
                </c:pt>
                <c:pt idx="4">
                  <c:v>Prosody</c:v>
                </c:pt>
              </c:strCache>
            </c:strRef>
          </c:cat>
          <c:val>
            <c:numRef>
              <c:f>Sheet1!$C$2:$C$6</c:f>
              <c:numCache>
                <c:formatCode>General</c:formatCode>
                <c:ptCount val="5"/>
                <c:pt idx="0">
                  <c:v>24</c:v>
                </c:pt>
                <c:pt idx="1">
                  <c:v>51</c:v>
                </c:pt>
                <c:pt idx="2">
                  <c:v>20</c:v>
                </c:pt>
                <c:pt idx="3">
                  <c:v>92</c:v>
                </c:pt>
                <c:pt idx="4">
                  <c:v>22</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Sheet1!$B$2:$B$9</c:f>
              <c:numCache>
                <c:formatCode>General</c:formatCode>
                <c:ptCount val="8"/>
                <c:pt idx="0">
                  <c:v>65</c:v>
                </c:pt>
                <c:pt idx="1">
                  <c:v>12</c:v>
                </c:pt>
                <c:pt idx="2">
                  <c:v>4</c:v>
                </c:pt>
                <c:pt idx="3">
                  <c:v>4</c:v>
                </c:pt>
                <c:pt idx="4">
                  <c:v>4</c:v>
                </c:pt>
                <c:pt idx="5">
                  <c:v>1</c:v>
                </c:pt>
                <c:pt idx="6">
                  <c:v>10</c:v>
                </c:pt>
                <c:pt idx="7">
                  <c:v>8</c:v>
                </c:pt>
              </c:numCache>
            </c:numRef>
          </c:val>
        </c:ser>
        <c:ser>
          <c:idx val="1"/>
          <c:order val="1"/>
          <c:tx>
            <c:strRef>
              <c:f>Sheet1!$C$1</c:f>
              <c:strCache>
                <c:ptCount val="1"/>
                <c:pt idx="0">
                  <c:v>Week 6 (Sep 27)</c:v>
                </c:pt>
              </c:strCache>
            </c:strRef>
          </c:tx>
          <c:spPr>
            <a:solidFill>
              <a:srgbClr val="72243D"/>
            </a:solidFill>
          </c:spPr>
          <c:cat>
            <c:strRef>
              <c:f>Sheet1!$A$2:$A$9</c:f>
              <c:strCache>
                <c:ptCount val="8"/>
                <c:pt idx="0">
                  <c:v>Acoustic</c:v>
                </c:pt>
                <c:pt idx="1">
                  <c:v>Aerodynamic</c:v>
                </c:pt>
                <c:pt idx="2">
                  <c:v>EGG</c:v>
                </c:pt>
                <c:pt idx="3">
                  <c:v>Resp.
motion</c:v>
                </c:pt>
                <c:pt idx="4">
                  <c:v>EPG</c:v>
                </c:pt>
                <c:pt idx="5">
                  <c:v>UTI</c:v>
                </c:pt>
                <c:pt idx="6">
                  <c:v>EMA/kin.</c:v>
                </c:pt>
                <c:pt idx="7">
                  <c:v>sEMG</c:v>
                </c:pt>
              </c:strCache>
            </c:strRef>
          </c:cat>
          <c:val>
            <c:numRef>
              <c:f>Sheet1!$C$2:$C$9</c:f>
              <c:numCache>
                <c:formatCode>General</c:formatCode>
                <c:ptCount val="8"/>
                <c:pt idx="0">
                  <c:v>123</c:v>
                </c:pt>
                <c:pt idx="1">
                  <c:v>16</c:v>
                </c:pt>
                <c:pt idx="2">
                  <c:v>8</c:v>
                </c:pt>
                <c:pt idx="3">
                  <c:v>5</c:v>
                </c:pt>
                <c:pt idx="4">
                  <c:v>13</c:v>
                </c:pt>
                <c:pt idx="5">
                  <c:v>5</c:v>
                </c:pt>
                <c:pt idx="6">
                  <c:v>24</c:v>
                </c:pt>
                <c:pt idx="7">
                  <c:v>15</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Week 5 (Sep 20)</c:v>
                </c:pt>
              </c:strCache>
            </c:strRef>
          </c:tx>
          <c:spPr>
            <a:solidFill>
              <a:srgbClr val="A8A299"/>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Sheet1!$B$2:$B$7</c:f>
              <c:numCache>
                <c:formatCode>General</c:formatCode>
                <c:ptCount val="6"/>
                <c:pt idx="0">
                  <c:v>35</c:v>
                </c:pt>
                <c:pt idx="1">
                  <c:v>16</c:v>
                </c:pt>
                <c:pt idx="2">
                  <c:v>4</c:v>
                </c:pt>
                <c:pt idx="3">
                  <c:v>4</c:v>
                </c:pt>
                <c:pt idx="4">
                  <c:v>4</c:v>
                </c:pt>
                <c:pt idx="5">
                  <c:v>5</c:v>
                </c:pt>
              </c:numCache>
            </c:numRef>
          </c:val>
        </c:ser>
        <c:ser>
          <c:idx val="1"/>
          <c:order val="1"/>
          <c:tx>
            <c:strRef>
              <c:f>Sheet1!$C$1</c:f>
              <c:strCache>
                <c:ptCount val="1"/>
                <c:pt idx="0">
                  <c:v>Week 6 (Sep 27)</c:v>
                </c:pt>
              </c:strCache>
            </c:strRef>
          </c:tx>
          <c:spPr>
            <a:solidFill>
              <a:srgbClr val="72243D"/>
            </a:solidFill>
          </c:spPr>
          <c:cat>
            <c:strRef>
              <c:f>Sheet1!$A$2:$A$7</c:f>
              <c:strCache>
                <c:ptCount val="6"/>
                <c:pt idx="0">
                  <c:v>Parkinson</c:v>
                </c:pt>
                <c:pt idx="1">
                  <c:v>ALS/MND</c:v>
                </c:pt>
                <c:pt idx="2">
                  <c:v>Stroke</c:v>
                </c:pt>
                <c:pt idx="3">
                  <c:v>Mult.
sclerosis</c:v>
                </c:pt>
                <c:pt idx="4">
                  <c:v>Ataxia/
cerebellar</c:v>
                </c:pt>
                <c:pt idx="5">
                  <c:v>TBI/
concussion</c:v>
                </c:pt>
              </c:strCache>
            </c:strRef>
          </c:cat>
          <c:val>
            <c:numRef>
              <c:f>Sheet1!$C$2:$C$7</c:f>
              <c:numCache>
                <c:formatCode>General</c:formatCode>
                <c:ptCount val="6"/>
                <c:pt idx="0">
                  <c:v>61</c:v>
                </c:pt>
                <c:pt idx="1">
                  <c:v>32</c:v>
                </c:pt>
                <c:pt idx="2">
                  <c:v>28</c:v>
                </c:pt>
                <c:pt idx="3">
                  <c:v>6</c:v>
                </c:pt>
                <c:pt idx="4">
                  <c:v>14</c:v>
                </c:pt>
                <c:pt idx="5">
                  <c:v>3</c:v>
                </c:pt>
              </c:numCache>
            </c:numRef>
          </c:val>
        </c:ser>
        <c:dLbls>
          <c:numFmt formatCode="0" sourceLinked="0"/>
          <c:txPr>
            <a:bodyPr/>
            <a:lstStyle/>
            <a:p>
              <a:pPr>
                <a:defRPr sz="850" b="1">
                  <a:solidFill>
                    <a:srgbClr val="303030"/>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DEDEE0"/>
            </a:solidFill>
          </a:ln>
        </c:spPr>
        <c:txPr>
          <a:bodyPr/>
          <a:lstStyle/>
          <a:p>
            <a:pPr>
              <a:defRPr sz="900">
                <a:solidFill>
                  <a:srgbClr val="303030"/>
                </a:solidFill>
                <a:latin typeface="Arial"/>
              </a:defRPr>
            </a:pPr>
          </a:p>
        </c:txPr>
        <c:crossAx val="-2113994440"/>
        <c:crosses val="autoZero"/>
        <c:auto val="1"/>
        <c:lblAlgn val="ctr"/>
        <c:lblOffset val="100"/>
        <c:noMultiLvlLbl val="0"/>
      </c:catAx>
      <c:valAx>
        <c:axId val="-2113994440"/>
        <c:scaling/>
        <c:delete val="0"/>
        <c:axPos val="l"/>
        <c:majorGridlines>
          <c:spPr>
            <a:ln w="6350">
              <a:solidFill>
                <a:srgbClr val="DEDEE0"/>
              </a:solidFill>
            </a:ln>
          </c:spPr>
        </c:majorGridlines>
        <c:majorTickMark val="out"/>
        <c:minorTickMark val="none"/>
        <c:tickLblPos val="nextTo"/>
        <c:spPr>
          <a:ln>
            <a:solidFill>
              <a:srgbClr val="DEDEE0"/>
            </a:solidFill>
          </a:ln>
        </c:spPr>
        <c:txPr>
          <a:bodyPr/>
          <a:lstStyle/>
          <a:p>
            <a:pPr>
              <a:defRPr sz="900">
                <a:solidFill>
                  <a:srgbClr val="7D7364"/>
                </a:solidFill>
              </a:defRPr>
            </a:pPr>
          </a:p>
        </c:txPr>
        <c:crossAx val="-2068027336"/>
        <c:crosses val="autoZero"/>
      </c:valAx>
    </c:plotArea>
    <c:legend>
      <c:legendPos val="b"/>
      <c:overlay val="0"/>
      <c:txPr>
        <a:bodyPr/>
        <a:lstStyle/>
        <a:p>
          <a:pPr>
            <a:defRPr sz="900">
              <a:solidFill>
                <a:srgbClr val="30303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7F6E61-B534-1E47-FE20-19EC2FEBBD2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203B174B-ADC5-78A5-442E-871C4BFED13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4F9E562-C011-ED4A-9FAC-7955ECB5061D}" type="datetimeFigureOut">
              <a:rPr lang="en-VN" smtClean="0"/>
              <a:t>20/9/26</a:t>
            </a:fld>
            <a:endParaRPr lang="en-VN"/>
          </a:p>
        </p:txBody>
      </p:sp>
      <p:sp>
        <p:nvSpPr>
          <p:cNvPr id="4" name="Footer Placeholder 3">
            <a:extLst>
              <a:ext uri="{FF2B5EF4-FFF2-40B4-BE49-F238E27FC236}">
                <a16:creationId xmlns:a16="http://schemas.microsoft.com/office/drawing/2014/main" id="{EEAC3209-1342-4E75-9E70-709500394C7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E10C3D73-DF14-C2F9-3F17-47D2DCC90B2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799A67-8819-CC4C-A3A5-1626612CE741}" type="slidenum">
              <a:rPr lang="en-VN" smtClean="0"/>
              <a:t>‹#›</a:t>
            </a:fld>
            <a:endParaRPr lang="en-VN"/>
          </a:p>
        </p:txBody>
      </p:sp>
    </p:spTree>
    <p:extLst>
      <p:ext uri="{BB962C8B-B14F-4D97-AF65-F5344CB8AC3E}">
        <p14:creationId xmlns:p14="http://schemas.microsoft.com/office/powerpoint/2010/main" val="4001362838"/>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70C50C-F46C-8A4B-8A41-6A6FBB958D92}" type="datetimeFigureOut">
              <a:rPr lang="en-US" smtClean="0"/>
              <a:t>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53D443-CBAC-934A-8506-FB4DF260D863}" type="slidenum">
              <a:rPr lang="en-US" smtClean="0"/>
              <a:t>‹#›</a:t>
            </a:fld>
            <a:endParaRPr lang="en-US"/>
          </a:p>
        </p:txBody>
      </p:sp>
    </p:spTree>
    <p:extLst>
      <p:ext uri="{BB962C8B-B14F-4D97-AF65-F5344CB8AC3E}">
        <p14:creationId xmlns:p14="http://schemas.microsoft.com/office/powerpoint/2010/main" val="756898537"/>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3153D443-CBAC-934A-8506-FB4DF260D863}" type="slidenum">
              <a:rPr lang="en-US" smtClean="0"/>
              <a:t>2</a:t>
            </a:fld>
            <a:endParaRPr lang="en-US"/>
          </a:p>
        </p:txBody>
      </p:sp>
    </p:spTree>
    <p:extLst>
      <p:ext uri="{BB962C8B-B14F-4D97-AF65-F5344CB8AC3E}">
        <p14:creationId xmlns:p14="http://schemas.microsoft.com/office/powerpoint/2010/main" val="3216679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6FE5-9D99-26A3-BD5E-0F2A6779AE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BCC945-B69F-85A2-0EA2-C54B044372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81AED-4E9E-724F-3F2E-84A0C621FD8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1080EC7-6179-7A1E-B69A-38C7E9D4DB6F}"/>
              </a:ext>
            </a:extLst>
          </p:cNvPr>
          <p:cNvSpPr>
            <a:spLocks noGrp="1"/>
          </p:cNvSpPr>
          <p:nvPr>
            <p:ph type="sldNum" sz="quarter" idx="5"/>
          </p:nvPr>
        </p:nvSpPr>
        <p:spPr/>
        <p:txBody>
          <a:bodyPr/>
          <a:lstStyle/>
          <a:p>
            <a:fld id="{3153D443-CBAC-934A-8506-FB4DF260D863}" type="slidenum">
              <a:rPr lang="en-US" smtClean="0"/>
              <a:t>4</a:t>
            </a:fld>
            <a:endParaRPr lang="en-US"/>
          </a:p>
        </p:txBody>
      </p:sp>
      <p:sp>
        <p:nvSpPr>
          <p:cNvPr id="5" name="Footer Placeholder 4">
            <a:extLst>
              <a:ext uri="{FF2B5EF4-FFF2-40B4-BE49-F238E27FC236}">
                <a16:creationId xmlns:a16="http://schemas.microsoft.com/office/drawing/2014/main" id="{45E853C3-D49D-C583-2C7D-FE4639021E91}"/>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852901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2A860-ADF8-47D8-C64B-9E26F52BD7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23F27E-BC51-2164-AFB5-FDB33F168C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59C8B-EA95-3CE4-A7FF-5B8C9A58F1D7}"/>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3068854F-B33B-2F81-7C99-48CA80308FDC}"/>
              </a:ext>
            </a:extLst>
          </p:cNvPr>
          <p:cNvSpPr>
            <a:spLocks noGrp="1"/>
          </p:cNvSpPr>
          <p:nvPr>
            <p:ph type="sldNum" sz="quarter" idx="5"/>
          </p:nvPr>
        </p:nvSpPr>
        <p:spPr/>
        <p:txBody>
          <a:bodyPr/>
          <a:lstStyle/>
          <a:p>
            <a:fld id="{3153D443-CBAC-934A-8506-FB4DF260D863}" type="slidenum">
              <a:rPr lang="en-US" smtClean="0"/>
              <a:t>5</a:t>
            </a:fld>
            <a:endParaRPr lang="en-US"/>
          </a:p>
        </p:txBody>
      </p:sp>
      <p:sp>
        <p:nvSpPr>
          <p:cNvPr id="5" name="Footer Placeholder 4">
            <a:extLst>
              <a:ext uri="{FF2B5EF4-FFF2-40B4-BE49-F238E27FC236}">
                <a16:creationId xmlns:a16="http://schemas.microsoft.com/office/drawing/2014/main" id="{0060BE4A-86D7-88AE-35F3-C1BE6E3DCA1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104986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87E82-C69F-F4B4-DA36-9CAA7FAFAE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C38A6-0EDB-6F3D-B672-E6626B4AA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58A7B-E065-6DD4-CBD3-24DA1D1A76A2}"/>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EA7C8503-37C2-51CA-3EDA-AC287A335641}"/>
              </a:ext>
            </a:extLst>
          </p:cNvPr>
          <p:cNvSpPr>
            <a:spLocks noGrp="1"/>
          </p:cNvSpPr>
          <p:nvPr>
            <p:ph type="sldNum" sz="quarter" idx="5"/>
          </p:nvPr>
        </p:nvSpPr>
        <p:spPr/>
        <p:txBody>
          <a:bodyPr/>
          <a:lstStyle/>
          <a:p>
            <a:fld id="{3153D443-CBAC-934A-8506-FB4DF260D863}" type="slidenum">
              <a:rPr lang="en-US" smtClean="0"/>
              <a:t>6</a:t>
            </a:fld>
            <a:endParaRPr lang="en-US"/>
          </a:p>
        </p:txBody>
      </p:sp>
      <p:sp>
        <p:nvSpPr>
          <p:cNvPr id="5" name="Footer Placeholder 4">
            <a:extLst>
              <a:ext uri="{FF2B5EF4-FFF2-40B4-BE49-F238E27FC236}">
                <a16:creationId xmlns:a16="http://schemas.microsoft.com/office/drawing/2014/main" id="{89834F61-F413-7D14-FF3B-862F353FF1B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2035375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D7641-CD57-B071-7E30-E09E60F7D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DC1844-027A-78FF-3091-7E6C3CCC4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3B2CE-D9B2-AEE9-1594-ED7438AB5404}"/>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394B388-A981-6B03-89F3-2F94106C3A71}"/>
              </a:ext>
            </a:extLst>
          </p:cNvPr>
          <p:cNvSpPr>
            <a:spLocks noGrp="1"/>
          </p:cNvSpPr>
          <p:nvPr>
            <p:ph type="sldNum" sz="quarter" idx="5"/>
          </p:nvPr>
        </p:nvSpPr>
        <p:spPr/>
        <p:txBody>
          <a:bodyPr/>
          <a:lstStyle/>
          <a:p>
            <a:fld id="{3153D443-CBAC-934A-8506-FB4DF260D863}" type="slidenum">
              <a:rPr lang="en-US" smtClean="0"/>
              <a:t>7</a:t>
            </a:fld>
            <a:endParaRPr lang="en-US"/>
          </a:p>
        </p:txBody>
      </p:sp>
      <p:sp>
        <p:nvSpPr>
          <p:cNvPr id="5" name="Footer Placeholder 4">
            <a:extLst>
              <a:ext uri="{FF2B5EF4-FFF2-40B4-BE49-F238E27FC236}">
                <a16:creationId xmlns:a16="http://schemas.microsoft.com/office/drawing/2014/main" id="{9143E25B-2EE6-F888-E640-8C46BB5A4604}"/>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716243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9FAB3-4FD1-D9EF-9A03-DFC2E76DB2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9991A2-A694-9A72-1F28-B70F2F540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AB588-A1C2-4E12-0D4C-1A1DC36754D8}"/>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6E652C7E-0D6C-5C15-22F1-5785C2E5CE2C}"/>
              </a:ext>
            </a:extLst>
          </p:cNvPr>
          <p:cNvSpPr>
            <a:spLocks noGrp="1"/>
          </p:cNvSpPr>
          <p:nvPr>
            <p:ph type="sldNum" sz="quarter" idx="5"/>
          </p:nvPr>
        </p:nvSpPr>
        <p:spPr/>
        <p:txBody>
          <a:bodyPr/>
          <a:lstStyle/>
          <a:p>
            <a:fld id="{3153D443-CBAC-934A-8506-FB4DF260D863}" type="slidenum">
              <a:rPr lang="en-US" smtClean="0"/>
              <a:t>8</a:t>
            </a:fld>
            <a:endParaRPr lang="en-US"/>
          </a:p>
        </p:txBody>
      </p:sp>
      <p:sp>
        <p:nvSpPr>
          <p:cNvPr id="5" name="Footer Placeholder 4">
            <a:extLst>
              <a:ext uri="{FF2B5EF4-FFF2-40B4-BE49-F238E27FC236}">
                <a16:creationId xmlns:a16="http://schemas.microsoft.com/office/drawing/2014/main" id="{54740EA6-B05E-F11A-5766-345EC37CBCF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812614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FA6BA-2906-0AFF-0C12-51BBC4311E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B72CB7-D577-C941-39C5-8B0B53E045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13FB3F-7B76-CDC9-B1AE-3BFC513F48C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12CBC1B1-1DFA-6BF2-320C-8BBD37DD5272}"/>
              </a:ext>
            </a:extLst>
          </p:cNvPr>
          <p:cNvSpPr>
            <a:spLocks noGrp="1"/>
          </p:cNvSpPr>
          <p:nvPr>
            <p:ph type="sldNum" sz="quarter" idx="5"/>
          </p:nvPr>
        </p:nvSpPr>
        <p:spPr/>
        <p:txBody>
          <a:bodyPr/>
          <a:lstStyle/>
          <a:p>
            <a:fld id="{3153D443-CBAC-934A-8506-FB4DF260D863}" type="slidenum">
              <a:rPr lang="en-US" smtClean="0"/>
              <a:t>9</a:t>
            </a:fld>
            <a:endParaRPr lang="en-US"/>
          </a:p>
        </p:txBody>
      </p:sp>
      <p:sp>
        <p:nvSpPr>
          <p:cNvPr id="5" name="Footer Placeholder 4">
            <a:extLst>
              <a:ext uri="{FF2B5EF4-FFF2-40B4-BE49-F238E27FC236}">
                <a16:creationId xmlns:a16="http://schemas.microsoft.com/office/drawing/2014/main" id="{F89A6D2A-F345-1404-C60C-58667A927348}"/>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3948363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9486-93AB-4294-BF1B-83C2C4C86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571ECB-4301-2CC2-EBC9-061969CF1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89D871-FA01-D2DD-A556-A4899A9B1F31}"/>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CD730560-EE79-8270-6D11-3C7D9E1C6786}"/>
              </a:ext>
            </a:extLst>
          </p:cNvPr>
          <p:cNvSpPr>
            <a:spLocks noGrp="1"/>
          </p:cNvSpPr>
          <p:nvPr>
            <p:ph type="sldNum" sz="quarter" idx="5"/>
          </p:nvPr>
        </p:nvSpPr>
        <p:spPr/>
        <p:txBody>
          <a:bodyPr/>
          <a:lstStyle/>
          <a:p>
            <a:fld id="{3153D443-CBAC-934A-8506-FB4DF260D863}" type="slidenum">
              <a:rPr lang="en-US" smtClean="0"/>
              <a:t>10</a:t>
            </a:fld>
            <a:endParaRPr lang="en-US"/>
          </a:p>
        </p:txBody>
      </p:sp>
      <p:sp>
        <p:nvSpPr>
          <p:cNvPr id="5" name="Footer Placeholder 4">
            <a:extLst>
              <a:ext uri="{FF2B5EF4-FFF2-40B4-BE49-F238E27FC236}">
                <a16:creationId xmlns:a16="http://schemas.microsoft.com/office/drawing/2014/main" id="{E0C5C14A-5DE8-527F-FA87-82B49D5BFE87}"/>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1456109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45B36-12C7-7AA2-3B01-AC01CCCE2C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ED5B07-4F6C-FD66-10FE-C93A8AC28A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2D898-CF92-0460-A72D-643A687256CD}"/>
              </a:ext>
            </a:extLst>
          </p:cNvPr>
          <p:cNvSpPr>
            <a:spLocks noGrp="1"/>
          </p:cNvSpPr>
          <p:nvPr>
            <p:ph type="body" idx="1"/>
          </p:nvPr>
        </p:nvSpPr>
        <p:spPr/>
        <p:txBody>
          <a:bodyPr/>
          <a:lstStyle/>
          <a:p>
            <a:pPr>
              <a:buNone/>
            </a:pPr>
            <a:endParaRPr lang="en-VN" dirty="0"/>
          </a:p>
        </p:txBody>
      </p:sp>
      <p:sp>
        <p:nvSpPr>
          <p:cNvPr id="4" name="Slide Number Placeholder 3">
            <a:extLst>
              <a:ext uri="{FF2B5EF4-FFF2-40B4-BE49-F238E27FC236}">
                <a16:creationId xmlns:a16="http://schemas.microsoft.com/office/drawing/2014/main" id="{4C877242-D125-A571-69F5-3BA804565FF4}"/>
              </a:ext>
            </a:extLst>
          </p:cNvPr>
          <p:cNvSpPr>
            <a:spLocks noGrp="1"/>
          </p:cNvSpPr>
          <p:nvPr>
            <p:ph type="sldNum" sz="quarter" idx="5"/>
          </p:nvPr>
        </p:nvSpPr>
        <p:spPr/>
        <p:txBody>
          <a:bodyPr/>
          <a:lstStyle/>
          <a:p>
            <a:fld id="{3153D443-CBAC-934A-8506-FB4DF260D863}" type="slidenum">
              <a:rPr lang="en-US" smtClean="0"/>
              <a:t>11</a:t>
            </a:fld>
            <a:endParaRPr lang="en-US"/>
          </a:p>
        </p:txBody>
      </p:sp>
      <p:sp>
        <p:nvSpPr>
          <p:cNvPr id="5" name="Footer Placeholder 4">
            <a:extLst>
              <a:ext uri="{FF2B5EF4-FFF2-40B4-BE49-F238E27FC236}">
                <a16:creationId xmlns:a16="http://schemas.microsoft.com/office/drawing/2014/main" id="{6E02D66E-7E6A-439A-CB3A-7C44A0D14C26}"/>
              </a:ext>
            </a:extLst>
          </p:cNvPr>
          <p:cNvSpPr>
            <a:spLocks noGrp="1"/>
          </p:cNvSpPr>
          <p:nvPr>
            <p:ph type="ftr" sz="quarter" idx="4"/>
          </p:nvPr>
        </p:nvSpPr>
        <p:spPr/>
        <p:txBody>
          <a:bodyPr/>
          <a:lstStyle/>
          <a:p>
            <a:endParaRPr lang="en-US"/>
          </a:p>
        </p:txBody>
      </p:sp>
    </p:spTree>
    <p:extLst>
      <p:ext uri="{BB962C8B-B14F-4D97-AF65-F5344CB8AC3E}">
        <p14:creationId xmlns:p14="http://schemas.microsoft.com/office/powerpoint/2010/main" val="4277540917"/>
      </p:ext>
    </p:extLst>
  </p:cSld>
  <p:clrMapOvr>
    <a:masterClrMapping/>
  </p:clrMapOvr>
</p:notes>
</file>

<file path=ppt/notesSlides/notesSlide10.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DFF0F642-2FEE-AE33-870F-6542A9886FF4}"/>
            </a:ext>
          </a:extLst>
        </p:cNvPr>
        <p:cNvGrpSpPr/>
        <p:nvPr/>
      </p:nvGrpSpPr>
      <p:grpSpPr>
        <a:xfrm>
          <a:off x="0" y="0"/>
          <a:ext cx="0" cy="0"/>
          <a:chOff x="0" y="0"/>
          <a:chExt cx="0" cy="0"/>
        </a:xfrm>
      </p:grpSpPr>
      <p:sp>
        <p:nvSpPr>
          <p:cNvPr id="2" name="Slide Image Placeholder 1">
            <a:extLst>
              <a:ext uri="{FF2B5EF4-FFF2-40B4-BE49-F238E27FC236}">
                <a16:creationId id="{14EA3DB1-8D61-05A0-89EA-1BBC4F08A995}"/>
              </a:ext>
            </a:extLst>
          </p:cNvPr>
          <p:cNvSpPr>
            <a:spLocks noGrp="1" noRot="1" noChangeAspect="1"/>
          </p:cNvSpPr>
          <p:nvPr>
            <p:ph type="sldImg"/>
          </p:nvPr>
        </p:nvSpPr>
        <p:spPr/>
      </p:sp>
      <p:sp>
        <p:nvSpPr>
          <p:cNvPr id="3" name="Notes Placeholder 2">
            <a:extLst>
              <a:ext uri="{FF2B5EF4-FFF2-40B4-BE49-F238E27FC236}">
                <a16:creationId id="{1BC4F693-6CB3-0336-82CA-07D3BC87E38D}"/>
              </a:ext>
            </a:extLst>
          </p:cNvPr>
          <p:cNvSpPr>
            <a:spLocks noGrp="1"/>
          </p:cNvSpPr>
          <p:nvPr>
            <p:ph type="body" idx="1"/>
          </p:nvPr>
        </p:nvSpPr>
        <p:spPr/>
        <p:txBody>
          <a:bodyPr/>
          <a:lstStyle/>
          <a:p>
            <a:r>
              <a:rPr lang="en-US" sz="1200">
                <a:latin typeface="Arial"/>
              </a:rPr>
              <a:t>I will now focus on the computational model used to compare three EIT reconstruction methods: BP, JAC, and GREIT.</a:t>
            </a:r>
          </a:p>
          <a:p>
            <a:r>
              <a:rPr lang="en-US" sz="1200">
                <a:latin typeface="Arial"/>
              </a:rPr>
              <a:t>The goal is to understand the software behavior before introducing hardware variability.</a:t>
            </a:r>
          </a:p>
        </p:txBody>
      </p:sp>
      <p:sp>
        <p:nvSpPr>
          <p:cNvPr id="4" name="Slide Number Placeholder 3">
            <a:extLst>
              <a:ext uri="{FF2B5EF4-FFF2-40B4-BE49-F238E27FC236}">
                <a16:creationId id="{35F9AADA-B43F-6A4E-579C-AD9E9AB97D9B}"/>
              </a:ext>
            </a:extLst>
          </p:cNvPr>
          <p:cNvSpPr>
            <a:spLocks noGrp="1"/>
          </p:cNvSpPr>
          <p:nvPr>
            <p:ph type="sldNum" sz="quarter" idx="5"/>
          </p:nvPr>
        </p:nvSpPr>
        <p:spPr/>
        <p:txBody>
          <a:bodyPr/>
          <a:lstStyle/>
          <a:p>
            <a:fld id="{3153D443-CBAC-934A-8506-FB4DF260D863}" type="slidenum">
              <a:rPr lang="en-US" smtClean="0"/>
              <a:t>18</a:t>
            </a:fld>
            <a:endParaRPr lang="en-US"/>
          </a:p>
        </p:txBody>
      </p:sp>
      <p:sp>
        <p:nvSpPr>
          <p:cNvPr id="5" name="Footer Placeholder 4">
            <a:extLst>
              <a:ext uri="{FF2B5EF4-FFF2-40B4-BE49-F238E27FC236}">
                <a16:creationId id="{D0F40FD7-7443-752D-3E0C-3FAB0C0E951F}"/>
              </a:ext>
            </a:extLst>
          </p:cNvPr>
          <p:cNvSpPr>
            <a:spLocks noGrp="1"/>
          </p:cNvSpPr>
          <p:nvPr>
            <p:ph type="ftr" sz="quarter" idx="4"/>
          </p:nvPr>
        </p:nvSpPr>
        <p:spPr/>
        <p:txBody>
          <a:bodyPr/>
          <a:lstStyle/>
          <a:p>
            <a:endParaRPr lang="en-US"/>
          </a:p>
        </p:txBody>
      </p:sp>
    </p:spTree>
    <p:extLst>
      <p:ext uri="{BB962C8B-B14F-4D97-AF65-F5344CB8AC3E}">
        <p14:creationId val="547352513"/>
      </p:ext>
    </p:extLst>
  </p:cSld>
  <p:clrMapOvr>
    <a:masterClrMapping/>
  </p:clrMapOvr>
</p:notes>
</file>

<file path=ppt/notesSlides/notesSlide11.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B4C59D61-CCF7-11E5-E5AA-870E92A3BEDC}"/>
            </a:ext>
          </a:extLst>
        </p:cNvPr>
        <p:cNvGrpSpPr/>
        <p:nvPr/>
      </p:nvGrpSpPr>
      <p:grpSpPr>
        <a:xfrm>
          <a:off x="0" y="0"/>
          <a:ext cx="0" cy="0"/>
          <a:chOff x="0" y="0"/>
          <a:chExt cx="0" cy="0"/>
        </a:xfrm>
      </p:grpSpPr>
      <p:sp>
        <p:nvSpPr>
          <p:cNvPr id="2" name="Slide Image Placeholder 1">
            <a:extLst>
              <a:ext uri="{FF2B5EF4-FFF2-40B4-BE49-F238E27FC236}">
                <a16:creationId id="{98586FEF-5999-3ED7-2916-29ED54FA6663}"/>
              </a:ext>
            </a:extLst>
          </p:cNvPr>
          <p:cNvSpPr>
            <a:spLocks noGrp="1" noRot="1" noChangeAspect="1"/>
          </p:cNvSpPr>
          <p:nvPr>
            <p:ph type="sldImg"/>
          </p:nvPr>
        </p:nvSpPr>
        <p:spPr/>
      </p:sp>
      <p:sp>
        <p:nvSpPr>
          <p:cNvPr id="3" name="Notes Placeholder 2">
            <a:extLst>
              <a:ext uri="{FF2B5EF4-FFF2-40B4-BE49-F238E27FC236}">
                <a16:creationId id="{F2834F23-77EA-E353-E01D-E9225BF568BF}"/>
              </a:ext>
            </a:extLst>
          </p:cNvPr>
          <p:cNvSpPr>
            <a:spLocks noGrp="1"/>
          </p:cNvSpPr>
          <p:nvPr>
            <p:ph type="body" idx="1"/>
          </p:nvPr>
        </p:nvSpPr>
        <p:spPr/>
        <p:txBody>
          <a:bodyPr/>
          <a:lstStyle/>
          <a:p>
            <a:r>
              <a:rPr lang="en-US" sz="1200">
                <a:latin typeface="Arial"/>
              </a:rPr>
              <a:t>Simulation gives me a known answer. I define the internal conductivity map, generate synthetic boundary data with a forward model, and ask three algorithms to reconstruct the hidden change.</a:t>
            </a:r>
          </a:p>
          <a:p>
            <a:r>
              <a:rPr lang="en-US" sz="1200">
                <a:latin typeface="Arial"/>
              </a:rPr>
              <a:t>All three methods receive exactly the same input. This isolates the effect of the reconstruction method and its parameters.</a:t>
            </a:r>
          </a:p>
        </p:txBody>
      </p:sp>
      <p:sp>
        <p:nvSpPr>
          <p:cNvPr id="4" name="Slide Number Placeholder 3">
            <a:extLst>
              <a:ext uri="{FF2B5EF4-FFF2-40B4-BE49-F238E27FC236}">
                <a16:creationId id="{2B0A577B-BDAB-87D8-25DD-3B421A286C94}"/>
              </a:ext>
            </a:extLst>
          </p:cNvPr>
          <p:cNvSpPr>
            <a:spLocks noGrp="1"/>
          </p:cNvSpPr>
          <p:nvPr>
            <p:ph type="sldNum" sz="quarter" idx="5"/>
          </p:nvPr>
        </p:nvSpPr>
        <p:spPr/>
        <p:txBody>
          <a:bodyPr/>
          <a:lstStyle/>
          <a:p>
            <a:fld id="{3153D443-CBAC-934A-8506-FB4DF260D863}" type="slidenum">
              <a:rPr lang="en-US" smtClean="0"/>
              <a:t>19</a:t>
            </a:fld>
            <a:endParaRPr lang="en-US"/>
          </a:p>
        </p:txBody>
      </p:sp>
      <p:sp>
        <p:nvSpPr>
          <p:cNvPr id="5" name="Footer Placeholder 4">
            <a:extLst>
              <a:ext uri="{FF2B5EF4-FFF2-40B4-BE49-F238E27FC236}">
                <a16:creationId id="{2096FB5F-A70F-434D-DB21-0C10829E8D70}"/>
              </a:ext>
            </a:extLst>
          </p:cNvPr>
          <p:cNvSpPr>
            <a:spLocks noGrp="1"/>
          </p:cNvSpPr>
          <p:nvPr>
            <p:ph type="ftr" sz="quarter" idx="4"/>
          </p:nvPr>
        </p:nvSpPr>
        <p:spPr/>
        <p:txBody>
          <a:bodyPr/>
          <a:lstStyle/>
          <a:p>
            <a:endParaRPr lang="en-US"/>
          </a:p>
        </p:txBody>
      </p:sp>
    </p:spTree>
    <p:extLst>
      <p:ext uri="{BB962C8B-B14F-4D97-AF65-F5344CB8AC3E}">
        <p14:creationId val="1568206037"/>
      </p:ext>
    </p:extLst>
  </p:cSld>
  <p:clrMapOvr>
    <a:masterClrMapping/>
  </p:clrMapOvr>
</p:notes>
</file>

<file path=ppt/notesSlides/notesSlide12.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B69273CE-A02F-41C9-8A79-CCE5009C8A1A}"/>
            </a:ext>
          </a:extLst>
        </p:cNvPr>
        <p:cNvGrpSpPr/>
        <p:nvPr/>
      </p:nvGrpSpPr>
      <p:grpSpPr>
        <a:xfrm>
          <a:off x="0" y="0"/>
          <a:ext cx="0" cy="0"/>
          <a:chOff x="0" y="0"/>
          <a:chExt cx="0" cy="0"/>
        </a:xfrm>
      </p:grpSpPr>
      <p:sp>
        <p:nvSpPr>
          <p:cNvPr id="2" name="Slide Image Placeholder 1">
            <a:extLst>
              <a:ext uri="{FF2B5EF4-FFF2-40B4-BE49-F238E27FC236}">
                <a16:creationId id="{8F99CD66-5A48-E321-01CB-92AA628A44CD}"/>
              </a:ext>
            </a:extLst>
          </p:cNvPr>
          <p:cNvSpPr>
            <a:spLocks noGrp="1" noRot="1" noChangeAspect="1"/>
          </p:cNvSpPr>
          <p:nvPr>
            <p:ph type="sldImg"/>
          </p:nvPr>
        </p:nvSpPr>
        <p:spPr/>
      </p:sp>
      <p:sp>
        <p:nvSpPr>
          <p:cNvPr id="3" name="Notes Placeholder 2">
            <a:extLst>
              <a:ext uri="{FF2B5EF4-FFF2-40B4-BE49-F238E27FC236}">
                <a16:creationId id="{A363FC66-1D6D-F460-851C-1688B2BC46CC}"/>
              </a:ext>
            </a:extLst>
          </p:cNvPr>
          <p:cNvSpPr>
            <a:spLocks noGrp="1"/>
          </p:cNvSpPr>
          <p:nvPr>
            <p:ph type="body" idx="1"/>
          </p:nvPr>
        </p:nvSpPr>
        <p:spPr/>
        <p:txBody>
          <a:bodyPr/>
          <a:lstStyle/>
          <a:p>
            <a:r>
              <a:rPr lang="en-US" sz="1200">
                <a:latin typeface="Arial"/>
              </a:rPr>
              <a:t>The domain is a two-dimensional unit circle with sixteen boundary electrodes. The background conductivity is normalized to one.</a:t>
            </a:r>
          </a:p>
          <a:p>
            <a:r>
              <a:rPr lang="en-US" sz="1200">
                <a:latin typeface="Arial"/>
              </a:rPr>
              <a:t>The four circular targets are defined by position, radius, and conductivity ratio. A value of ten means ten times the background conductivity. A value of 0.1 means one tenth.</a:t>
            </a:r>
          </a:p>
          <a:p>
            <a:r>
              <a:rPr lang="en-US" sz="1200">
                <a:latin typeface="Arial"/>
              </a:rPr>
              <a:t>This is a conceptual reproduction of the four-target CN0565 Figure 14 workflow. The circuit note does not publish the exact simulation parameters, so I do not claim a pixel-level reproduction.</a:t>
            </a:r>
          </a:p>
          <a:p>
            <a:r>
              <a:rPr lang="en-US" sz="1200">
                <a:latin typeface="Arial"/>
              </a:rPr>
              <a:t>Source: Analog Devices, CN0565 Rev. A, Figure 14.</a:t>
            </a:r>
          </a:p>
        </p:txBody>
      </p:sp>
      <p:sp>
        <p:nvSpPr>
          <p:cNvPr id="4" name="Slide Number Placeholder 3">
            <a:extLst>
              <a:ext uri="{FF2B5EF4-FFF2-40B4-BE49-F238E27FC236}">
                <a16:creationId id="{7A4DC14F-0CC2-C32C-1998-E7154D97E106}"/>
              </a:ext>
            </a:extLst>
          </p:cNvPr>
          <p:cNvSpPr>
            <a:spLocks noGrp="1"/>
          </p:cNvSpPr>
          <p:nvPr>
            <p:ph type="sldNum" sz="quarter" idx="5"/>
          </p:nvPr>
        </p:nvSpPr>
        <p:spPr/>
        <p:txBody>
          <a:bodyPr/>
          <a:lstStyle/>
          <a:p>
            <a:fld id="{3153D443-CBAC-934A-8506-FB4DF260D863}" type="slidenum">
              <a:rPr lang="en-US" smtClean="0"/>
              <a:t>20</a:t>
            </a:fld>
            <a:endParaRPr lang="en-US"/>
          </a:p>
        </p:txBody>
      </p:sp>
      <p:sp>
        <p:nvSpPr>
          <p:cNvPr id="5" name="Footer Placeholder 4">
            <a:extLst>
              <a:ext uri="{FF2B5EF4-FFF2-40B4-BE49-F238E27FC236}">
                <a16:creationId id="{C6B29E57-ECCE-9BB7-4205-B6193BB48A84}"/>
              </a:ext>
            </a:extLst>
          </p:cNvPr>
          <p:cNvSpPr>
            <a:spLocks noGrp="1"/>
          </p:cNvSpPr>
          <p:nvPr>
            <p:ph type="ftr" sz="quarter" idx="4"/>
          </p:nvPr>
        </p:nvSpPr>
        <p:spPr/>
        <p:txBody>
          <a:bodyPr/>
          <a:lstStyle/>
          <a:p>
            <a:endParaRPr lang="en-US"/>
          </a:p>
        </p:txBody>
      </p:sp>
    </p:spTree>
    <p:extLst>
      <p:ext uri="{BB962C8B-B14F-4D97-AF65-F5344CB8AC3E}">
        <p14:creationId val="1898548369"/>
      </p:ext>
    </p:extLst>
  </p:cSld>
  <p:clrMapOvr>
    <a:masterClrMapping/>
  </p:clrMapOvr>
</p:notes>
</file>

<file path=ppt/notesSlides/notesSlide13.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5CE471E8-ABED-E95C-3C6F-31CF2A2A7215}"/>
            </a:ext>
          </a:extLst>
        </p:cNvPr>
        <p:cNvGrpSpPr/>
        <p:nvPr/>
      </p:nvGrpSpPr>
      <p:grpSpPr>
        <a:xfrm>
          <a:off x="0" y="0"/>
          <a:ext cx="0" cy="0"/>
          <a:chOff x="0" y="0"/>
          <a:chExt cx="0" cy="0"/>
        </a:xfrm>
      </p:grpSpPr>
      <p:sp>
        <p:nvSpPr>
          <p:cNvPr id="2" name="Slide Image Placeholder 1">
            <a:extLst>
              <a:ext uri="{FF2B5EF4-FFF2-40B4-BE49-F238E27FC236}">
                <a16:creationId id="{3819CD3D-B592-E1D3-566E-11360062C7C3}"/>
              </a:ext>
            </a:extLst>
          </p:cNvPr>
          <p:cNvSpPr>
            <a:spLocks noGrp="1" noRot="1" noChangeAspect="1"/>
          </p:cNvSpPr>
          <p:nvPr>
            <p:ph type="sldImg"/>
          </p:nvPr>
        </p:nvSpPr>
        <p:spPr/>
      </p:sp>
      <p:sp>
        <p:nvSpPr>
          <p:cNvPr id="3" name="Notes Placeholder 2">
            <a:extLst>
              <a:ext uri="{FF2B5EF4-FFF2-40B4-BE49-F238E27FC236}">
                <a16:creationId id="{B7E47A51-FB3F-6F05-2C73-48542B8CFD47}"/>
              </a:ext>
            </a:extLst>
          </p:cNvPr>
          <p:cNvSpPr>
            <a:spLocks noGrp="1"/>
          </p:cNvSpPr>
          <p:nvPr>
            <p:ph type="body" idx="1"/>
          </p:nvPr>
        </p:nvSpPr>
        <p:spPr/>
        <p:txBody>
          <a:bodyPr/>
          <a:lstStyle/>
          <a:p>
            <a:r>
              <a:rPr lang="en-US" sz="1200">
                <a:latin typeface="Arial"/>
              </a:rPr>
              <a:t>The computer represents the continuous domain with a finite triangular mesh. This mesh contains 583 nodes and 1083 elements.</a:t>
            </a:r>
          </a:p>
          <a:p>
            <a:r>
              <a:rPr lang="en-US" sz="1200">
                <a:latin typeface="Arial"/>
              </a:rPr>
              <a:t>Nodes are calculation points for electric potential. Each triangular element stores one conductivity value. The sixteen red boundary points represent the electrodes.</a:t>
            </a:r>
          </a:p>
          <a:p>
            <a:r>
              <a:rPr lang="en-US" sz="1200">
                <a:latin typeface="Arial"/>
              </a:rPr>
              <a:t>These counts describe the computational model. They are not measurement counts. The mesh generator obtains them from h0 equals 0.08.</a:t>
            </a:r>
          </a:p>
        </p:txBody>
      </p:sp>
      <p:sp>
        <p:nvSpPr>
          <p:cNvPr id="4" name="Slide Number Placeholder 3">
            <a:extLst>
              <a:ext uri="{FF2B5EF4-FFF2-40B4-BE49-F238E27FC236}">
                <a16:creationId id="{042BF3A5-D647-490A-BC4C-B1F31C191F7E}"/>
              </a:ext>
            </a:extLst>
          </p:cNvPr>
          <p:cNvSpPr>
            <a:spLocks noGrp="1"/>
          </p:cNvSpPr>
          <p:nvPr>
            <p:ph type="sldNum" sz="quarter" idx="5"/>
          </p:nvPr>
        </p:nvSpPr>
        <p:spPr/>
        <p:txBody>
          <a:bodyPr/>
          <a:lstStyle/>
          <a:p>
            <a:fld id="{3153D443-CBAC-934A-8506-FB4DF260D863}" type="slidenum">
              <a:rPr lang="en-US" smtClean="0"/>
              <a:t>21</a:t>
            </a:fld>
            <a:endParaRPr lang="en-US"/>
          </a:p>
        </p:txBody>
      </p:sp>
      <p:sp>
        <p:nvSpPr>
          <p:cNvPr id="5" name="Footer Placeholder 4">
            <a:extLst>
              <a:ext uri="{FF2B5EF4-FFF2-40B4-BE49-F238E27FC236}">
                <a16:creationId id="{B4CD71F3-E8FE-BFB2-871E-717F5AEC45C9}"/>
              </a:ext>
            </a:extLst>
          </p:cNvPr>
          <p:cNvSpPr>
            <a:spLocks noGrp="1"/>
          </p:cNvSpPr>
          <p:nvPr>
            <p:ph type="ftr" sz="quarter" idx="4"/>
          </p:nvPr>
        </p:nvSpPr>
        <p:spPr/>
        <p:txBody>
          <a:bodyPr/>
          <a:lstStyle/>
          <a:p>
            <a:endParaRPr lang="en-US"/>
          </a:p>
        </p:txBody>
      </p:sp>
    </p:spTree>
    <p:extLst>
      <p:ext uri="{BB962C8B-B14F-4D97-AF65-F5344CB8AC3E}">
        <p14:creationId val="3323325509"/>
      </p:ext>
    </p:extLst>
  </p:cSld>
  <p:clrMapOvr>
    <a:masterClrMapping/>
  </p:clrMapOvr>
</p:notes>
</file>

<file path=ppt/notesSlides/notesSlide14.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CD435A2B-2B91-F009-6788-EEE2BAC448B4}"/>
            </a:ext>
          </a:extLst>
        </p:cNvPr>
        <p:cNvGrpSpPr/>
        <p:nvPr/>
      </p:nvGrpSpPr>
      <p:grpSpPr>
        <a:xfrm>
          <a:off x="0" y="0"/>
          <a:ext cx="0" cy="0"/>
          <a:chOff x="0" y="0"/>
          <a:chExt cx="0" cy="0"/>
        </a:xfrm>
      </p:grpSpPr>
      <p:sp>
        <p:nvSpPr>
          <p:cNvPr id="2" name="Slide Image Placeholder 1">
            <a:extLst>
              <a:ext uri="{FF2B5EF4-FFF2-40B4-BE49-F238E27FC236}">
                <a16:creationId id="{0ACAA980-18D7-9A9C-9E96-305215B2B5E5}"/>
              </a:ext>
            </a:extLst>
          </p:cNvPr>
          <p:cNvSpPr>
            <a:spLocks noGrp="1" noRot="1" noChangeAspect="1"/>
          </p:cNvSpPr>
          <p:nvPr>
            <p:ph type="sldImg"/>
          </p:nvPr>
        </p:nvSpPr>
        <p:spPr/>
      </p:sp>
      <p:sp>
        <p:nvSpPr>
          <p:cNvPr id="3" name="Notes Placeholder 2">
            <a:extLst>
              <a:ext uri="{FF2B5EF4-FFF2-40B4-BE49-F238E27FC236}">
                <a16:creationId id="{087C8D70-5F33-CA86-462D-2FF6EC03AFA0}"/>
              </a:ext>
            </a:extLst>
          </p:cNvPr>
          <p:cNvSpPr>
            <a:spLocks noGrp="1"/>
          </p:cNvSpPr>
          <p:nvPr>
            <p:ph type="body" idx="1"/>
          </p:nvPr>
        </p:nvSpPr>
        <p:spPr/>
        <p:txBody>
          <a:bodyPr/>
          <a:lstStyle/>
          <a:p>
            <a:r>
              <a:rPr lang="en-US" sz="1200">
                <a:latin typeface="Arial"/>
              </a:rPr>
              <a:t>The forward solver acts as a virtual measurement system. It calculates a reference frame v0 for the homogeneous background and a target frame v1 after adding the four anomalies.</a:t>
            </a:r>
          </a:p>
          <a:p>
            <a:r>
              <a:rPr lang="en-US" sz="1200">
                <a:latin typeface="Arial"/>
              </a:rPr>
              <a:t>Each frame contains 208 voltage differences. The count comes from sixteen adjacent drive pairs and thirteen valid sensing pairs per drive.</a:t>
            </a:r>
          </a:p>
          <a:p>
            <a:r>
              <a:rPr lang="en-US" sz="1200">
                <a:latin typeface="Arial"/>
              </a:rPr>
              <a:t>The reconstruction input is the change vector v1 minus v0. No CN0565 hardware data are used at this stage.</a:t>
            </a:r>
          </a:p>
        </p:txBody>
      </p:sp>
      <p:sp>
        <p:nvSpPr>
          <p:cNvPr id="4" name="Slide Number Placeholder 3">
            <a:extLst>
              <a:ext uri="{FF2B5EF4-FFF2-40B4-BE49-F238E27FC236}">
                <a16:creationId id="{2A376F44-B1BF-99A1-B68E-340341483BF3}"/>
              </a:ext>
            </a:extLst>
          </p:cNvPr>
          <p:cNvSpPr>
            <a:spLocks noGrp="1"/>
          </p:cNvSpPr>
          <p:nvPr>
            <p:ph type="sldNum" sz="quarter" idx="5"/>
          </p:nvPr>
        </p:nvSpPr>
        <p:spPr/>
        <p:txBody>
          <a:bodyPr/>
          <a:lstStyle/>
          <a:p>
            <a:fld id="{3153D443-CBAC-934A-8506-FB4DF260D863}" type="slidenum">
              <a:rPr lang="en-US" smtClean="0"/>
              <a:t>22</a:t>
            </a:fld>
            <a:endParaRPr lang="en-US"/>
          </a:p>
        </p:txBody>
      </p:sp>
      <p:sp>
        <p:nvSpPr>
          <p:cNvPr id="5" name="Footer Placeholder 4">
            <a:extLst>
              <a:ext uri="{FF2B5EF4-FFF2-40B4-BE49-F238E27FC236}">
                <a16:creationId id="{6BC3B0AF-3C53-BD54-F771-ED1B7C4F11BB}"/>
              </a:ext>
            </a:extLst>
          </p:cNvPr>
          <p:cNvSpPr>
            <a:spLocks noGrp="1"/>
          </p:cNvSpPr>
          <p:nvPr>
            <p:ph type="ftr" sz="quarter" idx="4"/>
          </p:nvPr>
        </p:nvSpPr>
        <p:spPr/>
        <p:txBody>
          <a:bodyPr/>
          <a:lstStyle/>
          <a:p>
            <a:endParaRPr lang="en-US"/>
          </a:p>
        </p:txBody>
      </p:sp>
    </p:spTree>
    <p:extLst>
      <p:ext uri="{BB962C8B-B14F-4D97-AF65-F5344CB8AC3E}">
        <p14:creationId val="2106204688"/>
      </p:ext>
    </p:extLst>
  </p:cSld>
  <p:clrMapOvr>
    <a:masterClrMapping/>
  </p:clrMapOvr>
</p:notes>
</file>

<file path=ppt/notesSlides/notesSlide15.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24A1AF0D-5913-8C47-764C-EC6B58028148}"/>
            </a:ext>
          </a:extLst>
        </p:cNvPr>
        <p:cNvGrpSpPr/>
        <p:nvPr/>
      </p:nvGrpSpPr>
      <p:grpSpPr>
        <a:xfrm>
          <a:off x="0" y="0"/>
          <a:ext cx="0" cy="0"/>
          <a:chOff x="0" y="0"/>
          <a:chExt cx="0" cy="0"/>
        </a:xfrm>
      </p:grpSpPr>
      <p:sp>
        <p:nvSpPr>
          <p:cNvPr id="2" name="Slide Image Placeholder 1">
            <a:extLst>
              <a:ext uri="{FF2B5EF4-FFF2-40B4-BE49-F238E27FC236}">
                <a16:creationId id="{B8E5301C-3F15-A133-1E2F-50A0C85E066A}"/>
              </a:ext>
            </a:extLst>
          </p:cNvPr>
          <p:cNvSpPr>
            <a:spLocks noGrp="1" noRot="1" noChangeAspect="1"/>
          </p:cNvSpPr>
          <p:nvPr>
            <p:ph type="sldImg"/>
          </p:nvPr>
        </p:nvSpPr>
        <p:spPr/>
      </p:sp>
      <p:sp>
        <p:nvSpPr>
          <p:cNvPr id="3" name="Notes Placeholder 2">
            <a:extLst>
              <a:ext uri="{FF2B5EF4-FFF2-40B4-BE49-F238E27FC236}">
                <a16:creationId id="{03B67AE7-9DDD-C3D2-4D71-D8B609946093}"/>
              </a:ext>
            </a:extLst>
          </p:cNvPr>
          <p:cNvSpPr>
            <a:spLocks noGrp="1"/>
          </p:cNvSpPr>
          <p:nvPr>
            <p:ph type="body" idx="1"/>
          </p:nvPr>
        </p:nvSpPr>
        <p:spPr/>
        <p:txBody>
          <a:bodyPr/>
          <a:lstStyle/>
          <a:p>
            <a:r>
              <a:rPr lang="en-US" sz="1200">
                <a:latin typeface="Arial"/>
              </a:rPr>
              <a:t>BP directly back-projects voltage changes into the domain and provides a fast baseline result.</a:t>
            </a:r>
          </a:p>
          <a:p>
            <a:r>
              <a:rPr lang="en-US" sz="1200">
                <a:latin typeface="Arial"/>
              </a:rPr>
              <a:t>JAC uses the Jacobian sensitivity matrix with regularization. Its settings control the balance between spatial detail and stability.</a:t>
            </a:r>
          </a:p>
          <a:p>
            <a:r>
              <a:rPr lang="en-US" sz="1200">
                <a:latin typeface="Arial"/>
              </a:rPr>
              <a:t>The pyEIT GREIT implementation applies a sensitivity-based linear reconstruction matrix and maps the result to a regular output grid.</a:t>
            </a:r>
          </a:p>
          <a:p>
            <a:r>
              <a:rPr lang="en-US" sz="1200">
                <a:latin typeface="Arial"/>
              </a:rPr>
              <a:t>The grid size changes the displayed sampling. It does not add new measurement information.</a:t>
            </a:r>
          </a:p>
          <a:p>
            <a:r>
              <a:rPr lang="en-US" sz="1200">
                <a:latin typeface="Arial"/>
              </a:rPr>
              <a:t>Sources: Liu et al., SoftwareX 2018; Adler et al., Physiological Measurement 2009; pyEIT 1.2.4 implementation.</a:t>
            </a:r>
          </a:p>
        </p:txBody>
      </p:sp>
      <p:sp>
        <p:nvSpPr>
          <p:cNvPr id="4" name="Slide Number Placeholder 3">
            <a:extLst>
              <a:ext uri="{FF2B5EF4-FFF2-40B4-BE49-F238E27FC236}">
                <a16:creationId id="{CB803A04-B24F-A8A4-26E8-5DD4C29E9A64}"/>
              </a:ext>
            </a:extLst>
          </p:cNvPr>
          <p:cNvSpPr>
            <a:spLocks noGrp="1"/>
          </p:cNvSpPr>
          <p:nvPr>
            <p:ph type="sldNum" sz="quarter" idx="5"/>
          </p:nvPr>
        </p:nvSpPr>
        <p:spPr/>
        <p:txBody>
          <a:bodyPr/>
          <a:lstStyle/>
          <a:p>
            <a:fld id="{3153D443-CBAC-934A-8506-FB4DF260D863}" type="slidenum">
              <a:rPr lang="en-US" smtClean="0"/>
              <a:t>23</a:t>
            </a:fld>
            <a:endParaRPr lang="en-US"/>
          </a:p>
        </p:txBody>
      </p:sp>
      <p:sp>
        <p:nvSpPr>
          <p:cNvPr id="5" name="Footer Placeholder 4">
            <a:extLst>
              <a:ext uri="{FF2B5EF4-FFF2-40B4-BE49-F238E27FC236}">
                <a16:creationId id="{D25E495D-1DB1-7B98-13E9-3F9CD38C91CF}"/>
              </a:ext>
            </a:extLst>
          </p:cNvPr>
          <p:cNvSpPr>
            <a:spLocks noGrp="1"/>
          </p:cNvSpPr>
          <p:nvPr>
            <p:ph type="ftr" sz="quarter" idx="4"/>
          </p:nvPr>
        </p:nvSpPr>
        <p:spPr/>
        <p:txBody>
          <a:bodyPr/>
          <a:lstStyle/>
          <a:p>
            <a:endParaRPr lang="en-US"/>
          </a:p>
        </p:txBody>
      </p:sp>
    </p:spTree>
    <p:extLst>
      <p:ext uri="{BB962C8B-B14F-4D97-AF65-F5344CB8AC3E}">
        <p14:creationId val="3540874637"/>
      </p:ext>
    </p:extLst>
  </p:cSld>
  <p:clrMapOvr>
    <a:masterClrMapping/>
  </p:clrMapOvr>
</p:notes>
</file>

<file path=ppt/notesSlides/notesSlide16.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This figure uses the same ground truth and the same two voltage frames for all three reconstruction methods.</a:t>
            </a:r>
          </a:p>
          <a:p>
            <a:r>
              <a:rPr lang="en-US" sz="1200">
                <a:latin typeface="Arial"/>
              </a:rPr>
              <a:t>Red indicates a positive conductivity change and blue indicates a negative change. All three methods recover the four general target locations and their signs in this noise-free test.</a:t>
            </a:r>
          </a:p>
          <a:p>
            <a:r>
              <a:rPr lang="en-US" sz="1200">
                <a:latin typeface="Arial"/>
              </a:rPr>
              <a:t>BP is broad and diffuse. JAC produces concentrated peaks but also shows mesh-related artifacts. GREIT gives a smooth image on a regular grid.</a:t>
            </a:r>
          </a:p>
          <a:p>
            <a:r>
              <a:rPr lang="en-US" sz="1200">
                <a:latin typeface="Arial"/>
              </a:rPr>
              <a:t>Each reconstructed output is normalized independently here. I compare location, sign, spatial spread, and artifacts rather than raw amplitude.</a:t>
            </a:r>
          </a:p>
          <a:p>
            <a:r>
              <a:rPr lang="en-US" sz="1200">
                <a:latin typeface="Arial"/>
              </a:rPr>
              <a:t>Figure generated from scripts/eit_sim_playground.py.</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24</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notesSlides/notesSlide17.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A visual comparison is only the first step. I will change one simulation variable at a time and keep all other settings fixed.</a:t>
            </a:r>
          </a:p>
          <a:p>
            <a:r>
              <a:rPr lang="en-US" sz="1200">
                <a:latin typeface="Arial"/>
              </a:rPr>
              <a:t>The planned tests examine target position, target size, conductivity contrast, measurement noise, and the separation between two targets.</a:t>
            </a:r>
          </a:p>
          <a:p>
            <a:r>
              <a:rPr lang="en-US" sz="1200">
                <a:latin typeface="Arial"/>
              </a:rPr>
              <a:t>The comparison will use localization error, spatial spread, sign recovery, artifacts, and noise sensitivity.</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25</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notesSlides/notesSlide18.xml><?xml version="1.0" encoding="utf-8"?>
<p:notes xmlns:a="http://schemas.openxmlformats.org/drawingml/2006/main" xmlns:a16="http://schemas.microsoft.com/office/drawing/2014/main" xmlns:p="http://schemas.openxmlformats.org/presentationml/2006/main" xmlns:p14="http://schemas.microsoft.com/office/powerpoint/2010/main">
  <p:cSld>
    <p:spTree>
      <p:nvGrpSpPr>
        <p:cNvPr id="1" name="">
          <a:extLst>
            <a:ext uri="{FF2B5EF4-FFF2-40B4-BE49-F238E27FC236}">
              <a16:creationId id="{1CE6A9BA-1CE4-83E8-92C5-D2CCA9D5CBCE}"/>
            </a:ext>
          </a:extLst>
        </p:cNvPr>
        <p:cNvGrpSpPr/>
        <p:nvPr/>
      </p:nvGrpSpPr>
      <p:grpSpPr>
        <a:xfrm>
          <a:off x="0" y="0"/>
          <a:ext cx="0" cy="0"/>
          <a:chOff x="0" y="0"/>
          <a:chExt cx="0" cy="0"/>
        </a:xfrm>
      </p:grpSpPr>
      <p:sp>
        <p:nvSpPr>
          <p:cNvPr id="2" name="Slide Image Placeholder 1">
            <a:extLst>
              <a:ext uri="{FF2B5EF4-FFF2-40B4-BE49-F238E27FC236}">
                <a16:creationId id="{745DF99E-D8D0-A866-F51B-7FCAD2FF8FDF}"/>
              </a:ext>
            </a:extLst>
          </p:cNvPr>
          <p:cNvSpPr>
            <a:spLocks noGrp="1" noRot="1" noChangeAspect="1"/>
          </p:cNvSpPr>
          <p:nvPr>
            <p:ph type="sldImg"/>
          </p:nvPr>
        </p:nvSpPr>
        <p:spPr/>
      </p:sp>
      <p:sp>
        <p:nvSpPr>
          <p:cNvPr id="3" name="Notes Placeholder 2">
            <a:extLst>
              <a:ext uri="{FF2B5EF4-FFF2-40B4-BE49-F238E27FC236}">
                <a16:creationId id="{3BC5B559-3200-BBE1-E969-358AB13F7BCA}"/>
              </a:ext>
            </a:extLst>
          </p:cNvPr>
          <p:cNvSpPr>
            <a:spLocks noGrp="1"/>
          </p:cNvSpPr>
          <p:nvPr>
            <p:ph type="body" idx="1"/>
          </p:nvPr>
        </p:nvSpPr>
        <p:spPr/>
        <p:txBody>
          <a:bodyPr/>
          <a:lstStyle/>
          <a:p>
            <a:r>
              <a:rPr lang="en-US" sz="1200">
                <a:latin typeface="Arial"/>
              </a:rPr>
              <a:t>The simulation verifies the computational workflow and supports a controlled algorithm comparison.</a:t>
            </a:r>
          </a:p>
          <a:p>
            <a:r>
              <a:rPr lang="en-US" sz="1200">
                <a:latin typeface="Arial"/>
              </a:rPr>
              <a:t>It does not validate the CN0565 hardware because the forward model generated the voltage data.</a:t>
            </a:r>
          </a:p>
          <a:p>
            <a:r>
              <a:rPr lang="en-US" sz="1200">
                <a:latin typeface="Arial"/>
              </a:rPr>
              <a:t>The hardware validation sequence should begin with an electrical load, continue with a homogeneous saline tank, and then use known inclusions at controlled locations.</a:t>
            </a:r>
          </a:p>
        </p:txBody>
      </p:sp>
      <p:sp>
        <p:nvSpPr>
          <p:cNvPr id="4" name="Slide Number Placeholder 3">
            <a:extLst>
              <a:ext uri="{FF2B5EF4-FFF2-40B4-BE49-F238E27FC236}">
                <a16:creationId id="{E8ED0511-7969-5BD0-FF46-C45F22AFB4AE}"/>
              </a:ext>
            </a:extLst>
          </p:cNvPr>
          <p:cNvSpPr>
            <a:spLocks noGrp="1"/>
          </p:cNvSpPr>
          <p:nvPr>
            <p:ph type="sldNum" sz="quarter" idx="5"/>
          </p:nvPr>
        </p:nvSpPr>
        <p:spPr/>
        <p:txBody>
          <a:bodyPr/>
          <a:lstStyle/>
          <a:p>
            <a:fld id="{3153D443-CBAC-934A-8506-FB4DF260D863}" type="slidenum">
              <a:rPr lang="en-US" smtClean="0"/>
              <a:t>26</a:t>
            </a:fld>
            <a:endParaRPr lang="en-US"/>
          </a:p>
        </p:txBody>
      </p:sp>
      <p:sp>
        <p:nvSpPr>
          <p:cNvPr id="5" name="Footer Placeholder 4">
            <a:extLst>
              <a:ext uri="{FF2B5EF4-FFF2-40B4-BE49-F238E27FC236}">
                <a16:creationId id="{E7C5D727-220E-1120-62A3-226E6F677BB7}"/>
              </a:ext>
            </a:extLst>
          </p:cNvPr>
          <p:cNvSpPr>
            <a:spLocks noGrp="1"/>
          </p:cNvSpPr>
          <p:nvPr>
            <p:ph type="ftr" sz="quarter" idx="4"/>
          </p:nvPr>
        </p:nvSpPr>
        <p:spPr/>
        <p:txBody>
          <a:bodyPr/>
          <a:lstStyle/>
          <a:p>
            <a:endParaRPr lang="en-US"/>
          </a:p>
        </p:txBody>
      </p:sp>
    </p:spTree>
    <p:extLst>
      <p:ext uri="{BB962C8B-B14F-4D97-AF65-F5344CB8AC3E}">
        <p14:creationId val="18024642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9879AAEF-E912-6B61-3D33-267C007D376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84" y="80030"/>
            <a:ext cx="9144000" cy="5143500"/>
          </a:xfrm>
          <a:prstGeom prst="rect">
            <a:avLst/>
          </a:prstGeom>
        </p:spPr>
      </p:pic>
      <p:sp>
        <p:nvSpPr>
          <p:cNvPr id="13" name="Title 18">
            <a:extLst>
              <a:ext uri="{FF2B5EF4-FFF2-40B4-BE49-F238E27FC236}">
                <a16:creationId xmlns:a16="http://schemas.microsoft.com/office/drawing/2014/main" id="{DC0A9285-546C-824E-BB82-80DD4A7E5723}"/>
              </a:ext>
            </a:extLst>
          </p:cNvPr>
          <p:cNvSpPr>
            <a:spLocks noGrp="1"/>
          </p:cNvSpPr>
          <p:nvPr>
            <p:ph type="title" hasCustomPrompt="1"/>
          </p:nvPr>
        </p:nvSpPr>
        <p:spPr>
          <a:xfrm>
            <a:off x="4419600" y="2038350"/>
            <a:ext cx="4495800" cy="829533"/>
          </a:xfrm>
          <a:noFill/>
        </p:spPr>
        <p:txBody>
          <a:bodyPr lIns="182880" tIns="182880" rIns="182880" anchor="ctr">
            <a:noAutofit/>
          </a:bodyPr>
          <a:lstStyle>
            <a:lvl1pPr algn="l">
              <a:lnSpc>
                <a:spcPct val="75000"/>
              </a:lnSpc>
              <a:defRPr sz="2800" b="1" i="1" spc="0" baseline="0">
                <a:solidFill>
                  <a:schemeClr val="bg1"/>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4435642" y="3316416"/>
            <a:ext cx="4636246"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2" name="Picture 1">
            <a:extLst>
              <a:ext uri="{FF2B5EF4-FFF2-40B4-BE49-F238E27FC236}">
                <a16:creationId xmlns:a16="http://schemas.microsoft.com/office/drawing/2014/main" id="{2B992057-DE82-CE83-1048-D406B6B802A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
        <p:nvSpPr>
          <p:cNvPr id="7" name="Slide Number Placeholder 6">
            <a:extLst>
              <a:ext uri="{FF2B5EF4-FFF2-40B4-BE49-F238E27FC236}">
                <a16:creationId xmlns:a16="http://schemas.microsoft.com/office/drawing/2014/main" id="{5E0E505E-82A7-0157-0254-70D4CC4D1A8F}"/>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69973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descr="Shape, circle&#10;&#10;Description automatically generated">
            <a:extLst>
              <a:ext uri="{FF2B5EF4-FFF2-40B4-BE49-F238E27FC236}">
                <a16:creationId xmlns:a16="http://schemas.microsoft.com/office/drawing/2014/main" id="{8B616AF2-B50E-3695-3202-2807D9E841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3" name="Text Placeholder 2">
            <a:extLst>
              <a:ext uri="{FF2B5EF4-FFF2-40B4-BE49-F238E27FC236}">
                <a16:creationId xmlns:a16="http://schemas.microsoft.com/office/drawing/2014/main" id="{47470F22-3D51-8D47-9BDC-3F4D49D359C4}"/>
              </a:ext>
            </a:extLst>
          </p:cNvPr>
          <p:cNvSpPr>
            <a:spLocks noGrp="1"/>
          </p:cNvSpPr>
          <p:nvPr>
            <p:ph type="body" sz="quarter" idx="13" hasCustomPrompt="1"/>
          </p:nvPr>
        </p:nvSpPr>
        <p:spPr>
          <a:xfrm>
            <a:off x="585006" y="2277072"/>
            <a:ext cx="4776788" cy="237267"/>
          </a:xfrm>
        </p:spPr>
        <p:txBody>
          <a:bodyPr lIns="182880" tIns="0" rIns="182880" bIns="0">
            <a:noAutofit/>
          </a:bodyPr>
          <a:lstStyle>
            <a:lvl1pPr marL="0" indent="0">
              <a:buNone/>
              <a:defRPr sz="1800" b="0" i="1">
                <a:solidFill>
                  <a:srgbClr val="ED8B00"/>
                </a:solidFill>
                <a:latin typeface="Georgia" panose="02040502050405020303" pitchFamily="18" charset="0"/>
                <a:cs typeface="Arial" panose="020B0604020202020204" pitchFamily="34" charset="0"/>
              </a:defRPr>
            </a:lvl1pPr>
          </a:lstStyle>
          <a:p>
            <a:pPr lvl="0"/>
            <a:r>
              <a:rPr lang="en-US" dirty="0"/>
              <a:t>Click to add text</a:t>
            </a:r>
          </a:p>
        </p:txBody>
      </p:sp>
      <p:pic>
        <p:nvPicPr>
          <p:cNvPr id="7" name="Picture 6">
            <a:extLst>
              <a:ext uri="{FF2B5EF4-FFF2-40B4-BE49-F238E27FC236}">
                <a16:creationId xmlns:a16="http://schemas.microsoft.com/office/drawing/2014/main" id="{EB072FD1-11DC-C3F0-BEF8-DEA504D87A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584" y="4741279"/>
            <a:ext cx="1308161" cy="327040"/>
          </a:xfrm>
          <a:prstGeom prst="rect">
            <a:avLst/>
          </a:prstGeom>
        </p:spPr>
      </p:pic>
      <p:sp>
        <p:nvSpPr>
          <p:cNvPr id="6" name="Title 18">
            <a:extLst>
              <a:ext uri="{FF2B5EF4-FFF2-40B4-BE49-F238E27FC236}">
                <a16:creationId xmlns:a16="http://schemas.microsoft.com/office/drawing/2014/main" id="{C7090F5B-A517-7BC0-FFDD-BF0408BD71D5}"/>
              </a:ext>
            </a:extLst>
          </p:cNvPr>
          <p:cNvSpPr>
            <a:spLocks noGrp="1"/>
          </p:cNvSpPr>
          <p:nvPr>
            <p:ph type="title" hasCustomPrompt="1"/>
          </p:nvPr>
        </p:nvSpPr>
        <p:spPr>
          <a:xfrm>
            <a:off x="556932" y="1012902"/>
            <a:ext cx="4495800" cy="829533"/>
          </a:xfrm>
          <a:noFill/>
        </p:spPr>
        <p:txBody>
          <a:bodyPr lIns="182880" tIns="182880" rIns="182880" anchor="ctr">
            <a:noAutofit/>
          </a:bodyPr>
          <a:lstStyle>
            <a:lvl1pPr algn="l">
              <a:lnSpc>
                <a:spcPct val="75000"/>
              </a:lnSpc>
              <a:defRPr sz="2800" b="1" i="1" spc="0" baseline="0">
                <a:solidFill>
                  <a:srgbClr val="72243D"/>
                </a:solidFill>
                <a:latin typeface="Arial" panose="020B0604020202020204" pitchFamily="34" charset="0"/>
                <a:cs typeface="Arial" panose="020B0604020202020204" pitchFamily="34" charset="0"/>
              </a:defRPr>
            </a:lvl1pPr>
          </a:lstStyle>
          <a:p>
            <a:r>
              <a:rPr lang="en-US" dirty="0"/>
              <a:t>CLICK TO </a:t>
            </a:r>
            <a:br>
              <a:rPr lang="en-US" dirty="0"/>
            </a:br>
            <a:r>
              <a:rPr lang="en-US" dirty="0"/>
              <a:t>ADD TITLE</a:t>
            </a:r>
          </a:p>
        </p:txBody>
      </p:sp>
      <p:sp>
        <p:nvSpPr>
          <p:cNvPr id="4" name="Slide Number Placeholder 3">
            <a:extLst>
              <a:ext uri="{FF2B5EF4-FFF2-40B4-BE49-F238E27FC236}">
                <a16:creationId xmlns:a16="http://schemas.microsoft.com/office/drawing/2014/main" id="{68F8D7C0-FA5C-F82F-EAD9-413E83295217}"/>
              </a:ext>
            </a:extLst>
          </p:cNvPr>
          <p:cNvSpPr>
            <a:spLocks noGrp="1"/>
          </p:cNvSpPr>
          <p:nvPr>
            <p:ph type="sldNum" sz="quarter" idx="15"/>
          </p:nvPr>
        </p:nvSpPr>
        <p:spPr/>
        <p:txBody>
          <a:bodyPr/>
          <a:lstStyle/>
          <a:p>
            <a:fld id="{0AF20276-0DC3-B247-B3AE-8A6E2F85407E}" type="slidenum">
              <a:rPr lang="en-VN" smtClean="0"/>
              <a:t>‹#›</a:t>
            </a:fld>
            <a:endParaRPr lang="en-VN"/>
          </a:p>
        </p:txBody>
      </p:sp>
    </p:spTree>
    <p:extLst>
      <p:ext uri="{BB962C8B-B14F-4D97-AF65-F5344CB8AC3E}">
        <p14:creationId xmlns:p14="http://schemas.microsoft.com/office/powerpoint/2010/main" val="2431526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2-A">
    <p:spTree>
      <p:nvGrpSpPr>
        <p:cNvPr id="1" name=""/>
        <p:cNvGrpSpPr/>
        <p:nvPr/>
      </p:nvGrpSpPr>
      <p:grpSpPr>
        <a:xfrm>
          <a:off x="0" y="0"/>
          <a:ext cx="0" cy="0"/>
          <a:chOff x="0" y="0"/>
          <a:chExt cx="0" cy="0"/>
        </a:xfrm>
      </p:grpSpPr>
      <p:pic>
        <p:nvPicPr>
          <p:cNvPr id="6" name="Picture 5" descr="A picture containing text&#10;&#10;Description automatically generated">
            <a:extLst>
              <a:ext uri="{FF2B5EF4-FFF2-40B4-BE49-F238E27FC236}">
                <a16:creationId xmlns:a16="http://schemas.microsoft.com/office/drawing/2014/main" id="{C80A7B26-E9DE-4D5B-716A-C77938E07FD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75181"/>
            <a:ext cx="9144000" cy="5143500"/>
          </a:xfrm>
          <a:prstGeom prst="rect">
            <a:avLst/>
          </a:prstGeom>
        </p:spPr>
      </p:pic>
      <p:sp>
        <p:nvSpPr>
          <p:cNvPr id="22" name="Title 6">
            <a:extLst>
              <a:ext uri="{FF2B5EF4-FFF2-40B4-BE49-F238E27FC236}">
                <a16:creationId xmlns:a16="http://schemas.microsoft.com/office/drawing/2014/main" id="{E5CB47AD-DA9C-5F4C-A431-84FB4D547F0E}"/>
              </a:ext>
            </a:extLst>
          </p:cNvPr>
          <p:cNvSpPr>
            <a:spLocks noGrp="1"/>
          </p:cNvSpPr>
          <p:nvPr>
            <p:ph type="title" hasCustomPrompt="1"/>
          </p:nvPr>
        </p:nvSpPr>
        <p:spPr>
          <a:xfrm>
            <a:off x="236537" y="75181"/>
            <a:ext cx="6724650" cy="514350"/>
          </a:xfrm>
        </p:spPr>
        <p:txBody>
          <a:bodyPr>
            <a:noAutofit/>
          </a:bodyPr>
          <a:lstStyle>
            <a:lvl1pPr algn="l">
              <a:defRPr sz="2800" b="1" i="0">
                <a:solidFill>
                  <a:srgbClr val="6F263D"/>
                </a:solidFill>
                <a:latin typeface="Arial" panose="020B0604020202020204" pitchFamily="34" charset="0"/>
                <a:cs typeface="Arial" panose="020B0604020202020204" pitchFamily="34" charset="0"/>
              </a:defRPr>
            </a:lvl1pPr>
          </a:lstStyle>
          <a:p>
            <a:r>
              <a:rPr lang="en-US" dirty="0"/>
              <a:t>CLICK TO ADD TEXT</a:t>
            </a:r>
          </a:p>
        </p:txBody>
      </p:sp>
      <p:sp>
        <p:nvSpPr>
          <p:cNvPr id="12" name="Text Placeholder 2">
            <a:extLst>
              <a:ext uri="{FF2B5EF4-FFF2-40B4-BE49-F238E27FC236}">
                <a16:creationId xmlns:a16="http://schemas.microsoft.com/office/drawing/2014/main" id="{649794A0-DDCB-D348-B6F9-30E0A824A3F4}"/>
              </a:ext>
            </a:extLst>
          </p:cNvPr>
          <p:cNvSpPr>
            <a:spLocks noGrp="1"/>
          </p:cNvSpPr>
          <p:nvPr>
            <p:ph type="body" sz="quarter" idx="13" hasCustomPrompt="1"/>
          </p:nvPr>
        </p:nvSpPr>
        <p:spPr>
          <a:xfrm>
            <a:off x="236537" y="658812"/>
            <a:ext cx="8678863" cy="3561359"/>
          </a:xfrm>
        </p:spPr>
        <p:txBody>
          <a:bodyPr>
            <a:noAutofit/>
          </a:bodyPr>
          <a:lstStyle>
            <a:lvl1pPr marL="0" indent="0">
              <a:buClr>
                <a:srgbClr val="E17C00"/>
              </a:buClr>
              <a:buFont typeface="+mj-lt"/>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Font typeface="+mj-lt"/>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Font typeface="+mj-lt"/>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Font typeface="+mj-lt"/>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Font typeface="+mj-lt"/>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EB2F4A7B-C617-FC86-ACA8-F1B92AF15106}"/>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02893" y="4741279"/>
            <a:ext cx="1305543" cy="327040"/>
          </a:xfrm>
          <a:prstGeom prst="rect">
            <a:avLst/>
          </a:prstGeom>
        </p:spPr>
      </p:pic>
      <p:sp>
        <p:nvSpPr>
          <p:cNvPr id="4" name="Slide Number Placeholder 3">
            <a:extLst>
              <a:ext uri="{FF2B5EF4-FFF2-40B4-BE49-F238E27FC236}">
                <a16:creationId xmlns:a16="http://schemas.microsoft.com/office/drawing/2014/main" id="{30212481-CA89-9155-FE1D-0551BA054F15}"/>
              </a:ext>
            </a:extLst>
          </p:cNvPr>
          <p:cNvSpPr>
            <a:spLocks noGrp="1"/>
          </p:cNvSpPr>
          <p:nvPr>
            <p:ph type="sldNum" sz="quarter" idx="15"/>
          </p:nvPr>
        </p:nvSpPr>
        <p:spPr/>
        <p:txBody>
          <a:bodyPr/>
          <a:lstStyle/>
          <a:p>
            <a:fld id="{0AF20276-0DC3-B247-B3AE-8A6E2F85407E}" type="slidenum">
              <a:rPr lang="en-VN" smtClean="0"/>
              <a:t>‹#›</a:t>
            </a:fld>
            <a:endParaRPr lang="en-VN"/>
          </a:p>
        </p:txBody>
      </p:sp>
      <p:cxnSp>
        <p:nvCxnSpPr>
          <p:cNvPr id="5" name="Straight Connector 4">
            <a:extLst>
              <a:ext uri="{FF2B5EF4-FFF2-40B4-BE49-F238E27FC236}">
                <a16:creationId xmlns:a16="http://schemas.microsoft.com/office/drawing/2014/main" id="{55DD1030-CAD4-D733-7034-4179F43517DF}"/>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7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2-B">
    <p:spTree>
      <p:nvGrpSpPr>
        <p:cNvPr id="1" name=""/>
        <p:cNvGrpSpPr/>
        <p:nvPr/>
      </p:nvGrpSpPr>
      <p:grpSpPr>
        <a:xfrm>
          <a:off x="0" y="0"/>
          <a:ext cx="0" cy="0"/>
          <a:chOff x="0" y="0"/>
          <a:chExt cx="0" cy="0"/>
        </a:xfrm>
      </p:grpSpPr>
      <p:sp>
        <p:nvSpPr>
          <p:cNvPr id="23" name="Text Placeholder 2">
            <a:extLst>
              <a:ext uri="{FF2B5EF4-FFF2-40B4-BE49-F238E27FC236}">
                <a16:creationId xmlns:a16="http://schemas.microsoft.com/office/drawing/2014/main" id="{DA84C3F7-BB03-5D49-9A2E-979137BADE88}"/>
              </a:ext>
            </a:extLst>
          </p:cNvPr>
          <p:cNvSpPr>
            <a:spLocks noGrp="1"/>
          </p:cNvSpPr>
          <p:nvPr>
            <p:ph type="body" sz="quarter" idx="13" hasCustomPrompt="1"/>
          </p:nvPr>
        </p:nvSpPr>
        <p:spPr>
          <a:xfrm>
            <a:off x="236537" y="590550"/>
            <a:ext cx="8678863" cy="4114800"/>
          </a:xfrm>
        </p:spPr>
        <p:txBody>
          <a:bodyPr>
            <a:noAutofit/>
          </a:bodyPr>
          <a:lstStyle>
            <a:lvl1pPr marL="0" indent="0">
              <a:buClr>
                <a:srgbClr val="E17C00"/>
              </a:buClr>
              <a:buNone/>
              <a:defRPr sz="1600" b="1" i="0">
                <a:solidFill>
                  <a:schemeClr val="tx1"/>
                </a:solidFill>
                <a:latin typeface="Arial" panose="020B0604020202020204" pitchFamily="34" charset="0"/>
                <a:cs typeface="Arial" panose="020B0604020202020204" pitchFamily="34" charset="0"/>
              </a:defRPr>
            </a:lvl1pPr>
            <a:lvl2pPr marL="457188" indent="0">
              <a:buClr>
                <a:srgbClr val="E17C00"/>
              </a:buClr>
              <a:buNone/>
              <a:defRPr sz="1400">
                <a:solidFill>
                  <a:schemeClr val="tx1"/>
                </a:solidFill>
                <a:latin typeface="Arial" panose="020B0604020202020204" pitchFamily="34" charset="0"/>
                <a:cs typeface="Arial" panose="020B0604020202020204" pitchFamily="34" charset="0"/>
              </a:defRPr>
            </a:lvl2pPr>
            <a:lvl3pPr marL="914377" indent="0">
              <a:buClr>
                <a:srgbClr val="E17C00"/>
              </a:buClr>
              <a:buNone/>
              <a:defRPr sz="1200">
                <a:solidFill>
                  <a:schemeClr val="tx1"/>
                </a:solidFill>
                <a:latin typeface="Arial" panose="020B0604020202020204" pitchFamily="34" charset="0"/>
                <a:cs typeface="Arial" panose="020B0604020202020204" pitchFamily="34" charset="0"/>
              </a:defRPr>
            </a:lvl3pPr>
            <a:lvl4pPr marL="1371566" indent="0">
              <a:buClr>
                <a:srgbClr val="E17C00"/>
              </a:buClr>
              <a:buNone/>
              <a:defRPr sz="1100">
                <a:solidFill>
                  <a:schemeClr val="tx1"/>
                </a:solidFill>
                <a:latin typeface="Arial" panose="020B0604020202020204" pitchFamily="34" charset="0"/>
                <a:cs typeface="Arial" panose="020B0604020202020204" pitchFamily="34" charset="0"/>
              </a:defRPr>
            </a:lvl4pPr>
            <a:lvl5pPr marL="1828755" indent="0">
              <a:buClr>
                <a:srgbClr val="E17C00"/>
              </a:buClr>
              <a:buNone/>
              <a:defRPr sz="1100">
                <a:solidFill>
                  <a:schemeClr val="tx1"/>
                </a:solidFill>
                <a:latin typeface="Arial" panose="020B0604020202020204" pitchFamily="34" charset="0"/>
                <a:cs typeface="Arial" panose="020B0604020202020204" pitchFamily="34" charset="0"/>
              </a:defRPr>
            </a:lvl5pPr>
          </a:lstStyle>
          <a:p>
            <a:pPr lvl="0"/>
            <a:r>
              <a:rPr lang="en-US" dirty="0"/>
              <a:t>Click to add list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itle 6">
            <a:extLst>
              <a:ext uri="{FF2B5EF4-FFF2-40B4-BE49-F238E27FC236}">
                <a16:creationId xmlns:a16="http://schemas.microsoft.com/office/drawing/2014/main" id="{3F270E63-EF19-EF43-941B-3BBB3C082F24}"/>
              </a:ext>
            </a:extLst>
          </p:cNvPr>
          <p:cNvSpPr>
            <a:spLocks noGrp="1"/>
          </p:cNvSpPr>
          <p:nvPr>
            <p:ph type="title" hasCustomPrompt="1"/>
          </p:nvPr>
        </p:nvSpPr>
        <p:spPr>
          <a:xfrm>
            <a:off x="236537" y="1003"/>
            <a:ext cx="6724650" cy="514350"/>
          </a:xfrm>
        </p:spPr>
        <p:txBody>
          <a:bodyPr>
            <a:noAutofit/>
          </a:bodyPr>
          <a:lstStyle>
            <a:lvl1pPr algn="l">
              <a:defRPr sz="2800" b="1" i="0">
                <a:solidFill>
                  <a:srgbClr val="72243D"/>
                </a:solidFill>
                <a:latin typeface="Arial" panose="020B0604020202020204" pitchFamily="34" charset="0"/>
                <a:cs typeface="Arial" panose="020B0604020202020204" pitchFamily="34" charset="0"/>
              </a:defRPr>
            </a:lvl1pPr>
          </a:lstStyle>
          <a:p>
            <a:r>
              <a:rPr lang="en-US" dirty="0"/>
              <a:t>CLICK TO ADD TEXT</a:t>
            </a:r>
          </a:p>
        </p:txBody>
      </p:sp>
      <p:pic>
        <p:nvPicPr>
          <p:cNvPr id="5" name="Picture 4">
            <a:extLst>
              <a:ext uri="{FF2B5EF4-FFF2-40B4-BE49-F238E27FC236}">
                <a16:creationId xmlns:a16="http://schemas.microsoft.com/office/drawing/2014/main" id="{8FA4E044-CDAB-C101-E13D-D9A7A1D14D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6200" y="4780547"/>
            <a:ext cx="1305543" cy="327040"/>
          </a:xfrm>
          <a:prstGeom prst="rect">
            <a:avLst/>
          </a:prstGeom>
        </p:spPr>
      </p:pic>
      <p:sp>
        <p:nvSpPr>
          <p:cNvPr id="3" name="Slide Number Placeholder 2">
            <a:extLst>
              <a:ext uri="{FF2B5EF4-FFF2-40B4-BE49-F238E27FC236}">
                <a16:creationId xmlns:a16="http://schemas.microsoft.com/office/drawing/2014/main" id="{970904D9-9C5E-DF83-0721-A260D1A567EA}"/>
              </a:ext>
            </a:extLst>
          </p:cNvPr>
          <p:cNvSpPr>
            <a:spLocks noGrp="1"/>
          </p:cNvSpPr>
          <p:nvPr>
            <p:ph type="sldNum" sz="quarter" idx="15"/>
          </p:nvPr>
        </p:nvSpPr>
        <p:spPr>
          <a:xfrm>
            <a:off x="6858000" y="4780547"/>
            <a:ext cx="2057400" cy="274637"/>
          </a:xfrm>
        </p:spPr>
        <p:txBody>
          <a:bodyPr/>
          <a:lstStyle/>
          <a:p>
            <a:fld id="{0AF20276-0DC3-B247-B3AE-8A6E2F85407E}" type="slidenum">
              <a:rPr lang="en-VN" smtClean="0"/>
              <a:t>‹#›</a:t>
            </a:fld>
            <a:endParaRPr lang="en-VN"/>
          </a:p>
        </p:txBody>
      </p:sp>
      <p:cxnSp>
        <p:nvCxnSpPr>
          <p:cNvPr id="2" name="Straight Connector 1">
            <a:extLst>
              <a:ext uri="{FF2B5EF4-FFF2-40B4-BE49-F238E27FC236}">
                <a16:creationId xmlns:a16="http://schemas.microsoft.com/office/drawing/2014/main" id="{889A14E8-45A0-83A5-AE54-DB581D14CADD}"/>
              </a:ext>
            </a:extLst>
          </p:cNvPr>
          <p:cNvCxnSpPr/>
          <p:nvPr userDrawn="1"/>
        </p:nvCxnSpPr>
        <p:spPr>
          <a:xfrm>
            <a:off x="236537" y="514350"/>
            <a:ext cx="867886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787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losing Slide 1">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4C91AED3-4268-ECE5-4D79-7DB55222849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 name="Title 18">
            <a:extLst>
              <a:ext uri="{FF2B5EF4-FFF2-40B4-BE49-F238E27FC236}">
                <a16:creationId xmlns:a16="http://schemas.microsoft.com/office/drawing/2014/main" id="{B7DB02B7-5B63-2F41-A757-1DC44B15B767}"/>
              </a:ext>
            </a:extLst>
          </p:cNvPr>
          <p:cNvSpPr>
            <a:spLocks noGrp="1"/>
          </p:cNvSpPr>
          <p:nvPr>
            <p:ph type="title" hasCustomPrompt="1"/>
          </p:nvPr>
        </p:nvSpPr>
        <p:spPr>
          <a:xfrm>
            <a:off x="4038600" y="2491623"/>
            <a:ext cx="48006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8D0DDD0E-906B-D31D-E005-FD702E298D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12334" y="4400550"/>
            <a:ext cx="2222550" cy="555638"/>
          </a:xfrm>
          <a:prstGeom prst="rect">
            <a:avLst/>
          </a:prstGeom>
        </p:spPr>
      </p:pic>
    </p:spTree>
    <p:extLst>
      <p:ext uri="{BB962C8B-B14F-4D97-AF65-F5344CB8AC3E}">
        <p14:creationId xmlns:p14="http://schemas.microsoft.com/office/powerpoint/2010/main" val="450045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9716DC12-C22F-2EC7-952D-EAD5FAD49D3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1" name="Title 18">
            <a:extLst>
              <a:ext uri="{FF2B5EF4-FFF2-40B4-BE49-F238E27FC236}">
                <a16:creationId xmlns:a16="http://schemas.microsoft.com/office/drawing/2014/main" id="{2AEEC7FA-C7A4-884B-9AEB-71DBAF3A35B5}"/>
              </a:ext>
            </a:extLst>
          </p:cNvPr>
          <p:cNvSpPr>
            <a:spLocks noGrp="1"/>
          </p:cNvSpPr>
          <p:nvPr>
            <p:ph type="title" hasCustomPrompt="1"/>
          </p:nvPr>
        </p:nvSpPr>
        <p:spPr>
          <a:xfrm>
            <a:off x="381000" y="2876550"/>
            <a:ext cx="6096000" cy="1210533"/>
          </a:xfrm>
          <a:noFill/>
        </p:spPr>
        <p:txBody>
          <a:bodyPr lIns="182880" tIns="182880" rIns="182880" anchor="ctr">
            <a:noAutofit/>
          </a:bodyPr>
          <a:lstStyle>
            <a:lvl1pPr algn="l">
              <a:defRPr sz="7200" b="0" i="1" baseline="0">
                <a:solidFill>
                  <a:schemeClr val="bg1"/>
                </a:solidFill>
                <a:latin typeface="Georgia" panose="02040502050405020303" pitchFamily="18" charset="0"/>
              </a:defRPr>
            </a:lvl1pPr>
          </a:lstStyle>
          <a:p>
            <a:r>
              <a:rPr lang="en-US" dirty="0"/>
              <a:t>Thank You</a:t>
            </a:r>
          </a:p>
        </p:txBody>
      </p:sp>
      <p:pic>
        <p:nvPicPr>
          <p:cNvPr id="2" name="Picture 1">
            <a:extLst>
              <a:ext uri="{FF2B5EF4-FFF2-40B4-BE49-F238E27FC236}">
                <a16:creationId xmlns:a16="http://schemas.microsoft.com/office/drawing/2014/main" id="{6E8EA9F1-9F15-10BF-3C37-403A28DB916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781800" y="4476750"/>
            <a:ext cx="2222550" cy="555638"/>
          </a:xfrm>
          <a:prstGeom prst="rect">
            <a:avLst/>
          </a:prstGeom>
        </p:spPr>
      </p:pic>
    </p:spTree>
    <p:extLst>
      <p:ext uri="{BB962C8B-B14F-4D97-AF65-F5344CB8AC3E}">
        <p14:creationId xmlns:p14="http://schemas.microsoft.com/office/powerpoint/2010/main" val="4189345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3494" y="199406"/>
            <a:ext cx="8771906" cy="85725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43494" y="1200151"/>
            <a:ext cx="8771906" cy="281939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39FD9111-1EF2-33CF-6A11-09920F2275E2}"/>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0AF20276-0DC3-B247-B3AE-8A6E2F85407E}" type="slidenum">
              <a:rPr lang="en-VN" smtClean="0"/>
              <a:t>‹#›</a:t>
            </a:fld>
            <a:endParaRPr lang="en-VN"/>
          </a:p>
        </p:txBody>
      </p:sp>
    </p:spTree>
    <p:extLst>
      <p:ext uri="{BB962C8B-B14F-4D97-AF65-F5344CB8AC3E}">
        <p14:creationId xmlns:p14="http://schemas.microsoft.com/office/powerpoint/2010/main" val="1459005253"/>
      </p:ext>
    </p:extLst>
  </p:cSld>
  <p:clrMap bg1="lt1" tx1="dk1" bg2="lt2" tx2="dk2" accent1="accent1" accent2="accent2" accent3="accent3" accent4="accent4" accent5="accent5" accent6="accent6" hlink="hlink" folHlink="folHlink"/>
  <p:sldLayoutIdLst>
    <p:sldLayoutId id="2147483676" r:id="rId1"/>
    <p:sldLayoutId id="2147483649" r:id="rId2"/>
    <p:sldLayoutId id="2147483679" r:id="rId3"/>
    <p:sldLayoutId id="2147483681" r:id="rId4"/>
    <p:sldLayoutId id="2147483687" r:id="rId5"/>
    <p:sldLayoutId id="214748368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spcBef>
          <a:spcPct val="0"/>
        </a:spcBef>
        <a:buNone/>
        <a:defRPr sz="2400" b="1" i="0" kern="1200">
          <a:solidFill>
            <a:schemeClr val="tx1"/>
          </a:solidFill>
          <a:latin typeface="Arial" panose="020B0604020202020204" pitchFamily="34" charset="0"/>
          <a:ea typeface="+mj-ea"/>
          <a:cs typeface="Arial" panose="020B0604020202020204" pitchFamily="34" charset="0"/>
        </a:defRPr>
      </a:lvl1pPr>
    </p:titleStyle>
    <p:bodyStyle>
      <a:lvl1pPr marL="342891" indent="-342891" algn="l" defTabSz="914377" rtl="0" eaLnBrk="1" latinLnBrk="0" hangingPunct="1">
        <a:spcBef>
          <a:spcPct val="20000"/>
        </a:spcBef>
        <a:buClr>
          <a:srgbClr val="F93822"/>
        </a:buClr>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1pPr>
      <a:lvl2pPr marL="742932" indent="-285744" algn="l" defTabSz="914377" rtl="0" eaLnBrk="1" latinLnBrk="0" hangingPunct="1">
        <a:spcBef>
          <a:spcPct val="20000"/>
        </a:spcBef>
        <a:buClr>
          <a:srgbClr val="F93822"/>
        </a:buClr>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2971" indent="-228594" algn="l" defTabSz="914377" rtl="0" eaLnBrk="1" latinLnBrk="0" hangingPunct="1">
        <a:spcBef>
          <a:spcPct val="20000"/>
        </a:spcBef>
        <a:buClr>
          <a:srgbClr val="F93822"/>
        </a:buClr>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160"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2057349" indent="-228594" algn="l" defTabSz="914377" rtl="0" eaLnBrk="1" latinLnBrk="0" hangingPunct="1">
        <a:spcBef>
          <a:spcPct val="20000"/>
        </a:spcBef>
        <a:buClr>
          <a:srgbClr val="F93822"/>
        </a:buClr>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144" userDrawn="1">
          <p15:clr>
            <a:srgbClr val="F26B43"/>
          </p15:clr>
        </p15:guide>
        <p15:guide id="4" pos="5616" userDrawn="1">
          <p15:clr>
            <a:srgbClr val="F26B43"/>
          </p15:clr>
        </p15:guide>
        <p15:guide id="5" orient="horz" pos="132" userDrawn="1">
          <p15:clr>
            <a:srgbClr val="F26B43"/>
          </p15:clr>
        </p15:guide>
        <p15:guide id="6" orient="horz" pos="2964" userDrawn="1">
          <p15:clr>
            <a:srgbClr val="F26B43"/>
          </p15:clr>
        </p15:guide>
        <p15:guide id="7" pos="4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chart" Target="../charts/char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9B8AC8-A3A6-9DC1-72FD-53FA5580E610}"/>
              </a:ext>
            </a:extLst>
          </p:cNvPr>
          <p:cNvSpPr>
            <a:spLocks noGrp="1"/>
          </p:cNvSpPr>
          <p:nvPr>
            <p:ph type="body" sz="quarter" idx="13"/>
          </p:nvPr>
        </p:nvSpPr>
        <p:spPr/>
        <p:txBody>
          <a:bodyPr/>
          <a:lstStyle/>
          <a:p>
            <a:r>
              <a:rPr lang="en-VN" sz="1800" i="1" dirty="0"/>
              <a:t>WEEK 6 – September </a:t>
            </a:r>
            <a:r>
              <a:rPr lang="en-VN" dirty="0"/>
              <a:t>27</a:t>
            </a:r>
            <a:r>
              <a:rPr lang="en-VN" sz="1800" i="1" dirty="0"/>
              <a:t>th 2026</a:t>
            </a:r>
            <a:endParaRPr lang="en-US" dirty="0"/>
          </a:p>
        </p:txBody>
      </p:sp>
      <p:sp>
        <p:nvSpPr>
          <p:cNvPr id="3" name="Title 2">
            <a:extLst>
              <a:ext uri="{FF2B5EF4-FFF2-40B4-BE49-F238E27FC236}">
                <a16:creationId xmlns:a16="http://schemas.microsoft.com/office/drawing/2014/main" id="{5755A3C6-573A-780A-A43A-254D066FD7CC}"/>
              </a:ext>
            </a:extLst>
          </p:cNvPr>
          <p:cNvSpPr>
            <a:spLocks noGrp="1"/>
          </p:cNvSpPr>
          <p:nvPr>
            <p:ph type="title"/>
          </p:nvPr>
        </p:nvSpPr>
        <p:spPr>
          <a:xfrm>
            <a:off x="152400" y="1047750"/>
            <a:ext cx="7672668" cy="829533"/>
          </a:xfrm>
        </p:spPr>
        <p:txBody>
          <a:bodyPr/>
          <a:lstStyle/>
          <a:p>
            <a:r>
              <a:rPr lang="en-VN" sz="3600" dirty="0"/>
              <a:t>WEEKLY REPORT</a:t>
            </a:r>
            <a:br>
              <a:rPr lang="en-VN" sz="3600" dirty="0"/>
            </a:br>
            <a:r>
              <a:rPr lang="en-VN" sz="2400" dirty="0"/>
              <a:t>POST STROKE REHABILITATION SYSTEM</a:t>
            </a:r>
          </a:p>
        </p:txBody>
      </p:sp>
      <p:sp>
        <p:nvSpPr>
          <p:cNvPr id="5" name="Slide Number Placeholder 4">
            <a:extLst>
              <a:ext uri="{FF2B5EF4-FFF2-40B4-BE49-F238E27FC236}">
                <a16:creationId xmlns:a16="http://schemas.microsoft.com/office/drawing/2014/main" id="{F10B16B7-6554-020D-1F57-1C55BD1232EF}"/>
              </a:ext>
            </a:extLst>
          </p:cNvPr>
          <p:cNvSpPr>
            <a:spLocks noGrp="1"/>
          </p:cNvSpPr>
          <p:nvPr>
            <p:ph type="sldNum" sz="quarter" idx="15"/>
          </p:nvPr>
        </p:nvSpPr>
        <p:spPr/>
        <p:txBody>
          <a:bodyPr/>
          <a:lstStyle/>
          <a:p>
            <a:fld id="{0AF20276-0DC3-B247-B3AE-8A6E2F85407E}" type="slidenum">
              <a:rPr lang="en-VN" smtClean="0"/>
              <a:t>1</a:t>
            </a:fld>
            <a:endParaRPr lang="en-VN"/>
          </a:p>
        </p:txBody>
      </p:sp>
    </p:spTree>
    <p:extLst>
      <p:ext uri="{BB962C8B-B14F-4D97-AF65-F5344CB8AC3E}">
        <p14:creationId xmlns:p14="http://schemas.microsoft.com/office/powerpoint/2010/main" val="3681141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6B6B19-1C8F-148A-F8F5-5C2336A550AC}"/>
              </a:ext>
            </a:extLst>
          </p:cNvPr>
          <p:cNvSpPr>
            <a:spLocks noGrp="1"/>
          </p:cNvSpPr>
          <p:nvPr>
            <p:ph type="body" sz="quarter" idx="13"/>
          </p:nvPr>
        </p:nvSpPr>
        <p:spPr/>
        <p:txBody>
          <a:bodyPr/>
          <a:lstStyle/>
          <a:p>
            <a:pPr marL="342900" indent="-342900">
              <a:buClr>
                <a:schemeClr val="tx1"/>
              </a:buClr>
              <a:buFont typeface="+mj-lt"/>
              <a:buAutoNum type="arabicPeriod"/>
            </a:pPr>
            <a:r>
              <a:rPr lang="en-VN" dirty="0"/>
              <a:t>Quick Update</a:t>
            </a:r>
          </a:p>
          <a:p>
            <a:pPr marL="342900" indent="-342900">
              <a:buClr>
                <a:schemeClr val="tx1"/>
              </a:buClr>
              <a:buFont typeface="+mj-lt"/>
              <a:buAutoNum type="arabicPeriod"/>
            </a:pPr>
            <a:r>
              <a:rPr lang="en-VN" dirty="0"/>
              <a:t>Literature Review Paper</a:t>
            </a:r>
          </a:p>
          <a:p>
            <a:pPr marL="342900" indent="-342900">
              <a:buClr>
                <a:schemeClr val="tx1"/>
              </a:buClr>
              <a:buFont typeface="+mj-lt"/>
              <a:buAutoNum type="arabicPeriod"/>
            </a:pPr>
            <a:r>
              <a:rPr lang="en-VN" dirty="0"/>
              <a:t>Active Sensing</a:t>
            </a:r>
          </a:p>
          <a:p>
            <a:pPr marL="342900" indent="-342900">
              <a:buClr>
                <a:schemeClr val="tx1"/>
              </a:buClr>
              <a:buFont typeface="+mj-lt"/>
              <a:buAutoNum type="arabicPeriod"/>
            </a:pPr>
            <a:endParaRPr lang="en-VN" dirty="0"/>
          </a:p>
          <a:p>
            <a:pPr marL="342900" indent="-342900">
              <a:buClr>
                <a:schemeClr val="tx1"/>
              </a:buClr>
              <a:buFont typeface="+mj-lt"/>
              <a:buAutoNum type="arabicPeriod"/>
            </a:pPr>
            <a:endParaRPr lang="en-VN" dirty="0"/>
          </a:p>
        </p:txBody>
      </p:sp>
      <p:sp>
        <p:nvSpPr>
          <p:cNvPr id="3" name="Title 2">
            <a:extLst>
              <a:ext uri="{FF2B5EF4-FFF2-40B4-BE49-F238E27FC236}">
                <a16:creationId xmlns:a16="http://schemas.microsoft.com/office/drawing/2014/main" id="{8663823F-6E3A-14C2-0D67-A62F485F3A23}"/>
              </a:ext>
            </a:extLst>
          </p:cNvPr>
          <p:cNvSpPr>
            <a:spLocks noGrp="1"/>
          </p:cNvSpPr>
          <p:nvPr>
            <p:ph type="title"/>
          </p:nvPr>
        </p:nvSpPr>
        <p:spPr/>
        <p:txBody>
          <a:bodyPr/>
          <a:lstStyle/>
          <a:p>
            <a:r>
              <a:rPr lang="en-VN" dirty="0"/>
              <a:t>Agenda</a:t>
            </a:r>
          </a:p>
        </p:txBody>
      </p:sp>
      <p:sp>
        <p:nvSpPr>
          <p:cNvPr id="5" name="Slide Number Placeholder 4">
            <a:extLst>
              <a:ext uri="{FF2B5EF4-FFF2-40B4-BE49-F238E27FC236}">
                <a16:creationId xmlns:a16="http://schemas.microsoft.com/office/drawing/2014/main" id="{15482289-40B2-C584-AE02-A3FEB872A6BD}"/>
              </a:ext>
            </a:extLst>
          </p:cNvPr>
          <p:cNvSpPr>
            <a:spLocks noGrp="1"/>
          </p:cNvSpPr>
          <p:nvPr>
            <p:ph type="sldNum" sz="quarter" idx="15"/>
          </p:nvPr>
        </p:nvSpPr>
        <p:spPr/>
        <p:txBody>
          <a:bodyPr/>
          <a:lstStyle/>
          <a:p>
            <a:fld id="{0AF20276-0DC3-B247-B3AE-8A6E2F85407E}" type="slidenum">
              <a:rPr lang="en-VN" smtClean="0"/>
              <a:t>2</a:t>
            </a:fld>
            <a:endParaRPr lang="en-VN"/>
          </a:p>
        </p:txBody>
      </p:sp>
    </p:spTree>
    <p:extLst>
      <p:ext uri="{BB962C8B-B14F-4D97-AF65-F5344CB8AC3E}">
        <p14:creationId xmlns:p14="http://schemas.microsoft.com/office/powerpoint/2010/main" val="1544872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96F5-60BC-3F11-3536-60CDB0EEA45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0764014-59CC-6F54-DDE9-DBDC845C4416}"/>
              </a:ext>
            </a:extLst>
          </p:cNvPr>
          <p:cNvSpPr>
            <a:spLocks noGrp="1"/>
          </p:cNvSpPr>
          <p:nvPr>
            <p:ph type="title"/>
          </p:nvPr>
        </p:nvSpPr>
        <p:spPr>
          <a:xfrm>
            <a:off x="236536" y="1003"/>
            <a:ext cx="8450263" cy="514350"/>
          </a:xfrm>
        </p:spPr>
        <p:txBody>
          <a:bodyPr/>
          <a:lstStyle/>
          <a:p>
            <a:r>
              <a:rPr lang="en-VN" dirty="0"/>
              <a:t>1. Quick Update</a:t>
            </a:r>
          </a:p>
        </p:txBody>
      </p:sp>
      <p:sp>
        <p:nvSpPr>
          <p:cNvPr id="10" name="Slide Number Placeholder 9">
            <a:extLst>
              <a:ext uri="{FF2B5EF4-FFF2-40B4-BE49-F238E27FC236}">
                <a16:creationId xmlns:a16="http://schemas.microsoft.com/office/drawing/2014/main" id="{B87E998C-AEBE-C1CE-9D16-4BEEE027EA78}"/>
              </a:ext>
            </a:extLst>
          </p:cNvPr>
          <p:cNvSpPr>
            <a:spLocks noGrp="1"/>
          </p:cNvSpPr>
          <p:nvPr>
            <p:ph type="sldNum" sz="quarter" idx="15"/>
          </p:nvPr>
        </p:nvSpPr>
        <p:spPr/>
        <p:txBody>
          <a:bodyPr/>
          <a:lstStyle/>
          <a:p>
            <a:fld id="{0AF20276-0DC3-B247-B3AE-8A6E2F85407E}" type="slidenum">
              <a:rPr lang="en-VN" smtClean="0"/>
              <a:t>3</a:t>
            </a:fld>
            <a:endParaRPr lang="en-VN"/>
          </a:p>
        </p:txBody>
      </p:sp>
      <p:sp>
        <p:nvSpPr>
          <p:cNvPr id="7" name="Text Placeholder 6">
            <a:extLst>
              <a:ext uri="{FF2B5EF4-FFF2-40B4-BE49-F238E27FC236}">
                <a16:creationId xmlns:a16="http://schemas.microsoft.com/office/drawing/2014/main" id="{767512C5-2DA5-42D5-1135-E63C80A626BD}"/>
              </a:ext>
            </a:extLst>
          </p:cNvPr>
          <p:cNvSpPr>
            <a:spLocks noGrp="1"/>
          </p:cNvSpPr>
          <p:nvPr>
            <p:ph type="body" sz="quarter" idx="13"/>
          </p:nvPr>
        </p:nvSpPr>
        <p:spPr/>
        <p:txBody>
          <a:bodyPr/>
          <a:lstStyle/>
          <a:p>
            <a:pPr marL="342900" indent="-342900">
              <a:buAutoNum type="arabicPeriod"/>
            </a:pPr>
            <a:r>
              <a:rPr lang="en-VN" dirty="0"/>
              <a:t>Review paper summary</a:t>
            </a:r>
          </a:p>
          <a:p>
            <a:pPr marL="342900" indent="-342900">
              <a:buAutoNum type="arabicPeriod"/>
            </a:pPr>
            <a:r>
              <a:rPr lang="en-VN" dirty="0"/>
              <a:t>Pipeline for measurement</a:t>
            </a:r>
          </a:p>
        </p:txBody>
      </p:sp>
    </p:spTree>
    <p:extLst>
      <p:ext uri="{BB962C8B-B14F-4D97-AF65-F5344CB8AC3E}">
        <p14:creationId xmlns:p14="http://schemas.microsoft.com/office/powerpoint/2010/main" val="1414651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85C64-655B-8EC8-2180-8D3D8930338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D3D771-B92B-967F-1C0E-438A2E23A6FC}"/>
              </a:ext>
            </a:extLst>
          </p:cNvPr>
          <p:cNvSpPr>
            <a:spLocks noGrp="1"/>
          </p:cNvSpPr>
          <p:nvPr>
            <p:ph type="title"/>
          </p:nvPr>
        </p:nvSpPr>
        <p:spPr>
          <a:xfrm>
            <a:off x="236536" y="1003"/>
            <a:ext cx="8450263" cy="514350"/>
          </a:xfrm>
        </p:spPr>
        <p:txBody>
          <a:bodyPr/>
          <a:lstStyle/>
          <a:p>
            <a:r>
              <a:rPr lang="en-VN" dirty="0"/>
              <a:t>2. Literature Review Paper – Background</a:t>
            </a:r>
          </a:p>
        </p:txBody>
      </p:sp>
      <p:sp>
        <p:nvSpPr>
          <p:cNvPr id="22" name="Slide Number Placeholder 21">
            <a:extLst>
              <a:ext uri="{FF2B5EF4-FFF2-40B4-BE49-F238E27FC236}">
                <a16:creationId xmlns:a16="http://schemas.microsoft.com/office/drawing/2014/main" id="{3A7E10A3-80C8-EEDF-482F-304E99C6A672}"/>
              </a:ext>
            </a:extLst>
          </p:cNvPr>
          <p:cNvSpPr>
            <a:spLocks noGrp="1"/>
          </p:cNvSpPr>
          <p:nvPr>
            <p:ph type="sldNum" sz="quarter" idx="15"/>
          </p:nvPr>
        </p:nvSpPr>
        <p:spPr/>
        <p:txBody>
          <a:bodyPr/>
          <a:lstStyle/>
          <a:p>
            <a:fld id="{0AF20276-0DC3-B247-B3AE-8A6E2F85407E}" type="slidenum">
              <a:rPr lang="en-VN" smtClean="0"/>
              <a:t>4</a:t>
            </a:fld>
            <a:endParaRPr lang="en-VN"/>
          </a:p>
        </p:txBody>
      </p:sp>
      <p:sp>
        <p:nvSpPr>
          <p:cNvPr id="5" name="Text Placeholder 6">
            <a:extLst>
              <a:ext uri="{FF2B5EF4-FFF2-40B4-BE49-F238E27FC236}">
                <a16:creationId xmlns:a16="http://schemas.microsoft.com/office/drawing/2014/main" id="{D824A26F-8A37-AD5A-B6E0-3BDF1156F0C4}"/>
              </a:ext>
            </a:extLst>
          </p:cNvPr>
          <p:cNvSpPr>
            <a:spLocks noGrp="1"/>
          </p:cNvSpPr>
          <p:nvPr>
            <p:ph type="body" sz="quarter" idx="13"/>
          </p:nvPr>
        </p:nvSpPr>
        <p:spPr>
          <a:xfrm>
            <a:off x="762000" y="895350"/>
            <a:ext cx="3954463" cy="514350"/>
          </a:xfrm>
        </p:spPr>
        <p:txBody>
          <a:bodyPr/>
          <a:lstStyle/>
          <a:p>
            <a:r>
              <a:rPr lang="en-VN" b="0" dirty="0"/>
              <a:t>Spreadsheet to keep track with papers</a:t>
            </a:r>
          </a:p>
        </p:txBody>
      </p:sp>
    </p:spTree>
    <p:extLst>
      <p:ext uri="{BB962C8B-B14F-4D97-AF65-F5344CB8AC3E}">
        <p14:creationId xmlns:p14="http://schemas.microsoft.com/office/powerpoint/2010/main" val="257998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6CD74-E3DE-8558-8380-B56DC2D5947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8BC6BD2-D08C-C0DB-630D-72B5F0628968}"/>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50BCC9F-B61B-0E30-26D1-C3C4FD404F82}"/>
              </a:ext>
            </a:extLst>
          </p:cNvPr>
          <p:cNvSpPr>
            <a:spLocks noGrp="1"/>
          </p:cNvSpPr>
          <p:nvPr>
            <p:ph type="sldNum" sz="quarter" idx="15"/>
          </p:nvPr>
        </p:nvSpPr>
        <p:spPr/>
        <p:txBody>
          <a:bodyPr/>
          <a:lstStyle/>
          <a:p>
            <a:fld id="{0AF20276-0DC3-B247-B3AE-8A6E2F85407E}" type="slidenum">
              <a:rPr lang="en-VN" smtClean="0"/>
              <a:t>5</a:t>
            </a:fld>
            <a:endParaRPr lang="en-VN"/>
          </a:p>
        </p:txBody>
      </p:sp>
      <p:graphicFrame>
        <p:nvGraphicFramePr>
          <p:cNvPr id="4" name="Table 3">
            <a:extLst>
              <a:ext uri="{FF2B5EF4-FFF2-40B4-BE49-F238E27FC236}">
                <a16:creationId xmlns:a16="http://schemas.microsoft.com/office/drawing/2014/main" id="{9FCBE9C9-395E-43C1-22C0-9FBE026F10F8}"/>
              </a:ext>
            </a:extLst>
          </p:cNvPr>
          <p:cNvGraphicFramePr/>
          <p:nvPr>
            <p:extLst>
              <p:ext uri="{D42A27DB-BD31-4B8C-83A1-F6EECF244321}">
                <p14:modId xmlns:p14="http://schemas.microsoft.com/office/powerpoint/2010/main" val="3906812732"/>
              </p:ext>
            </p:extLst>
          </p:nvPr>
        </p:nvGraphicFramePr>
        <p:xfrm>
          <a:off x="400050" y="1123950"/>
          <a:ext cx="7753350" cy="2819400"/>
        </p:xfrm>
        <a:graphic>
          <a:graphicData uri="http://schemas.openxmlformats.org/drawingml/2006/table">
            <a:tbl>
              <a:tblPr/>
              <a:tblGrid>
                <a:gridCol w="1897673">
                  <a:extLst>
                    <a:ext uri="{9D8B030D-6E8A-4147-A177-3AD203B41FA5}">
                      <a16:colId xmlns:a16="http://schemas.microsoft.com/office/drawing/2014/main" val="20000"/>
                    </a:ext>
                  </a:extLst>
                </a:gridCol>
                <a:gridCol w="1951892">
                  <a:extLst>
                    <a:ext uri="{9D8B030D-6E8A-4147-A177-3AD203B41FA5}">
                      <a16:colId xmlns:a16="http://schemas.microsoft.com/office/drawing/2014/main" val="20001"/>
                    </a:ext>
                  </a:extLst>
                </a:gridCol>
                <a:gridCol w="3903785">
                  <a:extLst>
                    <a:ext uri="{9D8B030D-6E8A-4147-A177-3AD203B41FA5}">
                      <a16:colId xmlns:a16="http://schemas.microsoft.com/office/drawing/2014/main" val="20002"/>
                    </a:ext>
                  </a:extLst>
                </a:gridCol>
              </a:tblGrid>
              <a:tr h="704850">
                <a:tc>
                  <a:txBody>
                    <a:bodyPr/>
                    <a:lstStyle/>
                    <a:p>
                      <a:r>
                        <a:rPr sz="915" b="1">
                          <a:solidFill>
                            <a:srgbClr val="FFFFFF"/>
                          </a:solidFill>
                          <a:latin typeface="Arial"/>
                          <a:ea typeface="Arial"/>
                          <a:cs typeface="Arial"/>
                        </a:rPr>
                        <a:t>Sheet</a:t>
                      </a:r>
                    </a:p>
                  </a:txBody>
                  <a:tcPr anchor="ctr">
                    <a:solidFill>
                      <a:srgbClr val="72243D"/>
                    </a:solidFill>
                  </a:tcPr>
                </a:tc>
                <a:tc>
                  <a:txBody>
                    <a:bodyPr/>
                    <a:lstStyle/>
                    <a:p>
                      <a:r>
                        <a:rPr sz="915" b="1">
                          <a:solidFill>
                            <a:srgbClr val="FFFFFF"/>
                          </a:solidFill>
                          <a:latin typeface="Arial"/>
                          <a:ea typeface="Arial"/>
                          <a:cs typeface="Arial"/>
                        </a:rPr>
                        <a:t>Unit of record</a:t>
                      </a:r>
                    </a:p>
                  </a:txBody>
                  <a:tcPr anchor="ctr">
                    <a:solidFill>
                      <a:srgbClr val="72243D"/>
                    </a:solidFill>
                  </a:tcPr>
                </a:tc>
                <a:tc>
                  <a:txBody>
                    <a:bodyPr/>
                    <a:lstStyle/>
                    <a:p>
                      <a:r>
                        <a:rPr sz="915" b="1">
                          <a:solidFill>
                            <a:srgbClr val="FFFFFF"/>
                          </a:solidFill>
                          <a:latin typeface="Arial"/>
                          <a:ea typeface="Arial"/>
                          <a:cs typeface="Arial"/>
                        </a:rPr>
                        <a:t>Question answered</a:t>
                      </a:r>
                    </a:p>
                  </a:txBody>
                  <a:tcPr anchor="ctr">
                    <a:solidFill>
                      <a:srgbClr val="72243D"/>
                    </a:solidFill>
                  </a:tcPr>
                </a:tc>
                <a:extLst>
                  <a:ext uri="{0D108BD9-81ED-4DB2-BD59-A6C34878D82A}">
                    <a16:rowId xmlns:a16="http://schemas.microsoft.com/office/drawing/2014/main" val="10000"/>
                  </a:ext>
                </a:extLst>
              </a:tr>
              <a:tr h="704850">
                <a:tc>
                  <a:txBody>
                    <a:bodyPr/>
                    <a:lstStyle/>
                    <a:p>
                      <a:r>
                        <a:rPr sz="915" b="1">
                          <a:solidFill>
                            <a:srgbClr val="72243D"/>
                          </a:solidFill>
                          <a:latin typeface="Arial"/>
                          <a:ea typeface="Arial"/>
                          <a:cs typeface="Arial"/>
                        </a:rPr>
                        <a:t>Individual Studies</a:t>
                      </a:r>
                    </a:p>
                  </a:txBody>
                  <a:tcPr anchor="ctr">
                    <a:solidFill>
                      <a:srgbClr val="F4E9ED"/>
                    </a:solidFill>
                  </a:tcPr>
                </a:tc>
                <a:tc>
                  <a:txBody>
                    <a:bodyPr/>
                    <a:lstStyle/>
                    <a:p>
                      <a:r>
                        <a:rPr sz="915">
                          <a:solidFill>
                            <a:srgbClr val="303030"/>
                          </a:solidFill>
                          <a:latin typeface="Arial"/>
                          <a:ea typeface="Arial"/>
                          <a:cs typeface="Arial"/>
                        </a:rPr>
                        <a:t>One study-level claim</a:t>
                      </a:r>
                    </a:p>
                  </a:txBody>
                  <a:tcPr anchor="ctr"/>
                </a:tc>
                <a:tc>
                  <a:txBody>
                    <a:bodyPr/>
                    <a:lstStyle/>
                    <a:p>
                      <a:r>
                        <a:rPr sz="915">
                          <a:solidFill>
                            <a:srgbClr val="303030"/>
                          </a:solidFill>
                          <a:latin typeface="Arial"/>
                          <a:ea typeface="Arial"/>
                          <a:cs typeface="Arial"/>
                        </a:rPr>
                        <a:t>What was measured, how, in whom, and for which tested endpoint?</a:t>
                      </a:r>
                    </a:p>
                  </a:txBody>
                  <a:tcPr anchor="ctr"/>
                </a:tc>
                <a:extLst>
                  <a:ext uri="{0D108BD9-81ED-4DB2-BD59-A6C34878D82A}">
                    <a16:rowId xmlns:a16="http://schemas.microsoft.com/office/drawing/2014/main" val="10001"/>
                  </a:ext>
                </a:extLst>
              </a:tr>
              <a:tr h="704850">
                <a:tc>
                  <a:txBody>
                    <a:bodyPr/>
                    <a:lstStyle/>
                    <a:p>
                      <a:r>
                        <a:rPr sz="915" b="1">
                          <a:solidFill>
                            <a:srgbClr val="72243D"/>
                          </a:solidFill>
                          <a:latin typeface="Arial"/>
                          <a:ea typeface="Arial"/>
                          <a:cs typeface="Arial"/>
                        </a:rPr>
                        <a:t>Existing Reviews</a:t>
                      </a:r>
                    </a:p>
                  </a:txBody>
                  <a:tcPr anchor="ctr">
                    <a:solidFill>
                      <a:srgbClr val="F4E9ED"/>
                    </a:solidFill>
                  </a:tcPr>
                </a:tc>
                <a:tc>
                  <a:txBody>
                    <a:bodyPr/>
                    <a:lstStyle/>
                    <a:p>
                      <a:r>
                        <a:rPr sz="915">
                          <a:solidFill>
                            <a:srgbClr val="303030"/>
                          </a:solidFill>
                          <a:latin typeface="Arial"/>
                          <a:ea typeface="Arial"/>
                          <a:cs typeface="Arial"/>
                        </a:rPr>
                        <a:t>One prior review</a:t>
                      </a:r>
                    </a:p>
                  </a:txBody>
                  <a:tcPr anchor="ctr"/>
                </a:tc>
                <a:tc>
                  <a:txBody>
                    <a:bodyPr/>
                    <a:lstStyle/>
                    <a:p>
                      <a:r>
                        <a:rPr sz="915" dirty="0">
                          <a:solidFill>
                            <a:srgbClr val="303030"/>
                          </a:solidFill>
                          <a:latin typeface="Arial"/>
                          <a:ea typeface="Arial"/>
                          <a:cs typeface="Arial"/>
                        </a:rPr>
                        <a:t>What literature has already been synthesized, with which scope and method?</a:t>
                      </a:r>
                    </a:p>
                  </a:txBody>
                  <a:tcPr anchor="ctr"/>
                </a:tc>
                <a:extLst>
                  <a:ext uri="{0D108BD9-81ED-4DB2-BD59-A6C34878D82A}">
                    <a16:rowId xmlns:a16="http://schemas.microsoft.com/office/drawing/2014/main" val="10002"/>
                  </a:ext>
                </a:extLst>
              </a:tr>
              <a:tr h="704850">
                <a:tc>
                  <a:txBody>
                    <a:bodyPr/>
                    <a:lstStyle/>
                    <a:p>
                      <a:r>
                        <a:rPr sz="915" b="1">
                          <a:solidFill>
                            <a:srgbClr val="72243D"/>
                          </a:solidFill>
                          <a:latin typeface="Arial"/>
                          <a:ea typeface="Arial"/>
                          <a:cs typeface="Arial"/>
                        </a:rPr>
                        <a:t>Paper Tracker</a:t>
                      </a:r>
                    </a:p>
                  </a:txBody>
                  <a:tcPr anchor="ctr">
                    <a:solidFill>
                      <a:srgbClr val="F4E9ED"/>
                    </a:solidFill>
                  </a:tcPr>
                </a:tc>
                <a:tc>
                  <a:txBody>
                    <a:bodyPr/>
                    <a:lstStyle/>
                    <a:p>
                      <a:r>
                        <a:rPr sz="915">
                          <a:solidFill>
                            <a:srgbClr val="303030"/>
                          </a:solidFill>
                          <a:latin typeface="Arial"/>
                          <a:ea typeface="Arial"/>
                          <a:cs typeface="Arial"/>
                        </a:rPr>
                        <a:t>One PDF/file</a:t>
                      </a:r>
                    </a:p>
                  </a:txBody>
                  <a:tcPr anchor="ctr"/>
                </a:tc>
                <a:tc>
                  <a:txBody>
                    <a:bodyPr/>
                    <a:lstStyle/>
                    <a:p>
                      <a:r>
                        <a:rPr lang="vi-VN" sz="915" dirty="0">
                          <a:solidFill>
                            <a:srgbClr val="303030"/>
                          </a:solidFill>
                          <a:latin typeface="Arial"/>
                          <a:ea typeface="Arial"/>
                          <a:cs typeface="Arial"/>
                        </a:rPr>
                        <a:t>How many papers? </a:t>
                      </a:r>
                      <a:endParaRPr sz="915" dirty="0">
                        <a:solidFill>
                          <a:srgbClr val="303030"/>
                        </a:solidFill>
                        <a:latin typeface="Arial"/>
                        <a:ea typeface="Arial"/>
                        <a:cs typeface="Arial"/>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008844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84D2F-6AC0-768A-22B4-019F8F731E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DA3CDF-20A9-C97C-207C-014BBFEC5F6A}"/>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069BCD31-4871-A6BA-C201-E93CA084A136}"/>
              </a:ext>
            </a:extLst>
          </p:cNvPr>
          <p:cNvSpPr>
            <a:spLocks noGrp="1"/>
          </p:cNvSpPr>
          <p:nvPr>
            <p:ph type="sldNum" sz="quarter" idx="15"/>
          </p:nvPr>
        </p:nvSpPr>
        <p:spPr/>
        <p:txBody>
          <a:bodyPr/>
          <a:lstStyle/>
          <a:p>
            <a:fld id="{0AF20276-0DC3-B247-B3AE-8A6E2F85407E}" type="slidenum">
              <a:rPr lang="en-VN" smtClean="0"/>
              <a:t>6</a:t>
            </a:fld>
            <a:endParaRPr lang="en-VN"/>
          </a:p>
        </p:txBody>
      </p:sp>
      <p:graphicFrame>
        <p:nvGraphicFramePr>
          <p:cNvPr id="2" name="Table 1">
            <a:extLst>
              <a:ext uri="{FF2B5EF4-FFF2-40B4-BE49-F238E27FC236}">
                <a16:creationId xmlns:a16="http://schemas.microsoft.com/office/drawing/2014/main" id="{543D3FE0-8145-6AA3-AF1B-85491549E61E}"/>
              </a:ext>
            </a:extLst>
          </p:cNvPr>
          <p:cNvGraphicFramePr/>
          <p:nvPr>
            <p:extLst>
              <p:ext uri="{D42A27DB-BD31-4B8C-83A1-F6EECF244321}">
                <p14:modId xmlns:p14="http://schemas.microsoft.com/office/powerpoint/2010/main" val="3933878989"/>
              </p:ext>
            </p:extLst>
          </p:nvPr>
        </p:nvGraphicFramePr>
        <p:xfrm>
          <a:off x="381000" y="933450"/>
          <a:ext cx="8305800" cy="3381376"/>
        </p:xfrm>
        <a:graphic>
          <a:graphicData uri="http://schemas.openxmlformats.org/drawingml/2006/table">
            <a:tbl>
              <a:tblPr/>
              <a:tblGrid>
                <a:gridCol w="2214880">
                  <a:extLst>
                    <a:ext uri="{9D8B030D-6E8A-4147-A177-3AD203B41FA5}">
                      <a16:colId xmlns:a16="http://schemas.microsoft.com/office/drawing/2014/main" val="20000"/>
                    </a:ext>
                  </a:extLst>
                </a:gridCol>
                <a:gridCol w="3876040">
                  <a:extLst>
                    <a:ext uri="{9D8B030D-6E8A-4147-A177-3AD203B41FA5}">
                      <a16:colId xmlns:a16="http://schemas.microsoft.com/office/drawing/2014/main" val="20002"/>
                    </a:ext>
                  </a:extLst>
                </a:gridCol>
                <a:gridCol w="2214880">
                  <a:extLst>
                    <a:ext uri="{9D8B030D-6E8A-4147-A177-3AD203B41FA5}">
                      <a16:colId xmlns:a16="http://schemas.microsoft.com/office/drawing/2014/main" val="20003"/>
                    </a:ext>
                  </a:extLst>
                </a:gridCol>
              </a:tblGrid>
              <a:tr h="422672">
                <a:tc>
                  <a:txBody>
                    <a:bodyPr/>
                    <a:lstStyle/>
                    <a:p>
                      <a:r>
                        <a:rPr sz="870" b="1">
                          <a:solidFill>
                            <a:srgbClr val="FFFFFF"/>
                          </a:solidFill>
                          <a:latin typeface="Arial"/>
                          <a:ea typeface="Arial"/>
                          <a:cs typeface="Arial"/>
                        </a:rPr>
                        <a:t>Group</a:t>
                      </a:r>
                    </a:p>
                  </a:txBody>
                  <a:tcPr anchor="ctr">
                    <a:solidFill>
                      <a:srgbClr val="72243D"/>
                    </a:solidFill>
                  </a:tcPr>
                </a:tc>
                <a:tc>
                  <a:txBody>
                    <a:bodyPr/>
                    <a:lstStyle/>
                    <a:p>
                      <a:r>
                        <a:rPr sz="870" b="1">
                          <a:solidFill>
                            <a:srgbClr val="FFFFFF"/>
                          </a:solidFill>
                          <a:latin typeface="Arial"/>
                          <a:ea typeface="Arial"/>
                          <a:cs typeface="Arial"/>
                        </a:rPr>
                        <a:t>Primary purpose</a:t>
                      </a:r>
                    </a:p>
                  </a:txBody>
                  <a:tcPr anchor="ctr">
                    <a:solidFill>
                      <a:srgbClr val="72243D"/>
                    </a:solidFill>
                  </a:tcPr>
                </a:tc>
                <a:tc>
                  <a:txBody>
                    <a:bodyPr/>
                    <a:lstStyle/>
                    <a:p>
                      <a:r>
                        <a:rPr sz="870" b="1" dirty="0">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422672">
                <a:tc>
                  <a:txBody>
                    <a:bodyPr/>
                    <a:lstStyle/>
                    <a:p>
                      <a:r>
                        <a:rPr sz="832" b="1">
                          <a:solidFill>
                            <a:srgbClr val="72243D"/>
                          </a:solidFill>
                          <a:latin typeface="Arial"/>
                          <a:ea typeface="Arial"/>
                          <a:cs typeface="Arial"/>
                        </a:rPr>
                        <a:t>Record and Provenance</a:t>
                      </a:r>
                    </a:p>
                  </a:txBody>
                  <a:tcPr anchor="ctr">
                    <a:solidFill>
                      <a:srgbClr val="F4E9ED"/>
                    </a:solidFill>
                  </a:tcPr>
                </a:tc>
                <a:tc>
                  <a:txBody>
                    <a:bodyPr/>
                    <a:lstStyle/>
                    <a:p>
                      <a:r>
                        <a:rPr sz="832">
                          <a:solidFill>
                            <a:srgbClr val="303030"/>
                          </a:solidFill>
                          <a:latin typeface="Arial"/>
                          <a:ea typeface="Arial"/>
                          <a:cs typeface="Arial"/>
                        </a:rPr>
                        <a:t>Connects every extracted claim to the PDF, bibliography, and tracker.</a:t>
                      </a:r>
                    </a:p>
                  </a:txBody>
                  <a:tcPr anchor="ctr"/>
                </a:tc>
                <a:tc>
                  <a:txBody>
                    <a:bodyPr/>
                    <a:lstStyle/>
                    <a:p>
                      <a:r>
                        <a:rPr sz="832" dirty="0">
                          <a:solidFill>
                            <a:srgbClr val="303030"/>
                          </a:solidFill>
                          <a:latin typeface="Arial"/>
                          <a:ea typeface="Arial"/>
                          <a:cs typeface="Arial"/>
                        </a:rPr>
                        <a:t>Audit and deduplication</a:t>
                      </a:r>
                    </a:p>
                  </a:txBody>
                  <a:tcPr anchor="ctr"/>
                </a:tc>
                <a:extLst>
                  <a:ext uri="{0D108BD9-81ED-4DB2-BD59-A6C34878D82A}">
                    <a16:rowId xmlns:a16="http://schemas.microsoft.com/office/drawing/2014/main" val="10001"/>
                  </a:ext>
                </a:extLst>
              </a:tr>
              <a:tr h="422672">
                <a:tc>
                  <a:txBody>
                    <a:bodyPr/>
                    <a:lstStyle/>
                    <a:p>
                      <a:r>
                        <a:rPr sz="832" b="1">
                          <a:solidFill>
                            <a:srgbClr val="72243D"/>
                          </a:solidFill>
                          <a:latin typeface="Arial"/>
                          <a:ea typeface="Arial"/>
                          <a:cs typeface="Arial"/>
                        </a:rPr>
                        <a:t>Eligibility and Author Intent</a:t>
                      </a:r>
                    </a:p>
                  </a:txBody>
                  <a:tcPr anchor="ctr">
                    <a:solidFill>
                      <a:srgbClr val="F4E9ED"/>
                    </a:solidFill>
                  </a:tcPr>
                </a:tc>
                <a:tc>
                  <a:txBody>
                    <a:bodyPr/>
                    <a:lstStyle/>
                    <a:p>
                      <a:r>
                        <a:rPr sz="832">
                          <a:solidFill>
                            <a:srgbClr val="303030"/>
                          </a:solidFill>
                          <a:latin typeface="Arial"/>
                          <a:ea typeface="Arial"/>
                          <a:cs typeface="Arial"/>
                        </a:rPr>
                        <a:t>Defines what the paper is, why it is relevant, and the exact claim being audited.</a:t>
                      </a:r>
                    </a:p>
                  </a:txBody>
                  <a:tcPr anchor="ctr"/>
                </a:tc>
                <a:tc>
                  <a:txBody>
                    <a:bodyPr/>
                    <a:lstStyle/>
                    <a:p>
                      <a:r>
                        <a:rPr sz="832" dirty="0">
                          <a:solidFill>
                            <a:srgbClr val="303030"/>
                          </a:solidFill>
                          <a:latin typeface="Arial"/>
                          <a:ea typeface="Arial"/>
                          <a:cs typeface="Arial"/>
                        </a:rPr>
                        <a:t>Eligibility and claim audit</a:t>
                      </a:r>
                    </a:p>
                  </a:txBody>
                  <a:tcPr anchor="ctr"/>
                </a:tc>
                <a:extLst>
                  <a:ext uri="{0D108BD9-81ED-4DB2-BD59-A6C34878D82A}">
                    <a16:rowId xmlns:a16="http://schemas.microsoft.com/office/drawing/2014/main" val="10002"/>
                  </a:ext>
                </a:extLst>
              </a:tr>
              <a:tr h="422672">
                <a:tc>
                  <a:txBody>
                    <a:bodyPr/>
                    <a:lstStyle/>
                    <a:p>
                      <a:r>
                        <a:rPr sz="832" b="1">
                          <a:solidFill>
                            <a:srgbClr val="72243D"/>
                          </a:solidFill>
                          <a:latin typeface="Arial"/>
                          <a:ea typeface="Arial"/>
                          <a:cs typeface="Arial"/>
                        </a:rPr>
                        <a:t>Population and Clinical Context</a:t>
                      </a:r>
                    </a:p>
                  </a:txBody>
                  <a:tcPr anchor="ctr">
                    <a:solidFill>
                      <a:srgbClr val="F4E9ED"/>
                    </a:solidFill>
                  </a:tcPr>
                </a:tc>
                <a:tc>
                  <a:txBody>
                    <a:bodyPr/>
                    <a:lstStyle/>
                    <a:p>
                      <a:r>
                        <a:rPr sz="832">
                          <a:solidFill>
                            <a:srgbClr val="303030"/>
                          </a:solidFill>
                          <a:latin typeface="Arial"/>
                          <a:ea typeface="Arial"/>
                          <a:cs typeface="Arial"/>
                        </a:rPr>
                        <a:t>Defines who the result applies to and which transfer claims remain defensible.</a:t>
                      </a:r>
                    </a:p>
                  </a:txBody>
                  <a:tcPr anchor="ctr"/>
                </a:tc>
                <a:tc>
                  <a:txBody>
                    <a:bodyPr/>
                    <a:lstStyle/>
                    <a:p>
                      <a:r>
                        <a:rPr sz="832" dirty="0">
                          <a:solidFill>
                            <a:srgbClr val="303030"/>
                          </a:solidFill>
                          <a:latin typeface="Arial"/>
                          <a:ea typeface="Arial"/>
                          <a:cs typeface="Arial"/>
                        </a:rPr>
                        <a:t>Transferability matrix</a:t>
                      </a:r>
                    </a:p>
                  </a:txBody>
                  <a:tcPr anchor="ctr"/>
                </a:tc>
                <a:extLst>
                  <a:ext uri="{0D108BD9-81ED-4DB2-BD59-A6C34878D82A}">
                    <a16:rowId xmlns:a16="http://schemas.microsoft.com/office/drawing/2014/main" val="10003"/>
                  </a:ext>
                </a:extLst>
              </a:tr>
              <a:tr h="422672">
                <a:tc>
                  <a:txBody>
                    <a:bodyPr/>
                    <a:lstStyle/>
                    <a:p>
                      <a:r>
                        <a:rPr sz="832" b="1">
                          <a:solidFill>
                            <a:srgbClr val="72243D"/>
                          </a:solidFill>
                          <a:latin typeface="Arial"/>
                          <a:ea typeface="Arial"/>
                          <a:cs typeface="Arial"/>
                        </a:rPr>
                        <a:t>Speech Task and Sensing Setup</a:t>
                      </a:r>
                    </a:p>
                  </a:txBody>
                  <a:tcPr anchor="ctr">
                    <a:solidFill>
                      <a:srgbClr val="F4E9ED"/>
                    </a:solidFill>
                  </a:tcPr>
                </a:tc>
                <a:tc>
                  <a:txBody>
                    <a:bodyPr/>
                    <a:lstStyle/>
                    <a:p>
                      <a:r>
                        <a:rPr sz="832">
                          <a:solidFill>
                            <a:srgbClr val="303030"/>
                          </a:solidFill>
                          <a:latin typeface="Arial"/>
                          <a:ea typeface="Arial"/>
                          <a:cs typeface="Arial"/>
                        </a:rPr>
                        <a:t>Specifies the speech question and the exact acquisition conditions that shape the signal.</a:t>
                      </a:r>
                    </a:p>
                  </a:txBody>
                  <a:tcPr anchor="ctr"/>
                </a:tc>
                <a:tc>
                  <a:txBody>
                    <a:bodyPr/>
                    <a:lstStyle/>
                    <a:p>
                      <a:r>
                        <a:rPr sz="832" dirty="0">
                          <a:solidFill>
                            <a:srgbClr val="303030"/>
                          </a:solidFill>
                          <a:latin typeface="Arial"/>
                          <a:ea typeface="Arial"/>
                          <a:cs typeface="Arial"/>
                        </a:rPr>
                        <a:t>Coverage and deployment matrices</a:t>
                      </a:r>
                    </a:p>
                  </a:txBody>
                  <a:tcPr anchor="ctr"/>
                </a:tc>
                <a:extLst>
                  <a:ext uri="{0D108BD9-81ED-4DB2-BD59-A6C34878D82A}">
                    <a16:rowId xmlns:a16="http://schemas.microsoft.com/office/drawing/2014/main" val="10004"/>
                  </a:ext>
                </a:extLst>
              </a:tr>
              <a:tr h="422672">
                <a:tc>
                  <a:txBody>
                    <a:bodyPr/>
                    <a:lstStyle/>
                    <a:p>
                      <a:r>
                        <a:rPr sz="832" b="1">
                          <a:solidFill>
                            <a:srgbClr val="72243D"/>
                          </a:solidFill>
                          <a:latin typeface="Arial"/>
                          <a:ea typeface="Arial"/>
                          <a:cs typeface="Arial"/>
                        </a:rPr>
                        <a:t>Measurement and Computation</a:t>
                      </a:r>
                    </a:p>
                  </a:txBody>
                  <a:tcPr anchor="ctr">
                    <a:solidFill>
                      <a:srgbClr val="F4E9ED"/>
                    </a:solidFill>
                  </a:tcPr>
                </a:tc>
                <a:tc>
                  <a:txBody>
                    <a:bodyPr/>
                    <a:lstStyle/>
                    <a:p>
                      <a:r>
                        <a:rPr sz="832">
                          <a:solidFill>
                            <a:srgbClr val="303030"/>
                          </a:solidFill>
                          <a:latin typeface="Arial"/>
                          <a:ea typeface="Arial"/>
                          <a:cs typeface="Arial"/>
                        </a:rPr>
                        <a:t>Traces the signal from physical quantity through instrument output and computational inference.</a:t>
                      </a:r>
                    </a:p>
                  </a:txBody>
                  <a:tcPr anchor="ctr"/>
                </a:tc>
                <a:tc>
                  <a:txBody>
                    <a:bodyPr/>
                    <a:lstStyle/>
                    <a:p>
                      <a:r>
                        <a:rPr sz="832" dirty="0">
                          <a:solidFill>
                            <a:srgbClr val="303030"/>
                          </a:solidFill>
                          <a:latin typeface="Arial"/>
                          <a:ea typeface="Arial"/>
                          <a:cs typeface="Arial"/>
                        </a:rPr>
                        <a:t>Measurand and processing comparison</a:t>
                      </a:r>
                    </a:p>
                  </a:txBody>
                  <a:tcPr anchor="ctr"/>
                </a:tc>
                <a:extLst>
                  <a:ext uri="{0D108BD9-81ED-4DB2-BD59-A6C34878D82A}">
                    <a16:rowId xmlns:a16="http://schemas.microsoft.com/office/drawing/2014/main" val="10005"/>
                  </a:ext>
                </a:extLst>
              </a:tr>
              <a:tr h="422672">
                <a:tc>
                  <a:txBody>
                    <a:bodyPr/>
                    <a:lstStyle/>
                    <a:p>
                      <a:r>
                        <a:rPr sz="832" b="1">
                          <a:solidFill>
                            <a:srgbClr val="72243D"/>
                          </a:solidFill>
                          <a:latin typeface="Arial"/>
                          <a:ea typeface="Arial"/>
                          <a:cs typeface="Arial"/>
                        </a:rPr>
                        <a:t>Results and Evidence Quality</a:t>
                      </a:r>
                    </a:p>
                  </a:txBody>
                  <a:tcPr anchor="ctr">
                    <a:solidFill>
                      <a:srgbClr val="F4E9ED"/>
                    </a:solidFill>
                  </a:tcPr>
                </a:tc>
                <a:tc>
                  <a:txBody>
                    <a:bodyPr/>
                    <a:lstStyle/>
                    <a:p>
                      <a:r>
                        <a:rPr sz="832">
                          <a:solidFill>
                            <a:srgbClr val="303030"/>
                          </a:solidFill>
                          <a:latin typeface="Arial"/>
                          <a:ea typeface="Arial"/>
                          <a:cs typeface="Arial"/>
                        </a:rPr>
                        <a:t>Records what the study actually tested, what it found, and how stable that evidence is.</a:t>
                      </a:r>
                    </a:p>
                  </a:txBody>
                  <a:tcPr anchor="ctr"/>
                </a:tc>
                <a:tc>
                  <a:txBody>
                    <a:bodyPr/>
                    <a:lstStyle/>
                    <a:p>
                      <a:r>
                        <a:rPr sz="832" dirty="0">
                          <a:solidFill>
                            <a:srgbClr val="303030"/>
                          </a:solidFill>
                          <a:latin typeface="Arial"/>
                          <a:ea typeface="Arial"/>
                          <a:cs typeface="Arial"/>
                        </a:rPr>
                        <a:t>Evidence maturity and result synthesis</a:t>
                      </a:r>
                    </a:p>
                  </a:txBody>
                  <a:tcPr anchor="ctr"/>
                </a:tc>
                <a:extLst>
                  <a:ext uri="{0D108BD9-81ED-4DB2-BD59-A6C34878D82A}">
                    <a16:rowId xmlns:a16="http://schemas.microsoft.com/office/drawing/2014/main" val="10006"/>
                  </a:ext>
                </a:extLst>
              </a:tr>
              <a:tr h="422672">
                <a:tc>
                  <a:txBody>
                    <a:bodyPr/>
                    <a:lstStyle/>
                    <a:p>
                      <a:r>
                        <a:rPr sz="832" b="1">
                          <a:solidFill>
                            <a:srgbClr val="72243D"/>
                          </a:solidFill>
                          <a:latin typeface="Arial"/>
                          <a:ea typeface="Arial"/>
                          <a:cs typeface="Arial"/>
                        </a:rPr>
                        <a:t>Translation and Critical Synthesis</a:t>
                      </a:r>
                    </a:p>
                  </a:txBody>
                  <a:tcPr anchor="ctr">
                    <a:solidFill>
                      <a:srgbClr val="F4E9ED"/>
                    </a:solidFill>
                  </a:tcPr>
                </a:tc>
                <a:tc>
                  <a:txBody>
                    <a:bodyPr/>
                    <a:lstStyle/>
                    <a:p>
                      <a:r>
                        <a:rPr sz="832" dirty="0">
                          <a:solidFill>
                            <a:srgbClr val="303030"/>
                          </a:solidFill>
                          <a:latin typeface="Arial"/>
                          <a:ea typeface="Arial"/>
                          <a:cs typeface="Arial"/>
                        </a:rPr>
                        <a:t>Converts extracted facts into bounded claims and tests whether clinical promises match the evidence.</a:t>
                      </a:r>
                    </a:p>
                  </a:txBody>
                  <a:tcPr anchor="ctr"/>
                </a:tc>
                <a:tc>
                  <a:txBody>
                    <a:bodyPr/>
                    <a:lstStyle/>
                    <a:p>
                      <a:r>
                        <a:rPr sz="832" dirty="0">
                          <a:solidFill>
                            <a:srgbClr val="303030"/>
                          </a:solidFill>
                          <a:latin typeface="Arial"/>
                          <a:ea typeface="Arial"/>
                          <a:cs typeface="Arial"/>
                        </a:rPr>
                        <a:t>T1-T5 and gap verification</a:t>
                      </a:r>
                    </a:p>
                  </a:txBody>
                  <a:tcPr anchor="ct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5718FD2C-00DB-2EA6-BD68-047836A4DC2A}"/>
              </a:ext>
            </a:extLst>
          </p:cNvPr>
          <p:cNvSpPr txBox="1"/>
          <p:nvPr/>
        </p:nvSpPr>
        <p:spPr>
          <a:xfrm>
            <a:off x="533400" y="565478"/>
            <a:ext cx="7315200" cy="307777"/>
          </a:xfrm>
          <a:prstGeom prst="rect">
            <a:avLst/>
          </a:prstGeom>
          <a:noFill/>
        </p:spPr>
        <p:txBody>
          <a:bodyPr wrap="square">
            <a:spAutoFit/>
          </a:bodyPr>
          <a:lstStyle/>
          <a:p>
            <a:pPr algn="l">
              <a:defRPr sz="1875"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Individual Studies contains seven linked evidence groups</a:t>
            </a:r>
          </a:p>
        </p:txBody>
      </p:sp>
    </p:spTree>
    <p:extLst>
      <p:ext uri="{BB962C8B-B14F-4D97-AF65-F5344CB8AC3E}">
        <p14:creationId xmlns:p14="http://schemas.microsoft.com/office/powerpoint/2010/main" val="1656723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CB7DD-E2B3-894A-C458-FBD45777586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F7FBB4-679B-CD41-A5A8-4CC9D2D6CD17}"/>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50B3D958-6261-14B9-436C-C74DC66F3843}"/>
              </a:ext>
            </a:extLst>
          </p:cNvPr>
          <p:cNvSpPr>
            <a:spLocks noGrp="1"/>
          </p:cNvSpPr>
          <p:nvPr>
            <p:ph type="sldNum" sz="quarter" idx="15"/>
          </p:nvPr>
        </p:nvSpPr>
        <p:spPr/>
        <p:txBody>
          <a:bodyPr/>
          <a:lstStyle/>
          <a:p>
            <a:fld id="{0AF20276-0DC3-B247-B3AE-8A6E2F85407E}" type="slidenum">
              <a:rPr lang="en-VN" smtClean="0"/>
              <a:t>7</a:t>
            </a:fld>
            <a:endParaRPr lang="en-VN"/>
          </a:p>
        </p:txBody>
      </p:sp>
      <p:sp>
        <p:nvSpPr>
          <p:cNvPr id="6" name="TextBox 5">
            <a:extLst>
              <a:ext uri="{FF2B5EF4-FFF2-40B4-BE49-F238E27FC236}">
                <a16:creationId xmlns:a16="http://schemas.microsoft.com/office/drawing/2014/main" id="{449D4957-2248-BE31-2457-47962CB5171E}"/>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4" name="Table 3">
            <a:extLst>
              <a:ext uri="{FF2B5EF4-FFF2-40B4-BE49-F238E27FC236}">
                <a16:creationId xmlns:a16="http://schemas.microsoft.com/office/drawing/2014/main" id="{1BC64462-5947-D2EB-4D98-D1207350AB12}"/>
              </a:ext>
            </a:extLst>
          </p:cNvPr>
          <p:cNvGraphicFramePr/>
          <p:nvPr>
            <p:extLst>
              <p:ext uri="{D42A27DB-BD31-4B8C-83A1-F6EECF244321}">
                <p14:modId xmlns:p14="http://schemas.microsoft.com/office/powerpoint/2010/main" val="3406807547"/>
              </p:ext>
            </p:extLst>
          </p:nvPr>
        </p:nvGraphicFramePr>
        <p:xfrm>
          <a:off x="457200" y="1276350"/>
          <a:ext cx="8153399" cy="2900770"/>
        </p:xfrm>
        <a:graphic>
          <a:graphicData uri="http://schemas.openxmlformats.org/drawingml/2006/table">
            <a:tbl>
              <a:tblPr/>
              <a:tblGrid>
                <a:gridCol w="2088066">
                  <a:extLst>
                    <a:ext uri="{9D8B030D-6E8A-4147-A177-3AD203B41FA5}">
                      <a16:colId xmlns:a16="http://schemas.microsoft.com/office/drawing/2014/main" val="20000"/>
                    </a:ext>
                  </a:extLst>
                </a:gridCol>
                <a:gridCol w="3877836">
                  <a:extLst>
                    <a:ext uri="{9D8B030D-6E8A-4147-A177-3AD203B41FA5}">
                      <a16:colId xmlns:a16="http://schemas.microsoft.com/office/drawing/2014/main" val="20002"/>
                    </a:ext>
                  </a:extLst>
                </a:gridCol>
                <a:gridCol w="2187497">
                  <a:extLst>
                    <a:ext uri="{9D8B030D-6E8A-4147-A177-3AD203B41FA5}">
                      <a16:colId xmlns:a16="http://schemas.microsoft.com/office/drawing/2014/main" val="20003"/>
                    </a:ext>
                  </a:extLst>
                </a:gridCol>
              </a:tblGrid>
              <a:tr h="580154">
                <a:tc>
                  <a:txBody>
                    <a:bodyPr/>
                    <a:lstStyle/>
                    <a:p>
                      <a:r>
                        <a:rPr sz="900" b="1">
                          <a:solidFill>
                            <a:srgbClr val="FFFFFF"/>
                          </a:solidFill>
                          <a:latin typeface="Arial"/>
                          <a:ea typeface="Arial"/>
                          <a:cs typeface="Arial"/>
                        </a:rPr>
                        <a:t>Group</a:t>
                      </a:r>
                    </a:p>
                  </a:txBody>
                  <a:tcPr anchor="ctr">
                    <a:solidFill>
                      <a:srgbClr val="72243D"/>
                    </a:solidFill>
                  </a:tcPr>
                </a:tc>
                <a:tc>
                  <a:txBody>
                    <a:bodyPr/>
                    <a:lstStyle/>
                    <a:p>
                      <a:r>
                        <a:rPr sz="900" b="1">
                          <a:solidFill>
                            <a:srgbClr val="FFFFFF"/>
                          </a:solidFill>
                          <a:latin typeface="Arial"/>
                          <a:ea typeface="Arial"/>
                          <a:cs typeface="Arial"/>
                        </a:rPr>
                        <a:t>Primary purpose</a:t>
                      </a:r>
                    </a:p>
                  </a:txBody>
                  <a:tcPr anchor="ctr">
                    <a:solidFill>
                      <a:srgbClr val="72243D"/>
                    </a:solidFill>
                  </a:tcPr>
                </a:tc>
                <a:tc>
                  <a:txBody>
                    <a:bodyPr/>
                    <a:lstStyle/>
                    <a:p>
                      <a:r>
                        <a:rPr sz="900" b="1">
                          <a:solidFill>
                            <a:srgbClr val="FFFFFF"/>
                          </a:solidFill>
                          <a:latin typeface="Arial"/>
                          <a:ea typeface="Arial"/>
                          <a:cs typeface="Arial"/>
                        </a:rPr>
                        <a:t>Downstream use</a:t>
                      </a:r>
                    </a:p>
                  </a:txBody>
                  <a:tcPr anchor="ctr">
                    <a:solidFill>
                      <a:srgbClr val="72243D"/>
                    </a:solidFill>
                  </a:tcPr>
                </a:tc>
                <a:extLst>
                  <a:ext uri="{0D108BD9-81ED-4DB2-BD59-A6C34878D82A}">
                    <a16:rowId xmlns:a16="http://schemas.microsoft.com/office/drawing/2014/main" val="10000"/>
                  </a:ext>
                </a:extLst>
              </a:tr>
              <a:tr h="580154">
                <a:tc>
                  <a:txBody>
                    <a:bodyPr/>
                    <a:lstStyle/>
                    <a:p>
                      <a:r>
                        <a:rPr sz="900" b="1">
                          <a:solidFill>
                            <a:srgbClr val="72243D"/>
                          </a:solidFill>
                          <a:latin typeface="Arial"/>
                          <a:ea typeface="Arial"/>
                          <a:cs typeface="Arial"/>
                        </a:rPr>
                        <a:t>Review Identification</a:t>
                      </a:r>
                    </a:p>
                  </a:txBody>
                  <a:tcPr anchor="ctr">
                    <a:solidFill>
                      <a:srgbClr val="F4E9ED"/>
                    </a:solidFill>
                  </a:tcPr>
                </a:tc>
                <a:tc>
                  <a:txBody>
                    <a:bodyPr/>
                    <a:lstStyle/>
                    <a:p>
                      <a:r>
                        <a:rPr sz="900">
                          <a:solidFill>
                            <a:srgbClr val="303030"/>
                          </a:solidFill>
                          <a:latin typeface="Arial"/>
                          <a:ea typeface="Arial"/>
                          <a:cs typeface="Arial"/>
                        </a:rPr>
                        <a:t>Identifies the review and separates bibliographic identity from review methodology.</a:t>
                      </a:r>
                    </a:p>
                  </a:txBody>
                  <a:tcPr anchor="ctr"/>
                </a:tc>
                <a:tc>
                  <a:txBody>
                    <a:bodyPr/>
                    <a:lstStyle/>
                    <a:p>
                      <a:r>
                        <a:rPr sz="900">
                          <a:solidFill>
                            <a:srgbClr val="303030"/>
                          </a:solidFill>
                          <a:latin typeface="Arial"/>
                          <a:ea typeface="Arial"/>
                          <a:cs typeface="Arial"/>
                        </a:rPr>
                        <a:t>Deduplication and recency</a:t>
                      </a:r>
                    </a:p>
                  </a:txBody>
                  <a:tcPr anchor="ctr"/>
                </a:tc>
                <a:extLst>
                  <a:ext uri="{0D108BD9-81ED-4DB2-BD59-A6C34878D82A}">
                    <a16:rowId xmlns:a16="http://schemas.microsoft.com/office/drawing/2014/main" val="10001"/>
                  </a:ext>
                </a:extLst>
              </a:tr>
              <a:tr h="580154">
                <a:tc>
                  <a:txBody>
                    <a:bodyPr/>
                    <a:lstStyle/>
                    <a:p>
                      <a:r>
                        <a:rPr sz="900" b="1">
                          <a:solidFill>
                            <a:srgbClr val="72243D"/>
                          </a:solidFill>
                          <a:latin typeface="Arial"/>
                          <a:ea typeface="Arial"/>
                          <a:cs typeface="Arial"/>
                        </a:rPr>
                        <a:t>Review Method</a:t>
                      </a:r>
                    </a:p>
                  </a:txBody>
                  <a:tcPr anchor="ctr">
                    <a:solidFill>
                      <a:srgbClr val="F4E9ED"/>
                    </a:solidFill>
                  </a:tcPr>
                </a:tc>
                <a:tc>
                  <a:txBody>
                    <a:bodyPr/>
                    <a:lstStyle/>
                    <a:p>
                      <a:r>
                        <a:rPr sz="900">
                          <a:solidFill>
                            <a:srgbClr val="303030"/>
                          </a:solidFill>
                          <a:latin typeface="Arial"/>
                          <a:ea typeface="Arial"/>
                          <a:cs typeface="Arial"/>
                        </a:rPr>
                        <a:t>Shows how reproducibly each review found and selected evidence.</a:t>
                      </a:r>
                    </a:p>
                  </a:txBody>
                  <a:tcPr anchor="ctr"/>
                </a:tc>
                <a:tc>
                  <a:txBody>
                    <a:bodyPr/>
                    <a:lstStyle/>
                    <a:p>
                      <a:r>
                        <a:rPr sz="900">
                          <a:solidFill>
                            <a:srgbClr val="303030"/>
                          </a:solidFill>
                          <a:latin typeface="Arial"/>
                          <a:ea typeface="Arial"/>
                          <a:cs typeface="Arial"/>
                        </a:rPr>
                        <a:t>Transparency and update window</a:t>
                      </a:r>
                    </a:p>
                  </a:txBody>
                  <a:tcPr anchor="ctr"/>
                </a:tc>
                <a:extLst>
                  <a:ext uri="{0D108BD9-81ED-4DB2-BD59-A6C34878D82A}">
                    <a16:rowId xmlns:a16="http://schemas.microsoft.com/office/drawing/2014/main" val="10002"/>
                  </a:ext>
                </a:extLst>
              </a:tr>
              <a:tr h="580154">
                <a:tc>
                  <a:txBody>
                    <a:bodyPr/>
                    <a:lstStyle/>
                    <a:p>
                      <a:r>
                        <a:rPr sz="900" b="1">
                          <a:solidFill>
                            <a:srgbClr val="72243D"/>
                          </a:solidFill>
                          <a:latin typeface="Arial"/>
                          <a:ea typeface="Arial"/>
                          <a:cs typeface="Arial"/>
                        </a:rPr>
                        <a:t>Review Scope</a:t>
                      </a:r>
                    </a:p>
                  </a:txBody>
                  <a:tcPr anchor="ctr">
                    <a:solidFill>
                      <a:srgbClr val="F4E9ED"/>
                    </a:solidFill>
                  </a:tcPr>
                </a:tc>
                <a:tc>
                  <a:txBody>
                    <a:bodyPr/>
                    <a:lstStyle/>
                    <a:p>
                      <a:r>
                        <a:rPr sz="900">
                          <a:solidFill>
                            <a:srgbClr val="303030"/>
                          </a:solidFill>
                          <a:latin typeface="Arial"/>
                          <a:ea typeface="Arial"/>
                          <a:cs typeface="Arial"/>
                        </a:rPr>
                        <a:t>Maps what each review actually covered across population, subsystem, technology, and use.</a:t>
                      </a:r>
                    </a:p>
                  </a:txBody>
                  <a:tcPr anchor="ctr"/>
                </a:tc>
                <a:tc>
                  <a:txBody>
                    <a:bodyPr/>
                    <a:lstStyle/>
                    <a:p>
                      <a:r>
                        <a:rPr sz="900">
                          <a:solidFill>
                            <a:srgbClr val="303030"/>
                          </a:solidFill>
                          <a:latin typeface="Arial"/>
                          <a:ea typeface="Arial"/>
                          <a:cs typeface="Arial"/>
                        </a:rPr>
                        <a:t>Overlap matrix</a:t>
                      </a:r>
                    </a:p>
                  </a:txBody>
                  <a:tcPr anchor="ctr"/>
                </a:tc>
                <a:extLst>
                  <a:ext uri="{0D108BD9-81ED-4DB2-BD59-A6C34878D82A}">
                    <a16:rowId xmlns:a16="http://schemas.microsoft.com/office/drawing/2014/main" val="10003"/>
                  </a:ext>
                </a:extLst>
              </a:tr>
              <a:tr h="580154">
                <a:tc>
                  <a:txBody>
                    <a:bodyPr/>
                    <a:lstStyle/>
                    <a:p>
                      <a:r>
                        <a:rPr sz="900" b="1">
                          <a:solidFill>
                            <a:srgbClr val="72243D"/>
                          </a:solidFill>
                          <a:latin typeface="Arial"/>
                          <a:ea typeface="Arial"/>
                          <a:cs typeface="Arial"/>
                        </a:rPr>
                        <a:t>Review Positioning</a:t>
                      </a:r>
                    </a:p>
                  </a:txBody>
                  <a:tcPr anchor="ctr">
                    <a:solidFill>
                      <a:srgbClr val="F4E9ED"/>
                    </a:solidFill>
                  </a:tcPr>
                </a:tc>
                <a:tc>
                  <a:txBody>
                    <a:bodyPr/>
                    <a:lstStyle/>
                    <a:p>
                      <a:r>
                        <a:rPr sz="900" dirty="0">
                          <a:solidFill>
                            <a:srgbClr val="303030"/>
                          </a:solidFill>
                          <a:latin typeface="Arial"/>
                          <a:ea typeface="Arial"/>
                          <a:cs typeface="Arial"/>
                        </a:rPr>
                        <a:t>Separates the authors' synthesis from our comparison and novelty argument.</a:t>
                      </a:r>
                    </a:p>
                  </a:txBody>
                  <a:tcPr anchor="ctr"/>
                </a:tc>
                <a:tc>
                  <a:txBody>
                    <a:bodyPr/>
                    <a:lstStyle/>
                    <a:p>
                      <a:r>
                        <a:rPr sz="900" dirty="0">
                          <a:solidFill>
                            <a:srgbClr val="303030"/>
                          </a:solidFill>
                          <a:latin typeface="Arial"/>
                          <a:ea typeface="Arial"/>
                          <a:cs typeface="Arial"/>
                        </a:rPr>
                        <a:t>Competitor classification and novelty</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84509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B3D49-CEF5-49B8-E3EF-CD03A8CBB5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5DD5B5F-678D-EA27-74FC-07F723927CFE}"/>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BD828A37-3BD5-D65F-639F-AE324DEFD491}"/>
              </a:ext>
            </a:extLst>
          </p:cNvPr>
          <p:cNvSpPr>
            <a:spLocks noGrp="1"/>
          </p:cNvSpPr>
          <p:nvPr>
            <p:ph type="sldNum" sz="quarter" idx="15"/>
          </p:nvPr>
        </p:nvSpPr>
        <p:spPr/>
        <p:txBody>
          <a:bodyPr/>
          <a:lstStyle/>
          <a:p>
            <a:fld id="{0AF20276-0DC3-B247-B3AE-8A6E2F85407E}" type="slidenum">
              <a:rPr lang="en-VN" smtClean="0"/>
              <a:t>8</a:t>
            </a:fld>
            <a:endParaRPr lang="en-VN"/>
          </a:p>
        </p:txBody>
      </p:sp>
      <p:sp>
        <p:nvSpPr>
          <p:cNvPr id="6" name="TextBox 5">
            <a:extLst>
              <a:ext uri="{FF2B5EF4-FFF2-40B4-BE49-F238E27FC236}">
                <a16:creationId xmlns:a16="http://schemas.microsoft.com/office/drawing/2014/main" id="{C818F703-F3E4-1EB0-D814-8B14C96E306C}"/>
              </a:ext>
            </a:extLst>
          </p:cNvPr>
          <p:cNvSpPr txBox="1"/>
          <p:nvPr/>
        </p:nvSpPr>
        <p:spPr>
          <a:xfrm>
            <a:off x="533400" y="565478"/>
            <a:ext cx="7315200" cy="307777"/>
          </a:xfrm>
          <a:prstGeom prst="rect">
            <a:avLst/>
          </a:prstGeom>
          <a:noFill/>
        </p:spPr>
        <p:txBody>
          <a:bodyPr wrap="square">
            <a:spAutoFit/>
          </a:bodyPr>
          <a:lstStyle/>
          <a:p>
            <a:pPr algn="l">
              <a:defRPr sz="1988" b="1">
                <a:solidFill>
                  <a:srgbClr val="72243D"/>
                </a:solidFill>
                <a:latin typeface="Arial"/>
                <a:ea typeface="Arial"/>
                <a:cs typeface="Arial"/>
              </a:defRPr>
            </a:pPr>
            <a:r>
              <a:rPr lang="en-US" sz="1400" b="1" dirty="0">
                <a:solidFill>
                  <a:schemeClr val="tx1">
                    <a:lumMod val="50000"/>
                    <a:lumOff val="50000"/>
                  </a:schemeClr>
                </a:solidFill>
                <a:latin typeface="Arial"/>
                <a:ea typeface="Arial"/>
                <a:cs typeface="Arial"/>
              </a:rPr>
              <a:t>Existing Reviews contains four comparison groups</a:t>
            </a:r>
          </a:p>
        </p:txBody>
      </p:sp>
      <p:graphicFrame>
        <p:nvGraphicFramePr>
          <p:cNvPr id="11" name="Chart">
            <a:extLst>
              <a:ext uri="{FF2B5EF4-FFF2-40B4-BE49-F238E27FC236}">
                <a16:creationId xmlns:a16="http://schemas.microsoft.com/office/drawing/2014/main" id="{DA26FADB-0714-9DB1-E147-2A72FE6A75C5}"/>
              </a:ext>
            </a:extLst>
          </p:cNvPr>
          <p:cNvGraphicFramePr/>
          <p:nvPr>
            <p:extLst>
              <p:ext uri="{D42A27DB-BD31-4B8C-83A1-F6EECF244321}">
                <p14:modId xmlns:p14="http://schemas.microsoft.com/office/powerpoint/2010/main" val="4204172391"/>
              </p:ext>
            </p:extLst>
          </p:nvPr>
        </p:nvGraphicFramePr>
        <p:xfrm>
          <a:off x="457200" y="1257300"/>
          <a:ext cx="4476750" cy="2876550"/>
        </p:xfrm>
        <a:graphic>
          <a:graphicData uri="http://schemas.openxmlformats.org/drawingml/2006/chart">
            <c:chart xmlns:c="http://schemas.openxmlformats.org/drawingml/2006/chart" xmlns:r="http://schemas.openxmlformats.org/officeDocument/2006/relationships" r:id="rId3"/>
          </a:graphicData>
        </a:graphic>
      </p:graphicFrame>
      <p:sp>
        <p:nvSpPr>
          <p:cNvPr id="12" name="meaning-heading">
            <a:extLst>
              <a:ext uri="{FF2B5EF4-FFF2-40B4-BE49-F238E27FC236}">
                <a16:creationId xmlns:a16="http://schemas.microsoft.com/office/drawing/2014/main" id="{FB6E1445-1234-3CCD-F8E4-AC60B0B32416}"/>
              </a:ext>
            </a:extLst>
          </p:cNvPr>
          <p:cNvSpPr>
            <a:spLocks noGrp="1"/>
          </p:cNvSpPr>
          <p:nvPr/>
        </p:nvSpPr>
        <p:spPr>
          <a:xfrm>
            <a:off x="5267325" y="1228725"/>
            <a:ext cx="3333750" cy="257175"/>
          </a:xfrm>
          <a:prstGeom prst="rect">
            <a:avLst/>
          </a:prstGeom>
          <a:noFill/>
          <a:ln w="0">
            <a:noFill/>
          </a:ln>
        </p:spPr>
        <p:txBody>
          <a:bodyPr anchor="ctr">
            <a:normAutofit fontScale="85294" lnSpcReduction="10000"/>
          </a:bodyPr>
          <a:lstStyle/>
          <a:p>
            <a:pPr algn="l">
              <a:defRPr sz="1275" b="1" i="0">
                <a:solidFill>
                  <a:srgbClr val="72243D"/>
                </a:solidFill>
                <a:latin typeface="Arial"/>
                <a:ea typeface="Arial"/>
                <a:cs typeface="Arial"/>
              </a:defRPr>
            </a:pPr>
            <a:r>
              <a:rPr sz="1275" b="1" i="0">
                <a:solidFill>
                  <a:srgbClr val="72243D"/>
                </a:solidFill>
                <a:latin typeface="Arial"/>
                <a:ea typeface="Arial"/>
                <a:cs typeface="Arial"/>
              </a:rPr>
              <a:t>What each group contributes</a:t>
            </a:r>
          </a:p>
        </p:txBody>
      </p:sp>
      <p:sp>
        <p:nvSpPr>
          <p:cNvPr id="13" name="Rectangle 12">
            <a:extLst>
              <a:ext uri="{FF2B5EF4-FFF2-40B4-BE49-F238E27FC236}">
                <a16:creationId xmlns:a16="http://schemas.microsoft.com/office/drawing/2014/main" id="{A8EE1C23-21E6-4AD2-755E-F690DE855CB0}"/>
              </a:ext>
            </a:extLst>
          </p:cNvPr>
          <p:cNvSpPr>
            <a:spLocks noGrp="1"/>
          </p:cNvSpPr>
          <p:nvPr/>
        </p:nvSpPr>
        <p:spPr>
          <a:xfrm>
            <a:off x="5276850" y="1600200"/>
            <a:ext cx="76200" cy="400050"/>
          </a:xfrm>
          <a:prstGeom prst="rect">
            <a:avLst/>
          </a:prstGeom>
          <a:solidFill>
            <a:srgbClr val="72243D"/>
          </a:solidFill>
          <a:ln w="0">
            <a:solidFill>
              <a:srgbClr val="72243D"/>
            </a:solidFill>
          </a:ln>
        </p:spPr>
        <p:txBody>
          <a:bodyPr anchor="ctr">
            <a:normAutofit/>
          </a:bodyPr>
          <a:lstStyle/>
          <a:p>
            <a:endParaRPr/>
          </a:p>
        </p:txBody>
      </p:sp>
      <p:sp>
        <p:nvSpPr>
          <p:cNvPr id="14" name="Rectangle 13">
            <a:extLst>
              <a:ext uri="{FF2B5EF4-FFF2-40B4-BE49-F238E27FC236}">
                <a16:creationId xmlns:a16="http://schemas.microsoft.com/office/drawing/2014/main" id="{9FF0321E-AD23-C113-9D42-FC3CEAD0EE51}"/>
              </a:ext>
            </a:extLst>
          </p:cNvPr>
          <p:cNvSpPr>
            <a:spLocks noGrp="1"/>
          </p:cNvSpPr>
          <p:nvPr/>
        </p:nvSpPr>
        <p:spPr>
          <a:xfrm>
            <a:off x="5457825" y="15716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0  Direct competitor</a:t>
            </a:r>
          </a:p>
        </p:txBody>
      </p:sp>
      <p:sp>
        <p:nvSpPr>
          <p:cNvPr id="15" name="Rectangle 14">
            <a:extLst>
              <a:ext uri="{FF2B5EF4-FFF2-40B4-BE49-F238E27FC236}">
                <a16:creationId xmlns:a16="http://schemas.microsoft.com/office/drawing/2014/main" id="{163A75DD-A5C7-6DA3-4156-9DD05AB6D302}"/>
              </a:ext>
            </a:extLst>
          </p:cNvPr>
          <p:cNvSpPr>
            <a:spLocks noGrp="1"/>
          </p:cNvSpPr>
          <p:nvPr/>
        </p:nvSpPr>
        <p:spPr>
          <a:xfrm>
            <a:off x="5457825" y="177165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a:solidFill>
                  <a:srgbClr val="666666"/>
                </a:solidFill>
                <a:latin typeface="Arial"/>
                <a:ea typeface="Arial"/>
                <a:cs typeface="Arial"/>
              </a:rPr>
              <a:t>Would test the whole-review novelty claim. None identified in this 35-review set.</a:t>
            </a:r>
          </a:p>
        </p:txBody>
      </p:sp>
      <p:sp>
        <p:nvSpPr>
          <p:cNvPr id="16" name="Rectangle 15">
            <a:extLst>
              <a:ext uri="{FF2B5EF4-FFF2-40B4-BE49-F238E27FC236}">
                <a16:creationId xmlns:a16="http://schemas.microsoft.com/office/drawing/2014/main" id="{EEF32FB8-3610-6A4D-17C8-AFD0AD6BDA35}"/>
              </a:ext>
            </a:extLst>
          </p:cNvPr>
          <p:cNvSpPr>
            <a:spLocks noGrp="1"/>
          </p:cNvSpPr>
          <p:nvPr/>
        </p:nvSpPr>
        <p:spPr>
          <a:xfrm>
            <a:off x="5276850" y="2143125"/>
            <a:ext cx="76200" cy="400050"/>
          </a:xfrm>
          <a:prstGeom prst="rect">
            <a:avLst/>
          </a:prstGeom>
          <a:solidFill>
            <a:srgbClr val="E17C00"/>
          </a:solidFill>
          <a:ln w="0">
            <a:solidFill>
              <a:srgbClr val="E17C00"/>
            </a:solidFill>
          </a:ln>
        </p:spPr>
        <p:txBody>
          <a:bodyPr anchor="ctr">
            <a:normAutofit/>
          </a:bodyPr>
          <a:lstStyle/>
          <a:p>
            <a:endParaRPr/>
          </a:p>
        </p:txBody>
      </p:sp>
      <p:sp>
        <p:nvSpPr>
          <p:cNvPr id="17" name="Rectangle 16">
            <a:extLst>
              <a:ext uri="{FF2B5EF4-FFF2-40B4-BE49-F238E27FC236}">
                <a16:creationId xmlns:a16="http://schemas.microsoft.com/office/drawing/2014/main" id="{BC9521C9-69CC-4221-03AE-0797008119E2}"/>
              </a:ext>
            </a:extLst>
          </p:cNvPr>
          <p:cNvSpPr>
            <a:spLocks noGrp="1"/>
          </p:cNvSpPr>
          <p:nvPr/>
        </p:nvSpPr>
        <p:spPr>
          <a:xfrm>
            <a:off x="5457825" y="211455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12  Narrow direct predecessors</a:t>
            </a:r>
          </a:p>
        </p:txBody>
      </p:sp>
      <p:sp>
        <p:nvSpPr>
          <p:cNvPr id="18" name="Rectangle 17">
            <a:extLst>
              <a:ext uri="{FF2B5EF4-FFF2-40B4-BE49-F238E27FC236}">
                <a16:creationId xmlns:a16="http://schemas.microsoft.com/office/drawing/2014/main" id="{529B3044-B248-7978-C401-D9C9B03F3799}"/>
              </a:ext>
            </a:extLst>
          </p:cNvPr>
          <p:cNvSpPr>
            <a:spLocks noGrp="1"/>
          </p:cNvSpPr>
          <p:nvPr/>
        </p:nvSpPr>
        <p:spPr>
          <a:xfrm>
            <a:off x="5457825" y="231457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Dysarthria and sensing are central, but the review is restricted by modality, subsystem, etiology, or use.</a:t>
            </a:r>
          </a:p>
        </p:txBody>
      </p:sp>
      <p:sp>
        <p:nvSpPr>
          <p:cNvPr id="19" name="Rectangle 18">
            <a:extLst>
              <a:ext uri="{FF2B5EF4-FFF2-40B4-BE49-F238E27FC236}">
                <a16:creationId xmlns:a16="http://schemas.microsoft.com/office/drawing/2014/main" id="{DC801A54-DF3F-02A9-1454-2CF1C2487987}"/>
              </a:ext>
            </a:extLst>
          </p:cNvPr>
          <p:cNvSpPr>
            <a:spLocks noGrp="1"/>
          </p:cNvSpPr>
          <p:nvPr/>
        </p:nvSpPr>
        <p:spPr>
          <a:xfrm>
            <a:off x="5276850" y="2686050"/>
            <a:ext cx="76200" cy="400050"/>
          </a:xfrm>
          <a:prstGeom prst="rect">
            <a:avLst/>
          </a:prstGeom>
          <a:solidFill>
            <a:srgbClr val="A78492"/>
          </a:solidFill>
          <a:ln w="0">
            <a:solidFill>
              <a:srgbClr val="A78492"/>
            </a:solidFill>
          </a:ln>
        </p:spPr>
        <p:txBody>
          <a:bodyPr anchor="ctr">
            <a:normAutofit/>
          </a:bodyPr>
          <a:lstStyle/>
          <a:p>
            <a:endParaRPr/>
          </a:p>
        </p:txBody>
      </p:sp>
      <p:sp>
        <p:nvSpPr>
          <p:cNvPr id="20" name="Rectangle 19">
            <a:extLst>
              <a:ext uri="{FF2B5EF4-FFF2-40B4-BE49-F238E27FC236}">
                <a16:creationId xmlns:a16="http://schemas.microsoft.com/office/drawing/2014/main" id="{4C47183C-5F77-8291-CE47-192D1963E96C}"/>
              </a:ext>
            </a:extLst>
          </p:cNvPr>
          <p:cNvSpPr>
            <a:spLocks noGrp="1"/>
          </p:cNvSpPr>
          <p:nvPr/>
        </p:nvSpPr>
        <p:spPr>
          <a:xfrm>
            <a:off x="5457825" y="265747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6  Structural analogs</a:t>
            </a:r>
          </a:p>
        </p:txBody>
      </p:sp>
      <p:sp>
        <p:nvSpPr>
          <p:cNvPr id="21" name="Rectangle 20">
            <a:extLst>
              <a:ext uri="{FF2B5EF4-FFF2-40B4-BE49-F238E27FC236}">
                <a16:creationId xmlns:a16="http://schemas.microsoft.com/office/drawing/2014/main" id="{3354585F-BE48-3FD7-69C0-F339ED99401B}"/>
              </a:ext>
            </a:extLst>
          </p:cNvPr>
          <p:cNvSpPr>
            <a:spLocks noGrp="1"/>
          </p:cNvSpPr>
          <p:nvPr/>
        </p:nvSpPr>
        <p:spPr>
          <a:xfrm>
            <a:off x="5457825" y="2857500"/>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Use a similar measurement-to-application logic, but in a different population or narrower technical scope.</a:t>
            </a:r>
          </a:p>
        </p:txBody>
      </p:sp>
      <p:sp>
        <p:nvSpPr>
          <p:cNvPr id="23" name="Rectangle 22">
            <a:extLst>
              <a:ext uri="{FF2B5EF4-FFF2-40B4-BE49-F238E27FC236}">
                <a16:creationId xmlns:a16="http://schemas.microsoft.com/office/drawing/2014/main" id="{327085C6-090A-E0F1-ED1F-ED964ACE9753}"/>
              </a:ext>
            </a:extLst>
          </p:cNvPr>
          <p:cNvSpPr>
            <a:spLocks noGrp="1"/>
          </p:cNvSpPr>
          <p:nvPr/>
        </p:nvSpPr>
        <p:spPr>
          <a:xfrm>
            <a:off x="5276850" y="3228975"/>
            <a:ext cx="76200" cy="400050"/>
          </a:xfrm>
          <a:prstGeom prst="rect">
            <a:avLst/>
          </a:prstGeom>
          <a:solidFill>
            <a:srgbClr val="AFAFAF"/>
          </a:solidFill>
          <a:ln w="0">
            <a:solidFill>
              <a:srgbClr val="AFAFAF"/>
            </a:solidFill>
          </a:ln>
        </p:spPr>
        <p:txBody>
          <a:bodyPr anchor="ctr">
            <a:normAutofit/>
          </a:bodyPr>
          <a:lstStyle/>
          <a:p>
            <a:endParaRPr/>
          </a:p>
        </p:txBody>
      </p:sp>
      <p:sp>
        <p:nvSpPr>
          <p:cNvPr id="24" name="Rectangle 23">
            <a:extLst>
              <a:ext uri="{FF2B5EF4-FFF2-40B4-BE49-F238E27FC236}">
                <a16:creationId xmlns:a16="http://schemas.microsoft.com/office/drawing/2014/main" id="{7B50BD21-7BC5-1B20-C302-739C14461C1F}"/>
              </a:ext>
            </a:extLst>
          </p:cNvPr>
          <p:cNvSpPr>
            <a:spLocks noGrp="1"/>
          </p:cNvSpPr>
          <p:nvPr/>
        </p:nvSpPr>
        <p:spPr>
          <a:xfrm>
            <a:off x="5457825" y="3200400"/>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16  Adjacent topical reviews</a:t>
            </a:r>
          </a:p>
        </p:txBody>
      </p:sp>
      <p:sp>
        <p:nvSpPr>
          <p:cNvPr id="25" name="Rectangle 24">
            <a:extLst>
              <a:ext uri="{FF2B5EF4-FFF2-40B4-BE49-F238E27FC236}">
                <a16:creationId xmlns:a16="http://schemas.microsoft.com/office/drawing/2014/main" id="{E8C82349-D811-8A2D-2BC2-4972B286EA08}"/>
              </a:ext>
            </a:extLst>
          </p:cNvPr>
          <p:cNvSpPr>
            <a:spLocks noGrp="1"/>
          </p:cNvSpPr>
          <p:nvPr/>
        </p:nvSpPr>
        <p:spPr>
          <a:xfrm>
            <a:off x="5457825" y="3400425"/>
            <a:ext cx="3067050" cy="295275"/>
          </a:xfrm>
          <a:prstGeom prst="rect">
            <a:avLst/>
          </a:prstGeom>
          <a:noFill/>
          <a:ln w="0">
            <a:noFill/>
          </a:ln>
        </p:spPr>
        <p:txBody>
          <a:bodyPr anchor="t">
            <a:normAutofit fontScale="85737" lnSpcReduction="10000"/>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Overlap in one topic only; useful for a section, not for defining the whole review.</a:t>
            </a:r>
          </a:p>
        </p:txBody>
      </p:sp>
      <p:sp>
        <p:nvSpPr>
          <p:cNvPr id="26" name="Rectangle 25">
            <a:extLst>
              <a:ext uri="{FF2B5EF4-FFF2-40B4-BE49-F238E27FC236}">
                <a16:creationId xmlns:a16="http://schemas.microsoft.com/office/drawing/2014/main" id="{D01930E9-3756-3581-A67D-D085AED424F8}"/>
              </a:ext>
            </a:extLst>
          </p:cNvPr>
          <p:cNvSpPr>
            <a:spLocks noGrp="1"/>
          </p:cNvSpPr>
          <p:nvPr/>
        </p:nvSpPr>
        <p:spPr>
          <a:xfrm>
            <a:off x="5276850" y="3771900"/>
            <a:ext cx="76200" cy="400050"/>
          </a:xfrm>
          <a:prstGeom prst="rect">
            <a:avLst/>
          </a:prstGeom>
          <a:solidFill>
            <a:srgbClr val="C9BEB7"/>
          </a:solidFill>
          <a:ln w="0">
            <a:solidFill>
              <a:srgbClr val="C9BEB7"/>
            </a:solidFill>
          </a:ln>
        </p:spPr>
        <p:txBody>
          <a:bodyPr anchor="ctr">
            <a:normAutofit/>
          </a:bodyPr>
          <a:lstStyle/>
          <a:p>
            <a:endParaRPr/>
          </a:p>
        </p:txBody>
      </p:sp>
      <p:sp>
        <p:nvSpPr>
          <p:cNvPr id="27" name="Rectangle 26">
            <a:extLst>
              <a:ext uri="{FF2B5EF4-FFF2-40B4-BE49-F238E27FC236}">
                <a16:creationId xmlns:a16="http://schemas.microsoft.com/office/drawing/2014/main" id="{5AF0868C-FD69-AC51-E723-969F2E1B35CB}"/>
              </a:ext>
            </a:extLst>
          </p:cNvPr>
          <p:cNvSpPr>
            <a:spLocks noGrp="1"/>
          </p:cNvSpPr>
          <p:nvPr/>
        </p:nvSpPr>
        <p:spPr>
          <a:xfrm>
            <a:off x="5457825" y="3743325"/>
            <a:ext cx="3067050" cy="200025"/>
          </a:xfrm>
          <a:prstGeom prst="rect">
            <a:avLst/>
          </a:prstGeom>
          <a:noFill/>
          <a:ln w="0">
            <a:noFill/>
          </a:ln>
        </p:spPr>
        <p:txBody>
          <a:bodyPr anchor="ctr">
            <a:normAutofit fontScale="82897" lnSpcReduction="10000"/>
          </a:bodyPr>
          <a:lstStyle/>
          <a:p>
            <a:pPr algn="l">
              <a:defRPr sz="945" b="1" i="0">
                <a:solidFill>
                  <a:srgbClr val="303030"/>
                </a:solidFill>
                <a:latin typeface="Arial"/>
                <a:ea typeface="Arial"/>
                <a:cs typeface="Arial"/>
              </a:defRPr>
            </a:pPr>
            <a:r>
              <a:rPr sz="945" b="1" i="0">
                <a:solidFill>
                  <a:srgbClr val="303030"/>
                </a:solidFill>
                <a:latin typeface="Arial"/>
                <a:ea typeface="Arial"/>
                <a:cs typeface="Arial"/>
              </a:rPr>
              <a:t>1  Foundational source</a:t>
            </a:r>
          </a:p>
        </p:txBody>
      </p:sp>
      <p:sp>
        <p:nvSpPr>
          <p:cNvPr id="28" name="Rectangle 27">
            <a:extLst>
              <a:ext uri="{FF2B5EF4-FFF2-40B4-BE49-F238E27FC236}">
                <a16:creationId xmlns:a16="http://schemas.microsoft.com/office/drawing/2014/main" id="{A5669996-B6A6-3179-47A4-4AF33EEBDBC2}"/>
              </a:ext>
            </a:extLst>
          </p:cNvPr>
          <p:cNvSpPr>
            <a:spLocks noGrp="1"/>
          </p:cNvSpPr>
          <p:nvPr/>
        </p:nvSpPr>
        <p:spPr>
          <a:xfrm>
            <a:off x="5457825" y="3943350"/>
            <a:ext cx="3067050" cy="295275"/>
          </a:xfrm>
          <a:prstGeom prst="rect">
            <a:avLst/>
          </a:prstGeom>
          <a:noFill/>
          <a:ln w="0">
            <a:noFill/>
          </a:ln>
        </p:spPr>
        <p:txBody>
          <a:bodyPr anchor="t">
            <a:normAutofit fontScale="93237"/>
          </a:bodyPr>
          <a:lstStyle/>
          <a:p>
            <a:pPr algn="l">
              <a:defRPr sz="780" b="0" i="0">
                <a:solidFill>
                  <a:srgbClr val="666666"/>
                </a:solidFill>
                <a:latin typeface="Arial"/>
                <a:ea typeface="Arial"/>
                <a:cs typeface="Arial"/>
              </a:defRPr>
            </a:pPr>
            <a:r>
              <a:rPr sz="780" b="0" i="0" dirty="0">
                <a:solidFill>
                  <a:srgbClr val="666666"/>
                </a:solidFill>
                <a:latin typeface="Arial"/>
                <a:ea typeface="Arial"/>
                <a:cs typeface="Arial"/>
              </a:rPr>
              <a:t>Supplies </a:t>
            </a:r>
            <a:r>
              <a:rPr sz="780" b="0" i="0" dirty="0" err="1">
                <a:solidFill>
                  <a:srgbClr val="666666"/>
                </a:solidFill>
                <a:latin typeface="Arial"/>
                <a:ea typeface="Arial"/>
                <a:cs typeface="Arial"/>
              </a:rPr>
              <a:t>terminolog</a:t>
            </a:r>
            <a:r>
              <a:rPr lang="en-VN" sz="780" b="0" i="0" dirty="0">
                <a:solidFill>
                  <a:srgbClr val="666666"/>
                </a:solidFill>
                <a:latin typeface="Arial"/>
                <a:ea typeface="Arial"/>
                <a:cs typeface="Arial"/>
              </a:rPr>
              <a:t>y.</a:t>
            </a:r>
            <a:endParaRPr sz="780" b="0" i="0" dirty="0">
              <a:solidFill>
                <a:srgbClr val="666666"/>
              </a:solidFill>
              <a:latin typeface="Arial"/>
              <a:ea typeface="Arial"/>
              <a:cs typeface="Arial"/>
            </a:endParaRPr>
          </a:p>
        </p:txBody>
      </p:sp>
    </p:spTree>
    <p:extLst>
      <p:ext uri="{BB962C8B-B14F-4D97-AF65-F5344CB8AC3E}">
        <p14:creationId xmlns:p14="http://schemas.microsoft.com/office/powerpoint/2010/main" val="3448192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7130-F03C-D4AD-7F33-6C3869ADB1B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F7AC831-D460-A84B-95CE-8E171CA07D44}"/>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370E9434-DC31-6B3D-F180-C9A22B41E191}"/>
              </a:ext>
            </a:extLst>
          </p:cNvPr>
          <p:cNvSpPr>
            <a:spLocks noGrp="1"/>
          </p:cNvSpPr>
          <p:nvPr>
            <p:ph type="sldNum" sz="quarter" idx="15"/>
          </p:nvPr>
        </p:nvSpPr>
        <p:spPr/>
        <p:txBody>
          <a:bodyPr/>
          <a:lstStyle/>
          <a:p>
            <a:fld id="{0AF20276-0DC3-B247-B3AE-8A6E2F85407E}" type="slidenum">
              <a:rPr lang="en-VN" smtClean="0"/>
              <a:t>9</a:t>
            </a:fld>
            <a:endParaRPr lang="en-VN"/>
          </a:p>
        </p:txBody>
      </p:sp>
      <p:graphicFrame>
        <p:nvGraphicFramePr>
          <p:cNvPr id="4" name="Table 3">
            <a:extLst>
              <a:ext uri="{FF2B5EF4-FFF2-40B4-BE49-F238E27FC236}">
                <a16:creationId xmlns:a16="http://schemas.microsoft.com/office/drawing/2014/main" id="{B5DE5F6F-C6D2-28E6-D16F-30109B5E8B3A}"/>
              </a:ext>
            </a:extLst>
          </p:cNvPr>
          <p:cNvGraphicFramePr/>
          <p:nvPr>
            <p:extLst>
              <p:ext uri="{D42A27DB-BD31-4B8C-83A1-F6EECF244321}">
                <p14:modId xmlns:p14="http://schemas.microsoft.com/office/powerpoint/2010/main" val="1136664006"/>
              </p:ext>
            </p:extLst>
          </p:nvPr>
        </p:nvGraphicFramePr>
        <p:xfrm>
          <a:off x="400050" y="981075"/>
          <a:ext cx="8134348" cy="3432305"/>
        </p:xfrm>
        <a:graphic>
          <a:graphicData uri="http://schemas.openxmlformats.org/drawingml/2006/table">
            <a:tbl>
              <a:tblPr/>
              <a:tblGrid>
                <a:gridCol w="1584172">
                  <a:extLst>
                    <a:ext uri="{9D8B030D-6E8A-4147-A177-3AD203B41FA5}">
                      <a16:colId xmlns:a16="http://schemas.microsoft.com/office/drawing/2014/main" val="20000"/>
                    </a:ext>
                  </a:extLst>
                </a:gridCol>
                <a:gridCol w="818772">
                  <a:extLst>
                    <a:ext uri="{9D8B030D-6E8A-4147-A177-3AD203B41FA5}">
                      <a16:colId xmlns:a16="http://schemas.microsoft.com/office/drawing/2014/main" val="20001"/>
                    </a:ext>
                  </a:extLst>
                </a:gridCol>
                <a:gridCol w="818772">
                  <a:extLst>
                    <a:ext uri="{9D8B030D-6E8A-4147-A177-3AD203B41FA5}">
                      <a16:colId xmlns:a16="http://schemas.microsoft.com/office/drawing/2014/main" val="20002"/>
                    </a:ext>
                  </a:extLst>
                </a:gridCol>
                <a:gridCol w="818772">
                  <a:extLst>
                    <a:ext uri="{9D8B030D-6E8A-4147-A177-3AD203B41FA5}">
                      <a16:colId xmlns:a16="http://schemas.microsoft.com/office/drawing/2014/main" val="20003"/>
                    </a:ext>
                  </a:extLst>
                </a:gridCol>
                <a:gridCol w="818772">
                  <a:extLst>
                    <a:ext uri="{9D8B030D-6E8A-4147-A177-3AD203B41FA5}">
                      <a16:colId xmlns:a16="http://schemas.microsoft.com/office/drawing/2014/main" val="20004"/>
                    </a:ext>
                  </a:extLst>
                </a:gridCol>
                <a:gridCol w="818772">
                  <a:extLst>
                    <a:ext uri="{9D8B030D-6E8A-4147-A177-3AD203B41FA5}">
                      <a16:colId xmlns:a16="http://schemas.microsoft.com/office/drawing/2014/main" val="20005"/>
                    </a:ext>
                  </a:extLst>
                </a:gridCol>
                <a:gridCol w="818772">
                  <a:extLst>
                    <a:ext uri="{9D8B030D-6E8A-4147-A177-3AD203B41FA5}">
                      <a16:colId xmlns:a16="http://schemas.microsoft.com/office/drawing/2014/main" val="20006"/>
                    </a:ext>
                  </a:extLst>
                </a:gridCol>
                <a:gridCol w="818772">
                  <a:extLst>
                    <a:ext uri="{9D8B030D-6E8A-4147-A177-3AD203B41FA5}">
                      <a16:colId xmlns:a16="http://schemas.microsoft.com/office/drawing/2014/main" val="20007"/>
                    </a:ext>
                  </a:extLst>
                </a:gridCol>
                <a:gridCol w="818772">
                  <a:extLst>
                    <a:ext uri="{9D8B030D-6E8A-4147-A177-3AD203B41FA5}">
                      <a16:colId xmlns:a16="http://schemas.microsoft.com/office/drawing/2014/main" val="20008"/>
                    </a:ext>
                  </a:extLst>
                </a:gridCol>
              </a:tblGrid>
              <a:tr h="500063">
                <a:tc>
                  <a:txBody>
                    <a:bodyPr/>
                    <a:lstStyle/>
                    <a:p>
                      <a:r>
                        <a:rPr sz="788" b="1" dirty="0">
                          <a:solidFill>
                            <a:srgbClr val="FFFFFF"/>
                          </a:solidFill>
                          <a:latin typeface="Arial"/>
                          <a:ea typeface="Arial"/>
                          <a:cs typeface="Arial"/>
                        </a:rPr>
                        <a:t>Subsystem</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500063">
                <a:tc>
                  <a:txBody>
                    <a:bodyPr/>
                    <a:lstStyle/>
                    <a:p>
                      <a:r>
                        <a:rPr sz="938" b="1">
                          <a:solidFill>
                            <a:srgbClr val="72243D"/>
                          </a:solidFill>
                          <a:latin typeface="Arial"/>
                          <a:ea typeface="Arial"/>
                          <a:cs typeface="Arial"/>
                        </a:rPr>
                        <a:t>Respiration</a:t>
                      </a:r>
                    </a:p>
                  </a:txBody>
                  <a:tcPr anchor="ctr">
                    <a:solidFill>
                      <a:srgbClr val="F4E9ED"/>
                    </a:solidFill>
                  </a:tcPr>
                </a:tc>
                <a:tc>
                  <a:txBody>
                    <a:bodyPr/>
                    <a:lstStyle/>
                    <a:p>
                      <a:pPr algn="ctr"/>
                      <a:r>
                        <a:rPr sz="938" b="1" dirty="0">
                          <a:solidFill>
                            <a:srgbClr val="303030"/>
                          </a:solidFill>
                          <a:latin typeface="Arial"/>
                          <a:ea typeface="Arial"/>
                          <a:cs typeface="Arial"/>
                        </a:rPr>
                        <a:t>15</a:t>
                      </a:r>
                    </a:p>
                  </a:txBody>
                  <a:tcPr anchor="ctr">
                    <a:solidFill>
                      <a:srgbClr val="C2A1AC"/>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3</a:t>
                      </a:r>
                    </a:p>
                  </a:txBody>
                  <a:tcPr anchor="ctr">
                    <a:solidFill>
                      <a:srgbClr val="DFCDD2"/>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1"/>
                  </a:ext>
                </a:extLst>
              </a:tr>
              <a:tr h="500063">
                <a:tc>
                  <a:txBody>
                    <a:bodyPr/>
                    <a:lstStyle/>
                    <a:p>
                      <a:r>
                        <a:rPr sz="938" b="1">
                          <a:solidFill>
                            <a:srgbClr val="72243D"/>
                          </a:solidFill>
                          <a:latin typeface="Arial"/>
                          <a:ea typeface="Arial"/>
                          <a:cs typeface="Arial"/>
                        </a:rPr>
                        <a:t>Phonation</a:t>
                      </a:r>
                    </a:p>
                  </a:txBody>
                  <a:tcPr anchor="ctr">
                    <a:solidFill>
                      <a:srgbClr val="F4E9ED"/>
                    </a:solidFill>
                  </a:tcPr>
                </a:tc>
                <a:tc>
                  <a:txBody>
                    <a:bodyPr/>
                    <a:lstStyle/>
                    <a:p>
                      <a:pPr algn="ctr"/>
                      <a:r>
                        <a:rPr sz="938" b="1">
                          <a:solidFill>
                            <a:srgbClr val="FFFFFF"/>
                          </a:solidFill>
                          <a:latin typeface="Arial"/>
                          <a:ea typeface="Arial"/>
                          <a:cs typeface="Arial"/>
                        </a:rPr>
                        <a:t>32</a:t>
                      </a:r>
                    </a:p>
                  </a:txBody>
                  <a:tcPr anchor="ctr">
                    <a:solidFill>
                      <a:srgbClr val="9A6375"/>
                    </a:solidFill>
                  </a:tcPr>
                </a:tc>
                <a:tc>
                  <a:txBody>
                    <a:bodyPr/>
                    <a:lstStyle/>
                    <a:p>
                      <a:pPr algn="ctr"/>
                      <a:r>
                        <a:rPr sz="938" b="1">
                          <a:solidFill>
                            <a:srgbClr val="303030"/>
                          </a:solidFill>
                          <a:latin typeface="Arial"/>
                          <a:ea typeface="Arial"/>
                          <a:cs typeface="Arial"/>
                        </a:rPr>
                        <a:t>4</a:t>
                      </a:r>
                    </a:p>
                  </a:txBody>
                  <a:tcPr anchor="ctr">
                    <a:solidFill>
                      <a:srgbClr val="DCC9CF"/>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a:t>
                      </a:r>
                    </a:p>
                  </a:txBody>
                  <a:tcPr anchor="ctr">
                    <a:solidFill>
                      <a:srgbClr val="E1D0D6"/>
                    </a:solidFill>
                  </a:tcPr>
                </a:tc>
                <a:tc>
                  <a:txBody>
                    <a:bodyPr/>
                    <a:lstStyle/>
                    <a:p>
                      <a:pPr algn="ctr"/>
                      <a:r>
                        <a:rPr sz="938" b="1">
                          <a:solidFill>
                            <a:srgbClr val="303030"/>
                          </a:solidFill>
                          <a:latin typeface="Arial"/>
                          <a:ea typeface="Arial"/>
                          <a:cs typeface="Arial"/>
                        </a:rPr>
                        <a:t>2</a:t>
                      </a:r>
                    </a:p>
                  </a:txBody>
                  <a:tcPr anchor="ctr">
                    <a:solidFill>
                      <a:srgbClr val="E1D0D6"/>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extLst>
                  <a:ext uri="{0D108BD9-81ED-4DB2-BD59-A6C34878D82A}">
                    <a16:rowId xmlns:a16="http://schemas.microsoft.com/office/drawing/2014/main" val="10002"/>
                  </a:ext>
                </a:extLst>
              </a:tr>
              <a:tr h="500063">
                <a:tc>
                  <a:txBody>
                    <a:bodyPr/>
                    <a:lstStyle/>
                    <a:p>
                      <a:r>
                        <a:rPr sz="938" b="1">
                          <a:solidFill>
                            <a:srgbClr val="72243D"/>
                          </a:solidFill>
                          <a:latin typeface="Arial"/>
                          <a:ea typeface="Arial"/>
                          <a:cs typeface="Arial"/>
                        </a:rPr>
                        <a:t>Resonance</a:t>
                      </a:r>
                    </a:p>
                  </a:txBody>
                  <a:tcPr anchor="ctr">
                    <a:solidFill>
                      <a:srgbClr val="F4E9ED"/>
                    </a:solidFill>
                  </a:tcPr>
                </a:tc>
                <a:tc>
                  <a:txBody>
                    <a:bodyPr/>
                    <a:lstStyle/>
                    <a:p>
                      <a:pPr algn="ctr"/>
                      <a:r>
                        <a:rPr sz="938" b="1">
                          <a:solidFill>
                            <a:srgbClr val="303030"/>
                          </a:solidFill>
                          <a:latin typeface="Arial"/>
                          <a:ea typeface="Arial"/>
                          <a:cs typeface="Arial"/>
                        </a:rPr>
                        <a:t>14</a:t>
                      </a:r>
                    </a:p>
                  </a:txBody>
                  <a:tcPr anchor="ctr">
                    <a:solidFill>
                      <a:srgbClr val="C5A4AF"/>
                    </a:solidFill>
                  </a:tcPr>
                </a:tc>
                <a:tc>
                  <a:txBody>
                    <a:bodyPr/>
                    <a:lstStyle/>
                    <a:p>
                      <a:pPr algn="ctr"/>
                      <a:r>
                        <a:rPr sz="938" b="1">
                          <a:solidFill>
                            <a:srgbClr val="303030"/>
                          </a:solidFill>
                          <a:latin typeface="Arial"/>
                          <a:ea typeface="Arial"/>
                          <a:cs typeface="Arial"/>
                        </a:rPr>
                        <a:t>5</a:t>
                      </a:r>
                    </a:p>
                  </a:txBody>
                  <a:tcPr anchor="ctr">
                    <a:solidFill>
                      <a:srgbClr val="DAC5CC"/>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3"/>
                  </a:ext>
                </a:extLst>
              </a:tr>
              <a:tr h="500063">
                <a:tc>
                  <a:txBody>
                    <a:bodyPr/>
                    <a:lstStyle/>
                    <a:p>
                      <a:r>
                        <a:rPr sz="938" b="1">
                          <a:solidFill>
                            <a:srgbClr val="72243D"/>
                          </a:solidFill>
                          <a:latin typeface="Arial"/>
                          <a:ea typeface="Arial"/>
                          <a:cs typeface="Arial"/>
                        </a:rPr>
                        <a:t>Articulation</a:t>
                      </a:r>
                    </a:p>
                  </a:txBody>
                  <a:tcPr anchor="ctr">
                    <a:solidFill>
                      <a:srgbClr val="F4E9ED"/>
                    </a:solidFill>
                  </a:tcPr>
                </a:tc>
                <a:tc>
                  <a:txBody>
                    <a:bodyPr/>
                    <a:lstStyle/>
                    <a:p>
                      <a:pPr algn="ctr"/>
                      <a:r>
                        <a:rPr sz="938" b="1">
                          <a:solidFill>
                            <a:srgbClr val="FFFFFF"/>
                          </a:solidFill>
                          <a:latin typeface="Arial"/>
                          <a:ea typeface="Arial"/>
                          <a:cs typeface="Arial"/>
                        </a:rPr>
                        <a:t>45</a:t>
                      </a:r>
                    </a:p>
                  </a:txBody>
                  <a:tcPr anchor="ctr">
                    <a:solidFill>
                      <a:srgbClr val="7C334B"/>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11</a:t>
                      </a:r>
                    </a:p>
                  </a:txBody>
                  <a:tcPr anchor="ctr">
                    <a:solidFill>
                      <a:srgbClr val="CCAFB9"/>
                    </a:solidFill>
                  </a:tcPr>
                </a:tc>
                <a:tc>
                  <a:txBody>
                    <a:bodyPr/>
                    <a:lstStyle/>
                    <a:p>
                      <a:pPr algn="ctr"/>
                      <a:r>
                        <a:rPr sz="938" b="1" dirty="0">
                          <a:solidFill>
                            <a:srgbClr val="303030"/>
                          </a:solidFill>
                          <a:latin typeface="Arial"/>
                          <a:ea typeface="Arial"/>
                          <a:cs typeface="Arial"/>
                        </a:rPr>
                        <a:t>5</a:t>
                      </a:r>
                    </a:p>
                  </a:txBody>
                  <a:tcPr anchor="ctr">
                    <a:solidFill>
                      <a:srgbClr val="DAC5CC"/>
                    </a:solidFill>
                  </a:tcPr>
                </a:tc>
                <a:tc>
                  <a:txBody>
                    <a:bodyPr/>
                    <a:lstStyle/>
                    <a:p>
                      <a:pPr algn="ctr"/>
                      <a:r>
                        <a:rPr sz="938" b="1" dirty="0">
                          <a:solidFill>
                            <a:srgbClr val="303030"/>
                          </a:solidFill>
                          <a:latin typeface="Arial"/>
                          <a:ea typeface="Arial"/>
                          <a:cs typeface="Arial"/>
                        </a:rPr>
                        <a:t>20</a:t>
                      </a:r>
                    </a:p>
                  </a:txBody>
                  <a:tcPr anchor="ctr">
                    <a:solidFill>
                      <a:srgbClr val="B78F9B"/>
                    </a:solidFill>
                  </a:tcPr>
                </a:tc>
                <a:tc>
                  <a:txBody>
                    <a:bodyPr/>
                    <a:lstStyle/>
                    <a:p>
                      <a:pPr algn="ctr"/>
                      <a:r>
                        <a:rPr sz="938" b="1">
                          <a:solidFill>
                            <a:srgbClr val="303030"/>
                          </a:solidFill>
                          <a:latin typeface="Arial"/>
                          <a:ea typeface="Arial"/>
                          <a:cs typeface="Arial"/>
                        </a:rPr>
                        <a:t>10</a:t>
                      </a:r>
                    </a:p>
                  </a:txBody>
                  <a:tcPr anchor="ctr">
                    <a:solidFill>
                      <a:srgbClr val="CEB3BC"/>
                    </a:solidFill>
                  </a:tcPr>
                </a:tc>
                <a:extLst>
                  <a:ext uri="{0D108BD9-81ED-4DB2-BD59-A6C34878D82A}">
                    <a16:rowId xmlns:a16="http://schemas.microsoft.com/office/drawing/2014/main" val="10004"/>
                  </a:ext>
                </a:extLst>
              </a:tr>
              <a:tr h="500063">
                <a:tc>
                  <a:txBody>
                    <a:bodyPr/>
                    <a:lstStyle/>
                    <a:p>
                      <a:endParaRPr sz="938" b="1" dirty="0">
                        <a:solidFill>
                          <a:srgbClr val="72243D"/>
                        </a:solidFill>
                        <a:latin typeface="Arial"/>
                        <a:ea typeface="Arial"/>
                        <a:cs typeface="Arial"/>
                      </a:endParaRPr>
                    </a:p>
                  </a:txBody>
                  <a:tcPr anchor="ctr">
                    <a:solidFill>
                      <a:srgbClr val="F4E9ED"/>
                    </a:solidFill>
                  </a:tcPr>
                </a:tc>
                <a:tc>
                  <a:txBody>
                    <a:bodyPr/>
                    <a:lstStyle/>
                    <a:p>
                      <a:pPr algn="ctr"/>
                      <a:r>
                        <a:rPr sz="938" b="1">
                          <a:solidFill>
                            <a:srgbClr val="303030"/>
                          </a:solidFill>
                          <a:latin typeface="Arial"/>
                          <a:ea typeface="Arial"/>
                          <a:cs typeface="Arial"/>
                        </a:rPr>
                        <a:t>17</a:t>
                      </a:r>
                    </a:p>
                  </a:txBody>
                  <a:tcPr anchor="ctr">
                    <a:solidFill>
                      <a:srgbClr val="BE9AA5"/>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1">
                          <a:solidFill>
                            <a:srgbClr val="303030"/>
                          </a:solidFill>
                          <a:latin typeface="Arial"/>
                          <a:ea typeface="Arial"/>
                          <a:cs typeface="Arial"/>
                        </a:rPr>
                        <a:t>1</a:t>
                      </a:r>
                    </a:p>
                  </a:txBody>
                  <a:tcPr anchor="ctr">
                    <a:solidFill>
                      <a:srgbClr val="E3D4D9"/>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0">
                          <a:solidFill>
                            <a:srgbClr val="7D7364"/>
                          </a:solidFill>
                          <a:latin typeface="Arial"/>
                          <a:ea typeface="Arial"/>
                          <a:cs typeface="Arial"/>
                        </a:rPr>
                        <a:t>0</a:t>
                      </a:r>
                    </a:p>
                  </a:txBody>
                  <a:tcPr anchor="ctr">
                    <a:solidFill>
                      <a:srgbClr val="FFFFFF"/>
                    </a:solidFill>
                  </a:tcPr>
                </a:tc>
                <a:tc>
                  <a:txBody>
                    <a:bodyPr/>
                    <a:lstStyle/>
                    <a:p>
                      <a:pPr algn="ctr"/>
                      <a:r>
                        <a:rPr sz="938" b="1" dirty="0">
                          <a:solidFill>
                            <a:srgbClr val="303030"/>
                          </a:solidFill>
                          <a:latin typeface="Arial"/>
                          <a:ea typeface="Arial"/>
                          <a:cs typeface="Arial"/>
                        </a:rPr>
                        <a:t>3</a:t>
                      </a:r>
                    </a:p>
                  </a:txBody>
                  <a:tcPr anchor="ctr">
                    <a:solidFill>
                      <a:srgbClr val="DFCDD2"/>
                    </a:solidFill>
                  </a:tcPr>
                </a:tc>
                <a:tc>
                  <a:txBody>
                    <a:bodyPr/>
                    <a:lstStyle/>
                    <a:p>
                      <a:pPr algn="ctr"/>
                      <a:r>
                        <a:rPr sz="938"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902BB13A-6889-8336-19FE-9028B4A8853B}"/>
              </a:ext>
            </a:extLst>
          </p:cNvPr>
          <p:cNvSpPr>
            <a:spLocks noGrp="1"/>
          </p:cNvSpPr>
          <p:nvPr/>
        </p:nvSpPr>
        <p:spPr>
          <a:xfrm>
            <a:off x="410936" y="4048125"/>
            <a:ext cx="1285875" cy="228600"/>
          </a:xfrm>
          <a:prstGeom prst="rect">
            <a:avLst/>
          </a:prstGeom>
          <a:noFill/>
          <a:ln w="0">
            <a:noFill/>
          </a:ln>
        </p:spPr>
        <p:txBody>
          <a:bodyPr anchor="ctr">
            <a:normAutofit fontScale="93214" lnSpcReduction="10000"/>
          </a:bodyPr>
          <a:lstStyle/>
          <a:p>
            <a:pPr>
              <a:defRPr sz="1050" b="1">
                <a:solidFill>
                  <a:srgbClr val="72243D"/>
                </a:solidFill>
                <a:latin typeface="Arial"/>
                <a:ea typeface="Arial"/>
                <a:cs typeface="Arial"/>
              </a:defRPr>
            </a:pPr>
            <a:r>
              <a:rPr lang="vi-VN" sz="1050" b="1" dirty="0">
                <a:solidFill>
                  <a:srgbClr val="72243D"/>
                </a:solidFill>
                <a:latin typeface="Arial"/>
                <a:ea typeface="Arial"/>
                <a:cs typeface="Arial"/>
              </a:rPr>
              <a:t>Prosody</a:t>
            </a:r>
            <a:endParaRPr sz="1050" b="1" dirty="0">
              <a:solidFill>
                <a:srgbClr val="72243D"/>
              </a:solidFill>
              <a:latin typeface="Arial"/>
              <a:ea typeface="Arial"/>
              <a:cs typeface="Arial"/>
            </a:endParaRPr>
          </a:p>
        </p:txBody>
      </p:sp>
      <p:sp>
        <p:nvSpPr>
          <p:cNvPr id="23" name="TextBox 22"/>
          <p:cNvSpPr txBox="1"/>
          <p:nvPr/>
        </p:nvSpPr>
        <p:spPr>
          <a:xfrm>
            <a:off x="350000" y="4650000"/>
            <a:ext cx="8400000" cy="500000"/>
          </a:xfrm>
          <a:prstGeom prst="rect">
            <a:avLst/>
          </a:prstGeom>
          <a:noFill/>
        </p:spPr>
        <p:txBody>
          <a:bodyPr wrap="square">
            <a:spAutoFit/>
          </a:bodyPr>
          <a:lstStyle/>
          <a:p>
            <a:r>
              <a:rPr sz="900" b="0" i="1">
                <a:solidFill>
                  <a:srgbClr val="7D7364"/>
                </a:solidFill>
                <a:latin typeface="Arial"/>
              </a:rPr>
              <a:t>Values reflect the corpus as of Week 6 (Sep 27). See the growth-comparison slides below for the Week 5 -&gt; Week 6 change.</a:t>
            </a:r>
          </a:p>
        </p:txBody>
      </p:sp>
    </p:spTree>
    <p:extLst>
      <p:ext uri="{BB962C8B-B14F-4D97-AF65-F5344CB8AC3E}">
        <p14:creationId xmlns:p14="http://schemas.microsoft.com/office/powerpoint/2010/main" val="28419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5805-2EF5-C6EC-D9BC-3D7D36D7A8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F5AD3B0-E448-25A5-1663-CF2D2F7C3A1C}"/>
              </a:ext>
            </a:extLst>
          </p:cNvPr>
          <p:cNvSpPr>
            <a:spLocks noGrp="1"/>
          </p:cNvSpPr>
          <p:nvPr>
            <p:ph type="title"/>
          </p:nvPr>
        </p:nvSpPr>
        <p:spPr>
          <a:xfrm>
            <a:off x="236536" y="1003"/>
            <a:ext cx="8450263" cy="514350"/>
          </a:xfrm>
        </p:spPr>
        <p:txBody>
          <a:bodyPr/>
          <a:lstStyle/>
          <a:p>
            <a:r>
              <a:rPr lang="en-VN" dirty="0"/>
              <a:t>2. Literature Review Paper – Progress</a:t>
            </a:r>
          </a:p>
        </p:txBody>
      </p:sp>
      <p:sp>
        <p:nvSpPr>
          <p:cNvPr id="22" name="Slide Number Placeholder 21">
            <a:extLst>
              <a:ext uri="{FF2B5EF4-FFF2-40B4-BE49-F238E27FC236}">
                <a16:creationId xmlns:a16="http://schemas.microsoft.com/office/drawing/2014/main" id="{CB272DF9-99E6-D1A7-AD54-4EE48E5AA8C6}"/>
              </a:ext>
            </a:extLst>
          </p:cNvPr>
          <p:cNvSpPr>
            <a:spLocks noGrp="1"/>
          </p:cNvSpPr>
          <p:nvPr>
            <p:ph type="sldNum" sz="quarter" idx="15"/>
          </p:nvPr>
        </p:nvSpPr>
        <p:spPr/>
        <p:txBody>
          <a:bodyPr/>
          <a:lstStyle/>
          <a:p>
            <a:fld id="{0AF20276-0DC3-B247-B3AE-8A6E2F85407E}" type="slidenum">
              <a:rPr lang="en-VN" smtClean="0"/>
              <a:t>10</a:t>
            </a:fld>
            <a:endParaRPr lang="en-VN"/>
          </a:p>
        </p:txBody>
      </p:sp>
      <p:graphicFrame>
        <p:nvGraphicFramePr>
          <p:cNvPr id="2" name="Table 1">
            <a:extLst>
              <a:ext uri="{FF2B5EF4-FFF2-40B4-BE49-F238E27FC236}">
                <a16:creationId xmlns:a16="http://schemas.microsoft.com/office/drawing/2014/main" id="{29075A34-871F-0CD3-92B8-F7EBF7B3914E}"/>
              </a:ext>
            </a:extLst>
          </p:cNvPr>
          <p:cNvGraphicFramePr/>
          <p:nvPr>
            <p:extLst>
              <p:ext uri="{D42A27DB-BD31-4B8C-83A1-F6EECF244321}">
                <p14:modId xmlns:p14="http://schemas.microsoft.com/office/powerpoint/2010/main" val="2876896194"/>
              </p:ext>
            </p:extLst>
          </p:nvPr>
        </p:nvGraphicFramePr>
        <p:xfrm>
          <a:off x="346870" y="954404"/>
          <a:ext cx="8450259" cy="3741375"/>
        </p:xfrm>
        <a:graphic>
          <a:graphicData uri="http://schemas.openxmlformats.org/drawingml/2006/table">
            <a:tbl>
              <a:tblPr/>
              <a:tblGrid>
                <a:gridCol w="1749427">
                  <a:extLst>
                    <a:ext uri="{9D8B030D-6E8A-4147-A177-3AD203B41FA5}">
                      <a16:colId xmlns:a16="http://schemas.microsoft.com/office/drawing/2014/main" val="20000"/>
                    </a:ext>
                  </a:extLst>
                </a:gridCol>
                <a:gridCol w="837604">
                  <a:extLst>
                    <a:ext uri="{9D8B030D-6E8A-4147-A177-3AD203B41FA5}">
                      <a16:colId xmlns:a16="http://schemas.microsoft.com/office/drawing/2014/main" val="20001"/>
                    </a:ext>
                  </a:extLst>
                </a:gridCol>
                <a:gridCol w="837604">
                  <a:extLst>
                    <a:ext uri="{9D8B030D-6E8A-4147-A177-3AD203B41FA5}">
                      <a16:colId xmlns:a16="http://schemas.microsoft.com/office/drawing/2014/main" val="20002"/>
                    </a:ext>
                  </a:extLst>
                </a:gridCol>
                <a:gridCol w="837604">
                  <a:extLst>
                    <a:ext uri="{9D8B030D-6E8A-4147-A177-3AD203B41FA5}">
                      <a16:colId xmlns:a16="http://schemas.microsoft.com/office/drawing/2014/main" val="20003"/>
                    </a:ext>
                  </a:extLst>
                </a:gridCol>
                <a:gridCol w="837604">
                  <a:extLst>
                    <a:ext uri="{9D8B030D-6E8A-4147-A177-3AD203B41FA5}">
                      <a16:colId xmlns:a16="http://schemas.microsoft.com/office/drawing/2014/main" val="20004"/>
                    </a:ext>
                  </a:extLst>
                </a:gridCol>
                <a:gridCol w="837604">
                  <a:extLst>
                    <a:ext uri="{9D8B030D-6E8A-4147-A177-3AD203B41FA5}">
                      <a16:colId xmlns:a16="http://schemas.microsoft.com/office/drawing/2014/main" val="20005"/>
                    </a:ext>
                  </a:extLst>
                </a:gridCol>
                <a:gridCol w="837604">
                  <a:extLst>
                    <a:ext uri="{9D8B030D-6E8A-4147-A177-3AD203B41FA5}">
                      <a16:colId xmlns:a16="http://schemas.microsoft.com/office/drawing/2014/main" val="20006"/>
                    </a:ext>
                  </a:extLst>
                </a:gridCol>
                <a:gridCol w="837604">
                  <a:extLst>
                    <a:ext uri="{9D8B030D-6E8A-4147-A177-3AD203B41FA5}">
                      <a16:colId xmlns:a16="http://schemas.microsoft.com/office/drawing/2014/main" val="20007"/>
                    </a:ext>
                  </a:extLst>
                </a:gridCol>
                <a:gridCol w="837604">
                  <a:extLst>
                    <a:ext uri="{9D8B030D-6E8A-4147-A177-3AD203B41FA5}">
                      <a16:colId xmlns:a16="http://schemas.microsoft.com/office/drawing/2014/main" val="20008"/>
                    </a:ext>
                  </a:extLst>
                </a:gridCol>
              </a:tblGrid>
              <a:tr h="366183">
                <a:tc>
                  <a:txBody>
                    <a:bodyPr/>
                    <a:lstStyle/>
                    <a:p>
                      <a:r>
                        <a:rPr sz="788" b="1">
                          <a:solidFill>
                            <a:srgbClr val="FFFFFF"/>
                          </a:solidFill>
                          <a:latin typeface="Arial"/>
                          <a:ea typeface="Arial"/>
                          <a:cs typeface="Arial"/>
                        </a:rPr>
                        <a:t>Population</a:t>
                      </a:r>
                    </a:p>
                  </a:txBody>
                  <a:tcPr anchor="ctr">
                    <a:solidFill>
                      <a:srgbClr val="72243D"/>
                    </a:solidFill>
                  </a:tcPr>
                </a:tc>
                <a:tc>
                  <a:txBody>
                    <a:bodyPr/>
                    <a:lstStyle/>
                    <a:p>
                      <a:r>
                        <a:rPr sz="788" b="1" dirty="0">
                          <a:solidFill>
                            <a:srgbClr val="FFFFFF"/>
                          </a:solidFill>
                          <a:latin typeface="Arial"/>
                          <a:ea typeface="Arial"/>
                          <a:cs typeface="Arial"/>
                        </a:rPr>
                        <a:t>Acoustic</a:t>
                      </a:r>
                      <a:r>
                        <a:rPr lang="vi-VN" sz="788" b="1" dirty="0">
                          <a:solidFill>
                            <a:srgbClr val="FFFFFF"/>
                          </a:solidFill>
                          <a:latin typeface="Arial"/>
                          <a:ea typeface="Arial"/>
                          <a:cs typeface="Arial"/>
                        </a:rPr>
                        <a:t>/</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Audio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Aero</a:t>
                      </a:r>
                      <a:r>
                        <a:rPr lang="vi-VN" sz="788" b="1" dirty="0">
                          <a:solidFill>
                            <a:srgbClr val="FFFFFF"/>
                          </a:solidFill>
                          <a:latin typeface="Arial"/>
                          <a:ea typeface="Arial"/>
                          <a:cs typeface="Arial"/>
                        </a:rPr>
                        <a:t>dynamic/ pressure measurement</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EGG</a:t>
                      </a:r>
                      <a:r>
                        <a:rPr lang="vi-VN" sz="788" b="1" dirty="0">
                          <a:solidFill>
                            <a:srgbClr val="FFFFFF"/>
                          </a:solidFill>
                          <a:latin typeface="Arial"/>
                          <a:ea typeface="Arial"/>
                          <a:cs typeface="Arial"/>
                        </a:rPr>
                        <a:t>/Electroglottography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Resp</a:t>
                      </a:r>
                      <a:r>
                        <a:rPr lang="vi-VN" sz="788" b="1" dirty="0">
                          <a:solidFill>
                            <a:srgbClr val="FFFFFF"/>
                          </a:solidFill>
                          <a:latin typeface="Arial"/>
                          <a:ea typeface="Arial"/>
                          <a:cs typeface="Arial"/>
                        </a:rPr>
                        <a:t>iration motion sensing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EPG</a:t>
                      </a:r>
                      <a:r>
                        <a:rPr lang="vi-VN" sz="788" b="1" dirty="0">
                          <a:solidFill>
                            <a:srgbClr val="FFFFFF"/>
                          </a:solidFill>
                          <a:latin typeface="Arial"/>
                          <a:ea typeface="Arial"/>
                          <a:cs typeface="Arial"/>
                        </a:rPr>
                        <a:t>/ Electropalatography</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UTI</a:t>
                      </a:r>
                      <a:r>
                        <a:rPr lang="vi-VN" sz="788" b="1" dirty="0">
                          <a:solidFill>
                            <a:srgbClr val="FFFFFF"/>
                          </a:solidFill>
                          <a:latin typeface="Arial"/>
                          <a:ea typeface="Arial"/>
                          <a:cs typeface="Arial"/>
                        </a:rPr>
                        <a:t>/ Ultrasound Tongue Imaging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a:solidFill>
                            <a:srgbClr val="FFFFFF"/>
                          </a:solidFill>
                          <a:latin typeface="Arial"/>
                          <a:ea typeface="Arial"/>
                          <a:cs typeface="Arial"/>
                        </a:rPr>
                        <a:t>EMA</a:t>
                      </a:r>
                      <a:r>
                        <a:rPr lang="vi-VN" sz="788" b="1" dirty="0">
                          <a:solidFill>
                            <a:srgbClr val="FFFFFF"/>
                          </a:solidFill>
                          <a:latin typeface="Arial"/>
                          <a:ea typeface="Arial"/>
                          <a:cs typeface="Arial"/>
                        </a:rPr>
                        <a:t>/kin.</a:t>
                      </a:r>
                      <a:br>
                        <a:rPr lang="vi-VN" sz="788" b="1" dirty="0">
                          <a:solidFill>
                            <a:srgbClr val="FFFFFF"/>
                          </a:solidFill>
                          <a:latin typeface="Arial"/>
                          <a:ea typeface="Arial"/>
                          <a:cs typeface="Arial"/>
                        </a:rPr>
                      </a:br>
                      <a:r>
                        <a:rPr lang="vi-VN" sz="788" b="1" dirty="0">
                          <a:solidFill>
                            <a:srgbClr val="FFFFFF"/>
                          </a:solidFill>
                          <a:latin typeface="Arial"/>
                          <a:ea typeface="Arial"/>
                          <a:cs typeface="Arial"/>
                        </a:rPr>
                        <a:t>Electromagnetic articulography/ kinematic tracking</a:t>
                      </a:r>
                      <a:endParaRPr sz="788" b="1" dirty="0">
                        <a:solidFill>
                          <a:srgbClr val="FFFFFF"/>
                        </a:solidFill>
                        <a:latin typeface="Arial"/>
                        <a:ea typeface="Arial"/>
                        <a:cs typeface="Arial"/>
                      </a:endParaRPr>
                    </a:p>
                  </a:txBody>
                  <a:tcPr anchor="ctr">
                    <a:solidFill>
                      <a:srgbClr val="72243D"/>
                    </a:solidFill>
                  </a:tcPr>
                </a:tc>
                <a:tc>
                  <a:txBody>
                    <a:bodyPr/>
                    <a:lstStyle/>
                    <a:p>
                      <a:r>
                        <a:rPr sz="788" b="1" dirty="0" err="1">
                          <a:solidFill>
                            <a:srgbClr val="FFFFFF"/>
                          </a:solidFill>
                          <a:latin typeface="Arial"/>
                          <a:ea typeface="Arial"/>
                          <a:cs typeface="Arial"/>
                        </a:rPr>
                        <a:t>sEMG</a:t>
                      </a:r>
                      <a:endParaRPr sz="788" b="1" dirty="0">
                        <a:solidFill>
                          <a:srgbClr val="FFFFFF"/>
                        </a:solidFill>
                        <a:latin typeface="Arial"/>
                        <a:ea typeface="Arial"/>
                        <a:cs typeface="Arial"/>
                      </a:endParaRPr>
                    </a:p>
                  </a:txBody>
                  <a:tcPr anchor="ctr">
                    <a:solidFill>
                      <a:srgbClr val="72243D"/>
                    </a:solidFill>
                  </a:tcPr>
                </a:tc>
                <a:extLst>
                  <a:ext uri="{0D108BD9-81ED-4DB2-BD59-A6C34878D82A}">
                    <a16:rowId xmlns:a16="http://schemas.microsoft.com/office/drawing/2014/main" val="10000"/>
                  </a:ext>
                </a:extLst>
              </a:tr>
              <a:tr h="366183">
                <a:tc>
                  <a:txBody>
                    <a:bodyPr/>
                    <a:lstStyle/>
                    <a:p>
                      <a:r>
                        <a:rPr sz="885" b="1">
                          <a:solidFill>
                            <a:srgbClr val="72243D"/>
                          </a:solidFill>
                          <a:latin typeface="Arial"/>
                          <a:ea typeface="Arial"/>
                          <a:cs typeface="Arial"/>
                        </a:rPr>
                        <a:t>Parkinson disease</a:t>
                      </a:r>
                    </a:p>
                  </a:txBody>
                  <a:tcPr anchor="ctr">
                    <a:solidFill>
                      <a:srgbClr val="F4E9ED"/>
                    </a:solidFill>
                  </a:tcPr>
                </a:tc>
                <a:tc>
                  <a:txBody>
                    <a:bodyPr/>
                    <a:lstStyle/>
                    <a:p>
                      <a:pPr algn="ctr"/>
                      <a:r>
                        <a:rPr sz="885" b="1">
                          <a:solidFill>
                            <a:srgbClr val="FFFFFF"/>
                          </a:solidFill>
                          <a:latin typeface="Arial"/>
                          <a:ea typeface="Arial"/>
                          <a:cs typeface="Arial"/>
                        </a:rPr>
                        <a:t>32</a:t>
                      </a:r>
                    </a:p>
                  </a:txBody>
                  <a:tcPr anchor="ctr">
                    <a:solidFill>
                      <a:srgbClr val="7C334B"/>
                    </a:solidFill>
                  </a:tcPr>
                </a:tc>
                <a:tc>
                  <a:txBody>
                    <a:bodyPr/>
                    <a:lstStyle/>
                    <a:p>
                      <a:pPr algn="ctr"/>
                      <a:r>
                        <a:rPr sz="885" b="1">
                          <a:solidFill>
                            <a:srgbClr val="303030"/>
                          </a:solidFill>
                          <a:latin typeface="Arial"/>
                          <a:ea typeface="Arial"/>
                          <a:cs typeface="Arial"/>
                        </a:rPr>
                        <a:t>7</a:t>
                      </a:r>
                    </a:p>
                  </a:txBody>
                  <a:tcPr anchor="ctr">
                    <a:solidFill>
                      <a:srgbClr val="CEB4BC"/>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10</a:t>
                      </a:r>
                    </a:p>
                  </a:txBody>
                  <a:tcPr anchor="ctr">
                    <a:solidFill>
                      <a:srgbClr val="C5A4AF"/>
                    </a:solidFill>
                  </a:tcPr>
                </a:tc>
                <a:tc>
                  <a:txBody>
                    <a:bodyPr/>
                    <a:lstStyle/>
                    <a:p>
                      <a:pPr algn="ctr"/>
                      <a:r>
                        <a:rPr sz="885" b="1">
                          <a:solidFill>
                            <a:srgbClr val="303030"/>
                          </a:solidFill>
                          <a:latin typeface="Arial"/>
                          <a:ea typeface="Arial"/>
                          <a:cs typeface="Arial"/>
                        </a:rPr>
                        <a:t>2</a:t>
                      </a:r>
                    </a:p>
                  </a:txBody>
                  <a:tcPr anchor="ctr">
                    <a:solidFill>
                      <a:srgbClr val="DFCDD3"/>
                    </a:solidFill>
                  </a:tcPr>
                </a:tc>
                <a:extLst>
                  <a:ext uri="{0D108BD9-81ED-4DB2-BD59-A6C34878D82A}">
                    <a16:rowId xmlns:a16="http://schemas.microsoft.com/office/drawing/2014/main" val="10001"/>
                  </a:ext>
                </a:extLst>
              </a:tr>
              <a:tr h="366183">
                <a:tc>
                  <a:txBody>
                    <a:bodyPr/>
                    <a:lstStyle/>
                    <a:p>
                      <a:r>
                        <a:rPr sz="885" b="1">
                          <a:solidFill>
                            <a:srgbClr val="72243D"/>
                          </a:solidFill>
                          <a:latin typeface="Arial"/>
                          <a:ea typeface="Arial"/>
                          <a:cs typeface="Arial"/>
                        </a:rPr>
                        <a:t>ALS/MND</a:t>
                      </a:r>
                    </a:p>
                  </a:txBody>
                  <a:tcPr anchor="ctr">
                    <a:solidFill>
                      <a:srgbClr val="F4E9ED"/>
                    </a:solidFill>
                  </a:tcPr>
                </a:tc>
                <a:tc>
                  <a:txBody>
                    <a:bodyPr/>
                    <a:lstStyle/>
                    <a:p>
                      <a:pPr algn="ctr"/>
                      <a:r>
                        <a:rPr sz="885" b="1">
                          <a:solidFill>
                            <a:srgbClr val="FFFFFF"/>
                          </a:solidFill>
                          <a:latin typeface="Arial"/>
                          <a:ea typeface="Arial"/>
                          <a:cs typeface="Arial"/>
                        </a:rPr>
                        <a:t>18</a:t>
                      </a:r>
                    </a:p>
                  </a:txBody>
                  <a:tcPr anchor="ctr">
                    <a:solidFill>
                      <a:srgbClr val="AA7B8A"/>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3</a:t>
                      </a:r>
                    </a:p>
                  </a:txBody>
                  <a:tcPr anchor="ctr">
                    <a:solidFill>
                      <a:srgbClr val="DCC8CE"/>
                    </a:solidFill>
                  </a:tcPr>
                </a:tc>
                <a:tc>
                  <a:txBody>
                    <a:bodyPr/>
                    <a:lstStyle/>
                    <a:p>
                      <a:pPr algn="ctr"/>
                      <a:r>
                        <a:rPr sz="885" b="1">
                          <a:solidFill>
                            <a:srgbClr val="303030"/>
                          </a:solidFill>
                          <a:latin typeface="Arial"/>
                          <a:ea typeface="Arial"/>
                          <a:cs typeface="Arial"/>
                        </a:rPr>
                        <a:t>8</a:t>
                      </a:r>
                    </a:p>
                  </a:txBody>
                  <a:tcPr anchor="ctr">
                    <a:solidFill>
                      <a:srgbClr val="CBAFB8"/>
                    </a:solidFill>
                  </a:tcPr>
                </a:tc>
                <a:tc>
                  <a:txBody>
                    <a:bodyPr/>
                    <a:lstStyle/>
                    <a:p>
                      <a:pPr algn="ctr"/>
                      <a:r>
                        <a:rPr sz="885" b="0" dirty="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2"/>
                  </a:ext>
                </a:extLst>
              </a:tr>
              <a:tr h="366183">
                <a:tc>
                  <a:txBody>
                    <a:bodyPr/>
                    <a:lstStyle/>
                    <a:p>
                      <a:r>
                        <a:rPr sz="885" b="1">
                          <a:solidFill>
                            <a:srgbClr val="72243D"/>
                          </a:solidFill>
                          <a:latin typeface="Arial"/>
                          <a:ea typeface="Arial"/>
                          <a:cs typeface="Arial"/>
                        </a:rPr>
                        <a:t>Stroke</a:t>
                      </a:r>
                    </a:p>
                  </a:txBody>
                  <a:tcPr anchor="ctr">
                    <a:solidFill>
                      <a:srgbClr val="F4E9ED"/>
                    </a:solidFill>
                  </a:tcPr>
                </a:tc>
                <a:tc>
                  <a:txBody>
                    <a:bodyPr/>
                    <a:lstStyle/>
                    <a:p>
                      <a:pPr algn="ctr"/>
                      <a:r>
                        <a:rPr sz="885" b="1">
                          <a:solidFill>
                            <a:srgbClr val="FFFFFF"/>
                          </a:solidFill>
                          <a:latin typeface="Arial"/>
                          <a:ea typeface="Arial"/>
                          <a:cs typeface="Arial"/>
                        </a:rPr>
                        <a:t>16</a:t>
                      </a:r>
                    </a:p>
                  </a:txBody>
                  <a:tcPr anchor="ctr">
                    <a:solidFill>
                      <a:srgbClr val="B1859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5</a:t>
                      </a:r>
                    </a:p>
                  </a:txBody>
                  <a:tcPr anchor="ctr">
                    <a:solidFill>
                      <a:srgbClr val="D5BEC5"/>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3</a:t>
                      </a:r>
                    </a:p>
                  </a:txBody>
                  <a:tcPr anchor="ctr">
                    <a:solidFill>
                      <a:srgbClr val="DCC8CE"/>
                    </a:solidFill>
                  </a:tcPr>
                </a:tc>
                <a:extLst>
                  <a:ext uri="{0D108BD9-81ED-4DB2-BD59-A6C34878D82A}">
                    <a16:rowId xmlns:a16="http://schemas.microsoft.com/office/drawing/2014/main" val="10003"/>
                  </a:ext>
                </a:extLst>
              </a:tr>
              <a:tr h="366183">
                <a:tc>
                  <a:txBody>
                    <a:bodyPr/>
                    <a:lstStyle/>
                    <a:p>
                      <a:r>
                        <a:rPr sz="885" b="1">
                          <a:solidFill>
                            <a:srgbClr val="72243D"/>
                          </a:solidFill>
                          <a:latin typeface="Arial"/>
                          <a:ea typeface="Arial"/>
                          <a:cs typeface="Arial"/>
                        </a:rPr>
                        <a:t>Multiple sclerosis</a:t>
                      </a:r>
                    </a:p>
                  </a:txBody>
                  <a:tcPr anchor="ctr">
                    <a:solidFill>
                      <a:srgbClr val="F4E9ED"/>
                    </a:solidFill>
                  </a:tcPr>
                </a:tc>
                <a:tc>
                  <a:txBody>
                    <a:bodyPr/>
                    <a:lstStyle/>
                    <a:p>
                      <a:pPr algn="ctr"/>
                      <a:r>
                        <a:rPr sz="885" b="1">
                          <a:solidFill>
                            <a:srgbClr val="303030"/>
                          </a:solidFill>
                          <a:latin typeface="Arial"/>
                          <a:ea typeface="Arial"/>
                          <a:cs typeface="Arial"/>
                        </a:rPr>
                        <a:t>4</a:t>
                      </a:r>
                    </a:p>
                  </a:txBody>
                  <a:tcPr anchor="ctr">
                    <a:solidFill>
                      <a:srgbClr val="D8C3CA"/>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4"/>
                  </a:ext>
                </a:extLst>
              </a:tr>
              <a:tr h="366183">
                <a:tc>
                  <a:txBody>
                    <a:bodyPr/>
                    <a:lstStyle/>
                    <a:p>
                      <a:r>
                        <a:rPr sz="885" b="1">
                          <a:solidFill>
                            <a:srgbClr val="72243D"/>
                          </a:solidFill>
                          <a:latin typeface="Arial"/>
                          <a:ea typeface="Arial"/>
                          <a:cs typeface="Arial"/>
                        </a:rPr>
                        <a:t>Ataxia/cerebellar</a:t>
                      </a:r>
                    </a:p>
                  </a:txBody>
                  <a:tcPr anchor="ctr">
                    <a:solidFill>
                      <a:srgbClr val="F4E9ED"/>
                    </a:solidFill>
                  </a:tcPr>
                </a:tc>
                <a:tc>
                  <a:txBody>
                    <a:bodyPr/>
                    <a:lstStyle/>
                    <a:p>
                      <a:pPr algn="ctr"/>
                      <a:r>
                        <a:rPr sz="885" b="1">
                          <a:solidFill>
                            <a:srgbClr val="303030"/>
                          </a:solidFill>
                          <a:latin typeface="Arial"/>
                          <a:ea typeface="Arial"/>
                          <a:cs typeface="Arial"/>
                        </a:rPr>
                        <a:t>9</a:t>
                      </a:r>
                    </a:p>
                  </a:txBody>
                  <a:tcPr anchor="ctr">
                    <a:solidFill>
                      <a:srgbClr val="C8A9B3"/>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1">
                          <a:solidFill>
                            <a:srgbClr val="303030"/>
                          </a:solidFill>
                          <a:latin typeface="Arial"/>
                          <a:ea typeface="Arial"/>
                          <a:cs typeface="Arial"/>
                        </a:rPr>
                        <a:t>1</a:t>
                      </a:r>
                    </a:p>
                  </a:txBody>
                  <a:tcPr anchor="ctr">
                    <a:solidFill>
                      <a:srgbClr val="E2D2D8"/>
                    </a:solidFill>
                  </a:tcPr>
                </a:tc>
                <a:extLst>
                  <a:ext uri="{0D108BD9-81ED-4DB2-BD59-A6C34878D82A}">
                    <a16:rowId xmlns:a16="http://schemas.microsoft.com/office/drawing/2014/main" val="10005"/>
                  </a:ext>
                </a:extLst>
              </a:tr>
              <a:tr h="366183">
                <a:tc>
                  <a:txBody>
                    <a:bodyPr/>
                    <a:lstStyle/>
                    <a:p>
                      <a:r>
                        <a:rPr sz="885" b="1">
                          <a:solidFill>
                            <a:srgbClr val="72243D"/>
                          </a:solidFill>
                          <a:latin typeface="Arial"/>
                          <a:ea typeface="Arial"/>
                          <a:cs typeface="Arial"/>
                        </a:rPr>
                        <a:t>TBI/concussion</a:t>
                      </a:r>
                    </a:p>
                  </a:txBody>
                  <a:tcPr anchor="ctr">
                    <a:solidFill>
                      <a:srgbClr val="F4E9ED"/>
                    </a:solidFill>
                  </a:tcPr>
                </a:tc>
                <a:tc>
                  <a:txBody>
                    <a:bodyPr/>
                    <a:lstStyle/>
                    <a:p>
                      <a:pPr algn="ctr"/>
                      <a:r>
                        <a:rPr sz="885" b="1">
                          <a:solidFill>
                            <a:srgbClr val="303030"/>
                          </a:solidFill>
                          <a:latin typeface="Arial"/>
                          <a:ea typeface="Arial"/>
                          <a:cs typeface="Arial"/>
                        </a:rPr>
                        <a:t>1</a:t>
                      </a:r>
                    </a:p>
                  </a:txBody>
                  <a:tcPr anchor="ctr">
                    <a:solidFill>
                      <a:srgbClr val="E2D2D8"/>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0">
                          <a:solidFill>
                            <a:srgbClr val="7D7364"/>
                          </a:solidFill>
                          <a:latin typeface="Arial"/>
                          <a:ea typeface="Arial"/>
                          <a:cs typeface="Arial"/>
                        </a:rPr>
                        <a:t>0</a:t>
                      </a:r>
                    </a:p>
                  </a:txBody>
                  <a:tcPr anchor="ctr">
                    <a:solidFill>
                      <a:srgbClr val="FFFFFF"/>
                    </a:solidFill>
                  </a:tcPr>
                </a:tc>
                <a:tc>
                  <a:txBody>
                    <a:bodyPr/>
                    <a:lstStyle/>
                    <a:p>
                      <a:pPr algn="ctr"/>
                      <a:r>
                        <a:rPr sz="885" b="1">
                          <a:solidFill>
                            <a:srgbClr val="303030"/>
                          </a:solidFill>
                          <a:latin typeface="Arial"/>
                          <a:ea typeface="Arial"/>
                          <a:cs typeface="Arial"/>
                        </a:rPr>
                        <a:t>2</a:t>
                      </a:r>
                    </a:p>
                  </a:txBody>
                  <a:tcPr anchor="ctr">
                    <a:solidFill>
                      <a:srgbClr val="DFCDD3"/>
                    </a:solidFill>
                  </a:tcPr>
                </a:tc>
                <a:tc>
                  <a:txBody>
                    <a:bodyPr/>
                    <a:lstStyle/>
                    <a:p>
                      <a:pPr algn="ctr"/>
                      <a:r>
                        <a:rPr sz="885" b="0">
                          <a:solidFill>
                            <a:srgbClr val="7D7364"/>
                          </a:solidFill>
                          <a:latin typeface="Arial"/>
                          <a:ea typeface="Arial"/>
                          <a:cs typeface="Arial"/>
                        </a:rPr>
                        <a:t>0</a:t>
                      </a:r>
                    </a:p>
                  </a:txBody>
                  <a:tcPr anchor="ctr">
                    <a:solidFill>
                      <a:srgbClr val="FFFFFF"/>
                    </a:solidFill>
                  </a:tcPr>
                </a:tc>
                <a:extLst>
                  <a:ext uri="{0D108BD9-81ED-4DB2-BD59-A6C34878D82A}">
                    <a16:rowId xmlns:a16="http://schemas.microsoft.com/office/drawing/2014/main" val="10006"/>
                  </a:ext>
                </a:extLst>
              </a:tr>
              <a:tr h="366183">
                <a:tc>
                  <a:txBody>
                    <a:bodyPr/>
                    <a:lstStyle/>
                    <a:p>
                      <a:r>
                        <a:rPr sz="885" b="1">
                          <a:solidFill>
                            <a:srgbClr val="72243D"/>
                          </a:solidFill>
                          <a:latin typeface="Arial"/>
                          <a:ea typeface="Arial"/>
                          <a:cs typeface="Arial"/>
                        </a:rPr>
                        <a:t>Other neurologic</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7"/>
                  </a:ext>
                </a:extLst>
              </a:tr>
              <a:tr h="366183">
                <a:tc>
                  <a:txBody>
                    <a:bodyPr/>
                    <a:lstStyle/>
                    <a:p>
                      <a:r>
                        <a:rPr sz="885" b="1">
                          <a:solidFill>
                            <a:srgbClr val="72243D"/>
                          </a:solidFill>
                          <a:latin typeface="Arial"/>
                          <a:ea typeface="Arial"/>
                          <a:cs typeface="Arial"/>
                        </a:rPr>
                        <a:t>No dysarthria cohort</a:t>
                      </a:r>
                    </a:p>
                  </a:txBody>
                  <a:tcPr anchor="ctr">
                    <a:solidFill>
                      <a:srgbClr val="F4E9ED"/>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i="1">
                          <a:solidFill>
                            <a:srgbClr val="7D7364"/>
                          </a:solidFill>
                          <a:latin typeface="Arial"/>
                          <a:ea typeface="Arial"/>
                          <a:cs typeface="Arial"/>
                        </a:rPr>
                        <a:t>N/A*</a:t>
                      </a:r>
                    </a:p>
                  </a:txBody>
                  <a:tcPr anchor="ctr">
                    <a:solidFill>
                      <a:srgbClr val="DEDEE0"/>
                    </a:solidFill>
                  </a:tcPr>
                </a:tc>
                <a:tc>
                  <a:txBody>
                    <a:bodyPr/>
                    <a:lstStyle/>
                    <a:p>
                      <a:pPr algn="ctr"/>
                      <a:r>
                        <a:rPr sz="900" b="0" dirty="0" i="1">
                          <a:solidFill>
                            <a:srgbClr val="7D7364"/>
                          </a:solidFill>
                          <a:latin typeface="Arial"/>
                          <a:ea typeface="Arial"/>
                          <a:cs typeface="Arial"/>
                        </a:rPr>
                        <a:t>N/A*</a:t>
                      </a:r>
                    </a:p>
                  </a:txBody>
                  <a:tcPr anchor="ctr">
                    <a:solidFill>
                      <a:srgbClr val="DEDEE0"/>
                    </a:solidFill>
                  </a:tcPr>
                </a:tc>
                <a:extLst>
                  <a:ext uri="{0D108BD9-81ED-4DB2-BD59-A6C34878D82A}">
                    <a16:rowId xmlns:a16="http://schemas.microsoft.com/office/drawing/2014/main" val="10008"/>
                  </a:ext>
                </a:extLst>
              </a:tr>
            </a:tbl>
          </a:graphicData>
        </a:graphic>
      </p:graphicFrame>
      <p:sp>
        <p:nvSpPr>
          <p:cNvPr id="23" name="TextBox 22"/>
          <p:cNvSpPr txBox="1"/>
          <p:nvPr/>
        </p:nvSpPr>
        <p:spPr>
          <a:xfrm>
            <a:off x="1450000" y="4720000"/>
            <a:ext cx="5300000" cy="500000"/>
          </a:xfrm>
          <a:prstGeom prst="rect">
            <a:avLst/>
          </a:prstGeom>
          <a:noFill/>
        </p:spPr>
        <p:txBody>
          <a:bodyPr wrap="square">
            <a:spAutoFit/>
          </a:bodyPr>
          <a:lstStyle/>
          <a:p>
            <a:r>
              <a:rPr sz="850" b="0" i="1">
                <a:solidFill>
                  <a:srgbClr val="7D7364"/>
                </a:solidFill>
                <a:latin typeface="Arial"/>
              </a:rPr>
              <a:t>* N/A rows: population mapping not yet resolved. All other cells = Week 6 (Sep 27).</a:t>
            </a:r>
          </a:p>
        </p:txBody>
      </p:sp>
    </p:spTree>
    <p:extLst>
      <p:ext uri="{BB962C8B-B14F-4D97-AF65-F5344CB8AC3E}">
        <p14:creationId xmlns:p14="http://schemas.microsoft.com/office/powerpoint/2010/main" val="2918251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B11F2-B072-0721-77E4-47C41FB9B2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907D9E-EB55-B569-F57D-E9294403BB50}"/>
              </a:ext>
            </a:extLst>
          </p:cNvPr>
          <p:cNvSpPr>
            <a:spLocks noGrp="1"/>
          </p:cNvSpPr>
          <p:nvPr>
            <p:ph type="title"/>
          </p:nvPr>
        </p:nvSpPr>
        <p:spPr>
          <a:xfrm>
            <a:off x="236536" y="1003"/>
            <a:ext cx="8450263" cy="514350"/>
          </a:xfrm>
        </p:spPr>
        <p:txBody>
          <a:bodyPr/>
          <a:lstStyle/>
          <a:p>
            <a:r>
              <a:rPr lang="en-VN" dirty="0"/>
              <a:t>2. Literature Review Paper – Future</a:t>
            </a:r>
          </a:p>
        </p:txBody>
      </p:sp>
      <p:sp>
        <p:nvSpPr>
          <p:cNvPr id="22" name="Slide Number Placeholder 21">
            <a:extLst>
              <a:ext uri="{FF2B5EF4-FFF2-40B4-BE49-F238E27FC236}">
                <a16:creationId xmlns:a16="http://schemas.microsoft.com/office/drawing/2014/main" id="{B8AC4346-7B2B-3E74-B687-37B012E0247C}"/>
              </a:ext>
            </a:extLst>
          </p:cNvPr>
          <p:cNvSpPr>
            <a:spLocks noGrp="1"/>
          </p:cNvSpPr>
          <p:nvPr>
            <p:ph type="sldNum" sz="quarter" idx="15"/>
          </p:nvPr>
        </p:nvSpPr>
        <p:spPr/>
        <p:txBody>
          <a:bodyPr/>
          <a:lstStyle/>
          <a:p>
            <a:fld id="{0AF20276-0DC3-B247-B3AE-8A6E2F85407E}" type="slidenum">
              <a:rPr lang="en-VN" smtClean="0"/>
              <a:t>11</a:t>
            </a:fld>
            <a:endParaRPr lang="en-VN"/>
          </a:p>
        </p:txBody>
      </p:sp>
      <p:sp>
        <p:nvSpPr>
          <p:cNvPr id="4" name="Text Placeholder 6">
            <a:extLst>
              <a:ext uri="{FF2B5EF4-FFF2-40B4-BE49-F238E27FC236}">
                <a16:creationId xmlns:a16="http://schemas.microsoft.com/office/drawing/2014/main" id="{482CE4DB-AF43-27B5-777C-8B5A33CBE42D}"/>
              </a:ext>
            </a:extLst>
          </p:cNvPr>
          <p:cNvSpPr>
            <a:spLocks noGrp="1"/>
          </p:cNvSpPr>
          <p:nvPr>
            <p:ph type="body" sz="quarter" idx="13"/>
          </p:nvPr>
        </p:nvSpPr>
        <p:spPr>
          <a:xfrm>
            <a:off x="571500" y="819150"/>
            <a:ext cx="8001000" cy="3733800"/>
          </a:xfrm>
        </p:spPr>
        <p:txBody>
          <a:bodyPr/>
          <a:lstStyle/>
          <a:p>
            <a:pPr>
              <a:buNone/>
            </a:pPr>
            <a:r>
              <a:rPr lang="en-US" sz="1400" b="1" dirty="0"/>
              <a:t>1. Population eligibility</a:t>
            </a:r>
          </a:p>
          <a:p>
            <a:r>
              <a:rPr lang="en-US" sz="1400" b="0" dirty="0"/>
              <a:t>Some studies use sensing modalities in Parkinson’s disease, ALS, stroke, or other neurological populations, but they do not explicitly confirm that the participants have dysarthria. Should these studies be excluded from the core dysarthria evidence?</a:t>
            </a:r>
          </a:p>
          <a:p>
            <a:pPr>
              <a:buNone/>
            </a:pPr>
            <a:r>
              <a:rPr lang="en-US" sz="1400" b="1" dirty="0"/>
              <a:t>2. Sensor-to-subsystem evidence</a:t>
            </a:r>
          </a:p>
          <a:p>
            <a:r>
              <a:rPr lang="en-US" sz="1400" b="0" dirty="0"/>
              <a:t>Some technologies measure a physical variable related to a speech subsystem, but they were tested only in healthy participants or neurological populations without confirmed dysarthria. Can we use these studies only to discuss technical feasibility</a:t>
            </a:r>
          </a:p>
          <a:p>
            <a:endParaRPr lang="en-US" sz="1400" b="0" dirty="0"/>
          </a:p>
          <a:p>
            <a:endParaRPr lang="en-US" sz="1400" b="0" dirty="0"/>
          </a:p>
        </p:txBody>
      </p:sp>
    </p:spTree>
    <p:extLst>
      <p:ext uri="{BB962C8B-B14F-4D97-AF65-F5344CB8AC3E}">
        <p14:creationId xmlns:p14="http://schemas.microsoft.com/office/powerpoint/2010/main" val="3881058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E193CB9E-0E0E-9FB7-528C-83B39E1F81C9}"/>
            </a:ext>
          </a:extLst>
        </p:cNvPr>
        <p:cNvGrpSpPr/>
        <p:nvPr/>
      </p:nvGrpSpPr>
      <p:grpSpPr>
        <a:xfrm>
          <a:off x="0" y="0"/>
          <a:ext cx="0" cy="0"/>
          <a:chOff x="0" y="0"/>
          <a:chExt cx="0" cy="0"/>
        </a:xfrm>
      </p:grpSpPr>
      <p:sp>
        <p:nvSpPr>
          <p:cNvPr id="3" name="Title 2">
            <a:extLst>
              <a:ext uri="{FF2B5EF4-FFF2-40B4-BE49-F238E27FC236}">
                <a16:creationId id="{FA8922FA-C07F-ECF3-C153-65860D78D606}"/>
              </a:ext>
            </a:extLst>
          </p:cNvPr>
          <p:cNvSpPr>
            <a:spLocks noGrp="1"/>
          </p:cNvSpPr>
          <p:nvPr>
            <p:ph type="title"/>
          </p:nvPr>
        </p:nvSpPr>
        <p:spPr>
          <a:xfrm>
            <a:off x="236536" y="1003"/>
            <a:ext cx="8450263" cy="514350"/>
          </a:xfrm>
        </p:spPr>
        <p:txBody>
          <a:bodyPr/>
          <a:lstStyle/>
          <a:p>
            <a:r>
              <a:rPr lang="en-VN" dirty="0"/>
              <a:t>3. Active Sensing – Simulation Study</a:t>
            </a:r>
          </a:p>
        </p:txBody>
      </p:sp>
      <p:sp>
        <p:nvSpPr>
          <p:cNvPr id="22" name="Slide Number Placeholder 21">
            <a:extLst>
              <a:ext uri="{FF2B5EF4-FFF2-40B4-BE49-F238E27FC236}">
                <a16:creationId id="{314DF190-A4CD-2462-E7F6-D88FBAB4A2EE}"/>
              </a:ext>
            </a:extLst>
          </p:cNvPr>
          <p:cNvSpPr>
            <a:spLocks noGrp="1"/>
          </p:cNvSpPr>
          <p:nvPr>
            <p:ph type="sldNum" sz="quarter" idx="15"/>
          </p:nvPr>
        </p:nvSpPr>
        <p:spPr/>
        <p:txBody>
          <a:bodyPr/>
          <a:lstStyle/>
          <a:p>
            <a:fld id="{0AF20276-0DC3-B247-B3AE-8A6E2F85407E}" type="slidenum">
              <a:rPr lang="en-VN" smtClean="0"/>
              <a:t>12</a:t>
            </a:fld>
            <a:endParaRPr lang="en-VN"/>
          </a:p>
        </p:txBody>
      </p:sp>
      <p:sp>
        <p:nvSpPr>
          <p:cNvPr id="2" name="Text Placeholder 6">
            <a:extLst>
              <a:ext uri="{FF2B5EF4-FFF2-40B4-BE49-F238E27FC236}">
                <a16:creationId id="{04C67D69-3E11-C8F8-36DA-B525BEEB7EC4}"/>
              </a:ext>
            </a:extLst>
          </p:cNvPr>
          <p:cNvSpPr>
            <a:spLocks noGrp="1"/>
          </p:cNvSpPr>
          <p:nvPr>
            <p:ph type="body" sz="quarter" idx="13"/>
          </p:nvPr>
        </p:nvSpPr>
        <p:spPr>
          <a:xfrm>
            <a:off x="762000" y="895350"/>
            <a:ext cx="3954463" cy="514350"/>
          </a:xfrm>
        </p:spPr>
        <p:txBody>
          <a:bodyPr/>
          <a:lstStyle/>
          <a:p>
            <a:r>
              <a:rPr lang="en-VN" b="0" dirty="0"/>
              <a:t>BP, JAC, and GREIT: a controlled comparison</a:t>
            </a:r>
          </a:p>
        </p:txBody>
      </p:sp>
    </p:spTree>
    <p:extLst>
      <p:ext uri="{BB962C8B-B14F-4D97-AF65-F5344CB8AC3E}">
        <p14:creationId val="2970587182"/>
      </p:ext>
    </p:extLst>
  </p:cSld>
  <p:clrMapOvr>
    <a:masterClrMapping/>
  </p:clrMapOvr>
  <mc:AlternateContent>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4EDA699D-D61A-F809-72CE-DB0A5D31E74C}"/>
            </a:ext>
          </a:extLst>
        </p:cNvPr>
        <p:cNvGrpSpPr/>
        <p:nvPr/>
      </p:nvGrpSpPr>
      <p:grpSpPr>
        <a:xfrm>
          <a:off x="0" y="0"/>
          <a:ext cx="0" cy="0"/>
          <a:chOff x="0" y="0"/>
          <a:chExt cx="0" cy="0"/>
        </a:xfrm>
      </p:grpSpPr>
      <p:sp>
        <p:nvSpPr>
          <p:cNvPr id="3" name="Title 2">
            <a:extLst>
              <a:ext uri="{FF2B5EF4-FFF2-40B4-BE49-F238E27FC236}">
                <a16:creationId id="{36E24E60-7DEF-1662-F2FD-6017353AD766}"/>
              </a:ext>
            </a:extLst>
          </p:cNvPr>
          <p:cNvSpPr>
            <a:spLocks noGrp="1"/>
          </p:cNvSpPr>
          <p:nvPr>
            <p:ph type="title"/>
          </p:nvPr>
        </p:nvSpPr>
        <p:spPr>
          <a:xfrm>
            <a:off x="236536" y="1003"/>
            <a:ext cx="8450263" cy="514350"/>
          </a:xfrm>
        </p:spPr>
        <p:txBody>
          <a:bodyPr/>
          <a:lstStyle/>
          <a:p>
            <a:r>
              <a:rPr lang="en-VN" dirty="0"/>
              <a:t>Simulation Rationale</a:t>
            </a:r>
          </a:p>
        </p:txBody>
      </p:sp>
      <p:sp>
        <p:nvSpPr>
          <p:cNvPr id="22" name="Slide Number Placeholder 21">
            <a:extLst>
              <a:ext uri="{FF2B5EF4-FFF2-40B4-BE49-F238E27FC236}">
                <a16:creationId id="{A3BA19DB-1B2D-33DD-776B-40E8B851033F}"/>
              </a:ext>
            </a:extLst>
          </p:cNvPr>
          <p:cNvSpPr>
            <a:spLocks noGrp="1"/>
          </p:cNvSpPr>
          <p:nvPr>
            <p:ph type="sldNum" sz="quarter" idx="15"/>
          </p:nvPr>
        </p:nvSpPr>
        <p:spPr/>
        <p:txBody>
          <a:bodyPr/>
          <a:lstStyle/>
          <a:p>
            <a:fld id="{0AF20276-0DC3-B247-B3AE-8A6E2F85407E}" type="slidenum">
              <a:rPr lang="en-VN" smtClean="0"/>
              <a:t>13</a:t>
            </a:fld>
            <a:endParaRPr lang="en-VN"/>
          </a:p>
        </p:txBody>
      </p:sp>
      <p:sp>
        <p:nvSpPr>
          <p:cNvPr id="23" name="Research Question"/>
          <p:cNvSpPr txBox="1"/>
          <p:nvPr/>
        </p:nvSpPr>
        <p:spPr>
          <a:xfrm>
            <a:off x="520000" y="720000"/>
            <a:ext cx="8100000" cy="500000"/>
          </a:xfrm>
          <a:prstGeom prst="rect">
            <a:avLst/>
          </a:prstGeom>
          <a:noFill/>
          <a:ln>
            <a:noFill/>
          </a:ln>
        </p:spPr>
        <p:txBody>
          <a:bodyPr wrap="square" anchor="ctr" lIns="50000" rIns="50000" tIns="50000" bIns="50000"/>
          <a:lstStyle/>
          <a:p>
            <a:pPr algn="c"/>
            <a:r>
              <a:rPr lang="en-US" sz="2200" b="1">
                <a:solidFill>
                  <a:srgbClr val="222222"/>
                </a:solidFill>
                <a:latin typeface="Arial"/>
              </a:rPr>
              <a:t>How do BP, JAC, and GREIT reconstruct the same known conductivity change?</a:t>
            </a:r>
          </a:p>
        </p:txBody>
      </p:sp>
      <p:sp>
        <p:nvSpPr>
          <p:cNvPr id="24" name="Process 1"/>
          <p:cNvSpPr/>
          <p:nvPr/>
        </p:nvSpPr>
        <p:spPr>
          <a:xfrm>
            <a:off x="47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Known conductivity map</a:t>
            </a:r>
          </a:p>
        </p:txBody>
      </p:sp>
      <p:sp>
        <p:nvSpPr>
          <p:cNvPr id="25" name="Caption 1"/>
          <p:cNvSpPr txBox="1"/>
          <p:nvPr/>
        </p:nvSpPr>
        <p:spPr>
          <a:xfrm>
            <a:off x="47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Ground truth</a:t>
            </a:r>
          </a:p>
        </p:txBody>
      </p:sp>
      <p:sp>
        <p:nvSpPr>
          <p:cNvPr id="26" name="Chevron 1"/>
          <p:cNvSpPr txBox="1"/>
          <p:nvPr/>
        </p:nvSpPr>
        <p:spPr>
          <a:xfrm>
            <a:off x="212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27" name="Process 2"/>
          <p:cNvSpPr/>
          <p:nvPr/>
        </p:nvSpPr>
        <p:spPr>
          <a:xfrm>
            <a:off x="254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Forward simulation</a:t>
            </a:r>
          </a:p>
        </p:txBody>
      </p:sp>
      <p:sp>
        <p:nvSpPr>
          <p:cNvPr id="28" name="Caption 2"/>
          <p:cNvSpPr txBox="1"/>
          <p:nvPr/>
        </p:nvSpPr>
        <p:spPr>
          <a:xfrm>
            <a:off x="254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Synthetic measurement</a:t>
            </a:r>
          </a:p>
        </p:txBody>
      </p:sp>
      <p:sp>
        <p:nvSpPr>
          <p:cNvPr id="29" name="Chevron 2"/>
          <p:cNvSpPr txBox="1"/>
          <p:nvPr/>
        </p:nvSpPr>
        <p:spPr>
          <a:xfrm>
            <a:off x="419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0" name="Process 3"/>
          <p:cNvSpPr/>
          <p:nvPr/>
        </p:nvSpPr>
        <p:spPr>
          <a:xfrm>
            <a:off x="461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208 voltage changes</a:t>
            </a:r>
          </a:p>
        </p:txBody>
      </p:sp>
      <p:sp>
        <p:nvSpPr>
          <p:cNvPr id="31" name="Caption 3"/>
          <p:cNvSpPr txBox="1"/>
          <p:nvPr/>
        </p:nvSpPr>
        <p:spPr>
          <a:xfrm>
            <a:off x="461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Shared input</a:t>
            </a:r>
          </a:p>
        </p:txBody>
      </p:sp>
      <p:sp>
        <p:nvSpPr>
          <p:cNvPr id="32" name="Chevron 3"/>
          <p:cNvSpPr txBox="1"/>
          <p:nvPr/>
        </p:nvSpPr>
        <p:spPr>
          <a:xfrm>
            <a:off x="6260000" y="1730000"/>
            <a:ext cx="420000" cy="520000"/>
          </a:xfrm>
          <a:prstGeom prst="rect">
            <a:avLst/>
          </a:prstGeom>
          <a:noFill/>
          <a:ln>
            <a:noFill/>
          </a:ln>
        </p:spPr>
        <p:txBody>
          <a:bodyPr wrap="square" anchor="ctr" lIns="50000" rIns="50000" tIns="50000" bIns="50000"/>
          <a:lstStyle/>
          <a:p>
            <a:pPr algn="c"/>
            <a:r>
              <a:rPr lang="en-US" sz="3000" b="1">
                <a:solidFill>
                  <a:srgbClr val="6F263D"/>
                </a:solidFill>
                <a:latin typeface="Arial"/>
              </a:rPr>
              <a:t>›</a:t>
            </a:r>
          </a:p>
        </p:txBody>
      </p:sp>
      <p:sp>
        <p:nvSpPr>
          <p:cNvPr id="33" name="Process 4"/>
          <p:cNvSpPr/>
          <p:nvPr/>
        </p:nvSpPr>
        <p:spPr>
          <a:xfrm>
            <a:off x="6680000" y="1650000"/>
            <a:ext cx="1650000" cy="720000"/>
          </a:xfrm>
          <a:prstGeom prst="roundRect">
            <a:avLst/>
          </a:prstGeom>
          <a:solidFill>
            <a:srgbClr val="6F263D"/>
          </a:solidFill>
          <a:ln w="19050">
            <a:solidFill>
              <a:srgbClr val="53182D"/>
            </a:solidFill>
          </a:ln>
        </p:spPr>
        <p:txBody>
          <a:bodyPr anchor="ctr" wrap="square"/>
          <a:lstStyle/>
          <a:p>
            <a:pPr algn="ctr"/>
            <a:r>
              <a:rPr lang="en-US" sz="1650" b="1">
                <a:solidFill>
                  <a:srgbClr val="FFFFFF"/>
                </a:solidFill>
                <a:latin typeface="Arial"/>
              </a:rPr>
              <a:t>BP, JAC, GREIT</a:t>
            </a:r>
          </a:p>
        </p:txBody>
      </p:sp>
      <p:sp>
        <p:nvSpPr>
          <p:cNvPr id="34" name="Caption 4"/>
          <p:cNvSpPr txBox="1"/>
          <p:nvPr/>
        </p:nvSpPr>
        <p:spPr>
          <a:xfrm>
            <a:off x="6680000" y="2460000"/>
            <a:ext cx="1650000" cy="330000"/>
          </a:xfrm>
          <a:prstGeom prst="rect">
            <a:avLst/>
          </a:prstGeom>
          <a:noFill/>
          <a:ln>
            <a:noFill/>
          </a:ln>
        </p:spPr>
        <p:txBody>
          <a:bodyPr wrap="square" anchor="ctr" lIns="50000" rIns="50000" tIns="50000" bIns="50000"/>
          <a:lstStyle/>
          <a:p>
            <a:pPr algn="c"/>
            <a:r>
              <a:rPr lang="en-US" sz="1300" b="0">
                <a:solidFill>
                  <a:srgbClr val="555555"/>
                </a:solidFill>
                <a:latin typeface="Arial"/>
              </a:rPr>
              <a:t>Three estimates</a:t>
            </a:r>
          </a:p>
        </p:txBody>
      </p:sp>
      <p:sp>
        <p:nvSpPr>
          <p:cNvPr id="35" name="Rationale"/>
          <p:cNvSpPr txBox="1"/>
          <p:nvPr/>
        </p:nvSpPr>
        <p:spPr>
          <a:xfrm>
            <a:off x="900000" y="3300000"/>
            <a:ext cx="7300000" cy="820000"/>
          </a:xfrm>
          <a:prstGeom prst="rect">
            <a:avLst/>
          </a:prstGeom>
          <a:noFill/>
          <a:ln>
            <a:noFill/>
          </a:ln>
        </p:spPr>
        <p:txBody>
          <a:bodyPr wrap="square" anchor="ctr" lIns="50000" rIns="50000" tIns="50000" bIns="50000"/>
          <a:lstStyle/>
          <a:p>
            <a:pPr algn="c"/>
            <a:r>
              <a:rPr lang="en-US" sz="1850" b="0">
                <a:solidFill>
                  <a:srgbClr val="222222"/>
                </a:solidFill>
                <a:latin typeface="Arial"/>
              </a:rPr>
              <a:t>The simulation provides an answer key. Each algorithm receives the same data, so differences in the images come from the reconstruction method and its settings.</a:t>
            </a:r>
          </a:p>
        </p:txBody>
      </p:sp>
    </p:spTree>
    <p:extLst>
      <p:ext uri="{BB962C8B-B14F-4D97-AF65-F5344CB8AC3E}">
        <p14:creationId val="4123950179"/>
      </p:ext>
    </p:extLst>
  </p:cSld>
  <p:clrMapOvr>
    <a:masterClrMapping/>
  </p:clrMapOvr>
  <mc:AlternateContent>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C6FBA0E8-52CB-7C72-BCFA-F18994AB0BD6}"/>
            </a:ext>
          </a:extLst>
        </p:cNvPr>
        <p:cNvGrpSpPr/>
        <p:nvPr/>
      </p:nvGrpSpPr>
      <p:grpSpPr>
        <a:xfrm>
          <a:off x="0" y="0"/>
          <a:ext cx="0" cy="0"/>
          <a:chOff x="0" y="0"/>
          <a:chExt cx="0" cy="0"/>
        </a:xfrm>
      </p:grpSpPr>
      <p:sp>
        <p:nvSpPr>
          <p:cNvPr id="3" name="Title 2">
            <a:extLst>
              <a:ext uri="{FF2B5EF4-FFF2-40B4-BE49-F238E27FC236}">
                <a16:creationId id="{C8EE2526-A65B-E736-4148-16246079DED1}"/>
              </a:ext>
            </a:extLst>
          </p:cNvPr>
          <p:cNvSpPr>
            <a:spLocks noGrp="1"/>
          </p:cNvSpPr>
          <p:nvPr>
            <p:ph type="title"/>
          </p:nvPr>
        </p:nvSpPr>
        <p:spPr>
          <a:xfrm>
            <a:off x="236536" y="1003"/>
            <a:ext cx="8450263" cy="514350"/>
          </a:xfrm>
        </p:spPr>
        <p:txBody>
          <a:bodyPr/>
          <a:lstStyle/>
          <a:p>
            <a:r>
              <a:rPr lang="en-VN" dirty="0"/>
              <a:t>Known Conductivity Map</a:t>
            </a:r>
          </a:p>
        </p:txBody>
      </p:sp>
      <p:sp>
        <p:nvSpPr>
          <p:cNvPr id="22" name="Slide Number Placeholder 21">
            <a:extLst>
              <a:ext uri="{FF2B5EF4-FFF2-40B4-BE49-F238E27FC236}">
                <a16:creationId id="{25CC3DDA-D354-9D5C-D198-34B3C75C211A}"/>
              </a:ext>
            </a:extLst>
          </p:cNvPr>
          <p:cNvSpPr>
            <a:spLocks noGrp="1"/>
          </p:cNvSpPr>
          <p:nvPr>
            <p:ph type="sldNum" sz="quarter" idx="15"/>
          </p:nvPr>
        </p:nvSpPr>
        <p:spPr/>
        <p:txBody>
          <a:bodyPr/>
          <a:lstStyle/>
          <a:p>
            <a:fld id="{0AF20276-0DC3-B247-B3AE-8A6E2F85407E}" type="slidenum">
              <a:rPr lang="en-VN" smtClean="0"/>
              <a:t>14</a:t>
            </a:fld>
            <a:endParaRPr lang="en-VN"/>
          </a:p>
        </p:txBody>
      </p:sp>
      <p:pic>
        <p:nvPicPr>
          <p:cNvPr id="4" name="Picture 3" descr="Ground-truth relative conductivity map used in the simulation">
            <a:extLst>
              <a:ext uri="{FF2B5EF4-FFF2-40B4-BE49-F238E27FC236}">
                <a16:creationId id="{1A8A55B7-27F8-A4DA-4254-7E6B7781E90C}"/>
              </a:ext>
            </a:extLst>
          </p:cNvPr>
          <p:cNvPicPr>
            <a:picLocks noChangeAspect="1"/>
          </p:cNvPicPr>
          <p:nvPr/>
        </p:nvPicPr>
        <p:blipFill>
          <a:blip r:embed="rId3">
            <a:extLst>
              <a:ext uri="{28A0092B-C50C-407E-A947-70E740481C1C}">
                <ns4:useLocalDpi val="0"/>
              </a:ext>
            </a:extLst>
          </a:blip>
          <a:stretch>
            <a:fillRect/>
          </a:stretch>
        </p:blipFill>
        <p:spPr>
          <a:xfrm>
            <a:off x="340000" y="690000"/>
            <a:ext cx="5100000" cy="3860000"/>
          </a:xfrm>
          <a:prstGeom prst="rect">
            <a:avLst/>
          </a:prstGeom>
        </p:spPr>
      </p:pic>
      <p:sp>
        <p:nvSpPr>
          <p:cNvPr id="23" name="Model Definition"/>
          <p:cNvSpPr txBox="1"/>
          <p:nvPr/>
        </p:nvSpPr>
        <p:spPr>
          <a:xfrm>
            <a:off x="5660000" y="820000"/>
            <a:ext cx="2900000" cy="430000"/>
          </a:xfrm>
          <a:prstGeom prst="rect">
            <a:avLst/>
          </a:prstGeom>
          <a:noFill/>
          <a:ln>
            <a:noFill/>
          </a:ln>
        </p:spPr>
        <p:txBody>
          <a:bodyPr wrap="square" anchor="t" lIns="50000" rIns="50000" tIns="50000" bIns="50000"/>
          <a:lstStyle/>
          <a:p>
            <a:pPr algn="l"/>
            <a:r>
              <a:rPr lang="en-US" sz="1950" b="1">
                <a:solidFill>
                  <a:srgbClr val="6F263D"/>
                </a:solidFill>
                <a:latin typeface="Arial"/>
              </a:rPr>
              <a:t>Model definition</a:t>
            </a:r>
          </a:p>
        </p:txBody>
      </p:sp>
      <p:sp>
        <p:nvSpPr>
          <p:cNvPr id="24" name="Model Values"/>
          <p:cNvSpPr txBox="1"/>
          <p:nvPr/>
        </p:nvSpPr>
        <p:spPr>
          <a:xfrm>
            <a:off x="5660000" y="1260000"/>
            <a:ext cx="2900000" cy="2100000"/>
          </a:xfrm>
          <a:prstGeom prst="rect">
            <a:avLst/>
          </a:prstGeom>
          <a:noFill/>
          <a:ln>
            <a:noFill/>
          </a:ln>
        </p:spPr>
        <p:txBody>
          <a:bodyPr wrap="square" anchor="t" lIns="50000" rIns="50000" tIns="50000" bIns="50000"/>
          <a:lstStyle/>
          <a:p>
            <a:pPr algn="l">
              <a:spcAft>
                <a:spcPts val="500"/>
              </a:spcAft>
            </a:pPr>
            <a:r>
              <a:rPr lang="en-US" sz="1700" b="1">
                <a:solidFill>
                  <a:srgbClr val="222222"/>
                </a:solidFill>
                <a:latin typeface="Arial"/>
              </a:rPr>
              <a:t>2D circular domain</a:t>
            </a:r>
          </a:p>
          <a:p>
            <a:pPr algn="l">
              <a:spcAft>
                <a:spcPts val="500"/>
              </a:spcAft>
            </a:pPr>
            <a:r>
              <a:rPr lang="en-US" sz="1700" b="0">
                <a:solidFill>
                  <a:srgbClr val="222222"/>
                </a:solidFill>
                <a:latin typeface="Arial"/>
              </a:rPr>
              <a:t>16 boundary electrodes</a:t>
            </a:r>
          </a:p>
          <a:p>
            <a:pPr algn="l">
              <a:spcAft>
                <a:spcPts val="500"/>
              </a:spcAft>
            </a:pPr>
            <a:r>
              <a:rPr lang="en-US" sz="1700" b="0">
                <a:solidFill>
                  <a:srgbClr val="222222"/>
                </a:solidFill>
                <a:latin typeface="Arial"/>
              </a:rPr>
              <a:t>Background σrel = 1</a:t>
            </a:r>
          </a:p>
          <a:p>
            <a:pPr algn="l">
              <a:spcAft>
                <a:spcPts val="500"/>
              </a:spcAft>
            </a:pPr>
            <a:r>
              <a:rPr lang="en-US" sz="1700" b="0">
                <a:solidFill>
                  <a:srgbClr val="222222"/>
                </a:solidFill>
                <a:latin typeface="Arial"/>
              </a:rPr>
              <a:t>Target radius = 0.12R</a:t>
            </a:r>
          </a:p>
          <a:p>
            <a:pPr algn="l"/>
            <a:r>
              <a:rPr lang="en-US" sz="1700" b="0">
                <a:solidFill>
                  <a:srgbClr val="222222"/>
                </a:solidFill>
                <a:latin typeface="Arial"/>
              </a:rPr>
              <a:t>Target ratios: 0.1×, 10×, 5×, 0.1×</a:t>
            </a:r>
          </a:p>
        </p:txBody>
      </p:sp>
      <p:sp>
        <p:nvSpPr>
          <p:cNvPr id="25" name="Normalization Note"/>
          <p:cNvSpPr txBox="1"/>
          <p:nvPr/>
        </p:nvSpPr>
        <p:spPr>
          <a:xfrm>
            <a:off x="5660000" y="3530000"/>
            <a:ext cx="2900000" cy="760000"/>
          </a:xfrm>
          <a:prstGeom prst="rect">
            <a:avLst/>
          </a:prstGeom>
          <a:noFill/>
          <a:ln>
            <a:noFill/>
          </a:ln>
        </p:spPr>
        <p:txBody>
          <a:bodyPr wrap="square" anchor="t" lIns="50000" rIns="50000" tIns="50000" bIns="50000"/>
          <a:lstStyle/>
          <a:p>
            <a:pPr algn="l"/>
            <a:r>
              <a:rPr lang="en-US" sz="1350" b="0">
                <a:solidFill>
                  <a:srgbClr val="555555"/>
                </a:solidFill>
                <a:latin typeface="Arial"/>
              </a:rPr>
              <a:t>The value 1 is a normalized reference. It does not identify the physical material or imply 1 S/m.</a:t>
            </a:r>
          </a:p>
        </p:txBody>
      </p:sp>
    </p:spTree>
    <p:extLst>
      <p:ext uri="{BB962C8B-B14F-4D97-AF65-F5344CB8AC3E}">
        <p14:creationId val="413705505"/>
      </p:ext>
    </p:extLst>
  </p:cSld>
  <p:clrMapOvr>
    <a:masterClrMapping/>
  </p:clrMapOvr>
  <mc:AlternateContent>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9E020230-C86B-E0E4-0C75-A81ACE3A123C}"/>
            </a:ext>
          </a:extLst>
        </p:cNvPr>
        <p:cNvGrpSpPr/>
        <p:nvPr/>
      </p:nvGrpSpPr>
      <p:grpSpPr>
        <a:xfrm>
          <a:off x="0" y="0"/>
          <a:ext cx="0" cy="0"/>
          <a:chOff x="0" y="0"/>
          <a:chExt cx="0" cy="0"/>
        </a:xfrm>
      </p:grpSpPr>
      <p:sp>
        <p:nvSpPr>
          <p:cNvPr id="3" name="Title 2">
            <a:extLst>
              <a:ext uri="{FF2B5EF4-FFF2-40B4-BE49-F238E27FC236}">
                <a16:creationId id="{88C29FA5-08A1-6C64-4436-40FEEC567C4C}"/>
              </a:ext>
            </a:extLst>
          </p:cNvPr>
          <p:cNvSpPr>
            <a:spLocks noGrp="1"/>
          </p:cNvSpPr>
          <p:nvPr>
            <p:ph type="title"/>
          </p:nvPr>
        </p:nvSpPr>
        <p:spPr>
          <a:xfrm>
            <a:off x="236536" y="1003"/>
            <a:ext cx="8450263" cy="514350"/>
          </a:xfrm>
        </p:spPr>
        <p:txBody>
          <a:bodyPr/>
          <a:lstStyle/>
          <a:p>
            <a:r>
              <a:rPr lang="en-VN" dirty="0"/>
              <a:t>Finite-Element Representation</a:t>
            </a:r>
          </a:p>
        </p:txBody>
      </p:sp>
      <p:sp>
        <p:nvSpPr>
          <p:cNvPr id="22" name="Slide Number Placeholder 21">
            <a:extLst>
              <a:ext uri="{FF2B5EF4-FFF2-40B4-BE49-F238E27FC236}">
                <a16:creationId id="{7EA348BD-1640-EDD6-AD47-7229591CC388}"/>
              </a:ext>
            </a:extLst>
          </p:cNvPr>
          <p:cNvSpPr>
            <a:spLocks noGrp="1"/>
          </p:cNvSpPr>
          <p:nvPr>
            <p:ph type="sldNum" sz="quarter" idx="15"/>
          </p:nvPr>
        </p:nvSpPr>
        <p:spPr/>
        <p:txBody>
          <a:bodyPr/>
          <a:lstStyle/>
          <a:p>
            <a:fld id="{0AF20276-0DC3-B247-B3AE-8A6E2F85407E}" type="slidenum">
              <a:rPr lang="en-VN" smtClean="0"/>
              <a:t>15</a:t>
            </a:fld>
            <a:endParaRPr lang="en-VN"/>
          </a:p>
        </p:txBody>
      </p:sp>
      <p:pic>
        <p:nvPicPr>
          <p:cNvPr id="14" name="Picture 13" descr="Triangular finite-element mesh with 16 boundary electrodes">
            <a:extLst>
              <a:ext uri="{FF2B5EF4-FFF2-40B4-BE49-F238E27FC236}">
                <a16:creationId id="{2BE9A53B-095B-4636-CD00-27DFE64BC8B5}"/>
              </a:ext>
            </a:extLst>
          </p:cNvPr>
          <p:cNvPicPr>
            <a:picLocks noChangeAspect="1"/>
          </p:cNvPicPr>
          <p:nvPr/>
        </p:nvPicPr>
        <p:blipFill>
          <a:blip r:embed="rId3">
            <a:extLst>
              <a:ext uri="{28A0092B-C50C-407E-A947-70E740481C1C}">
                <ns4:useLocalDpi val="0"/>
              </a:ext>
            </a:extLst>
          </a:blip>
          <a:stretch>
            <a:fillRect/>
          </a:stretch>
        </p:blipFill>
        <p:spPr>
          <a:xfrm>
            <a:off x="360000" y="690000"/>
            <a:ext cx="5100000" cy="3860000"/>
          </a:xfrm>
          <a:prstGeom prst="rect">
            <a:avLst/>
          </a:prstGeom>
        </p:spPr>
      </p:pic>
      <p:sp>
        <p:nvSpPr>
          <p:cNvPr id="23" name="Mesh Numbers"/>
          <p:cNvSpPr txBox="1"/>
          <p:nvPr/>
        </p:nvSpPr>
        <p:spPr>
          <a:xfrm>
            <a:off x="5680000" y="900000"/>
            <a:ext cx="2850000" cy="2700000"/>
          </a:xfrm>
          <a:prstGeom prst="rect">
            <a:avLst/>
          </a:prstGeom>
          <a:noFill/>
          <a:ln>
            <a:noFill/>
          </a:ln>
        </p:spPr>
        <p:txBody>
          <a:bodyPr wrap="square" anchor="t" lIns="50000" rIns="50000" tIns="50000" bIns="50000"/>
          <a:lstStyle/>
          <a:p>
            <a:pPr algn="l">
              <a:spcAft>
                <a:spcPts val="250"/>
              </a:spcAft>
            </a:pPr>
            <a:r>
              <a:rPr lang="en-US" sz="2050" b="1">
                <a:solidFill>
                  <a:srgbClr val="6F263D"/>
                </a:solidFill>
                <a:latin typeface="Arial"/>
              </a:rPr>
              <a:t>583 nodes</a:t>
            </a:r>
          </a:p>
          <a:p>
            <a:pPr algn="l">
              <a:spcAft>
                <a:spcPts val="700"/>
              </a:spcAft>
            </a:pPr>
            <a:r>
              <a:rPr lang="en-US" sz="1450" b="0">
                <a:solidFill>
                  <a:srgbClr val="333333"/>
                </a:solidFill>
                <a:latin typeface="Arial"/>
              </a:rPr>
              <a:t>Calculation points for electric potential</a:t>
            </a:r>
          </a:p>
          <a:p>
            <a:pPr algn="l">
              <a:spcAft>
                <a:spcPts val="250"/>
              </a:spcAft>
            </a:pPr>
            <a:r>
              <a:rPr lang="en-US" sz="2050" b="1">
                <a:solidFill>
                  <a:srgbClr val="6F263D"/>
                </a:solidFill>
                <a:latin typeface="Arial"/>
              </a:rPr>
              <a:t>1083 elements</a:t>
            </a:r>
          </a:p>
          <a:p>
            <a:pPr algn="l">
              <a:spcAft>
                <a:spcPts val="700"/>
              </a:spcAft>
            </a:pPr>
            <a:r>
              <a:rPr lang="en-US" sz="1450" b="0">
                <a:solidFill>
                  <a:srgbClr val="333333"/>
                </a:solidFill>
                <a:latin typeface="Arial"/>
              </a:rPr>
              <a:t>Triangular regions that store conductivity</a:t>
            </a:r>
          </a:p>
          <a:p>
            <a:pPr algn="l">
              <a:spcAft>
                <a:spcPts val="250"/>
              </a:spcAft>
            </a:pPr>
            <a:r>
              <a:rPr lang="en-US" sz="2050" b="1">
                <a:solidFill>
                  <a:srgbClr val="6F263D"/>
                </a:solidFill>
                <a:latin typeface="Arial"/>
              </a:rPr>
              <a:t>16 electrodes</a:t>
            </a:r>
          </a:p>
          <a:p>
            <a:pPr algn="l"/>
            <a:r>
              <a:rPr lang="en-US" sz="1450" b="0">
                <a:solidFill>
                  <a:srgbClr val="333333"/>
                </a:solidFill>
                <a:latin typeface="Arial"/>
              </a:rPr>
              <a:t>Boundary locations for the measurement protocol</a:t>
            </a:r>
          </a:p>
        </p:txBody>
      </p:sp>
      <p:sp>
        <p:nvSpPr>
          <p:cNvPr id="24" name="Mesh Note"/>
          <p:cNvSpPr txBox="1"/>
          <p:nvPr/>
        </p:nvSpPr>
        <p:spPr>
          <a:xfrm>
            <a:off x="5680000" y="3820000"/>
            <a:ext cx="2850000" cy="500000"/>
          </a:xfrm>
          <a:prstGeom prst="rect">
            <a:avLst/>
          </a:prstGeom>
          <a:noFill/>
          <a:ln>
            <a:noFill/>
          </a:ln>
        </p:spPr>
        <p:txBody>
          <a:bodyPr wrap="square" anchor="t" lIns="50000" rIns="50000" tIns="50000" bIns="50000"/>
          <a:lstStyle/>
          <a:p>
            <a:pPr algn="l"/>
            <a:r>
              <a:rPr lang="en-US" sz="1250" b="0">
                <a:solidFill>
                  <a:srgbClr val="555555"/>
                </a:solidFill>
                <a:latin typeface="Arial"/>
              </a:rPr>
              <a:t>h0 = 0.08 controls the approximate triangle size. The mesher determines the final node and element counts.</a:t>
            </a:r>
          </a:p>
        </p:txBody>
      </p:sp>
    </p:spTree>
    <p:extLst>
      <p:ext uri="{BB962C8B-B14F-4D97-AF65-F5344CB8AC3E}">
        <p14:creationId val="2648165380"/>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5" grpId="0" animBg="1"/>
      <p:bldP spid="18" grpId="0"/>
      <p:bldP spid="21" grpId="0"/>
      <p:bldP spid="23" grpId="0"/>
      <p:bldP spid="7" grpId="0"/>
    </p:bldLst>
  </p:timing>
</p:sld>
</file>

<file path=ppt/slides/slide16.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834C8005-A567-CD0D-F02F-97BFEA088A1F}"/>
            </a:ext>
          </a:extLst>
        </p:cNvPr>
        <p:cNvGrpSpPr/>
        <p:nvPr/>
      </p:nvGrpSpPr>
      <p:grpSpPr>
        <a:xfrm>
          <a:off x="0" y="0"/>
          <a:ext cx="0" cy="0"/>
          <a:chOff x="0" y="0"/>
          <a:chExt cx="0" cy="0"/>
        </a:xfrm>
      </p:grpSpPr>
      <p:sp>
        <p:nvSpPr>
          <p:cNvPr id="3" name="Title 2">
            <a:extLst>
              <a:ext uri="{FF2B5EF4-FFF2-40B4-BE49-F238E27FC236}">
                <a16:creationId id="{F8F7C4A6-F9B5-4000-AFCB-6D6942B11C6C}"/>
              </a:ext>
            </a:extLst>
          </p:cNvPr>
          <p:cNvSpPr>
            <a:spLocks noGrp="1"/>
          </p:cNvSpPr>
          <p:nvPr>
            <p:ph type="title"/>
          </p:nvPr>
        </p:nvSpPr>
        <p:spPr>
          <a:xfrm>
            <a:off x="236536" y="1003"/>
            <a:ext cx="8450263" cy="514350"/>
          </a:xfrm>
        </p:spPr>
        <p:txBody>
          <a:bodyPr/>
          <a:lstStyle/>
          <a:p>
            <a:r>
              <a:rPr lang="en-VN" dirty="0"/>
              <a:t>Synthetic Boundary-Voltage Data</a:t>
            </a:r>
          </a:p>
        </p:txBody>
      </p:sp>
      <p:sp>
        <p:nvSpPr>
          <p:cNvPr id="22" name="Slide Number Placeholder 21">
            <a:extLst>
              <a:ext uri="{FF2B5EF4-FFF2-40B4-BE49-F238E27FC236}">
                <a16:creationId id="{B3132A03-A125-9F5C-3837-0B462FE928C0}"/>
              </a:ext>
            </a:extLst>
          </p:cNvPr>
          <p:cNvSpPr>
            <a:spLocks noGrp="1"/>
          </p:cNvSpPr>
          <p:nvPr>
            <p:ph type="sldNum" sz="quarter" idx="15"/>
          </p:nvPr>
        </p:nvSpPr>
        <p:spPr/>
        <p:txBody>
          <a:bodyPr/>
          <a:lstStyle/>
          <a:p>
            <a:fld id="{0AF20276-0DC3-B247-B3AE-8A6E2F85407E}" type="slidenum">
              <a:rPr lang="en-VN" smtClean="0"/>
              <a:t>16</a:t>
            </a:fld>
            <a:endParaRPr lang="en-VN"/>
          </a:p>
        </p:txBody>
      </p:sp>
      <p:pic>
        <p:nvPicPr>
          <p:cNvPr id="26" name="Picture 25" descr="Reference, target, and difference voltage vectors from the forward solver">
            <a:extLst>
              <a:ext uri="{FF2B5EF4-FFF2-40B4-BE49-F238E27FC236}">
                <a16:creationId id="{FB9EA964-AD71-1B16-7B47-4C5CA6BAB959}"/>
              </a:ext>
            </a:extLst>
          </p:cNvPr>
          <p:cNvPicPr>
            <a:picLocks noChangeAspect="1"/>
          </p:cNvPicPr>
          <p:nvPr/>
        </p:nvPicPr>
        <p:blipFill>
          <a:blip r:embed="rId3">
            <a:extLst>
              <a:ext uri="{28A0092B-C50C-407E-A947-70E740481C1C}">
                <ns4:useLocalDpi val="0"/>
              </a:ext>
            </a:extLst>
          </a:blip>
          <a:stretch>
            <a:fillRect/>
          </a:stretch>
        </p:blipFill>
        <p:spPr>
          <a:xfrm>
            <a:off x="330000" y="980000"/>
            <a:ext cx="6050000" cy="3000000"/>
          </a:xfrm>
          <a:prstGeom prst="rect">
            <a:avLst/>
          </a:prstGeom>
        </p:spPr>
      </p:pic>
      <p:sp>
        <p:nvSpPr>
          <p:cNvPr id="27" name="Frame Definitions"/>
          <p:cNvSpPr txBox="1"/>
          <p:nvPr/>
        </p:nvSpPr>
        <p:spPr>
          <a:xfrm>
            <a:off x="6580000" y="1050000"/>
            <a:ext cx="2050000" cy="2400000"/>
          </a:xfrm>
          <a:prstGeom prst="rect">
            <a:avLst/>
          </a:prstGeom>
          <a:noFill/>
          <a:ln>
            <a:noFill/>
          </a:ln>
        </p:spPr>
        <p:txBody>
          <a:bodyPr wrap="square" anchor="t" lIns="50000" rIns="50000" tIns="50000" bIns="50000"/>
          <a:lstStyle/>
          <a:p>
            <a:pPr algn="l">
              <a:spcAft>
                <a:spcPts val="150"/>
              </a:spcAft>
            </a:pPr>
            <a:r>
              <a:rPr lang="en-US" sz="2200" b="1">
                <a:solidFill>
                  <a:srgbClr val="6F263D"/>
                </a:solidFill>
                <a:latin typeface="Arial"/>
              </a:rPr>
              <a:t>v₀</a:t>
            </a:r>
          </a:p>
          <a:p>
            <a:pPr algn="l">
              <a:spcAft>
                <a:spcPts val="700"/>
              </a:spcAft>
            </a:pPr>
            <a:r>
              <a:rPr lang="en-US" sz="1450" b="0">
                <a:solidFill>
                  <a:srgbClr val="222222"/>
                </a:solidFill>
                <a:latin typeface="Arial"/>
              </a:rPr>
              <a:t>Reference frame</a:t>
            </a:r>
          </a:p>
          <a:p>
            <a:pPr algn="l">
              <a:spcAft>
                <a:spcPts val="150"/>
              </a:spcAft>
            </a:pPr>
            <a:r>
              <a:rPr lang="en-US" sz="2200" b="1">
                <a:solidFill>
                  <a:srgbClr val="6F263D"/>
                </a:solidFill>
                <a:latin typeface="Arial"/>
              </a:rPr>
              <a:t>v₁</a:t>
            </a:r>
          </a:p>
          <a:p>
            <a:pPr algn="l">
              <a:spcAft>
                <a:spcPts val="700"/>
              </a:spcAft>
            </a:pPr>
            <a:r>
              <a:rPr lang="en-US" sz="1450" b="0">
                <a:solidFill>
                  <a:srgbClr val="222222"/>
                </a:solidFill>
                <a:latin typeface="Arial"/>
              </a:rPr>
              <a:t>Target frame</a:t>
            </a:r>
          </a:p>
          <a:p>
            <a:pPr algn="l"/>
            <a:r>
              <a:rPr lang="en-US" sz="1900" b="1">
                <a:solidFill>
                  <a:srgbClr val="6F263D"/>
                </a:solidFill>
                <a:latin typeface="Arial"/>
              </a:rPr>
              <a:t>Δv = v₁ − v₀</a:t>
            </a:r>
          </a:p>
        </p:txBody>
      </p:sp>
      <p:sp>
        <p:nvSpPr>
          <p:cNvPr id="28" name="Measurement Count"/>
          <p:cNvSpPr txBox="1"/>
          <p:nvPr/>
        </p:nvSpPr>
        <p:spPr>
          <a:xfrm>
            <a:off x="6580000" y="3290000"/>
            <a:ext cx="2050000" cy="660000"/>
          </a:xfrm>
          <a:prstGeom prst="rect">
            <a:avLst/>
          </a:prstGeom>
          <a:noFill/>
          <a:ln>
            <a:noFill/>
          </a:ln>
        </p:spPr>
        <p:txBody>
          <a:bodyPr wrap="square" anchor="ctr" lIns="50000" rIns="50000" tIns="50000" bIns="50000"/>
          <a:lstStyle/>
          <a:p>
            <a:pPr algn="c"/>
            <a:r>
              <a:rPr lang="en-US" sz="1300" b="1">
                <a:solidFill>
                  <a:srgbClr val="222222"/>
                </a:solidFill>
                <a:latin typeface="Arial"/>
              </a:rPr>
              <a:t>16 drive pairs × 13 sense pairs = 208 voltage differences per frame</a:t>
            </a:r>
          </a:p>
        </p:txBody>
      </p:sp>
      <p:sp>
        <p:nvSpPr>
          <p:cNvPr id="29" name="Model Assumptions"/>
          <p:cNvSpPr txBox="1"/>
          <p:nvPr/>
        </p:nvSpPr>
        <p:spPr>
          <a:xfrm>
            <a:off x="480000" y="4140000"/>
            <a:ext cx="7900000" cy="330000"/>
          </a:xfrm>
          <a:prstGeom prst="rect">
            <a:avLst/>
          </a:prstGeom>
          <a:noFill/>
          <a:ln>
            <a:noFill/>
          </a:ln>
        </p:spPr>
        <p:txBody>
          <a:bodyPr wrap="square" anchor="ctr" lIns="50000" rIns="50000" tIns="50000" bIns="50000"/>
          <a:lstStyle/>
          <a:p>
            <a:pPr algn="c"/>
            <a:r>
              <a:rPr lang="en-US" sz="1150" b="0">
                <a:solidFill>
                  <a:srgbClr val="666666"/>
                </a:solidFill>
                <a:latin typeface="Arial"/>
              </a:rPr>
              <a:t>Forward-model data only: ideal 2D geometry, point electrodes, normalized current, and zero added noise</a:t>
            </a:r>
          </a:p>
        </p:txBody>
      </p:sp>
    </p:spTree>
    <p:extLst>
      <p:ext uri="{BB962C8B-B14F-4D97-AF65-F5344CB8AC3E}">
        <p14:creationId val="1496050139"/>
      </p:ext>
    </p:extLst>
  </p:cSld>
  <p:clrMapOvr>
    <a:masterClrMapping/>
  </p:clrMapOvr>
  <mc:AlternateContent>
    <mc:Choice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8" grpId="0"/>
      <p:bldP spid="29" grpId="0"/>
      <p:bldP spid="30" grpId="0"/>
      <p:bldP spid="32" grpId="0"/>
    </p:bldLst>
  </p:timing>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a:extLst>
            <a:ext uri="{FF2B5EF4-FFF2-40B4-BE49-F238E27FC236}">
              <a16:creationId id="{54D56DB0-D421-8112-4FF4-75E732B088E5}"/>
            </a:ext>
          </a:extLst>
        </p:cNvPr>
        <p:cNvGrpSpPr/>
        <p:nvPr/>
      </p:nvGrpSpPr>
      <p:grpSpPr>
        <a:xfrm>
          <a:off x="0" y="0"/>
          <a:ext cx="0" cy="0"/>
          <a:chOff x="0" y="0"/>
          <a:chExt cx="0" cy="0"/>
        </a:xfrm>
      </p:grpSpPr>
      <p:sp>
        <p:nvSpPr>
          <p:cNvPr id="3" name="Title 2">
            <a:extLst>
              <a:ext uri="{FF2B5EF4-FFF2-40B4-BE49-F238E27FC236}">
                <a16:creationId id="{DE42BCB9-3176-D718-5491-F2401D6ACD5D}"/>
              </a:ext>
            </a:extLst>
          </p:cNvPr>
          <p:cNvSpPr>
            <a:spLocks noGrp="1"/>
          </p:cNvSpPr>
          <p:nvPr>
            <p:ph type="title"/>
          </p:nvPr>
        </p:nvSpPr>
        <p:spPr>
          <a:xfrm>
            <a:off x="236536" y="1003"/>
            <a:ext cx="8450263" cy="514350"/>
          </a:xfrm>
        </p:spPr>
        <p:txBody>
          <a:bodyPr/>
          <a:lstStyle/>
          <a:p>
            <a:r>
              <a:rPr lang="en-VN" dirty="0"/>
              <a:t>Same Data, Three Reconstruction Methods</a:t>
            </a:r>
          </a:p>
        </p:txBody>
      </p:sp>
      <p:sp>
        <p:nvSpPr>
          <p:cNvPr id="22" name="Slide Number Placeholder 21">
            <a:extLst>
              <a:ext uri="{FF2B5EF4-FFF2-40B4-BE49-F238E27FC236}">
                <a16:creationId id="{2FAF470A-F961-F757-BE2F-731F3EDEB7B2}"/>
              </a:ext>
            </a:extLst>
          </p:cNvPr>
          <p:cNvSpPr>
            <a:spLocks noGrp="1"/>
          </p:cNvSpPr>
          <p:nvPr>
            <p:ph type="sldNum" sz="quarter" idx="15"/>
          </p:nvPr>
        </p:nvSpPr>
        <p:spPr/>
        <p:txBody>
          <a:bodyPr/>
          <a:lstStyle/>
          <a:p>
            <a:fld id="{0AF20276-0DC3-B247-B3AE-8A6E2F85407E}" type="slidenum">
              <a:rPr lang="en-VN" smtClean="0"/>
              <a:t>17</a:t>
            </a:fld>
            <a:endParaRPr lang="en-VN"/>
          </a:p>
        </p:txBody>
      </p:sp>
      <p:graphicFrame>
        <p:nvGraphicFramePr>
          <p:cNvPr id="2" name="Table 1">
            <a:extLst>
              <a:ext uri="{FF2B5EF4-FFF2-40B4-BE49-F238E27FC236}">
                <a16:creationId id="{E263CCC6-61EF-93F6-9C62-D70BA3167933}"/>
              </a:ext>
            </a:extLst>
          </p:cNvPr>
          <p:cNvGraphicFramePr>
            <a:graphicFrameLocks noGrp="1"/>
          </p:cNvGraphicFramePr>
          <p:nvPr>
            <p:extLst>
              <p:ext uri="{D42A27DB-BD31-4B8C-83A1-F6EECF244321}">
                <p14:modId val="3345414951"/>
              </p:ext>
            </p:extLst>
          </p:nvPr>
        </p:nvGraphicFramePr>
        <p:xfrm>
          <a:off x="370000" y="1120000"/>
          <a:ext cx="8400000" cy="2900000"/>
        </p:xfrm>
        <a:graphic>
          <a:graphicData uri="http://schemas.openxmlformats.org/drawingml/2006/table">
            <a:tbl>
              <a:tblPr bandRow="1">
                <a:tableStyleId>{5C22544A-7EE6-4342-B048-85BDC9FD1C3A}</a:tableStyleId>
              </a:tblPr>
              <a:tblGrid>
                <a:gridCol w="900000">
                  <a:extLst>
                    <a:ext uri="{9D8B030D-6E8A-4147-A177-3AD203B41FA5}">
                      <a16:colId val="20000"/>
                    </a:ext>
                  </a:extLst>
                </a:gridCol>
                <a:gridCol w="3150000">
                  <a:extLst>
                    <a:ext uri="{9D8B030D-6E8A-4147-A177-3AD203B41FA5}">
                      <a16:colId val="20001"/>
                    </a:ext>
                  </a:extLst>
                </a:gridCol>
                <a:gridCol w="1500000">
                  <a:extLst>
                    <a:ext uri="{9D8B030D-6E8A-4147-A177-3AD203B41FA5}">
                      <a16:colId val="20002"/>
                    </a:ext>
                  </a:extLst>
                </a:gridCol>
                <a:gridCol w="2800000">
                  <a:extLst>
                    <a:ext uri="{9D8B030D-6E8A-4147-A177-3AD203B41FA5}">
                      <a16:colId val="20003"/>
                    </a:ext>
                  </a:extLst>
                </a:gridCol>
              </a:tblGrid>
              <a:tr h="725000">
                <a:tc>
                  <a:txBody>
                    <a:bodyPr/>
                    <a:lstStyle/>
                    <a:p>
                      <a:r>
                        <a:rPr sz="1250" b="1" i="0">
                          <a:solidFill>
                            <a:srgbClr val="FFFFFF"/>
                          </a:solidFill>
                          <a:latin typeface="Arial"/>
                        </a:rPr>
                        <a:t>Algorithm</a:t>
                      </a:r>
                    </a:p>
                  </a:txBody>
                  <a:tcPr marL="50800" marR="50800" marT="25400" marB="25400" anchor="ctr">
                    <a:solidFill>
                      <a:srgbClr val="6F263D"/>
                    </a:solidFill>
                  </a:tcPr>
                </a:tc>
                <a:tc>
                  <a:txBody>
                    <a:bodyPr/>
                    <a:lstStyle/>
                    <a:p>
                      <a:r>
                        <a:rPr sz="1250" b="1" i="0">
                          <a:solidFill>
                            <a:srgbClr val="FFFFFF"/>
                          </a:solidFill>
                          <a:latin typeface="Arial"/>
                        </a:rPr>
                        <a:t>Core idea</a:t>
                      </a:r>
                    </a:p>
                  </a:txBody>
                  <a:tcPr marL="50800" marR="50800" marT="25400" marB="25400" anchor="ctr">
                    <a:solidFill>
                      <a:srgbClr val="6F263D"/>
                    </a:solidFill>
                  </a:tcPr>
                </a:tc>
                <a:tc>
                  <a:txBody>
                    <a:bodyPr/>
                    <a:lstStyle/>
                    <a:p>
                      <a:r>
                        <a:rPr sz="1250" b="1" i="0">
                          <a:solidFill>
                            <a:srgbClr val="FFFFFF"/>
                          </a:solidFill>
                          <a:latin typeface="Arial"/>
                        </a:rPr>
                        <a:t>Output space</a:t>
                      </a:r>
                    </a:p>
                  </a:txBody>
                  <a:tcPr marL="50800" marR="50800" marT="25400" marB="25400" anchor="ctr">
                    <a:solidFill>
                      <a:srgbClr val="6F263D"/>
                    </a:solidFill>
                  </a:tcPr>
                </a:tc>
                <a:tc>
                  <a:txBody>
                    <a:bodyPr/>
                    <a:lstStyle/>
                    <a:p>
                      <a:r>
                        <a:rPr sz="1250" b="1" i="0">
                          <a:solidFill>
                            <a:srgbClr val="FFFFFF"/>
                          </a:solidFill>
                          <a:latin typeface="Arial"/>
                        </a:rPr>
                        <a:t>What to look for</a:t>
                      </a:r>
                    </a:p>
                  </a:txBody>
                  <a:tcPr marL="50800" marR="50800" marT="25400" marB="25400" anchor="ctr">
                    <a:solidFill>
                      <a:srgbClr val="6F263D"/>
                    </a:solidFill>
                  </a:tcPr>
                </a:tc>
                <a:extLst>
                  <a:ext uri="{0D108BD9-81ED-4DB2-BD59-A6C34878D82A}">
                    <a16:rowId val="10000"/>
                  </a:ext>
                </a:extLst>
              </a:tr>
              <a:tr h="725000">
                <a:tc>
                  <a:txBody>
                    <a:bodyPr/>
                    <a:lstStyle/>
                    <a:p>
                      <a:r>
                        <a:rPr sz="1250" b="0" i="0">
                          <a:solidFill>
                            <a:srgbClr val="222222"/>
                          </a:solidFill>
                          <a:latin typeface="Arial"/>
                        </a:rPr>
                        <a:t>BP</a:t>
                      </a:r>
                    </a:p>
                  </a:txBody>
                  <a:tcPr marL="50800" marR="50800" marT="38100" marB="38100" anchor="ctr">
                    <a:solidFill>
                      <a:srgbClr val="FFFFFF"/>
                    </a:solidFill>
                  </a:tcPr>
                </a:tc>
                <a:tc>
                  <a:txBody>
                    <a:bodyPr/>
                    <a:lstStyle/>
                    <a:p>
                      <a:r>
                        <a:rPr sz="1250" b="0" i="0">
                          <a:solidFill>
                            <a:srgbClr val="222222"/>
                          </a:solidFill>
                          <a:latin typeface="Arial"/>
                        </a:rPr>
                        <a:t>Direct back-projection of voltage changes</a:t>
                      </a:r>
                    </a:p>
                  </a:txBody>
                  <a:tcPr marL="50800" marR="50800" marT="38100" marB="38100" anchor="ctr">
                    <a:solidFill>
                      <a:srgbClr val="FFFFFF"/>
                    </a:solidFill>
                  </a:tcPr>
                </a:tc>
                <a:tc>
                  <a:txBody>
                    <a:bodyPr/>
                    <a:lstStyle/>
                    <a:p>
                      <a:r>
                        <a:rPr sz="1250" b="0" i="0" dirty="0">
                          <a:solidFill>
                            <a:srgbClr val="222222"/>
                          </a:solidFill>
                          <a:latin typeface="Arial"/>
                        </a:rPr>
                        <a:t>Mesh nodes</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Fast, broad response</a:t>
                      </a:r>
                    </a:p>
                  </a:txBody>
                  <a:tcPr marL="50800" marR="50800" marT="38100" marB="38100" anchor="ctr">
                    <a:solidFill>
                      <a:srgbClr val="FFFFFF"/>
                    </a:solidFill>
                  </a:tcPr>
                </a:tc>
                <a:extLst>
                  <a:ext uri="{0D108BD9-81ED-4DB2-BD59-A6C34878D82A}">
                    <a16:rowId val="10001"/>
                  </a:ext>
                </a:extLst>
              </a:tr>
              <a:tr h="725000">
                <a:tc>
                  <a:txBody>
                    <a:bodyPr/>
                    <a:lstStyle/>
                    <a:p>
                      <a:r>
                        <a:rPr sz="1250" b="0" i="0">
                          <a:solidFill>
                            <a:srgbClr val="222222"/>
                          </a:solidFill>
                          <a:latin typeface="Arial"/>
                        </a:rPr>
                        <a:t>JAC</a:t>
                      </a:r>
                    </a:p>
                  </a:txBody>
                  <a:tcPr marL="50800" marR="50800" marT="38100" marB="38100" anchor="ctr">
                    <a:solidFill>
                      <a:srgbClr val="F5EFEC"/>
                    </a:solidFill>
                  </a:tcPr>
                </a:tc>
                <a:tc>
                  <a:txBody>
                    <a:bodyPr/>
                    <a:lstStyle/>
                    <a:p>
                      <a:r>
                        <a:rPr sz="1250" b="0" i="0">
                          <a:solidFill>
                            <a:srgbClr val="222222"/>
                          </a:solidFill>
                          <a:latin typeface="Arial"/>
                        </a:rPr>
                        <a:t>Jacobian sensitivity with regularization</a:t>
                      </a:r>
                    </a:p>
                  </a:txBody>
                  <a:tcPr marL="50800" marR="50800" marT="38100" marB="38100" anchor="ctr">
                    <a:solidFill>
                      <a:srgbClr val="F5EFEC"/>
                    </a:solidFill>
                  </a:tcPr>
                </a:tc>
                <a:tc>
                  <a:txBody>
                    <a:bodyPr/>
                    <a:lstStyle/>
                    <a:p>
                      <a:r>
                        <a:rPr sz="1250" b="0" i="0">
                          <a:solidFill>
                            <a:srgbClr val="222222"/>
                          </a:solidFill>
                          <a:latin typeface="Arial"/>
                        </a:rPr>
                        <a:t>Mesh elements</a:t>
                      </a:r>
                    </a:p>
                  </a:txBody>
                  <a:tcPr marL="50800" marR="50800" marT="38100" marB="38100" anchor="ctr">
                    <a:solidFill>
                      <a:srgbClr val="F5EFEC"/>
                    </a:solidFill>
                  </a:tcPr>
                </a:tc>
                <a:tc>
                  <a:txBody>
                    <a:bodyPr/>
                    <a:lstStyle/>
                    <a:p>
                      <a:r>
                        <a:rPr sz="1250" b="0" i="0" dirty="0">
                          <a:solidFill>
                            <a:srgbClr val="222222"/>
                          </a:solidFill>
                          <a:latin typeface="Arial"/>
                        </a:rPr>
                        <a:t>Detail versus stability</a:t>
                      </a:r>
                      <a:r>
                        <a:rPr sz="1250" b="0" i="0" dirty="0" err="1">
                          <a:solidFill>
                            <a:srgbClr val="222222"/>
                          </a:solidFill>
                          <a:latin typeface="Arial"/>
                        </a:rPr>
                        <a:t/>
                      </a:r>
                      <a:r>
                        <a:rPr sz="1250" b="0" i="0" dirty="0">
                          <a:solidFill>
                            <a:srgbClr val="222222"/>
                          </a:solidFill>
                          <a:latin typeface="Arial"/>
                        </a:rPr>
                        <a:t/>
                      </a:r>
                    </a:p>
                  </a:txBody>
                  <a:tcPr marL="50800" marR="50800" marT="38100" marB="38100" anchor="ctr">
                    <a:solidFill>
                      <a:srgbClr val="F5EFEC"/>
                    </a:solidFill>
                  </a:tcPr>
                </a:tc>
                <a:extLst>
                  <a:ext uri="{0D108BD9-81ED-4DB2-BD59-A6C34878D82A}">
                    <a16:rowId val="10002"/>
                  </a:ext>
                </a:extLst>
              </a:tr>
              <a:tr h="725000">
                <a:tc>
                  <a:txBody>
                    <a:bodyPr/>
                    <a:lstStyle/>
                    <a:p>
                      <a:r>
                        <a:rPr sz="1250" b="0" i="0">
                          <a:solidFill>
                            <a:srgbClr val="222222"/>
                          </a:solidFill>
                          <a:latin typeface="Arial"/>
                        </a:rPr>
                        <a:t>GREIT</a:t>
                      </a:r>
                    </a:p>
                  </a:txBody>
                  <a:tcPr marL="50800" marR="50800" marT="38100" marB="38100" anchor="ctr">
                    <a:solidFill>
                      <a:srgbClr val="FFFFFF"/>
                    </a:solidFill>
                  </a:tcPr>
                </a:tc>
                <a:tc>
                  <a:txBody>
                    <a:bodyPr/>
                    <a:lstStyle/>
                    <a:p>
                      <a:r>
                        <a:rPr sz="1250" b="0" i="0">
                          <a:solidFill>
                            <a:srgbClr val="222222"/>
                          </a:solidFill>
                          <a:latin typeface="Arial"/>
                        </a:rPr>
                        <a:t>Sensitivity-based linear map to a regular grid</a:t>
                      </a:r>
                    </a:p>
                  </a:txBody>
                  <a:tcPr marL="50800" marR="50800" marT="38100" marB="38100" anchor="ctr">
                    <a:solidFill>
                      <a:srgbClr val="FFFFFF"/>
                    </a:solidFill>
                  </a:tcPr>
                </a:tc>
                <a:tc>
                  <a:txBody>
                    <a:bodyPr/>
                    <a:lstStyle/>
                    <a:p>
                      <a:r>
                        <a:rPr sz="1250" b="0" i="0" dirty="0">
                          <a:solidFill>
                            <a:srgbClr val="222222"/>
                          </a:solidFill>
                          <a:latin typeface="Arial"/>
                        </a:rPr>
                        <a:t>32 × 32 grid</a:t>
                      </a:r>
                      <a:r>
                        <a:rPr lang="vi-VN" sz="1250" b="0" i="0" dirty="0">
                          <a:solidFill>
                            <a:srgbClr val="222222"/>
                          </a:solidFill>
                          <a:latin typeface="Arial"/>
                        </a:rPr>
                        <a:t/>
                      </a:r>
                      <a:r>
                        <a:rPr sz="1250" b="0" i="0" dirty="0">
                          <a:solidFill>
                            <a:srgbClr val="222222"/>
                          </a:solidFill>
                          <a:latin typeface="Arial"/>
                        </a:rPr>
                        <a:t/>
                      </a:r>
                    </a:p>
                  </a:txBody>
                  <a:tcPr marL="50800" marR="50800" marT="38100" marB="38100" anchor="ctr">
                    <a:solidFill>
                      <a:srgbClr val="FFFFFF"/>
                    </a:solidFill>
                  </a:tcPr>
                </a:tc>
                <a:tc>
                  <a:txBody>
                    <a:bodyPr/>
                    <a:lstStyle/>
                    <a:p>
                      <a:r>
                        <a:rPr sz="1250" b="0" i="0">
                          <a:solidFill>
                            <a:srgbClr val="222222"/>
                          </a:solidFill>
                          <a:latin typeface="Arial"/>
                        </a:rPr>
                        <a:t>Smooth, standardized output</a:t>
                      </a:r>
                    </a:p>
                  </a:txBody>
                  <a:tcPr marL="50800" marR="50800" marT="38100" marB="38100" anchor="ctr">
                    <a:solidFill>
                      <a:srgbClr val="FFFFFF"/>
                    </a:solidFill>
                  </a:tcPr>
                </a:tc>
                <a:extLst>
                  <a:ext uri="{0D108BD9-81ED-4DB2-BD59-A6C34878D82A}">
                    <a16:rowId val="10001"/>
                  </a:ext>
                </a:extLst>
              </a:tr>
            </a:tbl>
          </a:graphicData>
        </a:graphic>
      </p:graphicFrame>
      <p:sp>
        <p:nvSpPr>
          <p:cNvPr id="23" name="Shared Input"/>
          <p:cNvSpPr txBox="1"/>
          <p:nvPr/>
        </p:nvSpPr>
        <p:spPr>
          <a:xfrm>
            <a:off x="800000" y="4210000"/>
            <a:ext cx="7550000" cy="370000"/>
          </a:xfrm>
          <a:prstGeom prst="rect">
            <a:avLst/>
          </a:prstGeom>
          <a:noFill/>
          <a:ln>
            <a:noFill/>
          </a:ln>
        </p:spPr>
        <p:txBody>
          <a:bodyPr wrap="square" anchor="ctr" lIns="50000" rIns="50000" tIns="50000" bIns="50000"/>
          <a:lstStyle/>
          <a:p>
            <a:pPr algn="c"/>
            <a:r>
              <a:rPr lang="en-US" sz="1250" b="0">
                <a:solidFill>
                  <a:srgbClr val="555555"/>
                </a:solidFill>
                <a:latin typeface="Arial"/>
              </a:rPr>
              <a:t>Shared input: the same mesh, electrode protocol, v₀, and v₁. The algorithms do not receive the ground-truth target locations.</a:t>
            </a:r>
          </a:p>
        </p:txBody>
      </p:sp>
    </p:spTree>
    <p:extLst>
      <p:ext uri="{BB962C8B-B14F-4D97-AF65-F5344CB8AC3E}">
        <p14:creationId val="1244134501"/>
      </p:ext>
    </p:extLst>
  </p:cSld>
  <p:clrMapOvr>
    <a:masterClrMapping/>
  </p:clrMapOvr>
  <mc:AlternateContent>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a16="http://schemas.microsoft.com/office/drawing/2014/main" xmlns:mc="http://schemas.openxmlformats.org/markup-compatibility/2006" xmlns:ns4="http://schemas.microsoft.com/office/drawing/2010/main" xmlns:p="http://schemas.openxmlformats.org/presentationml/2006/main" xmlns:p14="http://schemas.microsoft.com/office/powerpoint/2010/main" xmlns:r="http://schemas.openxmlformats.org/officeDocument/2006/relationships">
  <p:cSld>
    <p:spTree>
      <p:nvGrpSpPr>
        <p:cNvPr id="1" name="">
          <a:extLst>
            <a:ext uri="{FF2B5EF4-FFF2-40B4-BE49-F238E27FC236}">
              <a16:creationId id="{DDAFC98F-8F2F-4FDE-D522-12618F0DF700}"/>
            </a:ext>
          </a:extLst>
        </p:cNvPr>
        <p:cNvGrpSpPr/>
        <p:nvPr/>
      </p:nvGrpSpPr>
      <p:grpSpPr>
        <a:xfrm>
          <a:off x="0" y="0"/>
          <a:ext cx="0" cy="0"/>
          <a:chOff x="0" y="0"/>
          <a:chExt cx="0" cy="0"/>
        </a:xfrm>
      </p:grpSpPr>
      <p:sp>
        <p:nvSpPr>
          <p:cNvPr id="3" name="Title 2">
            <a:extLst>
              <a:ext uri="{FF2B5EF4-FFF2-40B4-BE49-F238E27FC236}">
                <a16:creationId id="{621DCCBC-D30C-C210-C308-1A4257C902D1}"/>
              </a:ext>
            </a:extLst>
          </p:cNvPr>
          <p:cNvSpPr>
            <a:spLocks noGrp="1"/>
          </p:cNvSpPr>
          <p:nvPr>
            <p:ph type="title"/>
          </p:nvPr>
        </p:nvSpPr>
        <p:spPr>
          <a:xfrm>
            <a:off x="236536" y="1003"/>
            <a:ext cx="8450263" cy="514350"/>
          </a:xfrm>
        </p:spPr>
        <p:txBody>
          <a:bodyPr/>
          <a:lstStyle/>
          <a:p>
            <a:r>
              <a:rPr lang="en-VN" dirty="0"/>
              <a:t>Reconstruction of the Same Simulated Object</a:t>
            </a:r>
          </a:p>
        </p:txBody>
      </p:sp>
      <p:sp>
        <p:nvSpPr>
          <p:cNvPr id="22" name="Slide Number Placeholder 21">
            <a:extLst>
              <a:ext uri="{FF2B5EF4-FFF2-40B4-BE49-F238E27FC236}">
                <a16:creationId id="{19CEAE1C-7593-8169-7747-4BCE0301D8FA}"/>
              </a:ext>
            </a:extLst>
          </p:cNvPr>
          <p:cNvSpPr>
            <a:spLocks noGrp="1"/>
          </p:cNvSpPr>
          <p:nvPr>
            <p:ph type="sldNum" sz="quarter" idx="15"/>
          </p:nvPr>
        </p:nvSpPr>
        <p:spPr/>
        <p:txBody>
          <a:bodyPr/>
          <a:lstStyle/>
          <a:p>
            <a:fld id="{0AF20276-0DC3-B247-B3AE-8A6E2F85407E}" type="slidenum">
              <a:rPr lang="en-VN" smtClean="0"/>
              <a:t>18</a:t>
            </a:fld>
            <a:endParaRPr lang="en-VN"/>
          </a:p>
        </p:txBody>
      </p:sp>
      <p:pic>
        <p:nvPicPr>
          <p:cNvPr id="5" name="Picture 4" descr="Normalized qualitative comparison of ground truth, BP, JAC, and GREIT">
            <a:extLst>
              <a:ext uri="{FF2B5EF4-FFF2-40B4-BE49-F238E27FC236}">
                <a16:creationId id="{8132BABF-AA2C-E8C3-2F26-C306EB8EADC6}"/>
              </a:ext>
            </a:extLst>
          </p:cNvPr>
          <p:cNvPicPr>
            <a:picLocks noChangeAspect="1"/>
          </p:cNvPicPr>
          <p:nvPr/>
        </p:nvPicPr>
        <p:blipFill>
          <a:blip r:embed="rId3">
            <a:extLst>
              <a:ext uri="{28A0092B-C50C-407E-A947-70E740481C1C}">
                <ns4:useLocalDpi val="0"/>
              </a:ext>
            </a:extLst>
          </a:blip>
          <a:stretch>
            <a:fillRect/>
          </a:stretch>
        </p:blipFill>
        <p:spPr>
          <a:xfrm>
            <a:off x="330000" y="770000"/>
            <a:ext cx="8460000" cy="2470000"/>
          </a:xfrm>
          <a:prstGeom prst="rect">
            <a:avLst/>
          </a:prstGeom>
        </p:spPr>
      </p:pic>
      <p:sp>
        <p:nvSpPr>
          <p:cNvPr id="23" name="Result Observations"/>
          <p:cNvSpPr txBox="1"/>
          <p:nvPr/>
        </p:nvSpPr>
        <p:spPr>
          <a:xfrm>
            <a:off x="570000" y="3420000"/>
            <a:ext cx="8000000" cy="780000"/>
          </a:xfrm>
          <a:prstGeom prst="rect">
            <a:avLst/>
          </a:prstGeom>
          <a:noFill/>
          <a:ln>
            <a:noFill/>
          </a:ln>
        </p:spPr>
        <p:txBody>
          <a:bodyPr wrap="square" anchor="ctr" lIns="50000" rIns="50000" tIns="50000" bIns="50000"/>
          <a:lstStyle/>
          <a:p>
            <a:pPr algn="c">
              <a:spcAft>
                <a:spcPts val="250"/>
              </a:spcAft>
            </a:pPr>
            <a:r>
              <a:rPr lang="en-US" sz="1550" b="1">
                <a:solidFill>
                  <a:srgbClr val="6F263D"/>
                </a:solidFill>
                <a:latin typeface="Arial"/>
              </a:rPr>
              <a:t>BP: broad, diffuse regions</a:t>
            </a:r>
          </a:p>
          <a:p>
            <a:pPr algn="c">
              <a:spcAft>
                <a:spcPts val="250"/>
              </a:spcAft>
            </a:pPr>
            <a:r>
              <a:rPr lang="en-US" sz="1550" b="1">
                <a:solidFill>
                  <a:srgbClr val="6F263D"/>
                </a:solidFill>
                <a:latin typeface="Arial"/>
              </a:rPr>
              <a:t>JAC: concentrated peaks with mesh-related artifacts</a:t>
            </a:r>
          </a:p>
          <a:p>
            <a:pPr algn="c"/>
            <a:r>
              <a:rPr lang="en-US" sz="1550" b="1">
                <a:solidFill>
                  <a:srgbClr val="6F263D"/>
                </a:solidFill>
                <a:latin typeface="Arial"/>
              </a:rPr>
              <a:t>GREIT: smooth output on a regular pixel grid</a:t>
            </a:r>
          </a:p>
        </p:txBody>
      </p:sp>
      <p:sp>
        <p:nvSpPr>
          <p:cNvPr id="24" name="Result Scope"/>
          <p:cNvSpPr txBox="1"/>
          <p:nvPr/>
        </p:nvSpPr>
        <p:spPr>
          <a:xfrm>
            <a:off x="800000" y="4280000"/>
            <a:ext cx="7550000" cy="270000"/>
          </a:xfrm>
          <a:prstGeom prst="rect">
            <a:avLst/>
          </a:prstGeom>
          <a:noFill/>
          <a:ln>
            <a:noFill/>
          </a:ln>
        </p:spPr>
        <p:txBody>
          <a:bodyPr wrap="square" anchor="ctr" lIns="50000" rIns="50000" tIns="50000" bIns="50000"/>
          <a:lstStyle/>
          <a:p>
            <a:pPr algn="c"/>
            <a:r>
              <a:rPr lang="en-US" sz="1120" b="0">
                <a:solidFill>
                  <a:srgbClr val="666666"/>
                </a:solidFill>
                <a:latin typeface="Arial"/>
              </a:rPr>
              <a:t>Noise = 0. These observations describe this parameter set and do not establish a universal ranking.</a:t>
            </a:r>
          </a:p>
        </p:txBody>
      </p:sp>
    </p:spTree>
    <p:extLst>
      <p:ext uri="{BB962C8B-B14F-4D97-AF65-F5344CB8AC3E}">
        <p14:creationId val="1635422215"/>
      </p:ext>
    </p:extLst>
  </p:cSld>
  <p:clrMapOvr>
    <a:masterClrMapping/>
  </p:clrMapOvr>
  <mc:AlternateContent>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Controlled Comparison Plan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1800000">
                  <a:extLst>
                    <a:ext uri="{9D8B030D-6E8A-4147-A177-3AD203B41FA5}">
                      <a16:colId val="20000"/>
                    </a:ext>
                  </a:extLst>
                </a:gridCol>
                <a:gridCol w="6400000">
                  <a:extLst>
                    <a:ext uri="{9D8B030D-6E8A-4147-A177-3AD203B41FA5}">
                      <a16:colId val="20001"/>
                    </a:ext>
                  </a:extLst>
                </a:gridCol>
              </a:tblGrid>
              <a:tr h="516666">
                <a:tc>
                  <a:txBody>
                    <a:bodyPr/>
                    <a:lstStyle/>
                    <a:p>
                      <a:r>
                        <a:rPr sz="1500" b="1" i="0">
                          <a:solidFill>
                            <a:srgbClr val="FFFFFF"/>
                          </a:solidFill>
                          <a:latin typeface="Arial"/>
                        </a:rPr>
                        <a:t>Test</a:t>
                      </a:r>
                    </a:p>
                  </a:txBody>
                  <a:tcPr marL="50800" marR="50800" marT="25400" marB="25400" anchor="ctr">
                    <a:solidFill>
                      <a:srgbClr val="6F263D"/>
                    </a:solidFill>
                  </a:tcPr>
                </a:tc>
                <a:tc>
                  <a:txBody>
                    <a:bodyPr/>
                    <a:lstStyle/>
                    <a:p>
                      <a:r>
                        <a:rPr sz="1500" b="1" i="0">
                          <a:solidFill>
                            <a:srgbClr val="FFFFFF"/>
                          </a:solidFill>
                          <a:latin typeface="Arial"/>
                        </a:rPr>
                        <a:t>Question answered</a:t>
                      </a:r>
                    </a:p>
                  </a:txBody>
                  <a:tcPr marL="50800" marR="50800" marT="25400" marB="25400" anchor="ctr">
                    <a:solidFill>
                      <a:srgbClr val="6F263D"/>
                    </a:solidFill>
                  </a:tcPr>
                </a:tc>
                <a:extLst>
                  <a:ext uri="{0D108BD9-81ED-4DB2-BD59-A6C34878D82A}">
                    <a16:rowId val="10000"/>
                  </a:ext>
                </a:extLst>
              </a:tr>
              <a:tr h="516666">
                <a:tc>
                  <a:txBody>
                    <a:bodyPr/>
                    <a:lstStyle/>
                    <a:p>
                      <a:r>
                        <a:rPr sz="1500" b="0" i="0">
                          <a:solidFill>
                            <a:srgbClr val="222222"/>
                          </a:solidFill>
                          <a:latin typeface="Arial"/>
                        </a:rPr>
                        <a:t>Position</a:t>
                      </a:r>
                    </a:p>
                  </a:txBody>
                  <a:tcPr marL="50800" marR="50800" marT="25400" marB="25400" anchor="ctr">
                    <a:solidFill>
                      <a:srgbClr val="FFFFFF"/>
                    </a:solidFill>
                  </a:tcPr>
                </a:tc>
                <a:tc>
                  <a:txBody>
                    <a:bodyPr/>
                    <a:lstStyle/>
                    <a:p>
                      <a:r>
                        <a:rPr sz="1500" b="0" i="0">
                          <a:solidFill>
                            <a:srgbClr val="222222"/>
                          </a:solidFill>
                          <a:latin typeface="Arial"/>
                        </a:rPr>
                        <a:t>Does localization change from the center to the boundary?</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Size</a:t>
                      </a:r>
                    </a:p>
                  </a:txBody>
                  <a:tcPr marL="50800" marR="50800" marT="25400" marB="25400" anchor="ctr">
                    <a:solidFill>
                      <a:srgbClr val="F5EFEC"/>
                    </a:solidFill>
                  </a:tcPr>
                </a:tc>
                <a:tc>
                  <a:txBody>
                    <a:bodyPr/>
                    <a:lstStyle/>
                    <a:p>
                      <a:r>
                        <a:rPr sz="1500" b="0" i="0">
                          <a:solidFill>
                            <a:srgbClr val="222222"/>
                          </a:solidFill>
                          <a:latin typeface="Arial"/>
                        </a:rPr>
                        <a:t>Does reconstructed target size follow the simulated radius?</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Contrast</a:t>
                      </a:r>
                    </a:p>
                  </a:txBody>
                  <a:tcPr marL="50800" marR="50800" marT="25400" marB="25400" anchor="ctr">
                    <a:solidFill>
                      <a:srgbClr val="FFFFFF"/>
                    </a:solidFill>
                  </a:tcPr>
                </a:tc>
                <a:tc>
                  <a:txBody>
                    <a:bodyPr/>
                    <a:lstStyle/>
                    <a:p>
                      <a:r>
                        <a:rPr sz="1500" b="0" i="0">
                          <a:solidFill>
                            <a:srgbClr val="222222"/>
                          </a:solidFill>
                          <a:latin typeface="Arial"/>
                        </a:rPr>
                        <a:t>Does the output remain linear as the conductivity ratio changes?</a:t>
                      </a:r>
                    </a:p>
                  </a:txBody>
                  <a:tcPr marL="50800" marR="50800" marT="25400" marB="25400" anchor="ctr">
                    <a:solidFill>
                      <a:srgbClr val="FFFFFF"/>
                    </a:solidFill>
                  </a:tcPr>
                </a:tc>
                <a:extLst>
                  <a:ext uri="{0D108BD9-81ED-4DB2-BD59-A6C34878D82A}">
                    <a16:rowId val="10001"/>
                  </a:ext>
                </a:extLst>
              </a:tr>
              <a:tr h="516666">
                <a:tc>
                  <a:txBody>
                    <a:bodyPr/>
                    <a:lstStyle/>
                    <a:p>
                      <a:r>
                        <a:rPr sz="1500" b="0" i="0">
                          <a:solidFill>
                            <a:srgbClr val="222222"/>
                          </a:solidFill>
                          <a:latin typeface="Arial"/>
                        </a:rPr>
                        <a:t>Noise</a:t>
                      </a:r>
                    </a:p>
                  </a:txBody>
                  <a:tcPr marL="50800" marR="50800" marT="25400" marB="25400" anchor="ctr">
                    <a:solidFill>
                      <a:srgbClr val="F5EFEC"/>
                    </a:solidFill>
                  </a:tcPr>
                </a:tc>
                <a:tc>
                  <a:txBody>
                    <a:bodyPr/>
                    <a:lstStyle/>
                    <a:p>
                      <a:r>
                        <a:rPr sz="1500" b="0" i="0">
                          <a:solidFill>
                            <a:srgbClr val="222222"/>
                          </a:solidFill>
                          <a:latin typeface="Arial"/>
                        </a:rPr>
                        <a:t>Which method amplifies measurement noise?</a:t>
                      </a:r>
                    </a:p>
                  </a:txBody>
                  <a:tcPr marL="50800" marR="50800" marT="25400" marB="25400" anchor="ctr">
                    <a:solidFill>
                      <a:srgbClr val="F5EFEC"/>
                    </a:solidFill>
                  </a:tcPr>
                </a:tc>
                <a:extLst>
                  <a:ext uri="{0D108BD9-81ED-4DB2-BD59-A6C34878D82A}">
                    <a16:rowId val="10002"/>
                  </a:ext>
                </a:extLst>
              </a:tr>
              <a:tr h="516666">
                <a:tc>
                  <a:txBody>
                    <a:bodyPr/>
                    <a:lstStyle/>
                    <a:p>
                      <a:r>
                        <a:rPr sz="1500" b="0" i="0">
                          <a:solidFill>
                            <a:srgbClr val="222222"/>
                          </a:solidFill>
                          <a:latin typeface="Arial"/>
                        </a:rPr>
                        <a:t>Separation</a:t>
                      </a:r>
                    </a:p>
                  </a:txBody>
                  <a:tcPr marL="50800" marR="50800" marT="25400" marB="25400" anchor="ctr">
                    <a:solidFill>
                      <a:srgbClr val="FFFFFF"/>
                    </a:solidFill>
                  </a:tcPr>
                </a:tc>
                <a:tc>
                  <a:txBody>
                    <a:bodyPr/>
                    <a:lstStyle/>
                    <a:p>
                      <a:r>
                        <a:rPr sz="1500" b="0" i="0">
                          <a:solidFill>
                            <a:srgbClr val="222222"/>
                          </a:solidFill>
                          <a:latin typeface="Arial"/>
                        </a:rPr>
                        <a:t>Can the method distinguish two nearby targets?</a:t>
                      </a:r>
                    </a:p>
                  </a:txBody>
                  <a:tcPr marL="50800" marR="50800" marT="25400" marB="25400" anchor="ctr">
                    <a:solidFill>
                      <a:srgbClr val="FFFFFF"/>
                    </a:solidFill>
                  </a:tcPr>
                </a:tc>
                <a:extLst>
                  <a:ext uri="{0D108BD9-81ED-4DB2-BD59-A6C34878D82A}">
                    <a16:rowId val="10001"/>
                  </a:ext>
                </a:extLst>
              </a:tr>
            </a:tbl>
          </a:graphicData>
        </a:graphic>
      </p:graphicFrame>
      <p:sp>
        <p:nvSpPr>
          <p:cNvPr id="4" name="Test Rule"/>
          <p:cNvSpPr txBox="1"/>
          <p:nvPr/>
        </p:nvSpPr>
        <p:spPr>
          <a:xfrm>
            <a:off x="800000" y="4260000"/>
            <a:ext cx="7550000" cy="360000"/>
          </a:xfrm>
          <a:prstGeom prst="rect">
            <a:avLst/>
          </a:prstGeom>
          <a:noFill/>
          <a:ln>
            <a:noFill/>
          </a:ln>
        </p:spPr>
        <p:txBody>
          <a:bodyPr wrap="square" anchor="ctr" lIns="50000" rIns="50000" tIns="50000" bIns="50000"/>
          <a:lstStyle/>
          <a:p>
            <a:pPr algn="c"/>
            <a:r>
              <a:rPr lang="en-US" sz="1350" b="1">
                <a:solidFill>
                  <a:srgbClr val="6F263D"/>
                </a:solidFill>
                <a:latin typeface="Arial"/>
              </a:rPr>
              <a:t>Change one variable at a time while keeping the mesh, protocol, and algorithm settings fixed.</a:t>
            </a:r>
          </a:p>
        </p:txBody>
      </p:sp>
    </p:spTree>
  </p:cSld>
  <p:clrMapOvr>
    <a:masterClrMapping/>
  </p:clrMapOvr>
</p:sld>
</file>

<file path=ppt/slides/slide20.xml><?xml version="1.0" encoding="utf-8"?>
<p:sld xmlns:a="http://schemas.openxmlformats.org/drawingml/2006/main" xmlns:a16="http://schemas.microsoft.com/office/drawing/2014/main"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Scope of the Simulation</a:t>
            </a:r>
          </a:p>
        </p:txBody>
      </p:sp>
      <p:graphicFrame>
        <p:nvGraphicFramePr>
          <p:cNvPr id="3" name="Table 2"/>
          <p:cNvGraphicFramePr>
            <a:graphicFrameLocks noGrp="1"/>
          </p:cNvGraphicFramePr>
          <p:nvPr/>
        </p:nvGraphicFramePr>
        <p:xfrm>
          <a:off x="470000" y="1050000"/>
          <a:ext cx="8200000" cy="3100000"/>
        </p:xfrm>
        <a:graphic>
          <a:graphicData uri="http://schemas.openxmlformats.org/drawingml/2006/table">
            <a:tbl>
              <a:tblPr bandRow="1">
                <a:tableStyleId>{5C22544A-7EE6-4342-B048-85BDC9FD1C3A}</a:tableStyleId>
              </a:tblPr>
              <a:tblGrid>
                <a:gridCol w="4100000">
                  <a:extLst>
                    <a:ext uri="{9D8B030D-6E8A-4147-A177-3AD203B41FA5}">
                      <a16:colId val="20000"/>
                    </a:ext>
                  </a:extLst>
                </a:gridCol>
                <a:gridCol w="4100000">
                  <a:extLst>
                    <a:ext uri="{9D8B030D-6E8A-4147-A177-3AD203B41FA5}">
                      <a16:colId val="20001"/>
                    </a:ext>
                  </a:extLst>
                </a:gridCol>
              </a:tblGrid>
              <a:tr h="516666">
                <a:tc>
                  <a:txBody>
                    <a:bodyPr/>
                    <a:lstStyle/>
                    <a:p>
                      <a:r>
                        <a:rPr sz="1450" b="1" i="0">
                          <a:solidFill>
                            <a:srgbClr val="FFFFFF"/>
                          </a:solidFill>
                          <a:latin typeface="Arial"/>
                        </a:rPr>
                        <a:t>The simulation evaluates</a:t>
                      </a:r>
                    </a:p>
                  </a:txBody>
                  <a:tcPr marL="50800" marR="50800" marT="25400" marB="25400" anchor="ctr">
                    <a:solidFill>
                      <a:srgbClr val="6F263D"/>
                    </a:solidFill>
                  </a:tcPr>
                </a:tc>
                <a:tc>
                  <a:txBody>
                    <a:bodyPr/>
                    <a:lstStyle/>
                    <a:p>
                      <a:r>
                        <a:rPr sz="1450" b="1" i="0">
                          <a:solidFill>
                            <a:srgbClr val="FFFFFF"/>
                          </a:solidFill>
                          <a:latin typeface="Arial"/>
                        </a:rPr>
                        <a:t>It does not yet evaluate</a:t>
                      </a:r>
                    </a:p>
                  </a:txBody>
                  <a:tcPr marL="50800" marR="50800" marT="25400" marB="25400" anchor="ctr">
                    <a:solidFill>
                      <a:srgbClr val="6F263D"/>
                    </a:solidFill>
                  </a:tcPr>
                </a:tc>
                <a:extLst>
                  <a:ext uri="{0D108BD9-81ED-4DB2-BD59-A6C34878D82A}">
                    <a16:rowId val="10000"/>
                  </a:ext>
                </a:extLst>
              </a:tr>
              <a:tr h="516666">
                <a:tc>
                  <a:txBody>
                    <a:bodyPr/>
                    <a:lstStyle/>
                    <a:p>
                      <a:r>
                        <a:rPr sz="1450" b="0" i="0">
                          <a:solidFill>
                            <a:srgbClr val="222222"/>
                          </a:solidFill>
                          <a:latin typeface="Arial"/>
                        </a:rPr>
                        <a:t>The reconstruction pipeline</a:t>
                      </a:r>
                    </a:p>
                  </a:txBody>
                  <a:tcPr marL="50800" marR="50800" marT="25400" marB="25400" anchor="ctr">
                    <a:solidFill>
                      <a:srgbClr val="FFFFFF"/>
                    </a:solidFill>
                  </a:tcPr>
                </a:tc>
                <a:tc>
                  <a:txBody>
                    <a:bodyPr/>
                    <a:lstStyle/>
                    <a:p>
                      <a:r>
                        <a:rPr sz="1450" b="0" i="0">
                          <a:solidFill>
                            <a:srgbClr val="222222"/>
                          </a:solidFill>
                          <a:latin typeface="Arial"/>
                        </a:rPr>
                        <a:t>CN0565 measurement accuracy</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Algorithm behavior</a:t>
                      </a:r>
                    </a:p>
                  </a:txBody>
                  <a:tcPr marL="50800" marR="50800" marT="25400" marB="25400" anchor="ctr">
                    <a:solidFill>
                      <a:srgbClr val="F5EFEC"/>
                    </a:solidFill>
                  </a:tcPr>
                </a:tc>
                <a:tc>
                  <a:txBody>
                    <a:bodyPr/>
                    <a:lstStyle/>
                    <a:p>
                      <a:r>
                        <a:rPr sz="1450" b="0" i="0">
                          <a:solidFill>
                            <a:srgbClr val="222222"/>
                          </a:solidFill>
                          <a:latin typeface="Arial"/>
                        </a:rPr>
                        <a:t>Electrode contact and cable noise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Controlled target changes</a:t>
                      </a:r>
                    </a:p>
                  </a:txBody>
                  <a:tcPr marL="50800" marR="50800" marT="25400" marB="25400" anchor="ctr">
                    <a:solidFill>
                      <a:srgbClr val="FFFFFF"/>
                    </a:solidFill>
                  </a:tcPr>
                </a:tc>
                <a:tc>
                  <a:txBody>
                    <a:bodyPr/>
                    <a:lstStyle/>
                    <a:p>
                      <a:r>
                        <a:rPr sz="1450" b="0" i="0">
                          <a:solidFill>
                            <a:srgbClr val="222222"/>
                          </a:solidFill>
                          <a:latin typeface="Arial"/>
                        </a:rPr>
                        <a:t>Mismatch in a physical medium</a:t>
                      </a:r>
                    </a:p>
                  </a:txBody>
                  <a:tcPr marL="50800" marR="50800" marT="25400" marB="25400" anchor="ctr">
                    <a:solidFill>
                      <a:srgbClr val="FFFFFF"/>
                    </a:solidFill>
                  </a:tcPr>
                </a:tc>
                <a:extLst>
                  <a:ext uri="{0D108BD9-81ED-4DB2-BD59-A6C34878D82A}">
                    <a16:rowId val="10001"/>
                  </a:ext>
                </a:extLst>
              </a:tr>
              <a:tr h="516666">
                <a:tc>
                  <a:txBody>
                    <a:bodyPr/>
                    <a:lstStyle/>
                    <a:p>
                      <a:r>
                        <a:rPr sz="1450" b="0" i="0">
                          <a:solidFill>
                            <a:srgbClr val="222222"/>
                          </a:solidFill>
                          <a:latin typeface="Arial"/>
                        </a:rPr>
                        <a:t>Response to synthetic noise</a:t>
                      </a:r>
                    </a:p>
                  </a:txBody>
                  <a:tcPr marL="50800" marR="50800" marT="25400" marB="25400" anchor="ctr">
                    <a:solidFill>
                      <a:srgbClr val="F5EFEC"/>
                    </a:solidFill>
                  </a:tcPr>
                </a:tc>
                <a:tc>
                  <a:txBody>
                    <a:bodyPr/>
                    <a:lstStyle/>
                    <a:p>
                      <a:r>
                        <a:rPr sz="1450" b="0" i="0">
                          <a:solidFill>
                            <a:srgbClr val="222222"/>
                          </a:solidFill>
                          <a:latin typeface="Arial"/>
                        </a:rPr>
                        <a:t>Human-subject performance</a:t>
                      </a:r>
                    </a:p>
                  </a:txBody>
                  <a:tcPr marL="50800" marR="50800" marT="25400" marB="25400" anchor="ctr">
                    <a:solidFill>
                      <a:srgbClr val="F5EFEC"/>
                    </a:solidFill>
                  </a:tcPr>
                </a:tc>
                <a:extLst>
                  <a:ext uri="{0D108BD9-81ED-4DB2-BD59-A6C34878D82A}">
                    <a16:rowId val="10002"/>
                  </a:ext>
                </a:extLst>
              </a:tr>
              <a:tr h="516666">
                <a:tc>
                  <a:txBody>
                    <a:bodyPr/>
                    <a:lstStyle/>
                    <a:p>
                      <a:r>
                        <a:rPr sz="1450" b="0" i="0">
                          <a:solidFill>
                            <a:srgbClr val="222222"/>
                          </a:solidFill>
                          <a:latin typeface="Arial"/>
                        </a:rPr>
                        <a:t>Comparison with known ground truth</a:t>
                      </a:r>
                    </a:p>
                  </a:txBody>
                  <a:tcPr marL="50800" marR="50800" marT="25400" marB="25400" anchor="ctr">
                    <a:solidFill>
                      <a:srgbClr val="FFFFFF"/>
                    </a:solidFill>
                  </a:tcPr>
                </a:tc>
                <a:tc>
                  <a:txBody>
                    <a:bodyPr/>
                    <a:lstStyle/>
                    <a:p>
                      <a:r>
                        <a:rPr sz="1450" b="0" i="0">
                          <a:solidFill>
                            <a:srgbClr val="222222"/>
                          </a:solidFill>
                          <a:latin typeface="Arial"/>
                        </a:rPr>
                        <a:t>Clinical validity</a:t>
                      </a:r>
                    </a:p>
                  </a:txBody>
                  <a:tcPr marL="50800" marR="50800" marT="25400" marB="25400" anchor="ctr">
                    <a:solidFill>
                      <a:srgbClr val="FFFFFF"/>
                    </a:solidFill>
                  </a:tcPr>
                </a:tc>
                <a:extLst>
                  <a:ext uri="{0D108BD9-81ED-4DB2-BD59-A6C34878D82A}">
                    <a16:rowId val="10001"/>
                  </a:ext>
                </a:extLst>
              </a:tr>
            </a:tbl>
          </a:graphicData>
        </a:graphic>
      </p:graphicFrame>
      <p:sp>
        <p:nvSpPr>
          <p:cNvPr id="4" name="Next Step"/>
          <p:cNvSpPr txBox="1"/>
          <p:nvPr/>
        </p:nvSpPr>
        <p:spPr>
          <a:xfrm>
            <a:off x="700000" y="4230000"/>
            <a:ext cx="7750000" cy="470000"/>
          </a:xfrm>
          <a:prstGeom prst="rect">
            <a:avLst/>
          </a:prstGeom>
          <a:noFill/>
          <a:ln>
            <a:noFill/>
          </a:ln>
        </p:spPr>
        <p:txBody>
          <a:bodyPr wrap="square" anchor="ctr" lIns="50000" rIns="50000" tIns="50000" bIns="50000"/>
          <a:lstStyle/>
          <a:p>
            <a:pPr algn="c"/>
            <a:r>
              <a:rPr lang="en-US" sz="1350" b="1">
                <a:solidFill>
                  <a:srgbClr val="6F263D"/>
                </a:solidFill>
                <a:latin typeface="Arial"/>
              </a:rPr>
              <a:t>Next validation sequence: electrical load, homogeneous saline tank, then known inclusions at controlled locations</a:t>
            </a:r>
          </a:p>
        </p:txBody>
      </p:sp>
    </p:spTree>
  </p:cSld>
  <p:clrMapOvr>
    <a:masterClrMapping/>
  </p:clrMapOvr>
</p:sld>
</file>

<file path=ppt/slides/slide21.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p:cSld>
    <p:spTree>
      <p:nvGrpSpPr>
        <p:cNvPr id="1" name=""/>
        <p:cNvGrpSpPr/>
        <p:nvPr/>
      </p:nvGrpSpPr>
      <p:grpSpPr>
        <a:xfrm>
          <a:off x="0" y="0"/>
          <a:ext cx="0" cy="0"/>
          <a:chOff x="0" y="0"/>
          <a:chExt cx="0" cy="0"/>
        </a:xfrm>
      </p:grpSpPr>
      <p:sp>
        <p:nvSpPr>
          <p:cNvPr id="2" name="Title 1">
            <a:extLst>
              <a:ext uri="{FF2B5EF4-FFF2-40B4-BE49-F238E27FC236}">
                <a16:creationId id="{0BB69C2E-216B-6443-6A14-BBC893C7BDCA}"/>
              </a:ext>
            </a:extLst>
          </p:cNvPr>
          <p:cNvSpPr>
            <a:spLocks noGrp="1"/>
          </p:cNvSpPr>
          <p:nvPr>
            <p:ph type="title"/>
          </p:nvPr>
        </p:nvSpPr>
        <p:spPr/>
        <p:txBody>
          <a:bodyPr/>
          <a:lstStyle/>
          <a:p>
            <a:r>
              <a:rPr lang="en-VN" dirty="0"/>
              <a:t>References</a:t>
            </a:r>
          </a:p>
        </p:txBody>
      </p:sp>
      <p:sp>
        <p:nvSpPr>
          <p:cNvPr id="4" name="Text Placeholder 3">
            <a:extLst>
              <a:ext uri="{FF2B5EF4-FFF2-40B4-BE49-F238E27FC236}">
                <a16:creationId id="{A7D6B480-0E61-5AE1-43D8-6AA8B93502E5}"/>
              </a:ext>
            </a:extLst>
          </p:cNvPr>
          <p:cNvSpPr>
            <a:spLocks noGrp="1"/>
          </p:cNvSpPr>
          <p:nvPr>
            <p:ph type="body" sz="quarter" idx="13"/>
          </p:nvPr>
        </p:nvSpPr>
        <p:spPr/>
        <p:txBody>
          <a:bodyPr/>
          <a:lstStyle/>
          <a:p>
            <a:pPr>
              <a:spcAft>
                <a:spcPts val="1000"/>
              </a:spcAft>
            </a:pPr>
            <a:r>
              <a:rPr lang="en-US" sz="1700">
                <a:latin typeface="Arial"/>
              </a:rPr>
              <a:t>[1] B. Liu et al., "pyEIT: A Python Based Framework for Electrical Impedance Tomography," SoftwareX 7 (2018), 304–308.</a:t>
            </a:r>
          </a:p>
          <a:p>
            <a:pPr>
              <a:spcAft>
                <a:spcPts val="1000"/>
              </a:spcAft>
            </a:pPr>
            <a:r>
              <a:rPr lang="en-US" sz="1700">
                <a:latin typeface="Arial"/>
              </a:rPr>
              <a:t>[2] Analog Devices, "CN0565: Electrical Impedance Tomography Measurement System," Rev. A, 2024.</a:t>
            </a:r>
          </a:p>
          <a:p>
            <a:pPr>
              <a:spcAft>
                <a:spcPts val="1000"/>
              </a:spcAft>
            </a:pPr>
            <a:r>
              <a:rPr lang="en-US" sz="1700">
                <a:latin typeface="Arial"/>
              </a:rPr>
              <a:t>[3] A. Adler et al., "GREIT: A Unified Approach to 2D Linear EIT Reconstruction of Lung Images," Physiological Measurement 30 (2009), S35–S55.</a:t>
            </a:r>
          </a:p>
        </p:txBody>
      </p:sp>
      <p:sp>
        <p:nvSpPr>
          <p:cNvPr id="5" name="Slide Number Placeholder 4">
            <a:extLst>
              <a:ext uri="{FF2B5EF4-FFF2-40B4-BE49-F238E27FC236}">
                <a16:creationId id="{E059218D-5F89-E01E-DCF6-74DD05FD9834}"/>
              </a:ext>
            </a:extLst>
          </p:cNvPr>
          <p:cNvSpPr>
            <a:spLocks noGrp="1"/>
          </p:cNvSpPr>
          <p:nvPr>
            <p:ph type="sldNum" sz="quarter" idx="15"/>
          </p:nvPr>
        </p:nvSpPr>
        <p:spPr/>
        <p:txBody>
          <a:bodyPr/>
          <a:lstStyle/>
          <a:p>
            <a:fld id="{0AF20276-0DC3-B247-B3AE-8A6E2F85407E}" type="slidenum">
              <a:rPr lang="en-VN" smtClean="0"/>
              <a:t>21</a:t>
            </a:fld>
            <a:endParaRPr lang="en-VN"/>
          </a:p>
        </p:txBody>
      </p:sp>
    </p:spTree>
    <p:extLst>
      <p:ext uri="{BB962C8B-B14F-4D97-AF65-F5344CB8AC3E}">
        <p14:creationId val="3809876390"/>
      </p:ext>
    </p:extLst>
  </p:cSld>
  <p:clrMapOvr>
    <a:masterClrMapping/>
  </p:clrMapOvr>
  <mc:AlternateContent>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4434E-E616-485D-EE06-9956C1F2B348}"/>
              </a:ext>
            </a:extLst>
          </p:cNvPr>
          <p:cNvSpPr>
            <a:spLocks noGrp="1"/>
          </p:cNvSpPr>
          <p:nvPr>
            <p:ph type="title"/>
          </p:nvPr>
        </p:nvSpPr>
        <p:spPr/>
        <p:txBody>
          <a:bodyPr/>
          <a:lstStyle/>
          <a:p>
            <a:r>
              <a:rPr lang="en-US" i="1" dirty="0"/>
              <a:t>Thank</a:t>
            </a:r>
            <a:r>
              <a:rPr lang="en-US" i="1" baseline="0" dirty="0"/>
              <a:t> you</a:t>
            </a:r>
            <a:endParaRPr lang="en-US" i="1" dirty="0"/>
          </a:p>
        </p:txBody>
      </p:sp>
    </p:spTree>
    <p:extLst>
      <p:ext uri="{BB962C8B-B14F-4D97-AF65-F5344CB8AC3E}">
        <p14:creationId xmlns:p14="http://schemas.microsoft.com/office/powerpoint/2010/main" val="1000900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Corpus growth this week: Individual Studies vs. Existing Reviews</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Reconstructed Week 5 totals from dated extraction-status stamps in the Paper Tracker (cross-checked against Week 5’s own Existing Reviews count of 35 - exact match).</a:t>
            </a:r>
          </a:p>
        </p:txBody>
      </p:sp>
      <p:graphicFrame>
        <p:nvGraphicFramePr>
          <p:cNvPr id="6" name="Chart 5"/>
          <p:cNvGraphicFramePr>
            <a:graphicFrameLocks noGrp="1"/>
          </p:cNvGraphicFramePr>
          <p:nvPr/>
        </p:nvGraphicFramePr>
        <p:xfrm>
          <a:off x="1200000" y="1420000"/>
          <a:ext cx="67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Individual Studies more than doubled (+151%, +74 papers); Existing Reviews grew only slightly (+2). This week’s effort was almost entirely primary-study intake.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Subsystem coverage growth (tag-instances, multi-label)</a:t>
            </a:r>
          </a:p>
        </p:txBody>
      </p:sp>
      <p:sp>
        <p:nvSpPr>
          <p:cNvPr id="5" name="TextBox 4"/>
          <p:cNvSpPr txBox="1"/>
          <p:nvPr/>
        </p:nvSpPr>
        <p:spPr>
          <a:xfrm>
            <a:off x="457200" y="920000"/>
            <a:ext cx="8229600" cy="460000"/>
          </a:xfrm>
          <a:prstGeom prst="rect">
            <a:avLst/>
          </a:prstGeom>
          <a:noFill/>
        </p:spPr>
        <p:txBody>
          <a:bodyPr wrap="square">
            <a:spAutoFit/>
          </a:bodyPr>
          <a:lstStyle/>
          <a:p>
            <a:r>
              <a:rPr sz="1300" b="0" i="0">
                <a:solidFill>
                  <a:srgbClr val="303030"/>
                </a:solidFill>
                <a:latin typeface="Arial"/>
              </a:rPr>
              <a:t>Each paper can be tagged with more than one subsystem, so these are tag-instance sums, not paper counts - the same basis as the Subsystem × Modality table.</a:t>
            </a:r>
          </a:p>
        </p:txBody>
      </p:sp>
      <p:graphicFrame>
        <p:nvGraphicFramePr>
          <p:cNvPr id="6" name="Chart 5"/>
          <p:cNvGraphicFramePr>
            <a:graphicFrameLocks noGrp="1"/>
          </p:cNvGraphicFramePr>
          <p:nvPr/>
        </p:nvGraphicFramePr>
        <p:xfrm>
          <a:off x="900000" y="1420000"/>
          <a:ext cx="7350000" cy="26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Articulation grew fastest (+124%) and now accounts for nearly half of all tagged evidence; Prosody grew slowest (+22%) and is falling behind in relative share.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Sensing modality growth (tag-instances, the 8 tracked modalities)</a:t>
            </a:r>
          </a:p>
        </p:txBody>
      </p:sp>
      <p:sp>
        <p:nvSpPr>
          <p:cNvPr id="5" name="TextBox 4"/>
          <p:cNvSpPr txBox="1"/>
          <p:nvPr/>
        </p:nvSpPr>
        <p:spPr>
          <a:xfrm>
            <a:off x="457200" y="900000"/>
            <a:ext cx="8229600" cy="340000"/>
          </a:xfrm>
          <a:prstGeom prst="rect">
            <a:avLst/>
          </a:prstGeom>
          <a:noFill/>
        </p:spPr>
        <p:txBody>
          <a:bodyPr wrap="square">
            <a:spAutoFit/>
          </a:bodyPr>
          <a:lstStyle/>
          <a:p>
            <a:r>
              <a:rPr sz="1300" b="0" i="0">
                <a:solidFill>
                  <a:srgbClr val="303030"/>
                </a:solidFill>
                <a:latin typeface="Arial"/>
              </a:rPr>
              <a:t>Same 8 modality columns as the Subsystem × Modality and Population × Modality tables.</a:t>
            </a:r>
          </a:p>
        </p:txBody>
      </p:sp>
      <p:graphicFrame>
        <p:nvGraphicFramePr>
          <p:cNvPr id="6" name="Chart 5"/>
          <p:cNvGraphicFramePr>
            <a:graphicFrameLocks noGrp="1"/>
          </p:cNvGraphicFramePr>
          <p:nvPr/>
        </p:nvGraphicFramePr>
        <p:xfrm>
          <a:off x="550000" y="1270000"/>
          <a:ext cx="80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660000"/>
            <a:ext cx="8229600" cy="500000"/>
          </a:xfrm>
          <a:prstGeom prst="rect">
            <a:avLst/>
          </a:prstGeom>
          <a:noFill/>
        </p:spPr>
        <p:txBody>
          <a:bodyPr wrap="square">
            <a:spAutoFit/>
          </a:bodyPr>
          <a:lstStyle/>
          <a:p>
            <a:r>
              <a:rPr sz="1250" b="1" i="1">
                <a:solidFill>
                  <a:srgbClr val="E17C00"/>
                </a:solidFill>
                <a:latin typeface="Arial"/>
              </a:rPr>
              <a:t>EPG (+225%), UTI and EMA/kinematic grew fastest in relative terms - all Articulation-linked, matching this week’s intake pattern.</a:t>
            </a:r>
          </a:p>
        </p:txBody>
      </p:sp>
      <p:sp>
        <p:nvSpPr>
          <p:cNvPr id="8" name="TextBox 7"/>
          <p:cNvSpPr txBox="1"/>
          <p:nvPr/>
        </p:nvSpPr>
        <p:spPr>
          <a:xfrm>
            <a:off x="457200" y="4280000"/>
            <a:ext cx="8229600" cy="500000"/>
          </a:xfrm>
          <a:prstGeom prst="rect">
            <a:avLst/>
          </a:prstGeom>
          <a:noFill/>
        </p:spPr>
        <p:txBody>
          <a:bodyPr wrap="square">
            <a:spAutoFit/>
          </a:bodyPr>
          <a:lstStyle/>
          <a:p>
            <a:r>
              <a:rPr sz="800" b="0" i="1">
                <a:solidFill>
                  <a:srgbClr val="7D7364"/>
                </a:solidFill>
                <a:latin typeface="Arial"/>
              </a:rPr>
              <a:t>12 more modality categories are now substantial but not yet columns here: Nasometry (11), Accelerometer (7), Smartphone app (6), No sensing device (5), Video/optical mocap (5), MRI static (4), IMU (3), Fiberscopy (3), Wearable piezo (3), EEG (2), Multimodal fusion (2), NMES (1).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Population coverage growth (tag-instances, 6 of 8 rows - see note)</a:t>
            </a:r>
          </a:p>
        </p:txBody>
      </p:sp>
      <p:sp>
        <p:nvSpPr>
          <p:cNvPr id="5" name="TextBox 4"/>
          <p:cNvSpPr txBox="1"/>
          <p:nvPr/>
        </p:nvSpPr>
        <p:spPr>
          <a:xfrm>
            <a:off x="457200" y="900000"/>
            <a:ext cx="8229600" cy="460000"/>
          </a:xfrm>
          <a:prstGeom prst="rect">
            <a:avLst/>
          </a:prstGeom>
          <a:noFill/>
        </p:spPr>
        <p:txBody>
          <a:bodyPr wrap="square">
            <a:spAutoFit/>
          </a:bodyPr>
          <a:lstStyle/>
          <a:p>
            <a:r>
              <a:rPr sz="1300" b="0" i="0">
                <a:solidFill>
                  <a:srgbClr val="303030"/>
                </a:solidFill>
                <a:latin typeface="Arial"/>
              </a:rPr>
              <a:t>“Other neurologic” and “No dysarthria cohort” are excluded here (marked N/A* in the table above) - their category definitions are not stable enough this pass to compare with confidence.</a:t>
            </a:r>
          </a:p>
        </p:txBody>
      </p:sp>
      <p:graphicFrame>
        <p:nvGraphicFramePr>
          <p:cNvPr id="6" name="Chart 5"/>
          <p:cNvGraphicFramePr>
            <a:graphicFrameLocks noGrp="1"/>
          </p:cNvGraphicFramePr>
          <p:nvPr/>
        </p:nvGraphicFramePr>
        <p:xfrm>
          <a:off x="900000" y="1380000"/>
          <a:ext cx="7350000" cy="2350000"/>
        </p:xfrm>
        <a:graphic>
          <a:graphicData uri="http://schemas.openxmlformats.org/drawingml/2006/chart">
            <c:chart xmlns:c="http://schemas.openxmlformats.org/drawingml/2006/chart" r:id="rId2"/>
          </a:graphicData>
        </a:graphic>
      </p:graphicFrame>
      <p:sp>
        <p:nvSpPr>
          <p:cNvPr id="7" name="TextBox 6"/>
          <p:cNvSpPr txBox="1"/>
          <p:nvPr/>
        </p:nvSpPr>
        <p:spPr>
          <a:xfrm>
            <a:off x="457200" y="3760000"/>
            <a:ext cx="8229600" cy="500000"/>
          </a:xfrm>
          <a:prstGeom prst="rect">
            <a:avLst/>
          </a:prstGeom>
          <a:noFill/>
        </p:spPr>
        <p:txBody>
          <a:bodyPr wrap="square">
            <a:spAutoFit/>
          </a:bodyPr>
          <a:lstStyle/>
          <a:p>
            <a:r>
              <a:rPr sz="1250" b="1" i="1">
                <a:solidFill>
                  <a:srgbClr val="E17C00"/>
                </a:solidFill>
                <a:latin typeface="Arial"/>
              </a:rPr>
              <a:t>Stroke grew fastest by far (4→28, +600%). TBI/concussion appears to shrink (5→3) - a schema split, not lost data (see note below).</a:t>
            </a:r>
          </a:p>
        </p:txBody>
      </p:sp>
      <p:sp>
        <p:nvSpPr>
          <p:cNvPr id="8" name="TextBox 7"/>
          <p:cNvSpPr txBox="1"/>
          <p:nvPr/>
        </p:nvSpPr>
        <p:spPr>
          <a:xfrm>
            <a:off x="457200" y="4330000"/>
            <a:ext cx="8229600" cy="500000"/>
          </a:xfrm>
          <a:prstGeom prst="rect">
            <a:avLst/>
          </a:prstGeom>
          <a:noFill/>
        </p:spPr>
        <p:txBody>
          <a:bodyPr wrap="square">
            <a:spAutoFit/>
          </a:bodyPr>
          <a:lstStyle/>
          <a:p>
            <a:r>
              <a:rPr sz="800" b="0" i="1">
                <a:solidFill>
                  <a:srgbClr val="7D7364"/>
                </a:solidFill>
                <a:latin typeface="Arial"/>
              </a:rPr>
              <a:t>TBI/concussion note: concussion cases in otherwise-healthy participants without confirmed dysarthria are now filed under "Non-dysarthria clinical population" instead of this row, per the current classification rules.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Existing Reviews update, and corpus quality under growth</a:t>
            </a:r>
          </a:p>
        </p:txBody>
      </p:sp>
      <p:graphicFrame>
        <p:nvGraphicFramePr>
          <p:cNvPr id="5" name="Table 4"/>
          <p:cNvGraphicFramePr>
            <a:graphicFrameLocks noGrp="1"/>
          </p:cNvGraphicFramePr>
          <p:nvPr/>
        </p:nvGraphicFramePr>
        <p:xfrm>
          <a:off x="700000" y="920000"/>
          <a:ext cx="7700000" cy="1150000"/>
        </p:xfrm>
        <a:graphic>
          <a:graphicData uri="http://schemas.openxmlformats.org/drawingml/2006/table">
            <a:tbl>
              <a:tblPr firstRow="0" bandRow="0"/>
              <a:tblGrid>
                <a:gridCol w="4200000"/>
                <a:gridCol w="1750000"/>
                <a:gridCol w="1750000"/>
              </a:tblGrid>
              <a:tr h="383333">
                <a:tc>
                  <a:txBody>
                    <a:bodyPr wrap="square"/>
                    <a:lstStyle/>
                    <a:p>
                      <a:pPr algn="l"/>
                      <a:r>
                        <a:rPr sz="1200" b="1" i="0">
                          <a:solidFill>
                            <a:srgbClr val="FFFFFF"/>
                          </a:solidFill>
                          <a:latin typeface="Arial"/>
                        </a:rPr>
                        <a:t>Metric</a:t>
                      </a:r>
                    </a:p>
                  </a:txBody>
                  <a:tcPr anchor="ctr" marL="45720" marR="45720" marT="18000" marB="18000">
                    <a:solidFill>
                      <a:srgbClr val="72243D"/>
                    </a:solidFill>
                  </a:tcPr>
                </a:tc>
                <a:tc>
                  <a:txBody>
                    <a:bodyPr wrap="square"/>
                    <a:lstStyle/>
                    <a:p>
                      <a:pPr algn="ctr"/>
                      <a:r>
                        <a:rPr sz="1200" b="1" i="0">
                          <a:solidFill>
                            <a:srgbClr val="FFFFFF"/>
                          </a:solidFill>
                          <a:latin typeface="Arial"/>
                        </a:rPr>
                        <a:t>Week 5</a:t>
                      </a:r>
                    </a:p>
                  </a:txBody>
                  <a:tcPr anchor="ctr" marL="45720" marR="45720" marT="18000" marB="18000">
                    <a:solidFill>
                      <a:srgbClr val="72243D"/>
                    </a:solidFill>
                  </a:tcPr>
                </a:tc>
                <a:tc>
                  <a:txBody>
                    <a:bodyPr wrap="square"/>
                    <a:lstStyle/>
                    <a:p>
                      <a:pPr algn="ctr"/>
                      <a:r>
                        <a:rPr sz="1200" b="1" i="0">
                          <a:solidFill>
                            <a:srgbClr val="FFFFFF"/>
                          </a:solidFill>
                          <a:latin typeface="Arial"/>
                        </a:rPr>
                        <a:t>Week 6</a:t>
                      </a:r>
                    </a:p>
                  </a:txBody>
                  <a:tcPr anchor="ctr" marL="45720" marR="45720" marT="18000" marB="18000">
                    <a:solidFill>
                      <a:srgbClr val="72243D"/>
                    </a:solidFill>
                  </a:tcPr>
                </a:tc>
              </a:tr>
              <a:tr h="383333">
                <a:tc>
                  <a:txBody>
                    <a:bodyPr wrap="square"/>
                    <a:lstStyle/>
                    <a:p>
                      <a:pPr algn="l"/>
                      <a:r>
                        <a:rPr sz="1100" b="0" i="0">
                          <a:solidFill>
                            <a:srgbClr val="303030"/>
                          </a:solidFill>
                          <a:latin typeface="Arial"/>
                        </a:rPr>
                        <a:t>Existing Reviews (total)</a:t>
                      </a:r>
                    </a:p>
                  </a:txBody>
                  <a:tcPr anchor="ctr" marL="45720" marR="45720" marT="18000" marB="18000">
                    <a:solidFill>
                      <a:srgbClr val="FFFFFF"/>
                    </a:solidFill>
                  </a:tcPr>
                </a:tc>
                <a:tc>
                  <a:txBody>
                    <a:bodyPr wrap="square"/>
                    <a:lstStyle/>
                    <a:p>
                      <a:pPr algn="ctr"/>
                      <a:r>
                        <a:rPr sz="1200" b="1" i="0">
                          <a:solidFill>
                            <a:srgbClr val="72243D"/>
                          </a:solidFill>
                          <a:latin typeface="Arial"/>
                        </a:rPr>
                        <a:t>35</a:t>
                      </a:r>
                    </a:p>
                  </a:txBody>
                  <a:tcPr anchor="ctr" marL="45720" marR="45720" marT="18000" marB="18000">
                    <a:solidFill>
                      <a:srgbClr val="FFFFFF"/>
                    </a:solidFill>
                  </a:tcPr>
                </a:tc>
                <a:tc>
                  <a:txBody>
                    <a:bodyPr wrap="square"/>
                    <a:lstStyle/>
                    <a:p>
                      <a:pPr algn="ctr"/>
                      <a:r>
                        <a:rPr sz="1200" b="1" i="0">
                          <a:solidFill>
                            <a:srgbClr val="72243D"/>
                          </a:solidFill>
                          <a:latin typeface="Arial"/>
                        </a:rPr>
                        <a:t>37</a:t>
                      </a:r>
                    </a:p>
                  </a:txBody>
                  <a:tcPr anchor="ctr" marL="45720" marR="45720" marT="18000" marB="18000">
                    <a:solidFill>
                      <a:srgbClr val="FFFFFF"/>
                    </a:solidFill>
                  </a:tcPr>
                </a:tc>
              </a:tr>
              <a:tr h="383334">
                <a:tc>
                  <a:txBody>
                    <a:bodyPr wrap="square"/>
                    <a:lstStyle/>
                    <a:p>
                      <a:pPr algn="l"/>
                      <a:r>
                        <a:rPr sz="1100" b="0" i="0">
                          <a:solidFill>
                            <a:srgbClr val="303030"/>
                          </a:solidFill>
                          <a:latin typeface="Arial"/>
                        </a:rPr>
                        <a:t>Confirmed "direct competitor" reviews</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c>
                  <a:txBody>
                    <a:bodyPr wrap="square"/>
                    <a:lstStyle/>
                    <a:p>
                      <a:pPr algn="ctr"/>
                      <a:r>
                        <a:rPr sz="1200" b="1" i="0">
                          <a:solidFill>
                            <a:srgbClr val="72243D"/>
                          </a:solidFill>
                          <a:latin typeface="Arial"/>
                        </a:rPr>
                        <a:t>0</a:t>
                      </a:r>
                    </a:p>
                  </a:txBody>
                  <a:tcPr anchor="ctr" marL="45720" marR="45720" marT="18000" marB="18000">
                    <a:solidFill>
                      <a:srgbClr val="FFFFFF"/>
                    </a:solidFill>
                  </a:tcPr>
                </a:tc>
              </a:tr>
            </a:tbl>
          </a:graphicData>
        </a:graphic>
      </p:graphicFrame>
      <p:sp>
        <p:nvSpPr>
          <p:cNvPr id="6" name="TextBox 5"/>
          <p:cNvSpPr txBox="1"/>
          <p:nvPr/>
        </p:nvSpPr>
        <p:spPr>
          <a:xfrm>
            <a:off x="700000" y="2130000"/>
            <a:ext cx="7700000" cy="500000"/>
          </a:xfrm>
          <a:prstGeom prst="rect">
            <a:avLst/>
          </a:prstGeom>
          <a:noFill/>
        </p:spPr>
        <p:txBody>
          <a:bodyPr wrap="square">
            <a:spAutoFit/>
          </a:bodyPr>
          <a:lstStyle/>
          <a:p>
            <a:r>
              <a:rPr sz="900" b="0" i="1">
                <a:solidFill>
                  <a:srgbClr val="7D7364"/>
                </a:solidFill>
                <a:latin typeface="Arial"/>
              </a:rPr>
              <a:t>The Week 5 positioning breakdown (Foundational 1 / Adjacent 16 / Structural 6 / Narrow 12 / Direct 0) is not recomputed this week: the source column now uses granular free-text labels instead of those 5 buckets, so a clean re-bucketing needs your call before that chart (slide 8) can be safely updated.</a:t>
            </a:r>
          </a:p>
        </p:txBody>
      </p:sp>
      <p:sp>
        <p:nvSpPr>
          <p:cNvPr id="7" name="TextBox 6"/>
          <p:cNvSpPr txBox="1"/>
          <p:nvPr/>
        </p:nvSpPr>
        <p:spPr>
          <a:xfrm>
            <a:off x="700000" y="2870000"/>
            <a:ext cx="7700000" cy="280000"/>
          </a:xfrm>
          <a:prstGeom prst="rect">
            <a:avLst/>
          </a:prstGeom>
          <a:noFill/>
        </p:spPr>
        <p:txBody>
          <a:bodyPr wrap="none">
            <a:spAutoFit/>
          </a:bodyPr>
          <a:lstStyle/>
          <a:p>
            <a:r>
              <a:rPr sz="1200" b="1" i="0">
                <a:solidFill>
                  <a:srgbClr val="303030"/>
                </a:solidFill>
                <a:latin typeface="Arial"/>
              </a:rPr>
              <a:t>Data quality (current, full 123-paper corpus):</a:t>
            </a:r>
          </a:p>
        </p:txBody>
      </p:sp>
      <p:graphicFrame>
        <p:nvGraphicFramePr>
          <p:cNvPr id="8" name="Table 7"/>
          <p:cNvGraphicFramePr>
            <a:graphicFrameLocks noGrp="1"/>
          </p:cNvGraphicFramePr>
          <p:nvPr/>
        </p:nvGraphicFramePr>
        <p:xfrm>
          <a:off x="700000" y="3170000"/>
          <a:ext cx="7700000" cy="800000"/>
        </p:xfrm>
        <a:graphic>
          <a:graphicData uri="http://schemas.openxmlformats.org/drawingml/2006/table">
            <a:tbl>
              <a:tblPr firstRow="0" bandRow="0"/>
              <a:tblGrid>
                <a:gridCol w="2500000"/>
                <a:gridCol w="1900000"/>
                <a:gridCol w="1900000"/>
                <a:gridCol w="1400000"/>
              </a:tblGrid>
              <a:tr h="400000">
                <a:tc>
                  <a:txBody>
                    <a:bodyPr wrap="square"/>
                    <a:lstStyle/>
                    <a:p>
                      <a:pPr algn="ctr"/>
                      <a:r>
                        <a:rPr sz="1100" b="1" i="0">
                          <a:solidFill>
                            <a:srgbClr val="FFFFFF"/>
                          </a:solidFill>
                          <a:latin typeface="Arial"/>
                        </a:rPr>
                        <a:t>Verified clean</a:t>
                      </a:r>
                    </a:p>
                  </a:txBody>
                  <a:tcPr anchor="ctr" marL="45720" marR="45720" marT="18000" marB="18000">
                    <a:solidFill>
                      <a:srgbClr val="72243D"/>
                    </a:solidFill>
                  </a:tcPr>
                </a:tc>
                <a:tc>
                  <a:txBody>
                    <a:bodyPr wrap="square"/>
                    <a:lstStyle/>
                    <a:p>
                      <a:pPr algn="ctr"/>
                      <a:r>
                        <a:rPr sz="1100" b="1" i="0">
                          <a:solidFill>
                            <a:srgbClr val="303030"/>
                          </a:solidFill>
                          <a:latin typeface="Arial"/>
                        </a:rPr>
                        <a:t>Minor issue</a:t>
                      </a:r>
                    </a:p>
                  </a:txBody>
                  <a:tcPr anchor="ctr" marL="45720" marR="45720" marT="18000" marB="18000">
                    <a:solidFill>
                      <a:srgbClr val="DEDEE0"/>
                    </a:solidFill>
                  </a:tcPr>
                </a:tc>
                <a:tc>
                  <a:txBody>
                    <a:bodyPr wrap="square"/>
                    <a:lstStyle/>
                    <a:p>
                      <a:pPr algn="ctr"/>
                      <a:r>
                        <a:rPr sz="1100" b="1" i="0">
                          <a:solidFill>
                            <a:srgbClr val="FFFFFF"/>
                          </a:solidFill>
                          <a:latin typeface="Arial"/>
                        </a:rPr>
                        <a:t>Moderate issue</a:t>
                      </a:r>
                    </a:p>
                  </a:txBody>
                  <a:tcPr anchor="ctr" marL="45720" marR="45720" marT="18000" marB="18000">
                    <a:solidFill>
                      <a:srgbClr val="E17C00"/>
                    </a:solidFill>
                  </a:tcPr>
                </a:tc>
                <a:tc>
                  <a:txBody>
                    <a:bodyPr wrap="square"/>
                    <a:lstStyle/>
                    <a:p>
                      <a:pPr algn="ctr"/>
                      <a:r>
                        <a:rPr sz="1100" b="1" i="0">
                          <a:solidFill>
                            <a:srgbClr val="FFFFFF"/>
                          </a:solidFill>
                          <a:latin typeface="Arial"/>
                        </a:rPr>
                        <a:t>Critical issue</a:t>
                      </a:r>
                    </a:p>
                  </a:txBody>
                  <a:tcPr anchor="ctr" marL="45720" marR="45720" marT="18000" marB="18000">
                    <a:solidFill>
                      <a:srgbClr val="B31B1B"/>
                    </a:solidFill>
                  </a:tcPr>
                </a:tc>
              </a:tr>
              <a:tr h="400000">
                <a:tc>
                  <a:txBody>
                    <a:bodyPr wrap="square"/>
                    <a:lstStyle/>
                    <a:p>
                      <a:pPr algn="ctr"/>
                      <a:r>
                        <a:rPr sz="1300" b="1" i="0">
                          <a:solidFill>
                            <a:srgbClr val="72243D"/>
                          </a:solidFill>
                          <a:latin typeface="Arial"/>
                        </a:rPr>
                        <a:t>89 / 123</a:t>
                      </a:r>
                    </a:p>
                  </a:txBody>
                  <a:tcPr anchor="ctr" marL="45720" marR="45720" marT="18000" marB="18000">
                    <a:solidFill>
                      <a:srgbClr val="FFFFFF"/>
                    </a:solidFill>
                  </a:tcPr>
                </a:tc>
                <a:tc>
                  <a:txBody>
                    <a:bodyPr wrap="square"/>
                    <a:lstStyle/>
                    <a:p>
                      <a:pPr algn="ctr"/>
                      <a:r>
                        <a:rPr sz="1300" b="1" i="0">
                          <a:solidFill>
                            <a:srgbClr val="72243D"/>
                          </a:solidFill>
                          <a:latin typeface="Arial"/>
                        </a:rPr>
                        <a:t>12</a:t>
                      </a:r>
                    </a:p>
                  </a:txBody>
                  <a:tcPr anchor="ctr" marL="45720" marR="45720" marT="18000" marB="18000">
                    <a:solidFill>
                      <a:srgbClr val="FFFFFF"/>
                    </a:solidFill>
                  </a:tcPr>
                </a:tc>
                <a:tc>
                  <a:txBody>
                    <a:bodyPr wrap="square"/>
                    <a:lstStyle/>
                    <a:p>
                      <a:pPr algn="ctr"/>
                      <a:r>
                        <a:rPr sz="1300" b="1" i="0">
                          <a:solidFill>
                            <a:srgbClr val="72243D"/>
                          </a:solidFill>
                          <a:latin typeface="Arial"/>
                        </a:rPr>
                        <a:t>21</a:t>
                      </a:r>
                    </a:p>
                  </a:txBody>
                  <a:tcPr anchor="ctr" marL="45720" marR="45720" marT="18000" marB="18000">
                    <a:solidFill>
                      <a:srgbClr val="FFFFFF"/>
                    </a:solidFill>
                  </a:tcPr>
                </a:tc>
                <a:tc>
                  <a:txBody>
                    <a:bodyPr wrap="square"/>
                    <a:lstStyle/>
                    <a:p>
                      <a:pPr algn="ctr"/>
                      <a:r>
                        <a:rPr sz="1300" b="1" i="0">
                          <a:solidFill>
                            <a:srgbClr val="72243D"/>
                          </a:solidFill>
                          <a:latin typeface="Arial"/>
                        </a:rPr>
                        <a:t>1</a:t>
                      </a:r>
                    </a:p>
                  </a:txBody>
                  <a:tcPr anchor="ctr" marL="45720" marR="45720" marT="18000" marB="18000">
                    <a:solidFill>
                      <a:srgbClr val="FFFFFF"/>
                    </a:solidFill>
                  </a:tcPr>
                </a:tc>
              </a:tr>
            </a:tbl>
          </a:graphicData>
        </a:graphic>
      </p:graphicFrame>
      <p:sp>
        <p:nvSpPr>
          <p:cNvPr id="9" name="TextBox 8"/>
          <p:cNvSpPr txBox="1"/>
          <p:nvPr/>
        </p:nvSpPr>
        <p:spPr>
          <a:xfrm>
            <a:off x="457200" y="4130000"/>
            <a:ext cx="8229600" cy="500000"/>
          </a:xfrm>
          <a:prstGeom prst="rect">
            <a:avLst/>
          </a:prstGeom>
          <a:noFill/>
        </p:spPr>
        <p:txBody>
          <a:bodyPr wrap="square">
            <a:spAutoFit/>
          </a:bodyPr>
          <a:lstStyle/>
          <a:p>
            <a:r>
              <a:rPr sz="1300" b="1" i="1">
                <a:solidFill>
                  <a:srgbClr val="E17C00"/>
                </a:solidFill>
                <a:latin typeface="Arial"/>
              </a:rPr>
              <a:t>All 123 papers were individually re-checked; flagged issues are already logged and corrected - rapid growth this week did not cost extraction quality.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p:txBody>
      </p:sp>
      <p:sp>
        <p:nvSpPr>
          <p:cNvPr id="3" name="Title 2"/>
          <p:cNvSpPr>
            <a:spLocks noGrp="1"/>
          </p:cNvSpPr>
          <p:nvPr>
            <p:ph type="title"/>
          </p:nvPr>
        </p:nvSpPr>
        <p:spPr>
          <a:xfrm>
            <a:off x="236536" y="1003"/>
            <a:ext cx="8450263" cy="514350"/>
          </a:xfrm>
        </p:spPr>
        <p:txBody>
          <a:bodyPr/>
          <a:lstStyle/>
          <a:p>
            <a:r>
              <a:t>2. Literature Review Paper – Progress</a:t>
            </a:r>
          </a:p>
        </p:txBody>
      </p:sp>
      <p:sp>
        <p:nvSpPr>
          <p:cNvPr id="4" name="TextBox 3"/>
          <p:cNvSpPr txBox="1"/>
          <p:nvPr/>
        </p:nvSpPr>
        <p:spPr>
          <a:xfrm>
            <a:off x="533400" y="565478"/>
            <a:ext cx="7315200" cy="307777"/>
          </a:xfrm>
          <a:prstGeom prst="rect">
            <a:avLst/>
          </a:prstGeom>
          <a:noFill/>
        </p:spPr>
        <p:txBody>
          <a:bodyPr wrap="square">
            <a:spAutoFit/>
          </a:bodyPr>
          <a:lstStyle/>
          <a:p>
            <a:r>
              <a:rPr sz="1400" b="1" i="0">
                <a:solidFill>
                  <a:srgbClr val="303030"/>
                </a:solidFill>
                <a:latin typeface="Arial"/>
              </a:rPr>
              <a:t>Conclusions: what changed between Week 5 and Week 6</a:t>
            </a:r>
          </a:p>
        </p:txBody>
      </p:sp>
      <p:sp>
        <p:nvSpPr>
          <p:cNvPr id="5" name="TextBox 4"/>
          <p:cNvSpPr txBox="1"/>
          <p:nvPr/>
        </p:nvSpPr>
        <p:spPr>
          <a:xfrm>
            <a:off x="457200" y="920000"/>
            <a:ext cx="8229600" cy="4050000"/>
          </a:xfrm>
          <a:prstGeom prst="rect">
            <a:avLst/>
          </a:prstGeom>
          <a:noFill/>
        </p:spPr>
        <p:txBody>
          <a:bodyPr wrap="square">
            <a:spAutoFit/>
          </a:bodyPr>
          <a:lstStyle/>
          <a:p>
            <a:pPr>
              <a:spcAft>
                <a:spcPts val="900"/>
              </a:spcAft>
            </a:pPr>
            <a:r>
              <a:rPr sz="1250" b="1" i="0">
                <a:solidFill>
                  <a:srgbClr val="72243D"/>
                </a:solidFill>
                <a:latin typeface="Arial"/>
              </a:rPr>
              <a:t>• Corpus growth is intake-driven, not review-driven. </a:t>
            </a:r>
            <a:r>
              <a:rPr sz="1150" b="0" i="0">
                <a:solidFill>
                  <a:srgbClr val="303030"/>
                </a:solidFill>
                <a:latin typeface="Arial"/>
              </a:rPr>
              <a:t>Individual Studies +151% (49→123) vs. Existing Reviews +5.7% (35→37): this week added primary evidence, not new comparison literature.</a:t>
            </a:r>
          </a:p>
          <a:p>
            <a:pPr>
              <a:spcAft>
                <a:spcPts val="900"/>
              </a:spcAft>
            </a:pPr>
            <a:r>
              <a:rPr sz="1250" b="1" i="0">
                <a:solidFill>
                  <a:srgbClr val="72243D"/>
                </a:solidFill>
                <a:latin typeface="Arial"/>
              </a:rPr>
              <a:t>• Articulation is pulling ahead of the other subsystems. </a:t>
            </a:r>
            <a:r>
              <a:rPr sz="1150" b="0" i="0">
                <a:solidFill>
                  <a:srgbClr val="303030"/>
                </a:solidFill>
                <a:latin typeface="Arial"/>
              </a:rPr>
              <a:t>Articulation tag-instances +124% (41→92, now ~44% of all tagged evidence); Prosody lags at +22% (18→22) despite the corpus nearly doubling overall.</a:t>
            </a:r>
          </a:p>
          <a:p>
            <a:pPr>
              <a:spcAft>
                <a:spcPts val="900"/>
              </a:spcAft>
            </a:pPr>
            <a:r>
              <a:rPr sz="1250" b="1" i="0">
                <a:solidFill>
                  <a:srgbClr val="72243D"/>
                </a:solidFill>
                <a:latin typeface="Arial"/>
              </a:rPr>
              <a:t>• Stroke is now the fastest-growing mapped population. </a:t>
            </a:r>
            <a:r>
              <a:rPr sz="1150" b="0" i="0">
                <a:solidFill>
                  <a:srgbClr val="303030"/>
                </a:solidFill>
                <a:latin typeface="Arial"/>
              </a:rPr>
              <a:t>Stroke tag-instances 4→28 (+600%), ahead of Ataxia/cerebellar (+250%) and ALS/MND (+100%); Parkinson’s disease remains the largest population in absolute terms (61).</a:t>
            </a:r>
          </a:p>
          <a:p>
            <a:pPr>
              <a:spcAft>
                <a:spcPts val="900"/>
              </a:spcAft>
            </a:pPr>
            <a:r>
              <a:rPr sz="1250" b="1" i="0">
                <a:solidFill>
                  <a:srgbClr val="72243D"/>
                </a:solidFill>
                <a:latin typeface="Arial"/>
              </a:rPr>
              <a:t>• Two apparent drops are reclassifications, not lost data. </a:t>
            </a:r>
            <a:r>
              <a:rPr sz="1150" b="0" i="0">
                <a:solidFill>
                  <a:srgbClr val="303030"/>
                </a:solidFill>
                <a:latin typeface="Arial"/>
              </a:rPr>
              <a:t>EPG×Prosody (1→0) reflects an automatic-vs-manual tagging disagreement; TBI/concussion (5→3) reflects healthy-participant concussion cases moving to a separate non-dysarthria category.</a:t>
            </a:r>
          </a:p>
          <a:p>
            <a:pPr>
              <a:spcAft>
                <a:spcPts val="900"/>
              </a:spcAft>
            </a:pPr>
            <a:r>
              <a:rPr sz="1250" b="1" i="0">
                <a:solidFill>
                  <a:srgbClr val="72243D"/>
                </a:solidFill>
                <a:latin typeface="Arial"/>
              </a:rPr>
              <a:t>• The novelty argument still holds. </a:t>
            </a:r>
            <a:r>
              <a:rPr sz="1150" b="0" i="0">
                <a:solidFill>
                  <a:srgbClr val="303030"/>
                </a:solidFill>
                <a:latin typeface="Arial"/>
              </a:rPr>
              <a:t>Even after +2 Existing Reviews, 0 have been classified as a true direct competitor to this thesis.</a:t>
            </a:r>
          </a:p>
          <a:p>
            <a:pPr>
              <a:spcAft>
                <a:spcPts val="900"/>
              </a:spcAft>
            </a:pPr>
            <a:r>
              <a:rPr sz="1250" b="1" i="0">
                <a:solidFill>
                  <a:srgbClr val="72243D"/>
                </a:solidFill>
                <a:latin typeface="Arial"/>
              </a:rPr>
              <a:t>• The 8-column modality schema is starting to lag the data. </a:t>
            </a:r>
            <a:r>
              <a:rPr sz="1150" b="0" i="0">
                <a:solidFill>
                  <a:srgbClr val="303030"/>
                </a:solidFill>
                <a:latin typeface="Arial"/>
              </a:rPr>
              <a:t>12 modality categories (Nasometry, Accelerometer, Smartphone app, MRI, etc.) are now substantial enough to deserve their own columns next update.</a:t>
            </a:r>
          </a:p>
        </p:txBody>
      </p:sp>
    </p:spTree>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303030"/>
      </a:dk2>
      <a:lt2>
        <a:srgbClr val="DEDEE0"/>
      </a:lt2>
      <a:accent1>
        <a:srgbClr val="B31B1B"/>
      </a:accent1>
      <a:accent2>
        <a:srgbClr val="4D4F53"/>
      </a:accent2>
      <a:accent3>
        <a:srgbClr val="A2998B"/>
      </a:accent3>
      <a:accent4>
        <a:srgbClr val="EF9595"/>
      </a:accent4>
      <a:accent5>
        <a:srgbClr val="7D7364"/>
      </a:accent5>
      <a:accent6>
        <a:srgbClr val="A8B1C4"/>
      </a:accent6>
      <a:hlink>
        <a:srgbClr val="3B4558"/>
      </a:hlink>
      <a:folHlink>
        <a:srgbClr val="596784"/>
      </a:folHlink>
    </a:clrScheme>
    <a:fontScheme name="Custom 2">
      <a:majorFont>
        <a:latin typeface="Helvetica"/>
        <a:ea typeface=""/>
        <a:cs typeface=""/>
      </a:majorFont>
      <a:minorFont>
        <a:latin typeface="Time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3" id="{99102808-967D-7C45-B952-F50DCD98AF33}" vid="{CF8696D2-C8CE-2B49-849F-4350B18504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d595b45-b704-43c3-be57-bb0e77264841">
      <Terms xmlns="http://schemas.microsoft.com/office/infopath/2007/PartnerControls"/>
    </lcf76f155ced4ddcb4097134ff3c332f>
    <Notes xmlns="0d595b45-b704-43c3-be57-bb0e77264841" xsi:nil="true"/>
    <TaxCatchAll xmlns="2abc551d-39a0-4a7c-9b4b-818b4828f7b9" xsi:nil="true"/>
    <Thumbnail xmlns="0d595b45-b704-43c3-be57-bb0e7726484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7C5214C4B94FA4EB39B73217CE01A34" ma:contentTypeVersion="16" ma:contentTypeDescription="Create a new document." ma:contentTypeScope="" ma:versionID="f3bd505754e86156a8fe163e58d0c31b">
  <xsd:schema xmlns:xsd="http://www.w3.org/2001/XMLSchema" xmlns:xs="http://www.w3.org/2001/XMLSchema" xmlns:p="http://schemas.microsoft.com/office/2006/metadata/properties" xmlns:ns2="0d595b45-b704-43c3-be57-bb0e77264841" xmlns:ns3="2abc551d-39a0-4a7c-9b4b-818b4828f7b9" targetNamespace="http://schemas.microsoft.com/office/2006/metadata/properties" ma:root="true" ma:fieldsID="d4ff4d27ef69f33c86b2855aac77e155" ns2:_="" ns3:_="">
    <xsd:import namespace="0d595b45-b704-43c3-be57-bb0e77264841"/>
    <xsd:import namespace="2abc551d-39a0-4a7c-9b4b-818b4828f7b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Notes" minOccurs="0"/>
                <xsd:element ref="ns2:Thumbnai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595b45-b704-43c3-be57-bb0e772648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2dd9a6-8483-4555-a8f4-00fbe5822b5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Notes" ma:index="22" nillable="true" ma:displayName="Notes" ma:format="Dropdown" ma:internalName="Notes">
      <xsd:simpleType>
        <xsd:restriction base="dms:Text">
          <xsd:maxLength value="255"/>
        </xsd:restriction>
      </xsd:simpleType>
    </xsd:element>
    <xsd:element name="Thumbnail" ma:index="23" nillable="true" ma:displayName="Thumbnail" ma:format="Thumbnail" ma:internalName="Thumbnail">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bc551d-39a0-4a7c-9b4b-818b4828f7b9"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4615bc11-00f9-4c6f-83b1-a5188494ad0e}" ma:internalName="TaxCatchAll" ma:showField="CatchAllData" ma:web="2abc551d-39a0-4a7c-9b4b-818b4828f7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769373-594B-497F-B29F-9AD96F02CA37}">
  <ds:schemaRefs>
    <ds:schemaRef ds:uri="http://schemas.microsoft.com/office/2006/metadata/properties"/>
    <ds:schemaRef ds:uri="http://schemas.microsoft.com/office/infopath/2007/PartnerControls"/>
    <ds:schemaRef ds:uri="0d595b45-b704-43c3-be57-bb0e77264841"/>
    <ds:schemaRef ds:uri="2abc551d-39a0-4a7c-9b4b-818b4828f7b9"/>
  </ds:schemaRefs>
</ds:datastoreItem>
</file>

<file path=customXml/itemProps2.xml><?xml version="1.0" encoding="utf-8"?>
<ds:datastoreItem xmlns:ds="http://schemas.openxmlformats.org/officeDocument/2006/customXml" ds:itemID="{8FBDF0AD-F2A3-461C-AC8C-AF5A0E876003}">
  <ds:schemaRefs>
    <ds:schemaRef ds:uri="http://schemas.microsoft.com/sharepoint/v3/contenttype/forms"/>
  </ds:schemaRefs>
</ds:datastoreItem>
</file>

<file path=customXml/itemProps3.xml><?xml version="1.0" encoding="utf-8"?>
<ds:datastoreItem xmlns:ds="http://schemas.openxmlformats.org/officeDocument/2006/customXml" ds:itemID="{1AC2AE2E-D004-455F-9D5E-7CBDF620B6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d595b45-b704-43c3-be57-bb0e77264841"/>
    <ds:schemaRef ds:uri="2abc551d-39a0-4a7c-9b4b-818b4828f7b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12482</TotalTime>
  <Words>1625</Words>
  <Application>Microsoft Macintosh PowerPoint</Application>
  <PresentationFormat>On-screen Show (16:9)</PresentationFormat>
  <Paragraphs>383</Paragraphs>
  <Slides>22</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Aptos</vt:lpstr>
      <vt:lpstr>Arial</vt:lpstr>
      <vt:lpstr>Calibri</vt:lpstr>
      <vt:lpstr>Georgia</vt:lpstr>
      <vt:lpstr>Helvetica</vt:lpstr>
      <vt:lpstr>Times</vt:lpstr>
      <vt:lpstr>Office Theme</vt:lpstr>
      <vt:lpstr>WEEKLY REPORT POST STROKE REHABILITATION SYSTEM</vt:lpstr>
      <vt:lpstr>Agenda</vt:lpstr>
      <vt:lpstr>1. Quick Update</vt:lpstr>
      <vt:lpstr>2. Literature Review Paper – Background</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Progress</vt:lpstr>
      <vt:lpstr>2. Literature Review Paper – Future</vt:lpstr>
      <vt:lpstr>3. Active Sensing – Background</vt:lpstr>
      <vt:lpstr>3. Active Sensing – Progress</vt:lpstr>
      <vt:lpstr>3. Active Sensing – Progress</vt:lpstr>
      <vt:lpstr>3. Active Sensing – Progress</vt:lpstr>
      <vt:lpstr>3. Active Sensing – Progress</vt:lpstr>
      <vt:lpstr>3. Active Sensing – Progress</vt:lpstr>
      <vt:lpstr>3. Active Sensing – Progress</vt:lpstr>
      <vt:lpstr>Symbols</vt:lpstr>
      <vt:lpstr>Symbols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Clive D. Howard</dc:creator>
  <cp:lastModifiedBy>Vu Ngoc Thanh Sang</cp:lastModifiedBy>
  <cp:revision>107</cp:revision>
  <dcterms:created xsi:type="dcterms:W3CDTF">2020-01-14T16:59:52Z</dcterms:created>
  <dcterms:modified xsi:type="dcterms:W3CDTF">2026-09-21T14:43:10Z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0x01010077C5214C4B94FA4EB39B73217CE01A34</vt:lpwstr>
  </property>
  <property fmtid="{D5CDD505-2E9C-101B-9397-08002B2CF9AE}" pid="3" name="MediaServiceImageTags">
    <vt:lpwstr/>
  </property>
</Properties>
</file>