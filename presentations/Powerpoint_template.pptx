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273" r:id="rId5"/>
    <p:sldId id="276" r:id="rId6"/>
    <p:sldId id="620" r:id="rId7"/>
    <p:sldId id="663" r:id="rId8"/>
    <p:sldId id="666" r:id="rId9"/>
    <p:sldId id="667" r:id="rId10"/>
    <p:sldId id="668" r:id="rId11"/>
    <p:sldId id="677" r:id="rId12"/>
    <p:sldId id="683" r:id="rId13"/>
    <p:sldId id="669" r:id="rId14"/>
    <p:sldId id="679" r:id="rId15"/>
    <p:sldId id="684" r:id="rId16"/>
    <p:sldId id="670" r:id="rId17"/>
    <p:sldId id="680" r:id="rId18"/>
    <p:sldId id="678" r:id="rId19"/>
    <p:sldId id="664" r:id="rId20"/>
    <p:sldId id="671" r:id="rId21"/>
    <p:sldId id="672" r:id="rId22"/>
    <p:sldId id="693" r:id="rId23"/>
    <p:sldId id="688" r:id="rId24"/>
    <p:sldId id="685" r:id="rId25"/>
    <p:sldId id="686" r:id="rId26"/>
    <p:sldId id="687" r:id="rId27"/>
    <p:sldId id="689" r:id="rId28"/>
    <p:sldId id="690" r:id="rId29"/>
    <p:sldId id="691" r:id="rId30"/>
    <p:sldId id="692" r:id="rId31"/>
    <p:sldId id="694" r:id="rId32"/>
    <p:sldId id="695" r:id="rId33"/>
    <p:sldId id="275" r:id="rId34"/>
    <p:sldId id="266" r:id="rId35"/>
    <p:sldId id="674" r:id="rId36"/>
    <p:sldId id="673" r:id="rId37"/>
    <p:sldId id="675" r:id="rId38"/>
    <p:sldId id="676" r:id="rId39"/>
    <p:sldId id="257" r:id="rId40"/>
    <p:sldId id="258" r:id="rId4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EA9E"/>
    <a:srgbClr val="72243D"/>
    <a:srgbClr val="6F263D"/>
    <a:srgbClr val="70002E"/>
    <a:srgbClr val="ED8B00"/>
    <a:srgbClr val="641E34"/>
    <a:srgbClr val="1C3D34"/>
    <a:srgbClr val="E17C00"/>
    <a:srgbClr val="FF4438"/>
    <a:srgbClr val="BBD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73" autoAdjust="0"/>
    <p:restoredTop sz="88268" autoAdjust="0"/>
  </p:normalViewPr>
  <p:slideViewPr>
    <p:cSldViewPr>
      <p:cViewPr varScale="1">
        <p:scale>
          <a:sx n="154" d="100"/>
          <a:sy n="154" d="100"/>
        </p:scale>
        <p:origin x="208" y="7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Reviews</c:v>
          </c:tx>
          <c:spPr>
            <a:solidFill>
              <a:srgbClr val="72243D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C9BEB7"/>
              </a:solidFill>
            </c:spPr>
            <c:extLst>
              <c:ext xmlns:c16="http://schemas.microsoft.com/office/drawing/2014/chart" uri="{C3380CC4-5D6E-409C-BE32-E72D297353CC}">
                <c16:uniqueId val="{00000001-8432-B546-BBA6-9A66BDE9AEC4}"/>
              </c:ext>
            </c:extLst>
          </c:dPt>
          <c:dPt>
            <c:idx val="1"/>
            <c:invertIfNegative val="0"/>
            <c:bubble3D val="0"/>
            <c:spPr>
              <a:solidFill>
                <a:srgbClr val="AFAFAF"/>
              </a:solidFill>
            </c:spPr>
            <c:extLst>
              <c:ext xmlns:c16="http://schemas.microsoft.com/office/drawing/2014/chart" uri="{C3380CC4-5D6E-409C-BE32-E72D297353CC}">
                <c16:uniqueId val="{00000003-8432-B546-BBA6-9A66BDE9AEC4}"/>
              </c:ext>
            </c:extLst>
          </c:dPt>
          <c:dPt>
            <c:idx val="2"/>
            <c:invertIfNegative val="0"/>
            <c:bubble3D val="0"/>
            <c:spPr>
              <a:solidFill>
                <a:srgbClr val="A78492"/>
              </a:solidFill>
            </c:spPr>
            <c:extLst>
              <c:ext xmlns:c16="http://schemas.microsoft.com/office/drawing/2014/chart" uri="{C3380CC4-5D6E-409C-BE32-E72D297353CC}">
                <c16:uniqueId val="{00000005-8432-B546-BBA6-9A66BDE9AEC4}"/>
              </c:ext>
            </c:extLst>
          </c:dPt>
          <c:dPt>
            <c:idx val="3"/>
            <c:invertIfNegative val="0"/>
            <c:bubble3D val="0"/>
            <c:spPr>
              <a:solidFill>
                <a:srgbClr val="E17C00"/>
              </a:solidFill>
            </c:spPr>
            <c:extLst>
              <c:ext xmlns:c16="http://schemas.microsoft.com/office/drawing/2014/chart" uri="{C3380CC4-5D6E-409C-BE32-E72D297353CC}">
                <c16:uniqueId val="{00000007-8432-B546-BBA6-9A66BDE9AEC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8432-B546-BBA6-9A66BDE9AEC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303030"/>
                    </a:solidFill>
                    <a:latin typeface="Arial"/>
                    <a:ea typeface="Arial"/>
                    <a:cs typeface="Arial"/>
                  </a:defRPr>
                </a:pPr>
                <a:endParaRPr lang="en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Foundational source</c:v>
                </c:pt>
                <c:pt idx="1">
                  <c:v>Adjacent topical review</c:v>
                </c:pt>
                <c:pt idx="2">
                  <c:v>Structural analog</c:v>
                </c:pt>
                <c:pt idx="3">
                  <c:v>Narrow direct predecessor</c:v>
                </c:pt>
                <c:pt idx="4">
                  <c:v>Direct competitor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</c:v>
                </c:pt>
                <c:pt idx="1">
                  <c:v>16</c:v>
                </c:pt>
                <c:pt idx="2">
                  <c:v>6</c:v>
                </c:pt>
                <c:pt idx="3">
                  <c:v>12</c:v>
                </c:pt>
                <c:pt idx="4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9-8432-B546-BBA6-9A66BDE9AE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CE9E7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9D5D3"/>
            </a:solidFill>
            <a:prstDash val="solid"/>
          </a:ln>
        </c:spPr>
        <c:txPr>
          <a:bodyPr anchorCtr="1"/>
          <a:lstStyle/>
          <a:p>
            <a:pPr>
              <a:defRPr sz="788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V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5D3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endParaRPr lang="en-V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Week 5 (Sep 20)</c:v>
                </c:pt>
              </c:strCache>
            </c:strRef>
          </c:tx>
          <c:spPr>
            <a:solidFill>
              <a:srgbClr val="A8A299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303030"/>
                    </a:solidFill>
                  </a:defRPr>
                </a:pPr>
                <a:endParaRPr lang="en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Individual Studies</c:v>
                </c:pt>
                <c:pt idx="1">
                  <c:v>Existing Reviews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32D-FB42-9244-1D65CEBAA9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6 (Sep 27)</c:v>
                </c:pt>
              </c:strCache>
            </c:strRef>
          </c:tx>
          <c:spPr>
            <a:solidFill>
              <a:srgbClr val="72243D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303030"/>
                    </a:solidFill>
                  </a:defRPr>
                </a:pPr>
                <a:endParaRPr lang="en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Individual Studies</c:v>
                </c:pt>
                <c:pt idx="1">
                  <c:v>Existing Reviews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123</c:v>
                </c:pt>
                <c:pt idx="1">
                  <c:v>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32D-FB42-9244-1D65CEBAA9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EDEE0"/>
            </a:solidFill>
          </a:ln>
        </c:spPr>
        <c:txPr>
          <a:bodyPr/>
          <a:lstStyle/>
          <a:p>
            <a:pPr>
              <a:defRPr sz="900">
                <a:solidFill>
                  <a:srgbClr val="303030"/>
                </a:solidFill>
                <a:latin typeface="Arial"/>
              </a:defRPr>
            </a:pPr>
            <a:endParaRPr lang="en-V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DEDE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EDEE0"/>
            </a:solidFill>
          </a:ln>
        </c:spPr>
        <c:txPr>
          <a:bodyPr/>
          <a:lstStyle/>
          <a:p>
            <a:pPr>
              <a:defRPr sz="900">
                <a:solidFill>
                  <a:srgbClr val="7D7364"/>
                </a:solidFill>
              </a:defRPr>
            </a:pPr>
            <a:endParaRPr lang="en-V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303030"/>
              </a:solidFill>
              <a:latin typeface="Arial"/>
            </a:defRPr>
          </a:pPr>
          <a:endParaRPr lang="en-V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Week 5 (Sep 20)</c:v>
                </c:pt>
              </c:strCache>
            </c:strRef>
          </c:tx>
          <c:spPr>
            <a:solidFill>
              <a:srgbClr val="A8A299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303030"/>
                    </a:solidFill>
                  </a:defRPr>
                </a:pPr>
                <a:endParaRPr lang="en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Acoustic</c:v>
                </c:pt>
                <c:pt idx="1">
                  <c:v>Aerodynamic</c:v>
                </c:pt>
                <c:pt idx="2">
                  <c:v>EGG</c:v>
                </c:pt>
                <c:pt idx="3">
                  <c:v>Resp.
motion</c:v>
                </c:pt>
                <c:pt idx="4">
                  <c:v>EPG</c:v>
                </c:pt>
                <c:pt idx="5">
                  <c:v>UTI</c:v>
                </c:pt>
                <c:pt idx="6">
                  <c:v>EMA/kin.</c:v>
                </c:pt>
                <c:pt idx="7">
                  <c:v>sEMG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</c:v>
                </c:pt>
                <c:pt idx="1">
                  <c:v>12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1</c:v>
                </c:pt>
                <c:pt idx="6">
                  <c:v>10</c:v>
                </c:pt>
                <c:pt idx="7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39C-374F-A0A0-F640622C3F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6 (Sep 27)</c:v>
                </c:pt>
              </c:strCache>
            </c:strRef>
          </c:tx>
          <c:spPr>
            <a:solidFill>
              <a:srgbClr val="72243D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303030"/>
                    </a:solidFill>
                  </a:defRPr>
                </a:pPr>
                <a:endParaRPr lang="en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Acoustic</c:v>
                </c:pt>
                <c:pt idx="1">
                  <c:v>Aerodynamic</c:v>
                </c:pt>
                <c:pt idx="2">
                  <c:v>EGG</c:v>
                </c:pt>
                <c:pt idx="3">
                  <c:v>Resp.
motion</c:v>
                </c:pt>
                <c:pt idx="4">
                  <c:v>EPG</c:v>
                </c:pt>
                <c:pt idx="5">
                  <c:v>UTI</c:v>
                </c:pt>
                <c:pt idx="6">
                  <c:v>EMA/kin.</c:v>
                </c:pt>
                <c:pt idx="7">
                  <c:v>sEMG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123</c:v>
                </c:pt>
                <c:pt idx="1">
                  <c:v>16</c:v>
                </c:pt>
                <c:pt idx="2">
                  <c:v>8</c:v>
                </c:pt>
                <c:pt idx="3">
                  <c:v>5</c:v>
                </c:pt>
                <c:pt idx="4">
                  <c:v>13</c:v>
                </c:pt>
                <c:pt idx="5">
                  <c:v>5</c:v>
                </c:pt>
                <c:pt idx="6">
                  <c:v>24</c:v>
                </c:pt>
                <c:pt idx="7">
                  <c:v>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39C-374F-A0A0-F640622C3FA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EDEE0"/>
            </a:solidFill>
          </a:ln>
        </c:spPr>
        <c:txPr>
          <a:bodyPr/>
          <a:lstStyle/>
          <a:p>
            <a:pPr>
              <a:defRPr sz="900">
                <a:solidFill>
                  <a:srgbClr val="303030"/>
                </a:solidFill>
                <a:latin typeface="Arial"/>
              </a:defRPr>
            </a:pPr>
            <a:endParaRPr lang="en-V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DEDE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EDEE0"/>
            </a:solidFill>
          </a:ln>
        </c:spPr>
        <c:txPr>
          <a:bodyPr/>
          <a:lstStyle/>
          <a:p>
            <a:pPr>
              <a:defRPr sz="900">
                <a:solidFill>
                  <a:srgbClr val="7D7364"/>
                </a:solidFill>
              </a:defRPr>
            </a:pPr>
            <a:endParaRPr lang="en-V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303030"/>
              </a:solidFill>
              <a:latin typeface="Arial"/>
            </a:defRPr>
          </a:pPr>
          <a:endParaRPr lang="en-V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Week 5 (Sep 20)</c:v>
                </c:pt>
              </c:strCache>
            </c:strRef>
          </c:tx>
          <c:spPr>
            <a:solidFill>
              <a:srgbClr val="A8A299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303030"/>
                    </a:solidFill>
                  </a:defRPr>
                </a:pPr>
                <a:endParaRPr lang="en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Parkinson</c:v>
                </c:pt>
                <c:pt idx="1">
                  <c:v>ALS/MND</c:v>
                </c:pt>
                <c:pt idx="2">
                  <c:v>Stroke</c:v>
                </c:pt>
                <c:pt idx="3">
                  <c:v>Mult.
sclerosis</c:v>
                </c:pt>
                <c:pt idx="4">
                  <c:v>Ataxia/
cerebellar</c:v>
                </c:pt>
                <c:pt idx="5">
                  <c:v>TBI/
concussion</c:v>
                </c:pt>
                <c:pt idx="6">
                  <c:v>Other
neurologic</c:v>
                </c:pt>
                <c:pt idx="7">
                  <c:v>No dysarthria
cohort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</c:v>
                </c:pt>
                <c:pt idx="1">
                  <c:v>16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5</c:v>
                </c:pt>
                <c:pt idx="6">
                  <c:v>11</c:v>
                </c:pt>
                <c:pt idx="7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80D-3644-A8B9-F9B6761E4E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6 (Sep 27)</c:v>
                </c:pt>
              </c:strCache>
            </c:strRef>
          </c:tx>
          <c:spPr>
            <a:solidFill>
              <a:srgbClr val="72243D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303030"/>
                    </a:solidFill>
                  </a:defRPr>
                </a:pPr>
                <a:endParaRPr lang="en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Parkinson</c:v>
                </c:pt>
                <c:pt idx="1">
                  <c:v>ALS/MND</c:v>
                </c:pt>
                <c:pt idx="2">
                  <c:v>Stroke</c:v>
                </c:pt>
                <c:pt idx="3">
                  <c:v>Mult.
sclerosis</c:v>
                </c:pt>
                <c:pt idx="4">
                  <c:v>Ataxia/
cerebellar</c:v>
                </c:pt>
                <c:pt idx="5">
                  <c:v>TBI/
concussion</c:v>
                </c:pt>
                <c:pt idx="6">
                  <c:v>Other
neurologic</c:v>
                </c:pt>
                <c:pt idx="7">
                  <c:v>No dysarthria
cohort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61</c:v>
                </c:pt>
                <c:pt idx="1">
                  <c:v>32</c:v>
                </c:pt>
                <c:pt idx="2">
                  <c:v>28</c:v>
                </c:pt>
                <c:pt idx="3">
                  <c:v>6</c:v>
                </c:pt>
                <c:pt idx="4">
                  <c:v>14</c:v>
                </c:pt>
                <c:pt idx="5">
                  <c:v>3</c:v>
                </c:pt>
                <c:pt idx="6">
                  <c:v>10</c:v>
                </c:pt>
                <c:pt idx="7">
                  <c:v>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80D-3644-A8B9-F9B6761E4E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EDEE0"/>
            </a:solidFill>
          </a:ln>
        </c:spPr>
        <c:txPr>
          <a:bodyPr/>
          <a:lstStyle/>
          <a:p>
            <a:pPr>
              <a:defRPr sz="900">
                <a:solidFill>
                  <a:srgbClr val="303030"/>
                </a:solidFill>
                <a:latin typeface="Arial"/>
              </a:defRPr>
            </a:pPr>
            <a:endParaRPr lang="en-V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DEDE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EDEE0"/>
            </a:solidFill>
          </a:ln>
        </c:spPr>
        <c:txPr>
          <a:bodyPr/>
          <a:lstStyle/>
          <a:p>
            <a:pPr>
              <a:defRPr sz="900">
                <a:solidFill>
                  <a:srgbClr val="7D7364"/>
                </a:solidFill>
              </a:defRPr>
            </a:pPr>
            <a:endParaRPr lang="en-V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303030"/>
              </a:solidFill>
              <a:latin typeface="Arial"/>
            </a:defRPr>
          </a:pPr>
          <a:endParaRPr lang="en-V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Week 5 (Sep 20)</c:v>
                </c:pt>
              </c:strCache>
            </c:strRef>
          </c:tx>
          <c:spPr>
            <a:solidFill>
              <a:srgbClr val="A8A299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303030"/>
                    </a:solidFill>
                  </a:defRPr>
                </a:pPr>
                <a:endParaRPr lang="en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Respiration</c:v>
                </c:pt>
                <c:pt idx="1">
                  <c:v>Phonation</c:v>
                </c:pt>
                <c:pt idx="2">
                  <c:v>Resonance</c:v>
                </c:pt>
                <c:pt idx="3">
                  <c:v>Articulation</c:v>
                </c:pt>
                <c:pt idx="4">
                  <c:v>Prosody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25</c:v>
                </c:pt>
                <c:pt idx="2">
                  <c:v>9</c:v>
                </c:pt>
                <c:pt idx="3">
                  <c:v>41</c:v>
                </c:pt>
                <c:pt idx="4">
                  <c:v>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C4D-644C-B6FA-5A2EADAC34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6 (Sep 27)</c:v>
                </c:pt>
              </c:strCache>
            </c:strRef>
          </c:tx>
          <c:spPr>
            <a:solidFill>
              <a:srgbClr val="72243D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303030"/>
                    </a:solidFill>
                  </a:defRPr>
                </a:pPr>
                <a:endParaRPr lang="en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Respiration</c:v>
                </c:pt>
                <c:pt idx="1">
                  <c:v>Phonation</c:v>
                </c:pt>
                <c:pt idx="2">
                  <c:v>Resonance</c:v>
                </c:pt>
                <c:pt idx="3">
                  <c:v>Articulation</c:v>
                </c:pt>
                <c:pt idx="4">
                  <c:v>Prosody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</c:v>
                </c:pt>
                <c:pt idx="1">
                  <c:v>51</c:v>
                </c:pt>
                <c:pt idx="2">
                  <c:v>20</c:v>
                </c:pt>
                <c:pt idx="3">
                  <c:v>92</c:v>
                </c:pt>
                <c:pt idx="4">
                  <c:v>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C4D-644C-B6FA-5A2EADAC34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EDEE0"/>
            </a:solidFill>
          </a:ln>
        </c:spPr>
        <c:txPr>
          <a:bodyPr/>
          <a:lstStyle/>
          <a:p>
            <a:pPr>
              <a:defRPr sz="900">
                <a:solidFill>
                  <a:srgbClr val="303030"/>
                </a:solidFill>
                <a:latin typeface="Arial"/>
              </a:defRPr>
            </a:pPr>
            <a:endParaRPr lang="en-V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DEDE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EDEE0"/>
            </a:solidFill>
          </a:ln>
        </c:spPr>
        <c:txPr>
          <a:bodyPr/>
          <a:lstStyle/>
          <a:p>
            <a:pPr>
              <a:defRPr sz="900">
                <a:solidFill>
                  <a:srgbClr val="7D7364"/>
                </a:solidFill>
              </a:defRPr>
            </a:pPr>
            <a:endParaRPr lang="en-V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303030"/>
              </a:solidFill>
              <a:latin typeface="Arial"/>
            </a:defRPr>
          </a:pPr>
          <a:endParaRPr lang="en-V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7F6E61-B534-1E47-FE20-19EC2FEBBD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3B174B-ADC5-78A5-442E-871C4BFED1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9E562-C011-ED4A-9FAC-7955ECB5061D}" type="datetimeFigureOut">
              <a:rPr lang="en-VN" smtClean="0"/>
              <a:t>28/9/26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C3209-1342-4E75-9E70-709500394C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3D73-DF14-C2F9-3F17-47D2DCC90B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99A67-8819-CC4C-A3A5-1626612CE74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0136283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8T14:08:58.503"/>
    </inkml:context>
    <inkml:brush xml:id="br0">
      <inkml:brushProperty name="width" value="0.2" units="cm"/>
      <inkml:brushProperty name="height" value="0.4" units="cm"/>
      <inkml:brushProperty name="color" value="#FEFFF5"/>
      <inkml:brushProperty name="tip" value="rectangle"/>
      <inkml:brushProperty name="rasterOp" value="maskPen"/>
    </inkml:brush>
  </inkml:definitions>
  <inkml:trace contextRef="#ctx0" brushRef="#br0">1 0,'36'0,"5"0,-13 0,29 0,22 0,-29 0,3 0,7 0,2 0,-2 0,1 0,1 0,-2 0,24 0,-15 0,-45 0,-8 0,-12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0C50C-F46C-8A4B-8A41-6A6FBB958D92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3D443-CBAC-934A-8506-FB4DF260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9853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79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2A860-ADF8-47D8-C64B-9E26F52BD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3F27E-BC51-2164-AFB5-FDB33F168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59C8B-EA95-3CE4-A7FF-5B8C9A58F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8854F-B33B-2F81-7C99-48CA80308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0BE4A-86D7-88AE-35F3-C1BE6E3DCA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86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87E82-C69F-F4B4-DA36-9CAA7FAF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C38A6-0EDB-6F3D-B672-E6626B4AA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58A7B-E065-6DD4-CBD3-24DA1D1A7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C8503-37C2-51CA-3EDA-AC287A335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34F61-F413-7D14-FF3B-862F353FF1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37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D7641-CD57-B071-7E30-E09E60F7D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C1844-027A-78FF-3091-7E6C3CCC4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3B2CE-D9B2-AEE9-1594-ED7438AB5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B388-A981-6B03-89F3-2F94106C3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3E25B-2EE6-F888-E640-8C46BB5A46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43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9FAB3-4FD1-D9EF-9A03-DFC2E76D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991A2-A694-9A72-1F28-B70F2F540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AB588-A1C2-4E12-0D4C-1A1DC3675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52C7E-0D6C-5C15-22F1-5785C2E5C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40EA6-B05E-F11A-5766-345EC37CBC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14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FA6BA-2906-0AFF-0C12-51BBC431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B72CB7-D577-C941-39C5-8B0B53E04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3FB3F-7B76-CDC9-B1AE-3BFC513F4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BC1B1-1DFA-6BF2-320C-8BBD37DD5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A6D2A-F345-1404-C60C-58667A9273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63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FA6BA-2906-0AFF-0C12-51BBC431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B72CB7-D577-C941-39C5-8B0B53E04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3FB3F-7B76-CDC9-B1AE-3BFC513F4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BC1B1-1DFA-6BF2-320C-8BBD37DD5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A6D2A-F345-1404-C60C-58667A9273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63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99486-93AB-4294-BF1B-83C2C4C8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71ECB-4301-2CC2-EBC9-061969CF1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9D871-FA01-D2DD-A556-A4899A9B1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30560-EE79-8270-6D11-3C7D9E1C6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5C14A-5DE8-527F-FA87-82B49D5BFE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09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99486-93AB-4294-BF1B-83C2C4C8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71ECB-4301-2CC2-EBC9-061969CF1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9D871-FA01-D2DD-A556-A4899A9B1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30560-EE79-8270-6D11-3C7D9E1C6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5C14A-5DE8-527F-FA87-82B49D5BFE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09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45B36-12C7-7AA2-3B01-AC01CCCE2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D5B07-4F6C-FD66-10FE-C93A8AC28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2D898-CF92-0460-A72D-643A68725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77242-D125-A571-69F5-3BA804565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2D66E-7E6A-439A-CB3A-7C44A0D14C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40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59D61-CCF7-11E5-E5AA-870E92A3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86FEF-5999-3ED7-2916-29ED54FA6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34F23-77EA-E353-E01D-E9225BF56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A577B-BDAB-87D8-25DD-3B421A286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6FB5F-A70F-434D-DB21-0C10829E8D7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06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273CE-A02F-41C9-8A79-CCE5009C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9CD66-5A48-E321-01CB-92AA628A4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3FC66-1D6D-F460-851C-1688B2BC4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DC14F-0CC2-C32C-1998-E7154D97E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29E57-ECCE-9BB7-4205-B6193BB48A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48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922CF-A51C-7D28-53BB-C0928263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091F6-6CD2-8D7B-D06A-5F0137F9E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6ACC7-747B-07A8-DCEB-FC69CAE7D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F2963-6EE3-0EE1-44F3-C90444998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52C77-8C70-BDD5-FF0F-E3E6E36E0F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710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9B730-095F-9596-E07A-C949AA3FB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E3E9B-06C1-4C28-46A6-9AB181F71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7470D-A826-7C4D-2B66-8BD66D0F3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FDE7B-6266-8426-9515-96455A98F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F4EE8-3124-C465-706F-4FB0B399400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46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D4203-1D67-D743-9C09-8E103116E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482B3A-244C-115D-F76F-49296621E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AD3A7-71C3-9BD7-103A-9D9C51A49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C2511-E96C-BB25-454A-4D6079481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7AD36-9E68-CB3B-F363-8DDB88A6D13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133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042D9-8F6B-2F58-C722-AEAEDEF6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50540-BCB4-1DF8-D19E-D690B54E6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B92AD-2546-334C-039F-59589FB8B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0799B-28B2-8DD2-0F6D-C5E152ADA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5ED2E-4095-D480-E310-C1325520CB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666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EF979-5844-4CC0-BF02-C7647AED1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1C2CF-32AA-E859-B47F-5F109E728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1688B-3249-9254-269D-A4E1186E9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15094-8AB9-BEC9-95EA-CC6FC5040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6FBA0-ECCC-5E7A-E41F-BCD4BE5C2B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465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44457-E5FF-47E2-1874-B2988A8CB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24D33-F27A-1C11-A116-CEF181778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8D8AB-92EA-BDAC-1035-383C9FD50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D92C6-AF68-33CC-AF45-08D951012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21F8D-FA5C-6A35-0F93-6B130F0305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54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F011F-09C8-27A1-3C53-480724AF4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C685B-2BDE-7D58-F63C-3D3852918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502B6-2EA4-397A-5611-D9E252521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B2102-66C1-AE09-BA94-628131855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52F42-FD77-2DE0-0612-A2A62B6A1E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758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425B1-BC95-536B-28DE-C5944F340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496D6-C817-E32E-9E55-1C8B43FDE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66B92-5AFE-3B25-60B3-64365C83C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03FDD-F7B4-9671-B507-8113C552C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DBE8C-2A79-BCDD-3B83-639FBBB0A0D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6754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0FBA8-C0AD-1880-FF26-CE4B1F524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49F51B-AB39-DCEC-F886-C4CAF72A0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51E06-BB30-4639-589A-554A76CE8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D4EDD-3F96-E0BE-33E3-BA9449A9E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3F79F-6057-1388-AC23-6E5C11B924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875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A29A-22C3-DF2A-E239-7FD6F8A5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A7983-9FF0-A7BA-F506-A92BC947D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1A5AE-DB24-3E12-7E05-302824606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26574-A567-6E0A-41E8-64BE44EBF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8EE6F-0621-245F-0A49-9D150961B9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391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ED96D-3FC9-C383-5FAC-B1AFB0EC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899C50-4700-691A-9249-7213781CE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2F77C-96B6-E2AB-54CF-23C6E9729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DBA56-5113-11DD-B848-FF40F8E22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B32F4-FBD5-CF74-F69D-27E2FA735F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263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71E8-ABED-E95C-3C6F-31CF2A2A7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9CD3D-B592-E1D3-566E-11360062C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47A51-FB3F-6F05-2C73-48542B8CF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BF3A5-D647-490A-BC4C-B1F31C191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D71F3-E8FE-BFB2-871E-717F5AEC45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255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35A2B-2B91-F009-6788-EEE2BAC44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AA980-18D7-9A9C-9E96-305215B2B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7C8D70-5F33-CA86-462D-2FF6EC03A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76F44-B1BF-99A1-B68E-340341483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3B0AF-3C53-BD54-F771-ED1B7C4F11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046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1AF0D-5913-8C47-764C-EC6B5802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5301C-3F15-A133-1E2F-50A0C85E0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67AE7-9DDD-C3D2-4D71-D8B609946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03A04-B24F-A8A4-26E8-5DD4C29E9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E495D-1DB1-7B98-13E9-3F9CD38C91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746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6A9BA-1CE4-83E8-92C5-D2CCA9D5C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5DF99E-D8D0-A866-F51B-7FCAD2FF8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5B559-3200-BBE1-E969-358AB13F7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D0511-7969-5BD0-FF46-C45F22AFB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3D443-CBAC-934A-8506-FB4DF260D863}" type="slidenum">
              <a:rPr lang="en-US" smtClean="0"/>
              <a:t>35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5D727-220E-1120-62A3-226E6F677B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64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9879AAEF-E912-6B61-3D33-267C007D37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4" y="80030"/>
            <a:ext cx="9144000" cy="5143500"/>
          </a:xfrm>
          <a:prstGeom prst="rect">
            <a:avLst/>
          </a:prstGeom>
        </p:spPr>
      </p:pic>
      <p:sp>
        <p:nvSpPr>
          <p:cNvPr id="13" name="Title 18">
            <a:extLst>
              <a:ext uri="{FF2B5EF4-FFF2-40B4-BE49-F238E27FC236}">
                <a16:creationId xmlns:a16="http://schemas.microsoft.com/office/drawing/2014/main" id="{DC0A9285-546C-824E-BB82-80DD4A7E5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9600" y="2038350"/>
            <a:ext cx="4495800" cy="829533"/>
          </a:xfrm>
          <a:noFill/>
        </p:spPr>
        <p:txBody>
          <a:bodyPr lIns="182880" tIns="182880" rIns="182880" anchor="ctr">
            <a:noAutofit/>
          </a:bodyPr>
          <a:lstStyle>
            <a:lvl1pPr algn="l">
              <a:lnSpc>
                <a:spcPct val="75000"/>
              </a:lnSpc>
              <a:defRPr sz="2800" b="1" i="1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0F22-3D51-8D47-9BDC-3F4D49D359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35642" y="3316416"/>
            <a:ext cx="4636246" cy="237267"/>
          </a:xfrm>
        </p:spPr>
        <p:txBody>
          <a:bodyPr lIns="182880" tIns="0" rIns="182880" bIns="0">
            <a:noAutofit/>
          </a:bodyPr>
          <a:lstStyle>
            <a:lvl1pPr marL="0" indent="0">
              <a:buNone/>
              <a:defRPr sz="1800" b="0" i="1">
                <a:solidFill>
                  <a:srgbClr val="ED8B00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992057-DE82-CE83-1048-D406B6B802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4476750"/>
            <a:ext cx="2222550" cy="55563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E505E-82A7-0157-0254-70D4CC4D1A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99731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circle&#10;&#10;Description automatically generated">
            <a:extLst>
              <a:ext uri="{FF2B5EF4-FFF2-40B4-BE49-F238E27FC236}">
                <a16:creationId xmlns:a16="http://schemas.microsoft.com/office/drawing/2014/main" id="{8B616AF2-B50E-3695-3202-2807D9E841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0F22-3D51-8D47-9BDC-3F4D49D359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006" y="2277072"/>
            <a:ext cx="4776788" cy="237267"/>
          </a:xfrm>
        </p:spPr>
        <p:txBody>
          <a:bodyPr lIns="182880" tIns="0" rIns="182880" bIns="0">
            <a:noAutofit/>
          </a:bodyPr>
          <a:lstStyle>
            <a:lvl1pPr marL="0" indent="0">
              <a:buNone/>
              <a:defRPr sz="1800" b="0" i="1">
                <a:solidFill>
                  <a:srgbClr val="ED8B00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072FD1-11DC-C3F0-BEF8-DEA504D87A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4" y="4741279"/>
            <a:ext cx="1308161" cy="327040"/>
          </a:xfrm>
          <a:prstGeom prst="rect">
            <a:avLst/>
          </a:prstGeom>
        </p:spPr>
      </p:pic>
      <p:sp>
        <p:nvSpPr>
          <p:cNvPr id="6" name="Title 18">
            <a:extLst>
              <a:ext uri="{FF2B5EF4-FFF2-40B4-BE49-F238E27FC236}">
                <a16:creationId xmlns:a16="http://schemas.microsoft.com/office/drawing/2014/main" id="{C7090F5B-A517-7BC0-FFDD-BF0408BD7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932" y="1012902"/>
            <a:ext cx="4495800" cy="829533"/>
          </a:xfrm>
          <a:noFill/>
        </p:spPr>
        <p:txBody>
          <a:bodyPr lIns="182880" tIns="182880" rIns="182880" anchor="ctr">
            <a:noAutofit/>
          </a:bodyPr>
          <a:lstStyle>
            <a:lvl1pPr algn="l">
              <a:lnSpc>
                <a:spcPct val="75000"/>
              </a:lnSpc>
              <a:defRPr sz="2800" b="1" i="1" spc="0" baseline="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8D7C0-FA5C-F82F-EAD9-413E8329521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3152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C80A7B26-E9DE-4D5B-716A-C77938E07F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181"/>
            <a:ext cx="9144000" cy="5143500"/>
          </a:xfrm>
          <a:prstGeom prst="rect">
            <a:avLst/>
          </a:prstGeom>
        </p:spPr>
      </p:pic>
      <p:sp>
        <p:nvSpPr>
          <p:cNvPr id="22" name="Title 6">
            <a:extLst>
              <a:ext uri="{FF2B5EF4-FFF2-40B4-BE49-F238E27FC236}">
                <a16:creationId xmlns:a16="http://schemas.microsoft.com/office/drawing/2014/main" id="{E5CB47AD-DA9C-5F4C-A431-84FB4D54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537" y="75181"/>
            <a:ext cx="6724650" cy="514350"/>
          </a:xfrm>
        </p:spPr>
        <p:txBody>
          <a:bodyPr>
            <a:noAutofit/>
          </a:bodyPr>
          <a:lstStyle>
            <a:lvl1pPr algn="l">
              <a:defRPr sz="2800" b="1" i="0">
                <a:solidFill>
                  <a:srgbClr val="6F26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49794A0-DDCB-D348-B6F9-30E0A824A3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6537" y="658812"/>
            <a:ext cx="8678863" cy="3561359"/>
          </a:xfrm>
        </p:spPr>
        <p:txBody>
          <a:bodyPr>
            <a:noAutofit/>
          </a:bodyPr>
          <a:lstStyle>
            <a:lvl1pPr marL="0" indent="0">
              <a:buClr>
                <a:srgbClr val="E17C00"/>
              </a:buClr>
              <a:buFont typeface="+mj-lt"/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8" indent="0">
              <a:buClr>
                <a:srgbClr val="E17C00"/>
              </a:buClr>
              <a:buFont typeface="+mj-lt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Clr>
                <a:srgbClr val="E17C00"/>
              </a:buClr>
              <a:buFont typeface="+mj-lt"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Clr>
                <a:srgbClr val="E17C00"/>
              </a:buClr>
              <a:buFont typeface="+mj-lt"/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5" indent="0">
              <a:buClr>
                <a:srgbClr val="E17C00"/>
              </a:buClr>
              <a:buFont typeface="+mj-lt"/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2F4A7B-C617-FC86-ACA8-F1B92AF151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93" y="4741279"/>
            <a:ext cx="1305543" cy="3270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12481-CA89-9155-FE1D-0551BA054F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‹#›</a:t>
            </a:fld>
            <a:endParaRPr lang="en-V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DD1030-CAD4-D733-7034-4179F43517DF}"/>
              </a:ext>
            </a:extLst>
          </p:cNvPr>
          <p:cNvCxnSpPr/>
          <p:nvPr userDrawn="1"/>
        </p:nvCxnSpPr>
        <p:spPr>
          <a:xfrm>
            <a:off x="236537" y="514350"/>
            <a:ext cx="86788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91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A84C3F7-BB03-5D49-9A2E-979137BADE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6537" y="590550"/>
            <a:ext cx="8678863" cy="4114800"/>
          </a:xfrm>
        </p:spPr>
        <p:txBody>
          <a:bodyPr>
            <a:noAutofit/>
          </a:bodyPr>
          <a:lstStyle>
            <a:lvl1pPr marL="0" indent="0">
              <a:buClr>
                <a:srgbClr val="E17C00"/>
              </a:buClr>
              <a:buNone/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8" indent="0">
              <a:buClr>
                <a:srgbClr val="E17C00"/>
              </a:buClr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Clr>
                <a:srgbClr val="E17C00"/>
              </a:buClr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Clr>
                <a:srgbClr val="E17C00"/>
              </a:buClr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5" indent="0">
              <a:buClr>
                <a:srgbClr val="E17C00"/>
              </a:buClr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itle 6">
            <a:extLst>
              <a:ext uri="{FF2B5EF4-FFF2-40B4-BE49-F238E27FC236}">
                <a16:creationId xmlns:a16="http://schemas.microsoft.com/office/drawing/2014/main" id="{3F270E63-EF19-EF43-941B-3BBB3C082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537" y="1003"/>
            <a:ext cx="6724650" cy="514350"/>
          </a:xfrm>
        </p:spPr>
        <p:txBody>
          <a:bodyPr>
            <a:noAutofit/>
          </a:bodyPr>
          <a:lstStyle>
            <a:lvl1pPr algn="l">
              <a:defRPr sz="2800" b="1" i="0">
                <a:solidFill>
                  <a:srgbClr val="72243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A4E044-CDAB-C101-E13D-D9A7A1D14D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4780547"/>
            <a:ext cx="1305543" cy="32704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0904D9-9C5E-DF83-0721-A260D1A567E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6858000" y="4780547"/>
            <a:ext cx="2057400" cy="274637"/>
          </a:xfrm>
        </p:spPr>
        <p:txBody>
          <a:bodyPr/>
          <a:lstStyle/>
          <a:p>
            <a:fld id="{0AF20276-0DC3-B247-B3AE-8A6E2F85407E}" type="slidenum">
              <a:rPr lang="en-VN" smtClean="0"/>
              <a:t>‹#›</a:t>
            </a:fld>
            <a:endParaRPr lang="en-VN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89A14E8-45A0-83A5-AE54-DB581D14CADD}"/>
              </a:ext>
            </a:extLst>
          </p:cNvPr>
          <p:cNvCxnSpPr/>
          <p:nvPr userDrawn="1"/>
        </p:nvCxnSpPr>
        <p:spPr>
          <a:xfrm>
            <a:off x="236537" y="514350"/>
            <a:ext cx="86788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87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4C91AED3-4268-ECE5-4D79-7DB5522284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itle 18">
            <a:extLst>
              <a:ext uri="{FF2B5EF4-FFF2-40B4-BE49-F238E27FC236}">
                <a16:creationId xmlns:a16="http://schemas.microsoft.com/office/drawing/2014/main" id="{B7DB02B7-5B63-2F41-A757-1DC44B15B7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2491623"/>
            <a:ext cx="4800600" cy="1210533"/>
          </a:xfrm>
          <a:noFill/>
        </p:spPr>
        <p:txBody>
          <a:bodyPr lIns="182880" tIns="182880" rIns="182880" anchor="ctr">
            <a:noAutofit/>
          </a:bodyPr>
          <a:lstStyle>
            <a:lvl1pPr algn="l">
              <a:defRPr sz="7200" b="0" i="1" baseline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0DDD0E-906B-D31D-E005-FD702E298D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334" y="4400550"/>
            <a:ext cx="2222550" cy="55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45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9716DC12-C22F-2EC7-952D-EAD5FAD49D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Title 18">
            <a:extLst>
              <a:ext uri="{FF2B5EF4-FFF2-40B4-BE49-F238E27FC236}">
                <a16:creationId xmlns:a16="http://schemas.microsoft.com/office/drawing/2014/main" id="{2AEEC7FA-C7A4-884B-9AEB-71DBAF3A35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876550"/>
            <a:ext cx="6096000" cy="1210533"/>
          </a:xfrm>
          <a:noFill/>
        </p:spPr>
        <p:txBody>
          <a:bodyPr lIns="182880" tIns="182880" rIns="182880" anchor="ctr">
            <a:noAutofit/>
          </a:bodyPr>
          <a:lstStyle>
            <a:lvl1pPr algn="l">
              <a:defRPr sz="7200" b="0" i="1" baseline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8EA9F1-9F15-10BF-3C37-403A28DB91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4476750"/>
            <a:ext cx="2222550" cy="55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4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3494" y="199406"/>
            <a:ext cx="8771906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94" y="1200151"/>
            <a:ext cx="8771906" cy="2819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D9111-1EF2-33CF-6A11-09920F227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F20276-0DC3-B247-B3AE-8A6E2F85407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5900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49" r:id="rId2"/>
    <p:sldLayoutId id="2147483679" r:id="rId3"/>
    <p:sldLayoutId id="2147483681" r:id="rId4"/>
    <p:sldLayoutId id="2147483687" r:id="rId5"/>
    <p:sldLayoutId id="2147483688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377" rtl="0" eaLnBrk="1" latinLnBrk="0" hangingPunct="1">
        <a:spcBef>
          <a:spcPct val="0"/>
        </a:spcBef>
        <a:buNone/>
        <a:defRPr sz="24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Clr>
          <a:srgbClr val="F9382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32" indent="-285744" algn="l" defTabSz="914377" rtl="0" eaLnBrk="1" latinLnBrk="0" hangingPunct="1">
        <a:spcBef>
          <a:spcPct val="20000"/>
        </a:spcBef>
        <a:buClr>
          <a:srgbClr val="F93822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71" indent="-228594" algn="l" defTabSz="914377" rtl="0" eaLnBrk="1" latinLnBrk="0" hangingPunct="1">
        <a:spcBef>
          <a:spcPct val="20000"/>
        </a:spcBef>
        <a:buClr>
          <a:srgbClr val="F9382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914377" rtl="0" eaLnBrk="1" latinLnBrk="0" hangingPunct="1">
        <a:spcBef>
          <a:spcPct val="20000"/>
        </a:spcBef>
        <a:buClr>
          <a:srgbClr val="F93822"/>
        </a:buClr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349" indent="-228594" algn="l" defTabSz="914377" rtl="0" eaLnBrk="1" latinLnBrk="0" hangingPunct="1">
        <a:spcBef>
          <a:spcPct val="20000"/>
        </a:spcBef>
        <a:buClr>
          <a:srgbClr val="F93822"/>
        </a:buClr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144" userDrawn="1">
          <p15:clr>
            <a:srgbClr val="F26B43"/>
          </p15:clr>
        </p15:guide>
        <p15:guide id="4" pos="5616" userDrawn="1">
          <p15:clr>
            <a:srgbClr val="F26B43"/>
          </p15:clr>
        </p15:guide>
        <p15:guide id="5" orient="horz" pos="132" userDrawn="1">
          <p15:clr>
            <a:srgbClr val="F26B43"/>
          </p15:clr>
        </p15:guide>
        <p15:guide id="6" orient="horz" pos="2964" userDrawn="1">
          <p15:clr>
            <a:srgbClr val="F26B43"/>
          </p15:clr>
        </p15:guide>
        <p15:guide id="7" pos="4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9B8AC8-A3A6-9DC1-72FD-53FA5580E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VN" sz="1800" i="1" dirty="0"/>
              <a:t>WEEK 6 – September </a:t>
            </a:r>
            <a:r>
              <a:rPr lang="en-VN" dirty="0"/>
              <a:t>28</a:t>
            </a:r>
            <a:r>
              <a:rPr lang="en-VN" sz="1800" i="1" dirty="0"/>
              <a:t>th 2026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55A3C6-573A-780A-A43A-254D066FD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047750"/>
            <a:ext cx="7672668" cy="829533"/>
          </a:xfrm>
        </p:spPr>
        <p:txBody>
          <a:bodyPr/>
          <a:lstStyle/>
          <a:p>
            <a:r>
              <a:rPr lang="en-VN" sz="3600" dirty="0"/>
              <a:t>WEEKLY REPORT</a:t>
            </a:r>
            <a:br>
              <a:rPr lang="en-VN" sz="3600" dirty="0"/>
            </a:br>
            <a:r>
              <a:rPr lang="en-VN" sz="2400" dirty="0"/>
              <a:t>POST STROKE REHABILITATION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B16B7-6554-020D-1F57-1C55BD1232E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8114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6B6B19-1C8F-148A-F8F5-5C2336A550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VN" dirty="0"/>
              <a:t>Quick Update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VN" dirty="0"/>
              <a:t>Literature Review Paper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VN" dirty="0"/>
              <a:t>Active Sensing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endParaRPr lang="en-VN" dirty="0"/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endParaRPr lang="en-V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63823F-6E3A-14C2-0D67-A62F485F3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Outline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82289-40B2-C584-AE02-A3FEB872A6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4487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296F5-60BC-3F11-3536-60CDB0EE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764014-59CC-6F54-DDE9-DBDC845C4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1. Quick Update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87E998C-AEBE-C1CE-9D16-4BEEE027EA7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3</a:t>
            </a:fld>
            <a:endParaRPr lang="en-V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7512C5-2DA5-42D5-1135-E63C80A6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VN" dirty="0"/>
              <a:t>Review paper summary</a:t>
            </a:r>
          </a:p>
          <a:p>
            <a:pPr marL="342900" indent="-342900">
              <a:buAutoNum type="arabicPeriod"/>
            </a:pPr>
            <a:r>
              <a:rPr lang="en-VN" dirty="0"/>
              <a:t>Pipeline for measurement</a:t>
            </a:r>
          </a:p>
        </p:txBody>
      </p:sp>
    </p:spTree>
    <p:extLst>
      <p:ext uri="{BB962C8B-B14F-4D97-AF65-F5344CB8AC3E}">
        <p14:creationId xmlns:p14="http://schemas.microsoft.com/office/powerpoint/2010/main" val="141465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6CD74-E3DE-8558-8380-B56DC2D5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BC6BD2-D08C-C0DB-630D-72B5F062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2. Literature Review Paper – Background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50BCC9F-B61B-0E30-26D1-C3C4FD404F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4</a:t>
            </a:fld>
            <a:endParaRPr lang="en-V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CBE9C9-395E-43C1-22C0-9FBE026F10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6812732"/>
              </p:ext>
            </p:extLst>
          </p:nvPr>
        </p:nvGraphicFramePr>
        <p:xfrm>
          <a:off x="400050" y="1123950"/>
          <a:ext cx="7753350" cy="2819400"/>
        </p:xfrm>
        <a:graphic>
          <a:graphicData uri="http://schemas.openxmlformats.org/drawingml/2006/table">
            <a:tbl>
              <a:tblPr/>
              <a:tblGrid>
                <a:gridCol w="1897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Sheet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Unit of record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answered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Individual Studies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One study-level claim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What was measured, how, in whom, and for which tested endpoint?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Existing Reviews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One prior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15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What literature has already been synthesized, with which scope and method?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Paper Tracker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One PDF/file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915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How many papers? </a:t>
                      </a:r>
                      <a:endParaRPr sz="915" dirty="0">
                        <a:solidFill>
                          <a:srgbClr val="30303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884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84D2F-6AC0-768A-22B4-019F8F731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DA3CDF-20A9-C97C-207C-014BBFEC5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2. Literature Review Paper – Background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69BCD31-4871-A6BA-C201-E93CA084A13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5</a:t>
            </a:fld>
            <a:endParaRPr lang="en-V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3D3FE0-8145-6AA3-AF1B-85491549E6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3878989"/>
              </p:ext>
            </p:extLst>
          </p:nvPr>
        </p:nvGraphicFramePr>
        <p:xfrm>
          <a:off x="381000" y="933450"/>
          <a:ext cx="8305800" cy="3381376"/>
        </p:xfrm>
        <a:graphic>
          <a:graphicData uri="http://schemas.openxmlformats.org/drawingml/2006/table">
            <a:tbl>
              <a:tblPr/>
              <a:tblGrid>
                <a:gridCol w="221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672"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purpose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Downstream use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672">
                <a:tc>
                  <a:txBody>
                    <a:bodyPr/>
                    <a:lstStyle/>
                    <a:p>
                      <a:r>
                        <a:rPr sz="832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Record and Provenance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Connects every extracted claim to the PDF, bibliography, and tracker.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32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Audit and deduplication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672">
                <a:tc>
                  <a:txBody>
                    <a:bodyPr/>
                    <a:lstStyle/>
                    <a:p>
                      <a:r>
                        <a:rPr sz="832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Eligibility and Author Intent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Defines what the paper is, why it is relevant, and the exact claim being audited.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32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Eligibility and claim audit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672">
                <a:tc>
                  <a:txBody>
                    <a:bodyPr/>
                    <a:lstStyle/>
                    <a:p>
                      <a:r>
                        <a:rPr sz="832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Population and Clinical Context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Defines who the result applies to and which transfer claims remain defensible.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32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Transferability matrix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672">
                <a:tc>
                  <a:txBody>
                    <a:bodyPr/>
                    <a:lstStyle/>
                    <a:p>
                      <a:r>
                        <a:rPr sz="832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Speech Task and Sensing Setup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Specifies the speech question and the exact acquisition conditions that shape the signal.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32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Coverage and deployment matrices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672">
                <a:tc>
                  <a:txBody>
                    <a:bodyPr/>
                    <a:lstStyle/>
                    <a:p>
                      <a:r>
                        <a:rPr sz="832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Measurement and Computation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Traces the signal from physical quantity through instrument output and computational inference.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32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Measurand and processing comparison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672">
                <a:tc>
                  <a:txBody>
                    <a:bodyPr/>
                    <a:lstStyle/>
                    <a:p>
                      <a:r>
                        <a:rPr sz="832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Results and Evidence Quality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Records what the study actually tested, what it found, and how stable that evidence is.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32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Evidence maturity and result synthesis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672">
                <a:tc>
                  <a:txBody>
                    <a:bodyPr/>
                    <a:lstStyle/>
                    <a:p>
                      <a:r>
                        <a:rPr sz="832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Translation and Critical Synthesis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Converts extracted facts into bounded claims and tests whether clinical promises match the evidence.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832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T1-T5 and gap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718FD2C-00DB-2EA6-BD68-047836A4DC2A}"/>
              </a:ext>
            </a:extLst>
          </p:cNvPr>
          <p:cNvSpPr txBox="1"/>
          <p:nvPr/>
        </p:nvSpPr>
        <p:spPr>
          <a:xfrm>
            <a:off x="533400" y="565478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75" b="1">
                <a:solidFill>
                  <a:srgbClr val="72243D"/>
                </a:solidFill>
                <a:latin typeface="Arial"/>
                <a:ea typeface="Arial"/>
                <a:cs typeface="Arial"/>
              </a:defRPr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Individual Studies contains seven linked evidence groups</a:t>
            </a:r>
          </a:p>
        </p:txBody>
      </p:sp>
    </p:spTree>
    <p:extLst>
      <p:ext uri="{BB962C8B-B14F-4D97-AF65-F5344CB8AC3E}">
        <p14:creationId xmlns:p14="http://schemas.microsoft.com/office/powerpoint/2010/main" val="165672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CB7DD-E2B3-894A-C458-FBD457775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F7FBB4-679B-CD41-A5A8-4CC9D2D6C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2. Literature Review Paper – Background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0B3D958-6261-14B9-436C-C74DC66F384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6</a:t>
            </a:fld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9D4957-2248-BE31-2457-47962CB5171E}"/>
              </a:ext>
            </a:extLst>
          </p:cNvPr>
          <p:cNvSpPr txBox="1"/>
          <p:nvPr/>
        </p:nvSpPr>
        <p:spPr>
          <a:xfrm>
            <a:off x="533400" y="565478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88" b="1">
                <a:solidFill>
                  <a:srgbClr val="72243D"/>
                </a:solidFill>
                <a:latin typeface="Arial"/>
                <a:ea typeface="Arial"/>
                <a:cs typeface="Arial"/>
              </a:defRPr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Existing Reviews contains four comparison groups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C64462-5947-D2EB-4D98-D1207350AB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6807547"/>
              </p:ext>
            </p:extLst>
          </p:nvPr>
        </p:nvGraphicFramePr>
        <p:xfrm>
          <a:off x="457200" y="1276350"/>
          <a:ext cx="8153399" cy="2900770"/>
        </p:xfrm>
        <a:graphic>
          <a:graphicData uri="http://schemas.openxmlformats.org/drawingml/2006/table">
            <a:tbl>
              <a:tblPr/>
              <a:tblGrid>
                <a:gridCol w="2088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7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7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015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purpose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Downstream use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15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Review Identification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Identifies the review and separates bibliographic identity from review methodology.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Deduplication and recency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15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Review Method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Shows how reproducibly each review found and selected evidence.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Transparency and update window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15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Review Scope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Maps what each review actually covered across population, subsystem, technology, and use.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Overlap matrix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15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Review Positioning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Separates the authors' synthesis from our comparison and novelty argument.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Competitor classification and novelty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50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B3D49-CEF5-49B8-E3EF-CD03A8CBB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DD5B5F-678D-EA27-74FC-07F72392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2. Literature Review Paper – Background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BD828A37-3BD5-D65F-639F-AE324DEFD4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7</a:t>
            </a:fld>
            <a:endParaRPr lang="en-VN"/>
          </a:p>
        </p:txBody>
      </p:sp>
      <p:graphicFrame>
        <p:nvGraphicFramePr>
          <p:cNvPr id="11" name="Chart">
            <a:extLst>
              <a:ext uri="{FF2B5EF4-FFF2-40B4-BE49-F238E27FC236}">
                <a16:creationId xmlns:a16="http://schemas.microsoft.com/office/drawing/2014/main" id="{DA26FADB-0714-9DB1-E147-2A72FE6A75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4172391"/>
              </p:ext>
            </p:extLst>
          </p:nvPr>
        </p:nvGraphicFramePr>
        <p:xfrm>
          <a:off x="457200" y="1257300"/>
          <a:ext cx="4476750" cy="287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meaning-heading">
            <a:extLst>
              <a:ext uri="{FF2B5EF4-FFF2-40B4-BE49-F238E27FC236}">
                <a16:creationId xmlns:a16="http://schemas.microsoft.com/office/drawing/2014/main" id="{FB6E1445-1234-3CCD-F8E4-AC60B0B32416}"/>
              </a:ext>
            </a:extLst>
          </p:cNvPr>
          <p:cNvSpPr>
            <a:spLocks noGrp="1"/>
          </p:cNvSpPr>
          <p:nvPr/>
        </p:nvSpPr>
        <p:spPr>
          <a:xfrm>
            <a:off x="5267325" y="1228725"/>
            <a:ext cx="3333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294" lnSpcReduction="10000"/>
          </a:bodyPr>
          <a:lstStyle/>
          <a:p>
            <a:pPr algn="l">
              <a:defRPr sz="1275" b="1" i="0">
                <a:solidFill>
                  <a:srgbClr val="72243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2243D"/>
                </a:solidFill>
                <a:latin typeface="Arial"/>
                <a:ea typeface="Arial"/>
                <a:cs typeface="Arial"/>
              </a:rPr>
              <a:t>What each group contributes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EE1C23-21E6-4AD2-755E-F690DE855CB0}"/>
              </a:ext>
            </a:extLst>
          </p:cNvPr>
          <p:cNvSpPr>
            <a:spLocks noGrp="1"/>
          </p:cNvSpPr>
          <p:nvPr/>
        </p:nvSpPr>
        <p:spPr>
          <a:xfrm>
            <a:off x="5276850" y="1600200"/>
            <a:ext cx="76200" cy="400050"/>
          </a:xfrm>
          <a:prstGeom prst="rect">
            <a:avLst/>
          </a:prstGeom>
          <a:solidFill>
            <a:srgbClr val="72243D"/>
          </a:solidFill>
          <a:ln w="0">
            <a:solidFill>
              <a:srgbClr val="72243D"/>
            </a:solidFill>
          </a:ln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F0321E-AD23-C113-9D42-FC3CEAD0EE51}"/>
              </a:ext>
            </a:extLst>
          </p:cNvPr>
          <p:cNvSpPr>
            <a:spLocks noGrp="1"/>
          </p:cNvSpPr>
          <p:nvPr/>
        </p:nvSpPr>
        <p:spPr>
          <a:xfrm>
            <a:off x="5457825" y="1571625"/>
            <a:ext cx="30670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897" lnSpcReduction="20000"/>
          </a:bodyPr>
          <a:lstStyle/>
          <a:p>
            <a:pPr algn="l">
              <a:defRPr sz="945" b="1" i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945" b="1" i="0">
                <a:solidFill>
                  <a:srgbClr val="303030"/>
                </a:solidFill>
                <a:latin typeface="Arial"/>
                <a:ea typeface="Arial"/>
                <a:cs typeface="Arial"/>
              </a:rPr>
              <a:t>0  Direct competitor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3A75DD-A5C7-6DA3-4156-9DD05AB6D302}"/>
              </a:ext>
            </a:extLst>
          </p:cNvPr>
          <p:cNvSpPr>
            <a:spLocks noGrp="1"/>
          </p:cNvSpPr>
          <p:nvPr/>
        </p:nvSpPr>
        <p:spPr>
          <a:xfrm>
            <a:off x="5457825" y="1771650"/>
            <a:ext cx="30670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37" lnSpcReduction="10000"/>
          </a:bodyPr>
          <a:lstStyle/>
          <a:p>
            <a:pPr algn="l">
              <a:defRPr sz="78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8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Would test the whole-review novelty claim. None identified in this 35-review set.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2FB8-3610-6A4D-17C8-AFD0AD6BDA35}"/>
              </a:ext>
            </a:extLst>
          </p:cNvPr>
          <p:cNvSpPr>
            <a:spLocks noGrp="1"/>
          </p:cNvSpPr>
          <p:nvPr/>
        </p:nvSpPr>
        <p:spPr>
          <a:xfrm>
            <a:off x="5276850" y="2143125"/>
            <a:ext cx="76200" cy="400050"/>
          </a:xfrm>
          <a:prstGeom prst="rect">
            <a:avLst/>
          </a:prstGeom>
          <a:solidFill>
            <a:srgbClr val="E17C00"/>
          </a:solidFill>
          <a:ln w="0">
            <a:solidFill>
              <a:srgbClr val="E17C00"/>
            </a:solidFill>
          </a:ln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9521C9-69CC-4221-03AE-0797008119E2}"/>
              </a:ext>
            </a:extLst>
          </p:cNvPr>
          <p:cNvSpPr>
            <a:spLocks noGrp="1"/>
          </p:cNvSpPr>
          <p:nvPr/>
        </p:nvSpPr>
        <p:spPr>
          <a:xfrm>
            <a:off x="5457825" y="2114550"/>
            <a:ext cx="30670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897" lnSpcReduction="20000"/>
          </a:bodyPr>
          <a:lstStyle/>
          <a:p>
            <a:pPr algn="l">
              <a:defRPr sz="945" b="1" i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945" b="1" i="0">
                <a:solidFill>
                  <a:srgbClr val="303030"/>
                </a:solidFill>
                <a:latin typeface="Arial"/>
                <a:ea typeface="Arial"/>
                <a:cs typeface="Arial"/>
              </a:rPr>
              <a:t>12  Narrow direct predecessors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9B3044-B248-7978-C401-D9C9B03F3799}"/>
              </a:ext>
            </a:extLst>
          </p:cNvPr>
          <p:cNvSpPr>
            <a:spLocks noGrp="1"/>
          </p:cNvSpPr>
          <p:nvPr/>
        </p:nvSpPr>
        <p:spPr>
          <a:xfrm>
            <a:off x="5457825" y="2314575"/>
            <a:ext cx="30670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37" lnSpcReduction="10000"/>
          </a:bodyPr>
          <a:lstStyle/>
          <a:p>
            <a:pPr algn="l">
              <a:defRPr sz="78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80" b="0" i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Dysarthria and sensing are central, but the review is restricted by modality, subsystem, etiology, or use.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801A54-DF3F-02A9-1454-2CF1C2487987}"/>
              </a:ext>
            </a:extLst>
          </p:cNvPr>
          <p:cNvSpPr>
            <a:spLocks noGrp="1"/>
          </p:cNvSpPr>
          <p:nvPr/>
        </p:nvSpPr>
        <p:spPr>
          <a:xfrm>
            <a:off x="5276850" y="2686050"/>
            <a:ext cx="76200" cy="400050"/>
          </a:xfrm>
          <a:prstGeom prst="rect">
            <a:avLst/>
          </a:prstGeom>
          <a:solidFill>
            <a:srgbClr val="A78492"/>
          </a:solidFill>
          <a:ln w="0">
            <a:solidFill>
              <a:srgbClr val="A78492"/>
            </a:solidFill>
          </a:ln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47183C-5F77-8291-CE47-192D1963E96C}"/>
              </a:ext>
            </a:extLst>
          </p:cNvPr>
          <p:cNvSpPr>
            <a:spLocks noGrp="1"/>
          </p:cNvSpPr>
          <p:nvPr/>
        </p:nvSpPr>
        <p:spPr>
          <a:xfrm>
            <a:off x="5457825" y="2657475"/>
            <a:ext cx="30670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897" lnSpcReduction="20000"/>
          </a:bodyPr>
          <a:lstStyle/>
          <a:p>
            <a:pPr algn="l">
              <a:defRPr sz="945" b="1" i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945" b="1" i="0">
                <a:solidFill>
                  <a:srgbClr val="303030"/>
                </a:solidFill>
                <a:latin typeface="Arial"/>
                <a:ea typeface="Arial"/>
                <a:cs typeface="Arial"/>
              </a:rPr>
              <a:t>6  Structural analogs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54585F-BE48-3FD7-69C0-F339ED99401B}"/>
              </a:ext>
            </a:extLst>
          </p:cNvPr>
          <p:cNvSpPr>
            <a:spLocks noGrp="1"/>
          </p:cNvSpPr>
          <p:nvPr/>
        </p:nvSpPr>
        <p:spPr>
          <a:xfrm>
            <a:off x="5457825" y="2857500"/>
            <a:ext cx="30670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37" lnSpcReduction="10000"/>
          </a:bodyPr>
          <a:lstStyle/>
          <a:p>
            <a:pPr algn="l">
              <a:defRPr sz="78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80" b="0" i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Use a similar measurement-to-application logic, but in a different population or narrower technical scope.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7085C6-090A-E0F1-ED1F-ED964ACE9753}"/>
              </a:ext>
            </a:extLst>
          </p:cNvPr>
          <p:cNvSpPr>
            <a:spLocks noGrp="1"/>
          </p:cNvSpPr>
          <p:nvPr/>
        </p:nvSpPr>
        <p:spPr>
          <a:xfrm>
            <a:off x="5276850" y="3228975"/>
            <a:ext cx="76200" cy="400050"/>
          </a:xfrm>
          <a:prstGeom prst="rect">
            <a:avLst/>
          </a:prstGeom>
          <a:solidFill>
            <a:srgbClr val="AFAFAF"/>
          </a:solidFill>
          <a:ln w="0">
            <a:solidFill>
              <a:srgbClr val="AFAFAF"/>
            </a:solidFill>
          </a:ln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50BD21-7BC5-1B20-C302-739C14461C1F}"/>
              </a:ext>
            </a:extLst>
          </p:cNvPr>
          <p:cNvSpPr>
            <a:spLocks noGrp="1"/>
          </p:cNvSpPr>
          <p:nvPr/>
        </p:nvSpPr>
        <p:spPr>
          <a:xfrm>
            <a:off x="5457825" y="3200400"/>
            <a:ext cx="30670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897" lnSpcReduction="20000"/>
          </a:bodyPr>
          <a:lstStyle/>
          <a:p>
            <a:pPr algn="l">
              <a:defRPr sz="945" b="1" i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945" b="1" i="0">
                <a:solidFill>
                  <a:srgbClr val="303030"/>
                </a:solidFill>
                <a:latin typeface="Arial"/>
                <a:ea typeface="Arial"/>
                <a:cs typeface="Arial"/>
              </a:rPr>
              <a:t>16  Adjacent topical reviews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C82349-D811-8A2D-2BC2-4972B286EA08}"/>
              </a:ext>
            </a:extLst>
          </p:cNvPr>
          <p:cNvSpPr>
            <a:spLocks noGrp="1"/>
          </p:cNvSpPr>
          <p:nvPr/>
        </p:nvSpPr>
        <p:spPr>
          <a:xfrm>
            <a:off x="5457825" y="3400425"/>
            <a:ext cx="30670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37" lnSpcReduction="10000"/>
          </a:bodyPr>
          <a:lstStyle/>
          <a:p>
            <a:pPr algn="l">
              <a:defRPr sz="78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80" b="0" i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Overlap in one topic only; useful for a section, not for defining the whole review.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1930E9-3756-3581-A67D-D085AED424F8}"/>
              </a:ext>
            </a:extLst>
          </p:cNvPr>
          <p:cNvSpPr>
            <a:spLocks noGrp="1"/>
          </p:cNvSpPr>
          <p:nvPr/>
        </p:nvSpPr>
        <p:spPr>
          <a:xfrm>
            <a:off x="5276850" y="3771900"/>
            <a:ext cx="76200" cy="400050"/>
          </a:xfrm>
          <a:prstGeom prst="rect">
            <a:avLst/>
          </a:prstGeom>
          <a:solidFill>
            <a:srgbClr val="C9BEB7"/>
          </a:solidFill>
          <a:ln w="0">
            <a:solidFill>
              <a:srgbClr val="C9BEB7"/>
            </a:solidFill>
          </a:ln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F0868C-FD69-AC51-E723-969F2E1B35CB}"/>
              </a:ext>
            </a:extLst>
          </p:cNvPr>
          <p:cNvSpPr>
            <a:spLocks noGrp="1"/>
          </p:cNvSpPr>
          <p:nvPr/>
        </p:nvSpPr>
        <p:spPr>
          <a:xfrm>
            <a:off x="5457825" y="3743325"/>
            <a:ext cx="30670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897" lnSpcReduction="20000"/>
          </a:bodyPr>
          <a:lstStyle/>
          <a:p>
            <a:pPr algn="l">
              <a:defRPr sz="945" b="1" i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945" b="1" i="0">
                <a:solidFill>
                  <a:srgbClr val="303030"/>
                </a:solidFill>
                <a:latin typeface="Arial"/>
                <a:ea typeface="Arial"/>
                <a:cs typeface="Arial"/>
              </a:rPr>
              <a:t>1  Foundational source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669996-B6A6-3179-47A4-4AF33EEBDBC2}"/>
              </a:ext>
            </a:extLst>
          </p:cNvPr>
          <p:cNvSpPr>
            <a:spLocks noGrp="1"/>
          </p:cNvSpPr>
          <p:nvPr/>
        </p:nvSpPr>
        <p:spPr>
          <a:xfrm>
            <a:off x="5457825" y="3943350"/>
            <a:ext cx="30670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237"/>
          </a:bodyPr>
          <a:lstStyle/>
          <a:p>
            <a:pPr algn="l">
              <a:defRPr sz="78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80" b="0" i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Supplies </a:t>
            </a:r>
            <a:r>
              <a:rPr sz="780" b="0" i="0" dirty="0" err="1">
                <a:solidFill>
                  <a:srgbClr val="666666"/>
                </a:solidFill>
                <a:latin typeface="Arial"/>
                <a:ea typeface="Arial"/>
                <a:cs typeface="Arial"/>
              </a:rPr>
              <a:t>terminolog</a:t>
            </a:r>
            <a:r>
              <a:rPr lang="en-VN" sz="780" b="0" i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y.</a:t>
            </a:r>
            <a:endParaRPr sz="780" b="0" i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819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t>2. Literature Review Paper – Progress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200000" y="1420000"/>
          <a:ext cx="6750000" cy="26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81373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17130-F03C-D4AD-7F33-6C3869ADB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7AC831-D460-A84B-95CE-8E171CA07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2. Literature Review Paper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70E9434-DC31-6B3D-F180-C9A22B41E1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9</a:t>
            </a:fld>
            <a:endParaRPr lang="en-V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DE5F6F-C6D2-28E6-D16F-30109B5E8B3A}"/>
              </a:ext>
            </a:extLst>
          </p:cNvPr>
          <p:cNvGraphicFramePr/>
          <p:nvPr/>
        </p:nvGraphicFramePr>
        <p:xfrm>
          <a:off x="400050" y="981075"/>
          <a:ext cx="8134348" cy="3432305"/>
        </p:xfrm>
        <a:graphic>
          <a:graphicData uri="http://schemas.openxmlformats.org/drawingml/2006/table">
            <a:tbl>
              <a:tblPr/>
              <a:tblGrid>
                <a:gridCol w="158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Subsystem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Acoustic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b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Audio sensing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Aero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dynamic/ pressure measurement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EGG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/Electroglottography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iration motion sensing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EPG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 Electropalatography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UTI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 Ultrasound Tongue Imaging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EMA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/kin.</a:t>
                      </a:r>
                      <a:b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Electromagnetic articulography/ kinematic tracking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Respiration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dirty="0">
                          <a:solidFill>
                            <a:srgbClr val="2B1A0C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E99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Phonation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A94B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Resonance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dirty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dirty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Articulation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dirty="0">
                          <a:solidFill>
                            <a:srgbClr val="2B1A0C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E99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endParaRPr sz="938" b="1" dirty="0">
                        <a:solidFill>
                          <a:srgbClr val="7224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A94B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902BB13A-6889-8336-19FE-9028B4A8853B}"/>
              </a:ext>
            </a:extLst>
          </p:cNvPr>
          <p:cNvSpPr>
            <a:spLocks noGrp="1"/>
          </p:cNvSpPr>
          <p:nvPr/>
        </p:nvSpPr>
        <p:spPr>
          <a:xfrm>
            <a:off x="410936" y="404812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>
              <a:defRPr sz="1050" b="1">
                <a:solidFill>
                  <a:srgbClr val="72243D"/>
                </a:solidFill>
                <a:latin typeface="Arial"/>
                <a:ea typeface="Arial"/>
                <a:cs typeface="Arial"/>
              </a:defRPr>
            </a:pPr>
            <a:r>
              <a:rPr lang="vi-VN" sz="1050" b="1" dirty="0">
                <a:solidFill>
                  <a:srgbClr val="72243D"/>
                </a:solidFill>
                <a:latin typeface="Arial"/>
                <a:ea typeface="Arial"/>
                <a:cs typeface="Arial"/>
              </a:rPr>
              <a:t>Prosody</a:t>
            </a:r>
            <a:endParaRPr sz="1050" b="1" dirty="0">
              <a:solidFill>
                <a:srgbClr val="722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017979-4471-7C71-1FAA-433360292BE1}"/>
              </a:ext>
            </a:extLst>
          </p:cNvPr>
          <p:cNvSpPr txBox="1"/>
          <p:nvPr/>
        </p:nvSpPr>
        <p:spPr>
          <a:xfrm>
            <a:off x="571500" y="613908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400" b="1" i="0" dirty="0">
                <a:solidFill>
                  <a:srgbClr val="303030"/>
                </a:solidFill>
                <a:latin typeface="Arial"/>
              </a:rPr>
              <a:t>Week 5</a:t>
            </a:r>
            <a:endParaRPr sz="1400" b="1" i="0" dirty="0">
              <a:solidFill>
                <a:srgbClr val="30303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016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17130-F03C-D4AD-7F33-6C3869ADB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7AC831-D460-A84B-95CE-8E171CA07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2. Literature Review Paper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70E9434-DC31-6B3D-F180-C9A22B41E1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10</a:t>
            </a:fld>
            <a:endParaRPr lang="en-V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DE5F6F-C6D2-28E6-D16F-30109B5E8B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6664006"/>
              </p:ext>
            </p:extLst>
          </p:nvPr>
        </p:nvGraphicFramePr>
        <p:xfrm>
          <a:off x="400050" y="981075"/>
          <a:ext cx="8134348" cy="3432305"/>
        </p:xfrm>
        <a:graphic>
          <a:graphicData uri="http://schemas.openxmlformats.org/drawingml/2006/table">
            <a:tbl>
              <a:tblPr/>
              <a:tblGrid>
                <a:gridCol w="158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87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Subsystem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Acoustic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b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Audio sensing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Aero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dynamic/ pressure measurement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EGG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/Electroglottography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iration motion sensing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EPG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 Electropalatography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UTI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 Ultrasound Tongue Imaging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EMA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/kin.</a:t>
                      </a:r>
                      <a:b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Electromagnetic articulography/ kinematic tracking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Respiration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A94B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Phonation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Resonance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A94B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 dirty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 dirty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Articulation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A94B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A94B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endParaRPr sz="938" b="1" dirty="0">
                        <a:solidFill>
                          <a:srgbClr val="7224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 i="0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 i="0" dirty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902BB13A-6889-8336-19FE-9028B4A8853B}"/>
              </a:ext>
            </a:extLst>
          </p:cNvPr>
          <p:cNvSpPr>
            <a:spLocks noGrp="1"/>
          </p:cNvSpPr>
          <p:nvPr/>
        </p:nvSpPr>
        <p:spPr>
          <a:xfrm>
            <a:off x="410936" y="4048125"/>
            <a:ext cx="12858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>
              <a:defRPr sz="1050" b="1">
                <a:solidFill>
                  <a:srgbClr val="72243D"/>
                </a:solidFill>
                <a:latin typeface="Arial"/>
                <a:ea typeface="Arial"/>
                <a:cs typeface="Arial"/>
              </a:defRPr>
            </a:pPr>
            <a:r>
              <a:rPr lang="vi-VN" sz="1050" b="1" dirty="0">
                <a:solidFill>
                  <a:srgbClr val="72243D"/>
                </a:solidFill>
                <a:latin typeface="Arial"/>
                <a:ea typeface="Arial"/>
                <a:cs typeface="Arial"/>
              </a:rPr>
              <a:t>Prosody</a:t>
            </a:r>
            <a:endParaRPr sz="1050" b="1" dirty="0">
              <a:solidFill>
                <a:srgbClr val="722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092F12-900A-4283-770A-78D56D401CD5}"/>
              </a:ext>
            </a:extLst>
          </p:cNvPr>
          <p:cNvSpPr txBox="1"/>
          <p:nvPr/>
        </p:nvSpPr>
        <p:spPr>
          <a:xfrm>
            <a:off x="571500" y="613908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400" b="1" i="0" dirty="0">
                <a:solidFill>
                  <a:srgbClr val="303030"/>
                </a:solidFill>
                <a:latin typeface="Arial"/>
              </a:rPr>
              <a:t>Week 6</a:t>
            </a:r>
            <a:endParaRPr sz="1400" b="1" i="0" dirty="0">
              <a:solidFill>
                <a:srgbClr val="30303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19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t>2. Literature Review Paper –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0000" y="738131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303030"/>
                </a:solidFill>
                <a:latin typeface="Arial"/>
              </a:rPr>
              <a:t>Sensing modality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50000" y="1270000"/>
          <a:ext cx="805000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A5805-2EF5-C6EC-D9BC-3D7D36D7A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5AD3B0-E448-25A5-1663-CF2D2F7C3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2. Literature Review Paper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B272DF9-99E6-D1A7-AD54-4EE48E5AA8C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12</a:t>
            </a:fld>
            <a:endParaRPr lang="en-V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075A34-871F-0CD3-92B8-F7EBF7B3914E}"/>
              </a:ext>
            </a:extLst>
          </p:cNvPr>
          <p:cNvGraphicFramePr/>
          <p:nvPr/>
        </p:nvGraphicFramePr>
        <p:xfrm>
          <a:off x="346870" y="954404"/>
          <a:ext cx="8450259" cy="3741375"/>
        </p:xfrm>
        <a:graphic>
          <a:graphicData uri="http://schemas.openxmlformats.org/drawingml/2006/table">
            <a:tbl>
              <a:tblPr/>
              <a:tblGrid>
                <a:gridCol w="1749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6183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Population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Acoustic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b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Audio sensing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Aero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dynamic/ pressure measurement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EGG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/Electroglottography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iration motion sensing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EPG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 Electropalatography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UTI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 Ultrasound Tongue Imaging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EMA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/kin.</a:t>
                      </a:r>
                      <a:b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Electromagnetic articulography/ kinematic tracking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r>
                        <a:rPr sz="885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Parkinson disease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r>
                        <a:rPr sz="885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ALS/MND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A94B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 dirty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r>
                        <a:rPr sz="885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Stroke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r>
                        <a:rPr sz="885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Multiple sclerosis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r>
                        <a:rPr sz="885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Ataxia/cerebellar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r>
                        <a:rPr sz="885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TBI/concussion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r>
                        <a:rPr sz="885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Other neurologic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2B1A0C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E99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r>
                        <a:rPr sz="885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No dysarthria cohort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5" b="1" dirty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45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A5805-2EF5-C6EC-D9BC-3D7D36D7A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5AD3B0-E448-25A5-1663-CF2D2F7C3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2. Literature Review Paper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B272DF9-99E6-D1A7-AD54-4EE48E5AA8C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13</a:t>
            </a:fld>
            <a:endParaRPr lang="en-V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075A34-871F-0CD3-92B8-F7EBF7B391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6896194"/>
              </p:ext>
            </p:extLst>
          </p:nvPr>
        </p:nvGraphicFramePr>
        <p:xfrm>
          <a:off x="346870" y="954404"/>
          <a:ext cx="8450259" cy="3811911"/>
        </p:xfrm>
        <a:graphic>
          <a:graphicData uri="http://schemas.openxmlformats.org/drawingml/2006/table">
            <a:tbl>
              <a:tblPr/>
              <a:tblGrid>
                <a:gridCol w="1749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76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6183">
                <a:tc>
                  <a:txBody>
                    <a:bodyPr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Population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Acoustic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b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Audio sensing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Aero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dynamic/ pressure measurement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EGG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/Electroglottography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iration motion sensing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EPG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 Electropalatography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UTI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 Ultrasound Tongue Imaging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EMA</a:t>
                      </a: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/kin.</a:t>
                      </a:r>
                      <a:b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lang="vi-VN" sz="7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Electromagnetic articulography/ kinematic tracking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sEMG</a:t>
                      </a:r>
                      <a:endParaRPr sz="78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Parkinson disease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2B1A0C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E99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A94B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ALS/MND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7224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2B1A0C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E99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 dirty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Stroke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A94B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Multiple sclerosis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Ataxia/cerebellar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2B1A0C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E99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TBI/concussion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Other neurologic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2B1A0C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E99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No dysarthria cohort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A94B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A94B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Cleft palate/VPI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5C1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 dirty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33725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72243D"/>
                          </a:solidFill>
                          <a:latin typeface="Arial"/>
                          <a:ea typeface="Arial"/>
                          <a:cs typeface="Arial"/>
                        </a:rPr>
                        <a:t>Down syndrome</a:t>
                      </a:r>
                    </a:p>
                  </a:txBody>
                  <a:tcPr anchor="ctr">
                    <a:solidFill>
                      <a:srgbClr val="F4E9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 i="0">
                          <a:solidFill>
                            <a:srgbClr val="3030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C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i="0" dirty="0">
                          <a:solidFill>
                            <a:srgbClr val="8A8A8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174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25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t>2. Literature Review Paper –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2223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303030"/>
                </a:solidFill>
                <a:latin typeface="Arial"/>
              </a:rPr>
              <a:t>Population coverage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00000" y="1380000"/>
          <a:ext cx="735000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t>2. Literature Review Paper –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788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303030"/>
                </a:solidFill>
                <a:latin typeface="Arial"/>
              </a:rPr>
              <a:t>Subsystem coverage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00000" y="1420000"/>
          <a:ext cx="7350000" cy="26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8022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B11F2-B072-0721-77E4-47C41FB9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907D9E-EB55-B569-F57D-E9294403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2. Literature Review Paper – Future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B8AC4346-7B2B-3E74-B687-37B012E024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16</a:t>
            </a:fld>
            <a:endParaRPr lang="en-VN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82CE4DB-AF43-27B5-777C-8B5A33CBE4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819150"/>
            <a:ext cx="8001000" cy="3733800"/>
          </a:xfrm>
        </p:spPr>
        <p:txBody>
          <a:bodyPr/>
          <a:lstStyle/>
          <a:p>
            <a:pPr>
              <a:buNone/>
            </a:pPr>
            <a:r>
              <a:rPr lang="en-US" sz="1400" b="1" dirty="0"/>
              <a:t>1. Starting to have a draft in Overleaf based on current papers</a:t>
            </a:r>
            <a:endParaRPr lang="en-US" sz="1400" b="0" dirty="0"/>
          </a:p>
          <a:p>
            <a:endParaRPr 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388105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A699D-D61A-F809-72CE-DB0A5D31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8ECD31-A52B-4169-1255-CBB31FA78E3A}"/>
              </a:ext>
            </a:extLst>
          </p:cNvPr>
          <p:cNvSpPr/>
          <p:nvPr/>
        </p:nvSpPr>
        <p:spPr>
          <a:xfrm>
            <a:off x="3505200" y="1428750"/>
            <a:ext cx="4876800" cy="1295400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E24E60-7DEF-1662-F2FD-6017353AD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Background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A3BA19DB-1B2D-33DD-776B-40E8B851033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17</a:t>
            </a:fld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8B05CF-531A-8DA3-47AF-1C3DDD4724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7389" y="918160"/>
            <a:ext cx="2542493" cy="258487"/>
          </a:xfrm>
        </p:spPr>
        <p:txBody>
          <a:bodyPr/>
          <a:lstStyle/>
          <a:p>
            <a:r>
              <a:rPr lang="en-VN" sz="1400" b="0" dirty="0"/>
              <a:t>ADG2128 chooses electrodes</a:t>
            </a:r>
          </a:p>
        </p:txBody>
      </p:sp>
      <p:pic>
        <p:nvPicPr>
          <p:cNvPr id="7" name="Picture 6" descr="A diagram of a head with numbers and lines&#10;&#10;AI-generated content may be incorrect.">
            <a:extLst>
              <a:ext uri="{FF2B5EF4-FFF2-40B4-BE49-F238E27FC236}">
                <a16:creationId xmlns:a16="http://schemas.microsoft.com/office/drawing/2014/main" id="{DED53D09-2CDF-07DA-E6D2-60A11213B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36" y="1336674"/>
            <a:ext cx="2858076" cy="155575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3998D5-433A-BFCC-56AD-8862ECC774BA}"/>
              </a:ext>
            </a:extLst>
          </p:cNvPr>
          <p:cNvSpPr/>
          <p:nvPr/>
        </p:nvSpPr>
        <p:spPr>
          <a:xfrm>
            <a:off x="3638707" y="1809750"/>
            <a:ext cx="8382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>
                <a:latin typeface="Arial" panose="020B0604020202020204" pitchFamily="34" charset="0"/>
                <a:cs typeface="Arial" panose="020B0604020202020204" pitchFamily="34" charset="0"/>
              </a:rPr>
              <a:t>Excite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471DEFA-81FE-8A62-413F-B7355D4EA08D}"/>
              </a:ext>
            </a:extLst>
          </p:cNvPr>
          <p:cNvSpPr/>
          <p:nvPr/>
        </p:nvSpPr>
        <p:spPr>
          <a:xfrm>
            <a:off x="4800600" y="1809750"/>
            <a:ext cx="8382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>
                <a:latin typeface="Arial" panose="020B0604020202020204" pitchFamily="34" charset="0"/>
                <a:cs typeface="Arial" panose="020B0604020202020204" pitchFamily="34" charset="0"/>
              </a:rPr>
              <a:t>Inject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49B5084-9991-8449-B767-EC270926F3CF}"/>
              </a:ext>
            </a:extLst>
          </p:cNvPr>
          <p:cNvSpPr/>
          <p:nvPr/>
        </p:nvSpPr>
        <p:spPr>
          <a:xfrm>
            <a:off x="5962493" y="1809750"/>
            <a:ext cx="8382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>
                <a:latin typeface="Arial" panose="020B0604020202020204" pitchFamily="34" charset="0"/>
                <a:cs typeface="Arial" panose="020B0604020202020204" pitchFamily="34" charset="0"/>
              </a:rPr>
              <a:t>Sense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806FC83-20C0-58BC-B458-1A6255B00B23}"/>
              </a:ext>
            </a:extLst>
          </p:cNvPr>
          <p:cNvSpPr/>
          <p:nvPr/>
        </p:nvSpPr>
        <p:spPr>
          <a:xfrm>
            <a:off x="7124386" y="1803763"/>
            <a:ext cx="1029014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>
                <a:latin typeface="Arial" panose="020B0604020202020204" pitchFamily="34" charset="0"/>
                <a:cs typeface="Arial" panose="020B0604020202020204" pitchFamily="34" charset="0"/>
              </a:rPr>
              <a:t>Compute Z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2E82904-0A6D-04B2-1A72-181DECF05FB8}"/>
              </a:ext>
            </a:extLst>
          </p:cNvPr>
          <p:cNvCxnSpPr>
            <a:stCxn id="8" idx="3"/>
          </p:cNvCxnSpPr>
          <p:nvPr/>
        </p:nvCxnSpPr>
        <p:spPr>
          <a:xfrm>
            <a:off x="4476907" y="2038350"/>
            <a:ext cx="323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8C4C9D-237E-5624-21A1-3028C998D24A}"/>
              </a:ext>
            </a:extLst>
          </p:cNvPr>
          <p:cNvCxnSpPr>
            <a:endCxn id="10" idx="1"/>
          </p:cNvCxnSpPr>
          <p:nvPr/>
        </p:nvCxnSpPr>
        <p:spPr>
          <a:xfrm>
            <a:off x="5638800" y="2038350"/>
            <a:ext cx="323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D8AE20F-9A4B-031A-E2F4-583CF28C9005}"/>
              </a:ext>
            </a:extLst>
          </p:cNvPr>
          <p:cNvCxnSpPr>
            <a:endCxn id="11" idx="1"/>
          </p:cNvCxnSpPr>
          <p:nvPr/>
        </p:nvCxnSpPr>
        <p:spPr>
          <a:xfrm flipV="1">
            <a:off x="6800693" y="2032363"/>
            <a:ext cx="323693" cy="5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D53DA9-575F-E56A-6248-A54AFB7377DB}"/>
              </a:ext>
            </a:extLst>
          </p:cNvPr>
          <p:cNvCxnSpPr>
            <a:cxnSpLocks/>
          </p:cNvCxnSpPr>
          <p:nvPr/>
        </p:nvCxnSpPr>
        <p:spPr>
          <a:xfrm>
            <a:off x="7772400" y="2260963"/>
            <a:ext cx="0" cy="31078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16CC08-438A-D337-F9C9-D6782D3CEAE9}"/>
              </a:ext>
            </a:extLst>
          </p:cNvPr>
          <p:cNvCxnSpPr>
            <a:cxnSpLocks/>
          </p:cNvCxnSpPr>
          <p:nvPr/>
        </p:nvCxnSpPr>
        <p:spPr>
          <a:xfrm>
            <a:off x="4038600" y="2571750"/>
            <a:ext cx="37338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171317-AF7C-20C4-0CAE-C25D021AA997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4048204" y="2266950"/>
            <a:ext cx="9603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0F758A8C-7101-C0C6-7CC8-F52BA730694E}"/>
              </a:ext>
            </a:extLst>
          </p:cNvPr>
          <p:cNvSpPr txBox="1">
            <a:spLocks/>
          </p:cNvSpPr>
          <p:nvPr/>
        </p:nvSpPr>
        <p:spPr>
          <a:xfrm>
            <a:off x="5465820" y="876893"/>
            <a:ext cx="993346" cy="2584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rgbClr val="E17C00"/>
              </a:buClr>
              <a:buFont typeface="Arial" panose="020B0604020202020204" pitchFamily="34" charset="0"/>
              <a:buNone/>
              <a:defRPr sz="16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8" indent="0" algn="l" defTabSz="914377" rtl="0" eaLnBrk="1" latinLnBrk="0" hangingPunct="1">
              <a:spcBef>
                <a:spcPct val="20000"/>
              </a:spcBef>
              <a:buClr>
                <a:srgbClr val="E17C00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377" indent="0" algn="l" defTabSz="914377" rtl="0" eaLnBrk="1" latinLnBrk="0" hangingPunct="1">
              <a:spcBef>
                <a:spcPct val="20000"/>
              </a:spcBef>
              <a:buClr>
                <a:srgbClr val="E17C00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566" indent="0" algn="l" defTabSz="914377" rtl="0" eaLnBrk="1" latinLnBrk="0" hangingPunct="1">
              <a:spcBef>
                <a:spcPct val="20000"/>
              </a:spcBef>
              <a:buClr>
                <a:srgbClr val="E17C00"/>
              </a:buClr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755" indent="0" algn="l" defTabSz="914377" rtl="0" eaLnBrk="1" latinLnBrk="0" hangingPunct="1">
              <a:spcBef>
                <a:spcPct val="20000"/>
              </a:spcBef>
              <a:buClr>
                <a:srgbClr val="E17C00"/>
              </a:buClr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VN" sz="1400" b="0" dirty="0"/>
              <a:t>AD5940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AF796B-FA9B-0BD3-6C92-BDF23BEB0CD6}"/>
              </a:ext>
            </a:extLst>
          </p:cNvPr>
          <p:cNvSpPr txBox="1"/>
          <p:nvPr/>
        </p:nvSpPr>
        <p:spPr>
          <a:xfrm>
            <a:off x="236536" y="2775453"/>
            <a:ext cx="3124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effectLst/>
                <a:latin typeface="Helvetica" pitchFamily="2" charset="0"/>
              </a:rPr>
              <a:t>B. Liu et al. / </a:t>
            </a:r>
            <a:r>
              <a:rPr lang="en-US" sz="1200" i="1" dirty="0" err="1">
                <a:effectLst/>
                <a:latin typeface="Helvetica" pitchFamily="2" charset="0"/>
              </a:rPr>
              <a:t>SoftwareX</a:t>
            </a:r>
            <a:r>
              <a:rPr lang="en-US" sz="1200" i="1" dirty="0">
                <a:effectLst/>
                <a:latin typeface="Helvetica" pitchFamily="2" charset="0"/>
              </a:rPr>
              <a:t> 7 (2018) 304–308</a:t>
            </a:r>
          </a:p>
        </p:txBody>
      </p:sp>
    </p:spTree>
    <p:extLst>
      <p:ext uri="{BB962C8B-B14F-4D97-AF65-F5344CB8AC3E}">
        <p14:creationId xmlns:p14="http://schemas.microsoft.com/office/powerpoint/2010/main" val="412395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BA0E8-52CB-7C72-BCFA-F18994AB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EE2526-A65B-E736-4148-16246079D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Background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5CC3DDA-D354-9D5C-D198-34B3C75C21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18</a:t>
            </a:fld>
            <a:endParaRPr lang="en-VN"/>
          </a:p>
        </p:txBody>
      </p:sp>
      <p:pic>
        <p:nvPicPr>
          <p:cNvPr id="4" name="Picture 3" descr="A diagram of a problem&#10;&#10;AI-generated content may be incorrect.">
            <a:extLst>
              <a:ext uri="{FF2B5EF4-FFF2-40B4-BE49-F238E27FC236}">
                <a16:creationId xmlns:a16="http://schemas.microsoft.com/office/drawing/2014/main" id="{1A8A55B7-27F8-A4DA-4254-7E6B7781E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66750"/>
            <a:ext cx="7639809" cy="28001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4A97C90-8515-502E-332A-068BFA50D6E5}"/>
              </a:ext>
            </a:extLst>
          </p:cNvPr>
          <p:cNvSpPr txBox="1"/>
          <p:nvPr/>
        </p:nvSpPr>
        <p:spPr>
          <a:xfrm>
            <a:off x="3009900" y="3514606"/>
            <a:ext cx="3124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effectLst/>
                <a:latin typeface="Helvetica" pitchFamily="2" charset="0"/>
              </a:rPr>
              <a:t>B. Liu et al. / </a:t>
            </a:r>
            <a:r>
              <a:rPr lang="en-US" sz="1200" i="1" dirty="0" err="1">
                <a:effectLst/>
                <a:latin typeface="Helvetica" pitchFamily="2" charset="0"/>
              </a:rPr>
              <a:t>SoftwareX</a:t>
            </a:r>
            <a:r>
              <a:rPr lang="en-US" sz="1200" i="1" dirty="0">
                <a:effectLst/>
                <a:latin typeface="Helvetica" pitchFamily="2" charset="0"/>
              </a:rPr>
              <a:t> 7 (2018) 304–308</a:t>
            </a:r>
          </a:p>
        </p:txBody>
      </p:sp>
    </p:spTree>
    <p:extLst>
      <p:ext uri="{BB962C8B-B14F-4D97-AF65-F5344CB8AC3E}">
        <p14:creationId xmlns:p14="http://schemas.microsoft.com/office/powerpoint/2010/main" val="41370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C4C36-B7DA-D80C-FA36-FDDE39187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9D8949-FE31-B849-3C9D-E14F39316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Background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A96249E5-4652-2D2C-4410-65E2824A9EA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19</a:t>
            </a:fld>
            <a:endParaRPr lang="en-VN"/>
          </a:p>
        </p:txBody>
      </p:sp>
      <p:pic>
        <p:nvPicPr>
          <p:cNvPr id="6" name="Picture 5" descr="A group of circles with numbers and lines&#10;&#10;AI-generated content may be incorrect.">
            <a:extLst>
              <a:ext uri="{FF2B5EF4-FFF2-40B4-BE49-F238E27FC236}">
                <a16:creationId xmlns:a16="http://schemas.microsoft.com/office/drawing/2014/main" id="{9D9D271A-1ED1-7617-1B8B-B0E85A4DF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080" y="681606"/>
            <a:ext cx="4975920" cy="39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5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F5824-05C6-9D8D-69EC-D9FAB8F1B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01A1C3-2455-61D7-D9BD-39CFA1C92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Background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4817A4E-7459-7973-BC2C-53BCCCC6678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20</a:t>
            </a:fld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3CFE9A-563B-B194-EF3E-7D752581DDBF}"/>
              </a:ext>
            </a:extLst>
          </p:cNvPr>
          <p:cNvSpPr txBox="1"/>
          <p:nvPr/>
        </p:nvSpPr>
        <p:spPr>
          <a:xfrm>
            <a:off x="269604" y="1385653"/>
            <a:ext cx="1905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region </a:t>
            </a:r>
            <a:r>
              <a:rPr lang="el-GR" sz="1200" dirty="0">
                <a:latin typeface="Arial" panose="020B0604020202020204" pitchFamily="34" charset="0"/>
                <a:cs typeface="Arial" panose="020B0604020202020204" pitchFamily="34" charset="0"/>
              </a:rPr>
              <a:t>Ω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 cut into many small triangles (2D) or tetrahedrons (3D). This turns a continuous space with infinitely many points into a finite, countable list of node values</a:t>
            </a:r>
            <a:endParaRPr lang="en-V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diagram of a circle with red dots&#10;&#10;AI-generated content may be incorrect.">
            <a:extLst>
              <a:ext uri="{FF2B5EF4-FFF2-40B4-BE49-F238E27FC236}">
                <a16:creationId xmlns:a16="http://schemas.microsoft.com/office/drawing/2014/main" id="{A9CA3917-FBBE-9B5F-C501-E3534EDCC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8" y="3046588"/>
            <a:ext cx="2209800" cy="169218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A9FE7A-5073-BC8D-8AE4-39C05D21266D}"/>
              </a:ext>
            </a:extLst>
          </p:cNvPr>
          <p:cNvSpPr/>
          <p:nvPr/>
        </p:nvSpPr>
        <p:spPr>
          <a:xfrm>
            <a:off x="857166" y="778383"/>
            <a:ext cx="8382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>
                <a:latin typeface="Arial" panose="020B0604020202020204" pitchFamily="34" charset="0"/>
                <a:cs typeface="Arial" panose="020B0604020202020204" pitchFamily="34" charset="0"/>
              </a:rPr>
              <a:t>Mesh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275958-7668-9D45-32B4-34229C2DB3DB}"/>
              </a:ext>
            </a:extLst>
          </p:cNvPr>
          <p:cNvSpPr/>
          <p:nvPr/>
        </p:nvSpPr>
        <p:spPr>
          <a:xfrm>
            <a:off x="3429000" y="778383"/>
            <a:ext cx="148193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Forward Problem (module fem)</a:t>
            </a:r>
            <a:endParaRPr lang="en-V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C08D4B-7B2B-A3F9-2DEF-ABB51943B25D}"/>
              </a:ext>
            </a:extLst>
          </p:cNvPr>
          <p:cNvSpPr txBox="1"/>
          <p:nvPr/>
        </p:nvSpPr>
        <p:spPr>
          <a:xfrm>
            <a:off x="3128167" y="1662651"/>
            <a:ext cx="266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Known conductivity distribution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↓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Forward model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↓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Calculated boundary voltages</a:t>
            </a:r>
            <a:endParaRPr lang="en-V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F1CE6BE-05A2-824C-B79D-FF09A96C5AF6}"/>
              </a:ext>
            </a:extLst>
          </p:cNvPr>
          <p:cNvSpPr/>
          <p:nvPr/>
        </p:nvSpPr>
        <p:spPr>
          <a:xfrm>
            <a:off x="6705600" y="775673"/>
            <a:ext cx="148193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Inverse Problem</a:t>
            </a:r>
            <a:endParaRPr lang="en-V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8D4F92-07E6-A225-E62A-0195D0715A4A}"/>
              </a:ext>
            </a:extLst>
          </p:cNvPr>
          <p:cNvSpPr txBox="1"/>
          <p:nvPr/>
        </p:nvSpPr>
        <p:spPr>
          <a:xfrm>
            <a:off x="6400800" y="1662651"/>
            <a:ext cx="23998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Measured boundary voltages	↓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Reconstruction algorithm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↓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Estimated conductivity changes</a:t>
            </a:r>
            <a:endParaRPr lang="en-V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93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  <p:bldP spid="5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AF724-D246-4797-8CA8-1B015CA9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556B09-2AF9-9439-FD6F-B3E28AE58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A88E4A8-9FAB-0207-8F8F-3FF6449CAB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21</a:t>
            </a:fld>
            <a:endParaRPr lang="en-VN"/>
          </a:p>
        </p:txBody>
      </p:sp>
      <p:pic>
        <p:nvPicPr>
          <p:cNvPr id="13" name="Picture 12" descr="A diagram of a circular object with red circles and blue circles&#10;&#10;AI-generated content may be incorrect.">
            <a:extLst>
              <a:ext uri="{FF2B5EF4-FFF2-40B4-BE49-F238E27FC236}">
                <a16:creationId xmlns:a16="http://schemas.microsoft.com/office/drawing/2014/main" id="{D8E8A5C2-31FC-1FD4-B92F-2C002D001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828675"/>
            <a:ext cx="3998205" cy="31908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5CB1B02-6ED1-6F31-D4EC-0E7BB5D472F4}"/>
              </a:ext>
            </a:extLst>
          </p:cNvPr>
          <p:cNvSpPr txBox="1"/>
          <p:nvPr/>
        </p:nvSpPr>
        <p:spPr>
          <a:xfrm>
            <a:off x="5458968" y="841247"/>
            <a:ext cx="3026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dirty="0">
                <a:solidFill>
                  <a:srgbClr val="711F3B"/>
                </a:solidFill>
                <a:latin typeface="Arial"/>
              </a:rPr>
              <a:t>1. Conductive medium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778EB0-04A9-CB0C-6A4E-B0F28F9B6098}"/>
              </a:ext>
            </a:extLst>
          </p:cNvPr>
          <p:cNvSpPr txBox="1"/>
          <p:nvPr/>
        </p:nvSpPr>
        <p:spPr>
          <a:xfrm>
            <a:off x="5458968" y="1188719"/>
            <a:ext cx="3026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dirty="0">
                <a:solidFill>
                  <a:srgbClr val="222222"/>
                </a:solidFill>
                <a:latin typeface="Arial"/>
              </a:rPr>
              <a:t>Saline or tissue provides background conductivity </a:t>
            </a:r>
            <a:r>
              <a:rPr sz="1150" b="0" dirty="0" err="1">
                <a:solidFill>
                  <a:srgbClr val="222222"/>
                </a:solidFill>
                <a:latin typeface="Arial"/>
              </a:rPr>
              <a:t>σbg</a:t>
            </a:r>
            <a:r>
              <a:rPr sz="1150" b="0" dirty="0">
                <a:solidFill>
                  <a:srgbClr val="222222"/>
                </a:solidFill>
                <a:latin typeface="Arial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8B57C3-E1BD-15CD-A114-710D856FCF9E}"/>
              </a:ext>
            </a:extLst>
          </p:cNvPr>
          <p:cNvSpPr txBox="1"/>
          <p:nvPr/>
        </p:nvSpPr>
        <p:spPr>
          <a:xfrm>
            <a:off x="5458968" y="1837943"/>
            <a:ext cx="3026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dirty="0">
                <a:solidFill>
                  <a:srgbClr val="711F3B"/>
                </a:solidFill>
                <a:latin typeface="Arial"/>
              </a:rPr>
              <a:t>2. Boundary current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34D5F3-4437-D87A-74F8-3CA322576FE0}"/>
              </a:ext>
            </a:extLst>
          </p:cNvPr>
          <p:cNvSpPr txBox="1"/>
          <p:nvPr/>
        </p:nvSpPr>
        <p:spPr>
          <a:xfrm>
            <a:off x="5458968" y="2185415"/>
            <a:ext cx="30266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One adjacent pair injects +I and removes −I.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18F45B-91C9-61E8-178C-89D23310F71E}"/>
              </a:ext>
            </a:extLst>
          </p:cNvPr>
          <p:cNvSpPr txBox="1"/>
          <p:nvPr/>
        </p:nvSpPr>
        <p:spPr>
          <a:xfrm>
            <a:off x="5458968" y="2624327"/>
            <a:ext cx="3026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dirty="0">
                <a:solidFill>
                  <a:srgbClr val="711F3B"/>
                </a:solidFill>
                <a:latin typeface="Arial"/>
              </a:rPr>
              <a:t>3. Boundary voltage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6F3B12-796E-9218-5E0D-4E331A67D83A}"/>
              </a:ext>
            </a:extLst>
          </p:cNvPr>
          <p:cNvSpPr txBox="1"/>
          <p:nvPr/>
        </p:nvSpPr>
        <p:spPr>
          <a:xfrm>
            <a:off x="5458968" y="2971799"/>
            <a:ext cx="3026663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222222"/>
                </a:solidFill>
                <a:latin typeface="Arial"/>
              </a:rPr>
              <a:t>A conductivity change perturbs current paths and the voltage pattern measured by the sense pairs.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3A143E3-B335-68E8-0C19-CD0D26B8B8D8}"/>
              </a:ext>
            </a:extLst>
          </p:cNvPr>
          <p:cNvSpPr/>
          <p:nvPr/>
        </p:nvSpPr>
        <p:spPr>
          <a:xfrm>
            <a:off x="5376672" y="3858768"/>
            <a:ext cx="3200400" cy="438912"/>
          </a:xfrm>
          <a:prstGeom prst="roundRect">
            <a:avLst/>
          </a:prstGeom>
          <a:solidFill>
            <a:srgbClr val="ECF3F9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250" b="1" dirty="0">
                <a:solidFill>
                  <a:srgbClr val="31485E"/>
                </a:solidFill>
                <a:latin typeface="Arial"/>
              </a:rPr>
              <a:t>EIT infers the object from the complete boundary pattern.</a:t>
            </a:r>
          </a:p>
        </p:txBody>
      </p:sp>
    </p:spTree>
    <p:extLst>
      <p:ext uri="{BB962C8B-B14F-4D97-AF65-F5344CB8AC3E}">
        <p14:creationId xmlns:p14="http://schemas.microsoft.com/office/powerpoint/2010/main" val="391284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BD59A-FF4F-7C0F-CFCD-EED101364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0E001C-BAD9-4605-2331-63908767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10946E48-76B3-4337-A8BF-EABB3D21FE2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22</a:t>
            </a:fld>
            <a:endParaRPr lang="en-VN"/>
          </a:p>
        </p:txBody>
      </p:sp>
      <p:pic>
        <p:nvPicPr>
          <p:cNvPr id="13" name="Picture 12" descr="A diagram of a circular object with red circles and blue circles&#10;&#10;AI-generated content may be incorrect.">
            <a:extLst>
              <a:ext uri="{FF2B5EF4-FFF2-40B4-BE49-F238E27FC236}">
                <a16:creationId xmlns:a16="http://schemas.microsoft.com/office/drawing/2014/main" id="{EAD1129B-B08C-FCF8-6DA8-B50321CFA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36" y="971550"/>
            <a:ext cx="3616287" cy="28860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D58C0B-0850-9BA7-2B60-DBE2754F4A6A}"/>
              </a:ext>
            </a:extLst>
          </p:cNvPr>
          <p:cNvSpPr txBox="1"/>
          <p:nvPr/>
        </p:nvSpPr>
        <p:spPr>
          <a:xfrm>
            <a:off x="4349347" y="1200150"/>
            <a:ext cx="1883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dirty="0">
                <a:solidFill>
                  <a:srgbClr val="C51B3A"/>
                </a:solidFill>
                <a:latin typeface="Arial"/>
              </a:rPr>
              <a:t>16 drive pairs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D8ADAE-5159-44E8-29C9-929C7A271300}"/>
              </a:ext>
            </a:extLst>
          </p:cNvPr>
          <p:cNvSpPr txBox="1"/>
          <p:nvPr/>
        </p:nvSpPr>
        <p:spPr>
          <a:xfrm>
            <a:off x="4349347" y="1547622"/>
            <a:ext cx="188366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222222"/>
                </a:solidFill>
                <a:latin typeface="Arial"/>
              </a:rPr>
              <a:t>The adjacent drive rotates through all electrodes.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5D35D900-D48F-77FF-2BC3-16ED258E1E88}"/>
              </a:ext>
            </a:extLst>
          </p:cNvPr>
          <p:cNvSpPr/>
          <p:nvPr/>
        </p:nvSpPr>
        <p:spPr>
          <a:xfrm>
            <a:off x="6233010" y="1419606"/>
            <a:ext cx="384048" cy="256032"/>
          </a:xfrm>
          <a:prstGeom prst="rightArrow">
            <a:avLst/>
          </a:prstGeom>
          <a:solidFill>
            <a:srgbClr val="7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159FFB-2795-5597-0C2E-46D6370C2C5E}"/>
              </a:ext>
            </a:extLst>
          </p:cNvPr>
          <p:cNvSpPr txBox="1"/>
          <p:nvPr/>
        </p:nvSpPr>
        <p:spPr>
          <a:xfrm>
            <a:off x="6934200" y="1222794"/>
            <a:ext cx="1883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dirty="0">
                <a:solidFill>
                  <a:srgbClr val="276FBF"/>
                </a:solidFill>
                <a:latin typeface="Arial"/>
              </a:rPr>
              <a:t>13 sense pairs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5F389-721E-68EB-C1AC-B35C2106FDEA}"/>
              </a:ext>
            </a:extLst>
          </p:cNvPr>
          <p:cNvSpPr txBox="1"/>
          <p:nvPr/>
        </p:nvSpPr>
        <p:spPr>
          <a:xfrm>
            <a:off x="6934200" y="1570266"/>
            <a:ext cx="188366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222222"/>
                </a:solidFill>
                <a:latin typeface="Arial"/>
              </a:rPr>
              <a:t>Each drive retains 13 valid adjacent sense pairs.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8378007-4B3B-6043-FC22-9FA6E1026D5D}"/>
              </a:ext>
            </a:extLst>
          </p:cNvPr>
          <p:cNvSpPr/>
          <p:nvPr/>
        </p:nvSpPr>
        <p:spPr>
          <a:xfrm rot="5400000">
            <a:off x="6233010" y="2443734"/>
            <a:ext cx="384048" cy="256032"/>
          </a:xfrm>
          <a:prstGeom prst="rightArrow">
            <a:avLst/>
          </a:prstGeom>
          <a:solidFill>
            <a:srgbClr val="7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388C14-D80B-A601-B79E-83C81EAAB78D}"/>
              </a:ext>
            </a:extLst>
          </p:cNvPr>
          <p:cNvSpPr txBox="1"/>
          <p:nvPr/>
        </p:nvSpPr>
        <p:spPr>
          <a:xfrm>
            <a:off x="6296753" y="2966843"/>
            <a:ext cx="86091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dirty="0">
                <a:solidFill>
                  <a:srgbClr val="711F3B"/>
                </a:solidFill>
                <a:latin typeface="Arial"/>
              </a:rPr>
              <a:t>208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2A1322-93E7-31A9-3BB2-99E0595E5D8B}"/>
              </a:ext>
            </a:extLst>
          </p:cNvPr>
          <p:cNvSpPr txBox="1"/>
          <p:nvPr/>
        </p:nvSpPr>
        <p:spPr>
          <a:xfrm>
            <a:off x="5756148" y="3376423"/>
            <a:ext cx="220370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222222"/>
                </a:solidFill>
                <a:latin typeface="Arial"/>
              </a:rPr>
              <a:t>16 × 13 sequential voltage differences.</a:t>
            </a:r>
          </a:p>
        </p:txBody>
      </p:sp>
    </p:spTree>
    <p:extLst>
      <p:ext uri="{BB962C8B-B14F-4D97-AF65-F5344CB8AC3E}">
        <p14:creationId xmlns:p14="http://schemas.microsoft.com/office/powerpoint/2010/main" val="118625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C16C4-B709-BEB0-9031-BE1A1BACF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5C42EB-762D-F565-1686-7C352971E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A2735ED-2D0A-AF21-7481-3D0351B73A3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23</a:t>
            </a:fld>
            <a:endParaRPr lang="en-V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AEF52F-671B-5C90-21DA-FCFD2CA3860C}"/>
              </a:ext>
            </a:extLst>
          </p:cNvPr>
          <p:cNvSpPr/>
          <p:nvPr/>
        </p:nvSpPr>
        <p:spPr>
          <a:xfrm>
            <a:off x="658368" y="1693926"/>
            <a:ext cx="1417320" cy="1417320"/>
          </a:xfrm>
          <a:prstGeom prst="ellipse">
            <a:avLst/>
          </a:prstGeom>
          <a:solidFill>
            <a:srgbClr val="EBEFF2"/>
          </a:solidFill>
          <a:ln w="19050">
            <a:solidFill>
              <a:srgbClr val="31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E64812-D11E-CC63-E6BB-93474E8B556F}"/>
              </a:ext>
            </a:extLst>
          </p:cNvPr>
          <p:cNvSpPr/>
          <p:nvPr/>
        </p:nvSpPr>
        <p:spPr>
          <a:xfrm>
            <a:off x="1335024" y="1666493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2E49DCE-E20E-0454-3423-4B78F0BA9296}"/>
              </a:ext>
            </a:extLst>
          </p:cNvPr>
          <p:cNvSpPr/>
          <p:nvPr/>
        </p:nvSpPr>
        <p:spPr>
          <a:xfrm>
            <a:off x="1604466" y="1720089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A2AB7B-016F-6E7C-7817-4478473F6397}"/>
              </a:ext>
            </a:extLst>
          </p:cNvPr>
          <p:cNvSpPr/>
          <p:nvPr/>
        </p:nvSpPr>
        <p:spPr>
          <a:xfrm>
            <a:off x="1832889" y="1872716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3FABFB4-5CD2-0B6D-A938-9F34A8AEF576}"/>
              </a:ext>
            </a:extLst>
          </p:cNvPr>
          <p:cNvSpPr/>
          <p:nvPr/>
        </p:nvSpPr>
        <p:spPr>
          <a:xfrm>
            <a:off x="1985516" y="2101139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1B08219-D2DE-0882-72E6-749120B55E4A}"/>
              </a:ext>
            </a:extLst>
          </p:cNvPr>
          <p:cNvSpPr/>
          <p:nvPr/>
        </p:nvSpPr>
        <p:spPr>
          <a:xfrm>
            <a:off x="2039112" y="2370582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4291EEB-4557-8492-95ED-6CF84217BCB8}"/>
              </a:ext>
            </a:extLst>
          </p:cNvPr>
          <p:cNvSpPr/>
          <p:nvPr/>
        </p:nvSpPr>
        <p:spPr>
          <a:xfrm>
            <a:off x="1985516" y="2640024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24954F-E5E9-B394-DC95-A4D556CB6421}"/>
              </a:ext>
            </a:extLst>
          </p:cNvPr>
          <p:cNvSpPr/>
          <p:nvPr/>
        </p:nvSpPr>
        <p:spPr>
          <a:xfrm>
            <a:off x="1832889" y="2868447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76819E5-E9C4-8DDD-9E5E-36F6AA881958}"/>
              </a:ext>
            </a:extLst>
          </p:cNvPr>
          <p:cNvSpPr/>
          <p:nvPr/>
        </p:nvSpPr>
        <p:spPr>
          <a:xfrm>
            <a:off x="1604466" y="3021074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59CE7D7-1DB6-7DE7-20E8-A10C422FC1CA}"/>
              </a:ext>
            </a:extLst>
          </p:cNvPr>
          <p:cNvSpPr/>
          <p:nvPr/>
        </p:nvSpPr>
        <p:spPr>
          <a:xfrm>
            <a:off x="1335024" y="3074669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7FAF087-DD7F-ADB8-7425-9B77C7AE632B}"/>
              </a:ext>
            </a:extLst>
          </p:cNvPr>
          <p:cNvSpPr/>
          <p:nvPr/>
        </p:nvSpPr>
        <p:spPr>
          <a:xfrm>
            <a:off x="1065581" y="3021074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8F99BB-1931-481F-A266-F64A80FA7C13}"/>
              </a:ext>
            </a:extLst>
          </p:cNvPr>
          <p:cNvSpPr/>
          <p:nvPr/>
        </p:nvSpPr>
        <p:spPr>
          <a:xfrm>
            <a:off x="837158" y="2868447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80D79EE-1506-8A85-590D-32271DDFD7FE}"/>
              </a:ext>
            </a:extLst>
          </p:cNvPr>
          <p:cNvSpPr/>
          <p:nvPr/>
        </p:nvSpPr>
        <p:spPr>
          <a:xfrm>
            <a:off x="684531" y="2640024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53BFFF2-D39E-8C39-ACF7-E341E3AA74AA}"/>
              </a:ext>
            </a:extLst>
          </p:cNvPr>
          <p:cNvSpPr/>
          <p:nvPr/>
        </p:nvSpPr>
        <p:spPr>
          <a:xfrm>
            <a:off x="630936" y="2370582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AAFC259-3762-D5C8-B0BC-09E7B09330AF}"/>
              </a:ext>
            </a:extLst>
          </p:cNvPr>
          <p:cNvSpPr/>
          <p:nvPr/>
        </p:nvSpPr>
        <p:spPr>
          <a:xfrm>
            <a:off x="684531" y="2101139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434F51A-3551-504D-17B6-9F6479F021AD}"/>
              </a:ext>
            </a:extLst>
          </p:cNvPr>
          <p:cNvSpPr/>
          <p:nvPr/>
        </p:nvSpPr>
        <p:spPr>
          <a:xfrm>
            <a:off x="837158" y="1872716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1B57F90-08D5-27D6-4494-B6181013B578}"/>
              </a:ext>
            </a:extLst>
          </p:cNvPr>
          <p:cNvSpPr/>
          <p:nvPr/>
        </p:nvSpPr>
        <p:spPr>
          <a:xfrm>
            <a:off x="1065581" y="1720089"/>
            <a:ext cx="64008" cy="64008"/>
          </a:xfrm>
          <a:prstGeom prst="ellipse">
            <a:avLst/>
          </a:prstGeom>
          <a:solidFill>
            <a:srgbClr val="314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74DAA3-2EB7-E198-BFFF-08CBE442D24E}"/>
              </a:ext>
            </a:extLst>
          </p:cNvPr>
          <p:cNvSpPr txBox="1"/>
          <p:nvPr/>
        </p:nvSpPr>
        <p:spPr>
          <a:xfrm>
            <a:off x="658368" y="3248405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1485E"/>
                </a:solidFill>
                <a:latin typeface="Arial"/>
              </a:rPr>
              <a:t>Reference state  v₀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42B1DA6-F255-68CB-1FFF-63153972C02B}"/>
              </a:ext>
            </a:extLst>
          </p:cNvPr>
          <p:cNvSpPr/>
          <p:nvPr/>
        </p:nvSpPr>
        <p:spPr>
          <a:xfrm>
            <a:off x="2331720" y="2251710"/>
            <a:ext cx="457200" cy="310896"/>
          </a:xfrm>
          <a:prstGeom prst="rightArrow">
            <a:avLst/>
          </a:prstGeom>
          <a:solidFill>
            <a:srgbClr val="7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EC35437-E195-F987-4134-8DB670B30729}"/>
              </a:ext>
            </a:extLst>
          </p:cNvPr>
          <p:cNvSpPr/>
          <p:nvPr/>
        </p:nvSpPr>
        <p:spPr>
          <a:xfrm>
            <a:off x="2971800" y="1693926"/>
            <a:ext cx="1417320" cy="1417320"/>
          </a:xfrm>
          <a:prstGeom prst="ellipse">
            <a:avLst/>
          </a:prstGeom>
          <a:solidFill>
            <a:srgbClr val="EBEFF2"/>
          </a:solidFill>
          <a:ln w="19050">
            <a:solidFill>
              <a:srgbClr val="314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4DBAC3E-680D-504E-EA33-B315BF19845C}"/>
              </a:ext>
            </a:extLst>
          </p:cNvPr>
          <p:cNvSpPr/>
          <p:nvPr/>
        </p:nvSpPr>
        <p:spPr>
          <a:xfrm>
            <a:off x="3749039" y="2041397"/>
            <a:ext cx="274320" cy="274320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F9B37A3-FB66-C0C3-D52F-63A1185D814E}"/>
              </a:ext>
            </a:extLst>
          </p:cNvPr>
          <p:cNvSpPr/>
          <p:nvPr/>
        </p:nvSpPr>
        <p:spPr>
          <a:xfrm>
            <a:off x="3648456" y="1666493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BA82E2-029A-19B8-6C75-F33F575C5451}"/>
              </a:ext>
            </a:extLst>
          </p:cNvPr>
          <p:cNvSpPr/>
          <p:nvPr/>
        </p:nvSpPr>
        <p:spPr>
          <a:xfrm>
            <a:off x="3917898" y="1720089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7DBC9DF-023F-3F14-0044-2C2B9C9E4C11}"/>
              </a:ext>
            </a:extLst>
          </p:cNvPr>
          <p:cNvSpPr/>
          <p:nvPr/>
        </p:nvSpPr>
        <p:spPr>
          <a:xfrm>
            <a:off x="4146321" y="1872716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3B5B6D5-11FD-9127-BDCD-B33A513AF1E2}"/>
              </a:ext>
            </a:extLst>
          </p:cNvPr>
          <p:cNvSpPr/>
          <p:nvPr/>
        </p:nvSpPr>
        <p:spPr>
          <a:xfrm>
            <a:off x="4298948" y="2101139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F531F3E-A31C-EFDF-29F6-49818A7CA3B6}"/>
              </a:ext>
            </a:extLst>
          </p:cNvPr>
          <p:cNvSpPr/>
          <p:nvPr/>
        </p:nvSpPr>
        <p:spPr>
          <a:xfrm>
            <a:off x="4352544" y="2370582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26AAA24-289D-A99A-2533-09CF46E71FA8}"/>
              </a:ext>
            </a:extLst>
          </p:cNvPr>
          <p:cNvSpPr/>
          <p:nvPr/>
        </p:nvSpPr>
        <p:spPr>
          <a:xfrm>
            <a:off x="4298948" y="2640024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B7B2A46-10E4-4C99-FF47-3103E1F57CF3}"/>
              </a:ext>
            </a:extLst>
          </p:cNvPr>
          <p:cNvSpPr/>
          <p:nvPr/>
        </p:nvSpPr>
        <p:spPr>
          <a:xfrm>
            <a:off x="4146321" y="2868447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EA048BA-532C-05D3-B6E3-27EB042A8A39}"/>
              </a:ext>
            </a:extLst>
          </p:cNvPr>
          <p:cNvSpPr/>
          <p:nvPr/>
        </p:nvSpPr>
        <p:spPr>
          <a:xfrm>
            <a:off x="3917898" y="3021074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6869A92-475C-7CF2-B6DE-C98AC34D67D4}"/>
              </a:ext>
            </a:extLst>
          </p:cNvPr>
          <p:cNvSpPr/>
          <p:nvPr/>
        </p:nvSpPr>
        <p:spPr>
          <a:xfrm>
            <a:off x="3648456" y="3074669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B5CF161-5B90-9493-9DA2-7CCE60ED9952}"/>
              </a:ext>
            </a:extLst>
          </p:cNvPr>
          <p:cNvSpPr/>
          <p:nvPr/>
        </p:nvSpPr>
        <p:spPr>
          <a:xfrm>
            <a:off x="3379013" y="3021074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4E24309-FAB8-AF84-5A88-8F3D8D848DCC}"/>
              </a:ext>
            </a:extLst>
          </p:cNvPr>
          <p:cNvSpPr/>
          <p:nvPr/>
        </p:nvSpPr>
        <p:spPr>
          <a:xfrm>
            <a:off x="3150590" y="2868447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D9AD4D2-0A55-E9EB-C7FD-118A2B3BB673}"/>
              </a:ext>
            </a:extLst>
          </p:cNvPr>
          <p:cNvSpPr/>
          <p:nvPr/>
        </p:nvSpPr>
        <p:spPr>
          <a:xfrm>
            <a:off x="2997963" y="2640024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94B9ACB-4FC8-EF69-CAE2-2A1C0A833548}"/>
              </a:ext>
            </a:extLst>
          </p:cNvPr>
          <p:cNvSpPr/>
          <p:nvPr/>
        </p:nvSpPr>
        <p:spPr>
          <a:xfrm>
            <a:off x="2944368" y="2370582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22A8D48-526C-17A0-8629-662C55C4A70A}"/>
              </a:ext>
            </a:extLst>
          </p:cNvPr>
          <p:cNvSpPr/>
          <p:nvPr/>
        </p:nvSpPr>
        <p:spPr>
          <a:xfrm>
            <a:off x="2997963" y="2101139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E91E49A-0724-55D2-67F3-DCDC4D243DDA}"/>
              </a:ext>
            </a:extLst>
          </p:cNvPr>
          <p:cNvSpPr/>
          <p:nvPr/>
        </p:nvSpPr>
        <p:spPr>
          <a:xfrm>
            <a:off x="3150590" y="1872716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7E70F85-4B3E-3031-023E-D54CC56A1B9F}"/>
              </a:ext>
            </a:extLst>
          </p:cNvPr>
          <p:cNvSpPr/>
          <p:nvPr/>
        </p:nvSpPr>
        <p:spPr>
          <a:xfrm>
            <a:off x="3379013" y="1720089"/>
            <a:ext cx="64008" cy="64008"/>
          </a:xfrm>
          <a:prstGeom prst="ellipse">
            <a:avLst/>
          </a:prstGeom>
          <a:solidFill>
            <a:srgbClr val="C5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A3CC8B-3698-B858-FF71-4C0A12BA256D}"/>
              </a:ext>
            </a:extLst>
          </p:cNvPr>
          <p:cNvSpPr txBox="1"/>
          <p:nvPr/>
        </p:nvSpPr>
        <p:spPr>
          <a:xfrm>
            <a:off x="2971800" y="3248405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51B3A"/>
                </a:solidFill>
                <a:latin typeface="Arial"/>
              </a:rPr>
              <a:t>Target state  v₁</a:t>
            </a:r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80C5B68D-64FC-2E96-1E69-12A84737937C}"/>
              </a:ext>
            </a:extLst>
          </p:cNvPr>
          <p:cNvSpPr/>
          <p:nvPr/>
        </p:nvSpPr>
        <p:spPr>
          <a:xfrm>
            <a:off x="4645152" y="2251710"/>
            <a:ext cx="457200" cy="310896"/>
          </a:xfrm>
          <a:prstGeom prst="rightArrow">
            <a:avLst/>
          </a:prstGeom>
          <a:solidFill>
            <a:srgbClr val="7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0DC67F64-E8C6-D103-002A-87BD61F6EFC0}"/>
              </a:ext>
            </a:extLst>
          </p:cNvPr>
          <p:cNvSpPr/>
          <p:nvPr/>
        </p:nvSpPr>
        <p:spPr>
          <a:xfrm>
            <a:off x="5349240" y="1602486"/>
            <a:ext cx="3017520" cy="1938528"/>
          </a:xfrm>
          <a:prstGeom prst="roundRect">
            <a:avLst/>
          </a:prstGeom>
          <a:solidFill>
            <a:srgbClr val="F5EBEF"/>
          </a:solidFill>
          <a:ln w="12700">
            <a:solidFill>
              <a:srgbClr val="71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/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400" b="1" i="0">
                <a:solidFill>
                  <a:srgbClr val="711F3B"/>
                </a:solidFill>
                <a:latin typeface="Arial"/>
              </a:rPr>
              <a:t>Δv = v₁ − v₀</a:t>
            </a: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700" b="1" i="0">
                <a:solidFill>
                  <a:srgbClr val="222222"/>
                </a:solidFill>
                <a:latin typeface="Arial"/>
              </a:rPr>
              <a:t>208 measured changes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This change vector is the input to BP, JAC, and GREIT.</a:t>
            </a:r>
          </a:p>
        </p:txBody>
      </p:sp>
    </p:spTree>
    <p:extLst>
      <p:ext uri="{BB962C8B-B14F-4D97-AF65-F5344CB8AC3E}">
        <p14:creationId xmlns:p14="http://schemas.microsoft.com/office/powerpoint/2010/main" val="133666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35B2B-4FF1-2AA2-1882-252775D44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4CE1FF-AC29-F523-2532-DEE8F36C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BF6027BA-C023-F21C-F56E-E2CB850E16C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24</a:t>
            </a:fld>
            <a:endParaRPr lang="en-VN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C230199-7BF0-9EA7-8D44-6177BD3F4059}"/>
              </a:ext>
            </a:extLst>
          </p:cNvPr>
          <p:cNvSpPr/>
          <p:nvPr/>
        </p:nvSpPr>
        <p:spPr>
          <a:xfrm>
            <a:off x="356616" y="1809750"/>
            <a:ext cx="1828800" cy="420624"/>
          </a:xfrm>
          <a:prstGeom prst="roundRect">
            <a:avLst/>
          </a:prstGeom>
          <a:solidFill>
            <a:srgbClr val="711F3B"/>
          </a:solidFill>
          <a:ln w="12700">
            <a:solidFill>
              <a:srgbClr val="71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675C00-7C39-A586-B96C-C25AF3C5DD43}"/>
              </a:ext>
            </a:extLst>
          </p:cNvPr>
          <p:cNvSpPr txBox="1"/>
          <p:nvPr/>
        </p:nvSpPr>
        <p:spPr>
          <a:xfrm>
            <a:off x="352303" y="2312670"/>
            <a:ext cx="192875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711F3B"/>
                </a:solidFill>
                <a:latin typeface="Arial"/>
              </a:rPr>
              <a:t>Define ground truth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EF46B44-1DE1-A0FC-7595-F264D4CD73BD}"/>
              </a:ext>
            </a:extLst>
          </p:cNvPr>
          <p:cNvSpPr/>
          <p:nvPr/>
        </p:nvSpPr>
        <p:spPr>
          <a:xfrm>
            <a:off x="356616" y="2769870"/>
            <a:ext cx="1828800" cy="84124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Known σ at every mesh element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4DE32BF-B243-33C5-CD79-C9AA9A3F0DDB}"/>
              </a:ext>
            </a:extLst>
          </p:cNvPr>
          <p:cNvSpPr/>
          <p:nvPr/>
        </p:nvSpPr>
        <p:spPr>
          <a:xfrm>
            <a:off x="2212848" y="3016758"/>
            <a:ext cx="274320" cy="201168"/>
          </a:xfrm>
          <a:prstGeom prst="rightArrow">
            <a:avLst/>
          </a:prstGeom>
          <a:solidFill>
            <a:srgbClr val="7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1A94AAC-90AB-B5F1-0BBC-800FF35622F1}"/>
              </a:ext>
            </a:extLst>
          </p:cNvPr>
          <p:cNvSpPr/>
          <p:nvPr/>
        </p:nvSpPr>
        <p:spPr>
          <a:xfrm>
            <a:off x="2523744" y="1809750"/>
            <a:ext cx="1828800" cy="420624"/>
          </a:xfrm>
          <a:prstGeom prst="roundRect">
            <a:avLst/>
          </a:prstGeom>
          <a:solidFill>
            <a:srgbClr val="711F3B"/>
          </a:solidFill>
          <a:ln w="12700">
            <a:solidFill>
              <a:srgbClr val="71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13666B-2B39-007C-4A8B-2F488795413A}"/>
              </a:ext>
            </a:extLst>
          </p:cNvPr>
          <p:cNvSpPr txBox="1"/>
          <p:nvPr/>
        </p:nvSpPr>
        <p:spPr>
          <a:xfrm>
            <a:off x="2523744" y="231267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11F3B"/>
                </a:solidFill>
                <a:latin typeface="Arial"/>
              </a:rPr>
              <a:t>Forward solve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A457781-AFD6-0EAC-522C-82EFC3A60F9C}"/>
              </a:ext>
            </a:extLst>
          </p:cNvPr>
          <p:cNvSpPr/>
          <p:nvPr/>
        </p:nvSpPr>
        <p:spPr>
          <a:xfrm>
            <a:off x="2523744" y="2769870"/>
            <a:ext cx="1828800" cy="84124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Predict v₀ and v₁ at the boundary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D6EF7638-097B-48BD-B549-DD4F7FAC1014}"/>
              </a:ext>
            </a:extLst>
          </p:cNvPr>
          <p:cNvSpPr/>
          <p:nvPr/>
        </p:nvSpPr>
        <p:spPr>
          <a:xfrm>
            <a:off x="4379976" y="3016758"/>
            <a:ext cx="274320" cy="201168"/>
          </a:xfrm>
          <a:prstGeom prst="rightArrow">
            <a:avLst/>
          </a:prstGeom>
          <a:solidFill>
            <a:srgbClr val="7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F1610CE-0AA0-9F2B-1AE1-907BCE64D152}"/>
              </a:ext>
            </a:extLst>
          </p:cNvPr>
          <p:cNvSpPr/>
          <p:nvPr/>
        </p:nvSpPr>
        <p:spPr>
          <a:xfrm>
            <a:off x="4690872" y="1809750"/>
            <a:ext cx="1828800" cy="420624"/>
          </a:xfrm>
          <a:prstGeom prst="roundRect">
            <a:avLst/>
          </a:prstGeom>
          <a:solidFill>
            <a:srgbClr val="711F3B"/>
          </a:solidFill>
          <a:ln w="12700">
            <a:solidFill>
              <a:srgbClr val="71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023FAA-18C3-8BF0-9D9F-AB81603F0CB2}"/>
              </a:ext>
            </a:extLst>
          </p:cNvPr>
          <p:cNvSpPr txBox="1"/>
          <p:nvPr/>
        </p:nvSpPr>
        <p:spPr>
          <a:xfrm>
            <a:off x="4690872" y="231267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11F3B"/>
                </a:solidFill>
                <a:latin typeface="Arial"/>
              </a:rPr>
              <a:t>Reconstruct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167F619-B3F4-014E-7BAA-B8873B6F8BDC}"/>
              </a:ext>
            </a:extLst>
          </p:cNvPr>
          <p:cNvSpPr/>
          <p:nvPr/>
        </p:nvSpPr>
        <p:spPr>
          <a:xfrm>
            <a:off x="4690872" y="2769870"/>
            <a:ext cx="1828800" cy="84124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Give the same Δv to BP, JAC, GREIT</a:t>
            </a:r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2247A293-FFAE-7F0B-7E2E-D64BE9840956}"/>
              </a:ext>
            </a:extLst>
          </p:cNvPr>
          <p:cNvSpPr/>
          <p:nvPr/>
        </p:nvSpPr>
        <p:spPr>
          <a:xfrm>
            <a:off x="6547104" y="3016758"/>
            <a:ext cx="274320" cy="201168"/>
          </a:xfrm>
          <a:prstGeom prst="rightArrow">
            <a:avLst/>
          </a:prstGeom>
          <a:solidFill>
            <a:srgbClr val="7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F227E5FA-4F2D-2D3D-F7EF-550B7BF6360A}"/>
              </a:ext>
            </a:extLst>
          </p:cNvPr>
          <p:cNvSpPr/>
          <p:nvPr/>
        </p:nvSpPr>
        <p:spPr>
          <a:xfrm>
            <a:off x="6858000" y="1809750"/>
            <a:ext cx="1828800" cy="420624"/>
          </a:xfrm>
          <a:prstGeom prst="roundRect">
            <a:avLst/>
          </a:prstGeom>
          <a:solidFill>
            <a:srgbClr val="711F3B"/>
          </a:solidFill>
          <a:ln w="12700">
            <a:solidFill>
              <a:srgbClr val="71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AC5BB1-1AF7-B773-D61B-32BD041078DA}"/>
              </a:ext>
            </a:extLst>
          </p:cNvPr>
          <p:cNvSpPr txBox="1"/>
          <p:nvPr/>
        </p:nvSpPr>
        <p:spPr>
          <a:xfrm>
            <a:off x="6858000" y="231267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11F3B"/>
                </a:solidFill>
                <a:latin typeface="Arial"/>
              </a:rPr>
              <a:t>Compare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0138FC7B-44FE-6792-4FA4-A5A16C4746D2}"/>
              </a:ext>
            </a:extLst>
          </p:cNvPr>
          <p:cNvSpPr/>
          <p:nvPr/>
        </p:nvSpPr>
        <p:spPr>
          <a:xfrm>
            <a:off x="6858000" y="2769870"/>
            <a:ext cx="1828800" cy="84124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Check each image against the known answer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0F51B20-2A5B-0AF2-6848-638A6129A2C3}"/>
              </a:ext>
            </a:extLst>
          </p:cNvPr>
          <p:cNvSpPr txBox="1"/>
          <p:nvPr/>
        </p:nvSpPr>
        <p:spPr>
          <a:xfrm>
            <a:off x="457200" y="813788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400" b="1" dirty="0">
                <a:solidFill>
                  <a:srgbClr val="303030"/>
                </a:solidFill>
                <a:latin typeface="Arial"/>
              </a:rPr>
              <a:t>Object Simulated</a:t>
            </a:r>
            <a:endParaRPr sz="1400" b="1" i="0" dirty="0">
              <a:solidFill>
                <a:srgbClr val="30303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070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31785-1826-D7F9-881B-B5C559075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E0E9D7-51B0-C808-9633-F9D2F4E15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E547291-E086-BD47-DA52-B1A1396DAF4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25</a:t>
            </a:fld>
            <a:endParaRPr lang="en-VN"/>
          </a:p>
        </p:txBody>
      </p:sp>
      <p:pic>
        <p:nvPicPr>
          <p:cNvPr id="6" name="Picture 5" descr="ground_truth.png">
            <a:extLst>
              <a:ext uri="{FF2B5EF4-FFF2-40B4-BE49-F238E27FC236}">
                <a16:creationId xmlns:a16="http://schemas.microsoft.com/office/drawing/2014/main" id="{B494FD4B-0C2E-A6EC-93AC-7998D5AEF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507" y="818517"/>
            <a:ext cx="4846320" cy="366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511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3E60C-48B0-5252-484F-18E83E432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AF2EF4-AC6B-D133-C370-CAC85E13C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9551FDA-2DA5-6AF9-64B1-C9515BAF5F2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26</a:t>
            </a:fld>
            <a:endParaRPr lang="en-VN"/>
          </a:p>
        </p:txBody>
      </p:sp>
      <p:pic>
        <p:nvPicPr>
          <p:cNvPr id="2" name="Picture 1" descr="mesh_sweep.png">
            <a:extLst>
              <a:ext uri="{FF2B5EF4-FFF2-40B4-BE49-F238E27FC236}">
                <a16:creationId xmlns:a16="http://schemas.microsoft.com/office/drawing/2014/main" id="{24D73B7C-BA42-D4B2-BFB1-524866199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38" y="895350"/>
            <a:ext cx="8617143" cy="2305995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F10D5F8-7E03-A8F3-36D7-00AC8036AAAB}"/>
              </a:ext>
            </a:extLst>
          </p:cNvPr>
          <p:cNvSpPr/>
          <p:nvPr/>
        </p:nvSpPr>
        <p:spPr>
          <a:xfrm>
            <a:off x="591312" y="3515458"/>
            <a:ext cx="2340864" cy="732692"/>
          </a:xfrm>
          <a:prstGeom prst="roundRect">
            <a:avLst/>
          </a:prstGeom>
          <a:solidFill>
            <a:srgbClr val="F5EBEF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44E110-3456-E7CE-0385-391CDC964F6F}"/>
              </a:ext>
            </a:extLst>
          </p:cNvPr>
          <p:cNvSpPr txBox="1"/>
          <p:nvPr/>
        </p:nvSpPr>
        <p:spPr>
          <a:xfrm>
            <a:off x="701040" y="3606898"/>
            <a:ext cx="223113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11F3B"/>
                </a:solidFill>
                <a:latin typeface="Arial"/>
              </a:rPr>
              <a:t>h0 = 0.08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9FB44-FC13-C1C9-E531-B0241B97CC78}"/>
              </a:ext>
            </a:extLst>
          </p:cNvPr>
          <p:cNvSpPr txBox="1"/>
          <p:nvPr/>
        </p:nvSpPr>
        <p:spPr>
          <a:xfrm>
            <a:off x="701040" y="3829363"/>
            <a:ext cx="223113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222222"/>
                </a:solidFill>
                <a:latin typeface="Arial"/>
              </a:rPr>
              <a:t>Requested characteristic triangle spacing in the unit-radius geometry.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4D2D0CA-F6C0-57FB-E7EF-71407A76DCE1}"/>
              </a:ext>
            </a:extLst>
          </p:cNvPr>
          <p:cNvSpPr/>
          <p:nvPr/>
        </p:nvSpPr>
        <p:spPr>
          <a:xfrm>
            <a:off x="3343656" y="3515458"/>
            <a:ext cx="2340864" cy="73269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E2A574-A267-41FF-81FF-16B512E8555E}"/>
              </a:ext>
            </a:extLst>
          </p:cNvPr>
          <p:cNvSpPr txBox="1"/>
          <p:nvPr/>
        </p:nvSpPr>
        <p:spPr>
          <a:xfrm>
            <a:off x="3453384" y="3606898"/>
            <a:ext cx="223113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1485E"/>
                </a:solidFill>
                <a:latin typeface="Arial"/>
              </a:rPr>
              <a:t>583 nodes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270CC0-4E9B-860E-D2C9-BBE6CE7B6F4A}"/>
              </a:ext>
            </a:extLst>
          </p:cNvPr>
          <p:cNvSpPr txBox="1"/>
          <p:nvPr/>
        </p:nvSpPr>
        <p:spPr>
          <a:xfrm>
            <a:off x="3453384" y="3829363"/>
            <a:ext cx="223113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222222"/>
                </a:solidFill>
                <a:latin typeface="Arial"/>
              </a:rPr>
              <a:t>Locations where the FEM solves electric potential u.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480BA95-B6DB-C074-78DA-A5149C91B6F8}"/>
              </a:ext>
            </a:extLst>
          </p:cNvPr>
          <p:cNvSpPr/>
          <p:nvPr/>
        </p:nvSpPr>
        <p:spPr>
          <a:xfrm>
            <a:off x="6096000" y="3515458"/>
            <a:ext cx="2340864" cy="732692"/>
          </a:xfrm>
          <a:prstGeom prst="roundRect">
            <a:avLst/>
          </a:prstGeom>
          <a:solidFill>
            <a:srgbClr val="FFF1F4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055418-E363-4CB4-C3E7-86C10415EE9E}"/>
              </a:ext>
            </a:extLst>
          </p:cNvPr>
          <p:cNvSpPr txBox="1"/>
          <p:nvPr/>
        </p:nvSpPr>
        <p:spPr>
          <a:xfrm>
            <a:off x="6205728" y="3606898"/>
            <a:ext cx="223113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51B3A"/>
                </a:solidFill>
                <a:latin typeface="Arial"/>
              </a:rPr>
              <a:t>1083 elements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570817-BCDF-D9BA-5FC9-D9B11160B9F8}"/>
              </a:ext>
            </a:extLst>
          </p:cNvPr>
          <p:cNvSpPr txBox="1"/>
          <p:nvPr/>
        </p:nvSpPr>
        <p:spPr>
          <a:xfrm>
            <a:off x="6205728" y="3829363"/>
            <a:ext cx="223113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Triangles carrying piecewise conductivity values σ.</a:t>
            </a:r>
          </a:p>
        </p:txBody>
      </p:sp>
    </p:spTree>
    <p:extLst>
      <p:ext uri="{BB962C8B-B14F-4D97-AF65-F5344CB8AC3E}">
        <p14:creationId xmlns:p14="http://schemas.microsoft.com/office/powerpoint/2010/main" val="259000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6420A-0A01-D7C3-60EA-35CB1EFF9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EEF802-E77C-E857-E455-333F4E91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4FFA5FE-D058-31D4-98BA-359CBE59D9E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27</a:t>
            </a:fld>
            <a:endParaRPr lang="en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6B9AE25-2224-EC37-61B8-0A1488DE9982}"/>
                  </a:ext>
                </a:extLst>
              </p14:cNvPr>
              <p14:cNvContentPartPr/>
              <p14:nvPr/>
            </p14:nvContentPartPr>
            <p14:xfrm>
              <a:off x="131366" y="1106633"/>
              <a:ext cx="3279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6B9AE25-2224-EC37-61B8-0A1488DE99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726" y="1034633"/>
                <a:ext cx="399600" cy="14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15817E24-929E-96FC-7A11-B4FF296AA944}"/>
              </a:ext>
            </a:extLst>
          </p:cNvPr>
          <p:cNvGrpSpPr/>
          <p:nvPr/>
        </p:nvGrpSpPr>
        <p:grpSpPr>
          <a:xfrm>
            <a:off x="365760" y="895350"/>
            <a:ext cx="8549640" cy="2515360"/>
            <a:chOff x="365760" y="895350"/>
            <a:chExt cx="8549640" cy="2515360"/>
          </a:xfrm>
        </p:grpSpPr>
        <p:pic>
          <p:nvPicPr>
            <p:cNvPr id="14" name="Picture 13" descr="reconstruction_comparison.png">
              <a:extLst>
                <a:ext uri="{FF2B5EF4-FFF2-40B4-BE49-F238E27FC236}">
                  <a16:creationId xmlns:a16="http://schemas.microsoft.com/office/drawing/2014/main" id="{9FAA8039-42E2-5E2E-E850-CDBCDACDB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5760" y="917065"/>
              <a:ext cx="8549640" cy="249364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81EFEC8-122E-B63E-1DBA-A70F9331C8E0}"/>
                </a:ext>
              </a:extLst>
            </p:cNvPr>
            <p:cNvSpPr/>
            <p:nvPr/>
          </p:nvSpPr>
          <p:spPr>
            <a:xfrm>
              <a:off x="838200" y="1238050"/>
              <a:ext cx="1143000" cy="114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38B7A8-293C-4B80-5654-15A33AC17411}"/>
                </a:ext>
              </a:extLst>
            </p:cNvPr>
            <p:cNvSpPr/>
            <p:nvPr/>
          </p:nvSpPr>
          <p:spPr>
            <a:xfrm>
              <a:off x="2057400" y="3333749"/>
              <a:ext cx="4876800" cy="65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B1EA667-094E-6C9B-F4DC-7700799A4893}"/>
                </a:ext>
              </a:extLst>
            </p:cNvPr>
            <p:cNvSpPr/>
            <p:nvPr/>
          </p:nvSpPr>
          <p:spPr>
            <a:xfrm>
              <a:off x="2819400" y="1238050"/>
              <a:ext cx="1143000" cy="114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28540E8-1846-EAB0-1D42-07DD8858D5FB}"/>
                </a:ext>
              </a:extLst>
            </p:cNvPr>
            <p:cNvSpPr/>
            <p:nvPr/>
          </p:nvSpPr>
          <p:spPr>
            <a:xfrm>
              <a:off x="4862804" y="1238050"/>
              <a:ext cx="1143000" cy="114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ED02BE-D2FA-AC37-36C8-3FFDC1AC7351}"/>
                </a:ext>
              </a:extLst>
            </p:cNvPr>
            <p:cNvSpPr/>
            <p:nvPr/>
          </p:nvSpPr>
          <p:spPr>
            <a:xfrm>
              <a:off x="6762361" y="1238050"/>
              <a:ext cx="1143000" cy="114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19D4C8B-E384-315E-31DA-8144A6F7198D}"/>
                </a:ext>
              </a:extLst>
            </p:cNvPr>
            <p:cNvSpPr/>
            <p:nvPr/>
          </p:nvSpPr>
          <p:spPr>
            <a:xfrm>
              <a:off x="2202180" y="895350"/>
              <a:ext cx="4876800" cy="1895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5D71025-85A7-7B78-C061-E8A9213115FC}"/>
              </a:ext>
            </a:extLst>
          </p:cNvPr>
          <p:cNvSpPr/>
          <p:nvPr/>
        </p:nvSpPr>
        <p:spPr>
          <a:xfrm>
            <a:off x="621792" y="3712463"/>
            <a:ext cx="2468880" cy="438912"/>
          </a:xfrm>
          <a:prstGeom prst="roundRect">
            <a:avLst/>
          </a:prstGeom>
          <a:solidFill>
            <a:srgbClr val="F5EBEF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711F3B"/>
                </a:solidFill>
                <a:latin typeface="Arial"/>
              </a:rPr>
              <a:t>BP: broad / diffuse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BB757AF-7DAE-F20B-2407-DF2E45F35A1D}"/>
              </a:ext>
            </a:extLst>
          </p:cNvPr>
          <p:cNvSpPr/>
          <p:nvPr/>
        </p:nvSpPr>
        <p:spPr>
          <a:xfrm>
            <a:off x="3337560" y="3712463"/>
            <a:ext cx="2468880" cy="438912"/>
          </a:xfrm>
          <a:prstGeom prst="roundRect">
            <a:avLst/>
          </a:prstGeom>
          <a:solidFill>
            <a:srgbClr val="F5EBEF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711F3B"/>
                </a:solidFill>
                <a:latin typeface="Arial"/>
              </a:rPr>
              <a:t>JAC: sharper + artifacts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A7AF06D-54BF-F3A6-515A-1BCB560E0FFC}"/>
              </a:ext>
            </a:extLst>
          </p:cNvPr>
          <p:cNvSpPr/>
          <p:nvPr/>
        </p:nvSpPr>
        <p:spPr>
          <a:xfrm>
            <a:off x="6053328" y="3712463"/>
            <a:ext cx="2468880" cy="438912"/>
          </a:xfrm>
          <a:prstGeom prst="roundRect">
            <a:avLst/>
          </a:prstGeom>
          <a:solidFill>
            <a:srgbClr val="F5EBEF"/>
          </a:solidFill>
          <a:ln w="12700">
            <a:solidFill>
              <a:srgbClr val="DE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711F3B"/>
                </a:solidFill>
                <a:latin typeface="Arial"/>
              </a:rPr>
              <a:t>GREIT: smooth pixel grid</a:t>
            </a:r>
          </a:p>
        </p:txBody>
      </p:sp>
    </p:spTree>
    <p:extLst>
      <p:ext uri="{BB962C8B-B14F-4D97-AF65-F5344CB8AC3E}">
        <p14:creationId xmlns:p14="http://schemas.microsoft.com/office/powerpoint/2010/main" val="269196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2578B-F058-9728-12F7-6058002CD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D439A6-F829-04C4-70E5-488823F6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82912F2-B71D-BFAF-E66C-2D9DF3BBD3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28</a:t>
            </a:fld>
            <a:endParaRPr lang="en-VN"/>
          </a:p>
        </p:txBody>
      </p:sp>
      <p:pic>
        <p:nvPicPr>
          <p:cNvPr id="5" name="Picture 4" descr="A collage of images of different shapes&#10;&#10;AI-generated content may be incorrect.">
            <a:extLst>
              <a:ext uri="{FF2B5EF4-FFF2-40B4-BE49-F238E27FC236}">
                <a16:creationId xmlns:a16="http://schemas.microsoft.com/office/drawing/2014/main" id="{45A22F6E-182B-D2FF-FB63-0078D314E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12298"/>
            <a:ext cx="5901533" cy="392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3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CD0E8-F3B5-1698-B516-CF77EE640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848040-51F1-02D2-925B-9F5615957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Future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2B4F0A2-494C-FD50-A81C-6A962C08E34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29</a:t>
            </a:fld>
            <a:endParaRPr lang="en-VN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84A3911-65DB-CE4F-E462-52BC56346C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819150"/>
            <a:ext cx="8001000" cy="3733800"/>
          </a:xfrm>
        </p:spPr>
        <p:txBody>
          <a:bodyPr/>
          <a:lstStyle/>
          <a:p>
            <a:pPr>
              <a:buNone/>
            </a:pPr>
            <a:r>
              <a:rPr lang="en-US" sz="1400" b="1" dirty="0"/>
              <a:t>1. Starting to have a draft in Overleaf based on current papers</a:t>
            </a:r>
            <a:endParaRPr lang="en-US" sz="1400" b="0" dirty="0"/>
          </a:p>
          <a:p>
            <a:endParaRPr 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198201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9C2E-216B-6443-6A14-BBC893C7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9218D-5F89-E01E-DCF6-74DD05FD98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30</a:t>
            </a:fld>
            <a:endParaRPr lang="en-V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A3AA23-740E-1B5C-B6DA-24E1CA56C7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lang="en-US" sz="1400" b="0" i="1" dirty="0">
                <a:solidFill>
                  <a:srgbClr val="222222"/>
                </a:solidFill>
                <a:latin typeface="Arial"/>
              </a:rPr>
              <a:t>[1] B. Liu et al., “</a:t>
            </a:r>
            <a:r>
              <a:rPr lang="en-US" sz="1400" b="0" i="1" dirty="0" err="1">
                <a:solidFill>
                  <a:srgbClr val="222222"/>
                </a:solidFill>
                <a:latin typeface="Arial"/>
              </a:rPr>
              <a:t>pyEIT</a:t>
            </a:r>
            <a:r>
              <a:rPr lang="en-US" sz="1400" b="0" i="1" dirty="0">
                <a:solidFill>
                  <a:srgbClr val="222222"/>
                </a:solidFill>
                <a:latin typeface="Arial"/>
              </a:rPr>
              <a:t>: A Python Based Framework for Electrical Impedance Tomography,” </a:t>
            </a:r>
            <a:r>
              <a:rPr lang="en-US" sz="1400" b="0" i="1" dirty="0" err="1">
                <a:solidFill>
                  <a:srgbClr val="222222"/>
                </a:solidFill>
                <a:latin typeface="Arial"/>
              </a:rPr>
              <a:t>SoftwareX</a:t>
            </a:r>
            <a:r>
              <a:rPr lang="en-US" sz="1400" b="0" i="1" dirty="0">
                <a:solidFill>
                  <a:srgbClr val="222222"/>
                </a:solidFill>
                <a:latin typeface="Arial"/>
              </a:rPr>
              <a:t> 7 (2018), 304-308.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lang="en-US" sz="1400" b="0" i="1" dirty="0">
                <a:solidFill>
                  <a:srgbClr val="222222"/>
                </a:solidFill>
                <a:latin typeface="Arial"/>
              </a:rPr>
              <a:t>[2] A. Adler et al., “Temporal Image Reconstruction in Electrical Impedance Tomography,” Physiological Measurement 28 (2007), S1-S11.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lang="en-US" sz="1400" b="0" i="1" dirty="0">
                <a:solidFill>
                  <a:srgbClr val="222222"/>
                </a:solidFill>
                <a:latin typeface="Arial"/>
              </a:rPr>
              <a:t>[3] A. Adler et al., “GREIT: A Unified Approach to 2D Linear EIT Reconstruction of Lung Images,” Physiological Measurement 30 (2009), S35-S55.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lang="en-US" sz="1400" b="0" i="1" dirty="0">
                <a:solidFill>
                  <a:srgbClr val="222222"/>
                </a:solidFill>
                <a:latin typeface="Arial"/>
              </a:rPr>
              <a:t>[4] Analog Devices, “CN0565: Electrical Impedance Tomography Measurement System,” Rev. A, Figure 14.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lang="en-US" sz="1400" b="0" i="1" dirty="0">
                <a:solidFill>
                  <a:srgbClr val="222222"/>
                </a:solidFill>
                <a:latin typeface="Arial"/>
              </a:rPr>
              <a:t>[5] </a:t>
            </a:r>
            <a:r>
              <a:rPr lang="en-US" sz="1400" b="0" i="1" dirty="0" err="1">
                <a:solidFill>
                  <a:srgbClr val="222222"/>
                </a:solidFill>
                <a:latin typeface="Arial"/>
              </a:rPr>
              <a:t>pyEIT</a:t>
            </a:r>
            <a:r>
              <a:rPr lang="en-US" sz="1400" b="0" i="1" dirty="0">
                <a:solidFill>
                  <a:srgbClr val="222222"/>
                </a:solidFill>
                <a:latin typeface="Arial"/>
              </a:rPr>
              <a:t> 1.2.4 source used by scripts/</a:t>
            </a:r>
            <a:r>
              <a:rPr lang="en-US" sz="1400" b="0" i="1" dirty="0" err="1">
                <a:solidFill>
                  <a:srgbClr val="222222"/>
                </a:solidFill>
                <a:latin typeface="Arial"/>
              </a:rPr>
              <a:t>eit_sim_playground.py</a:t>
            </a:r>
            <a:r>
              <a:rPr lang="en-US" sz="1400" b="0" i="1" dirty="0">
                <a:solidFill>
                  <a:srgbClr val="222222"/>
                </a:solidFill>
                <a:latin typeface="Arial"/>
              </a:rPr>
              <a:t> for BP, JAC, GREIT, protocol, FEM, and mesh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80987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434E-E616-485D-EE06-9956C1F2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Thank</a:t>
            </a:r>
            <a:r>
              <a:rPr lang="en-US" i="1" baseline="0" dirty="0"/>
              <a:t> you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0090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20230-C86B-E0E4-0C75-A81ACE3A1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C29FA5-08A1-6C64-4436-40FEEC567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EA348BD-1640-EDD6-AD47-7229591CC38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32</a:t>
            </a:fld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9F10C-6D02-E143-3280-03BC0DB2F463}"/>
              </a:ext>
            </a:extLst>
          </p:cNvPr>
          <p:cNvSpPr txBox="1"/>
          <p:nvPr/>
        </p:nvSpPr>
        <p:spPr>
          <a:xfrm>
            <a:off x="27432" y="1513092"/>
            <a:ext cx="1905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region </a:t>
            </a:r>
            <a:r>
              <a:rPr lang="el-GR" sz="1200" dirty="0">
                <a:latin typeface="Arial" panose="020B0604020202020204" pitchFamily="34" charset="0"/>
                <a:cs typeface="Arial" panose="020B0604020202020204" pitchFamily="34" charset="0"/>
              </a:rPr>
              <a:t>Ω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 cut into many small triangles (2D) or tetrahedrons (3D). This turns a continuous space with infinitely many points into a finite, countable list of node values</a:t>
            </a:r>
            <a:endParaRPr lang="en-V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8677BFE-DC33-3845-6DF3-4E06E24CFB18}"/>
              </a:ext>
            </a:extLst>
          </p:cNvPr>
          <p:cNvSpPr/>
          <p:nvPr/>
        </p:nvSpPr>
        <p:spPr>
          <a:xfrm>
            <a:off x="484632" y="876300"/>
            <a:ext cx="8382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>
                <a:latin typeface="Arial" panose="020B0604020202020204" pitchFamily="34" charset="0"/>
                <a:cs typeface="Arial" panose="020B0604020202020204" pitchFamily="34" charset="0"/>
              </a:rPr>
              <a:t>Mesh</a:t>
            </a:r>
          </a:p>
        </p:txBody>
      </p:sp>
      <p:pic>
        <p:nvPicPr>
          <p:cNvPr id="14" name="Picture 13" descr="A diagram of a circle with red dots&#10;&#10;AI-generated content may be incorrect.">
            <a:extLst>
              <a:ext uri="{FF2B5EF4-FFF2-40B4-BE49-F238E27FC236}">
                <a16:creationId xmlns:a16="http://schemas.microsoft.com/office/drawing/2014/main" id="{2BE9A53B-095B-4636-CD00-27DFE64BC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" y="3075894"/>
            <a:ext cx="2088363" cy="1599197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B38E3FB-A952-05C5-A10C-9098627C950E}"/>
              </a:ext>
            </a:extLst>
          </p:cNvPr>
          <p:cNvSpPr/>
          <p:nvPr/>
        </p:nvSpPr>
        <p:spPr>
          <a:xfrm>
            <a:off x="3200400" y="895350"/>
            <a:ext cx="148193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Forward Problem (module fem)</a:t>
            </a:r>
            <a:endParaRPr lang="en-V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5048C55-D860-A7E5-207D-11887E966E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481850"/>
            <a:ext cx="3526468" cy="135960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47FC99-8821-CF67-142B-F981850ED928}"/>
              </a:ext>
            </a:extLst>
          </p:cNvPr>
          <p:cNvSpPr txBox="1"/>
          <p:nvPr/>
        </p:nvSpPr>
        <p:spPr>
          <a:xfrm>
            <a:off x="2501125" y="3207449"/>
            <a:ext cx="3102864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divergence of sigma gradient u equals zero.</a:t>
            </a:r>
          </a:p>
          <a:p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This says electric current is neither created nor destroyed inside the tissue, it only flows through</a:t>
            </a:r>
            <a:endParaRPr lang="en-VN" sz="11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D363C6-F381-6E46-817C-1CDE32B97981}"/>
              </a:ext>
            </a:extLst>
          </p:cNvPr>
          <p:cNvSpPr txBox="1"/>
          <p:nvPr/>
        </p:nvSpPr>
        <p:spPr>
          <a:xfrm>
            <a:off x="6041136" y="876300"/>
            <a:ext cx="31028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2. Sigma times the partial derivative of u with respect to n, evaluated on the boundary of omega, equals g.</a:t>
            </a:r>
          </a:p>
          <a:p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This is the boundary condition, it tells the equation exactly how much current flows OUT at the boundary: it must equal g, the current injected</a:t>
            </a:r>
            <a:endParaRPr lang="en-VN" sz="11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40E45B-F490-D039-A722-092CC7FECD56}"/>
              </a:ext>
            </a:extLst>
          </p:cNvPr>
          <p:cNvSpPr txBox="1"/>
          <p:nvPr/>
        </p:nvSpPr>
        <p:spPr>
          <a:xfrm>
            <a:off x="5989320" y="2712571"/>
            <a:ext cx="31028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3. The integral of u over the boundary of omega equals zero.</a:t>
            </a:r>
          </a:p>
          <a:p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Since EIT only measures voltage DIFFERENCES (never an absolute value), the system would otherwise have infinitely many valid solutions differing by a constant. This equation fixes the average boundary voltage at zero, picking exactly one solution</a:t>
            </a:r>
            <a:endParaRPr lang="en-VN" sz="11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E98148-86EE-AF25-9AA3-C6017530DE6F}"/>
              </a:ext>
            </a:extLst>
          </p:cNvPr>
          <p:cNvSpPr txBox="1"/>
          <p:nvPr/>
        </p:nvSpPr>
        <p:spPr>
          <a:xfrm>
            <a:off x="2462852" y="529353"/>
            <a:ext cx="3526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1" dirty="0">
                <a:solidFill>
                  <a:srgbClr val="222222"/>
                </a:solidFill>
                <a:latin typeface="Arial"/>
              </a:rPr>
              <a:t>If I already knew the conductivity everywhere, what would the measurements be?”</a:t>
            </a:r>
            <a:endParaRPr lang="en-VN" sz="1000" i="1" dirty="0"/>
          </a:p>
        </p:txBody>
      </p:sp>
    </p:spTree>
    <p:extLst>
      <p:ext uri="{BB962C8B-B14F-4D97-AF65-F5344CB8AC3E}">
        <p14:creationId xmlns:p14="http://schemas.microsoft.com/office/powerpoint/2010/main" val="2648165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5" grpId="0" animBg="1"/>
      <p:bldP spid="18" grpId="0"/>
      <p:bldP spid="21" grpId="0"/>
      <p:bldP spid="23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C8005-A567-CD0D-F02F-97BFEA08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F7C4A6-F9B5-4000-AFCB-6D6942B11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B3132A03-A125-9F5C-3837-0B462FE928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33</a:t>
            </a:fld>
            <a:endParaRPr lang="en-VN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F1442A7-BD2D-9C37-A68C-B6AB3442B7ED}"/>
              </a:ext>
            </a:extLst>
          </p:cNvPr>
          <p:cNvSpPr/>
          <p:nvPr/>
        </p:nvSpPr>
        <p:spPr>
          <a:xfrm>
            <a:off x="990600" y="1024084"/>
            <a:ext cx="148193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Inverse Problem</a:t>
            </a:r>
            <a:endParaRPr lang="en-V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25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FB9EA964-AD71-1B16-7B47-4C5CA6BAB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10283"/>
            <a:ext cx="3445025" cy="327559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0BC9668-33E1-C9F8-29CE-7BA4551EDB31}"/>
              </a:ext>
            </a:extLst>
          </p:cNvPr>
          <p:cNvSpPr txBox="1"/>
          <p:nvPr/>
        </p:nvSpPr>
        <p:spPr>
          <a:xfrm>
            <a:off x="4191000" y="819150"/>
            <a:ext cx="47164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1. Sigma equals the minimum, over sigma and omega, of the squared norm of v minus f of omega sigma, plus lambda times the squared norm of sigma minus sigma-naught</a:t>
            </a:r>
          </a:p>
          <a:p>
            <a:r>
              <a:rPr lang="en-US" sz="1200" i="1" dirty="0"/>
              <a:t>This defines what "the best guess" for </a:t>
            </a:r>
            <a:r>
              <a:rPr lang="el-GR" sz="1200" i="1" dirty="0"/>
              <a:t>σ </a:t>
            </a:r>
            <a:r>
              <a:rPr lang="en-US" sz="1200" i="1" dirty="0"/>
              <a:t>actually means: search for the </a:t>
            </a:r>
            <a:r>
              <a:rPr lang="el-GR" sz="1200" i="1" dirty="0"/>
              <a:t>σ </a:t>
            </a:r>
            <a:r>
              <a:rPr lang="en-US" sz="1200" i="1" dirty="0"/>
              <a:t>whose predicted measurements (f) come as close as possible to the real measurements (v), while not straying too far from a sensible starting point (</a:t>
            </a:r>
            <a:r>
              <a:rPr lang="el-GR" sz="1200" i="1" dirty="0"/>
              <a:t>σ₀). </a:t>
            </a:r>
            <a:r>
              <a:rPr lang="en-US" sz="1200" i="1" dirty="0"/>
              <a:t>It's a balance between fitting the data and staying stable.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V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230A5B-8701-AF3D-E394-4F17481D3FD4}"/>
              </a:ext>
            </a:extLst>
          </p:cNvPr>
          <p:cNvSpPr txBox="1"/>
          <p:nvPr/>
        </p:nvSpPr>
        <p:spPr>
          <a:xfrm>
            <a:off x="4198936" y="2431525"/>
            <a:ext cx="4716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J equals the partial derivative of f of sigma with respect to sigma</a:t>
            </a:r>
          </a:p>
          <a:p>
            <a:r>
              <a:rPr lang="en-US" sz="1200" i="1" dirty="0"/>
              <a:t>This defines sensitivity, how much the predicted measurement changes if </a:t>
            </a:r>
            <a:r>
              <a:rPr lang="el-GR" sz="1200" i="1" dirty="0"/>
              <a:t>σ </a:t>
            </a:r>
            <a:r>
              <a:rPr lang="en-US" sz="1200" i="1" dirty="0"/>
              <a:t>changes by a tiny amount.</a:t>
            </a:r>
            <a:endParaRPr lang="en-VN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6B5C89-834B-5D45-1915-B08587360408}"/>
              </a:ext>
            </a:extLst>
          </p:cNvPr>
          <p:cNvSpPr txBox="1"/>
          <p:nvPr/>
        </p:nvSpPr>
        <p:spPr>
          <a:xfrm>
            <a:off x="4166616" y="3420024"/>
            <a:ext cx="4716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Sigma at iteration k plus one equals sigma at iteration k, plus, J transpose J plus lambda I, inverse, times J transpose, times, v minus f of sigma at iteration k</a:t>
            </a:r>
          </a:p>
          <a:p>
            <a:r>
              <a:rPr lang="en-US" sz="1200" i="1" dirty="0"/>
              <a:t>The update rule for iterative refinement</a:t>
            </a:r>
            <a:endParaRPr lang="en-VN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B6049D-83CD-C3E1-5989-90BCF99DBDAD}"/>
              </a:ext>
            </a:extLst>
          </p:cNvPr>
          <p:cNvSpPr txBox="1"/>
          <p:nvPr/>
        </p:nvSpPr>
        <p:spPr>
          <a:xfrm>
            <a:off x="503312" y="554275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1" dirty="0">
                <a:solidFill>
                  <a:srgbClr val="222222"/>
                </a:solidFill>
                <a:latin typeface="Arial"/>
              </a:rPr>
              <a:t>I have the real measurement. What must be happening inside to cause it?</a:t>
            </a:r>
            <a:endParaRPr lang="en-VN" sz="1050" i="1" dirty="0"/>
          </a:p>
        </p:txBody>
      </p:sp>
    </p:spTree>
    <p:extLst>
      <p:ext uri="{BB962C8B-B14F-4D97-AF65-F5344CB8AC3E}">
        <p14:creationId xmlns:p14="http://schemas.microsoft.com/office/powerpoint/2010/main" val="149605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/>
      <p:bldP spid="29" grpId="0"/>
      <p:bldP spid="30" grpId="0"/>
      <p:bldP spid="3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6DB0-D421-8112-4FF4-75E732B0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42BCB9-3176-D718-5491-F2401D6AC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FAF470A-F961-F757-BE2F-731F3EDEB7B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34</a:t>
            </a:fld>
            <a:endParaRPr lang="en-V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63CCC6-61EF-93F6-9C62-D70BA3167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414951"/>
              </p:ext>
            </p:extLst>
          </p:nvPr>
        </p:nvGraphicFramePr>
        <p:xfrm>
          <a:off x="237744" y="658368"/>
          <a:ext cx="8677656" cy="3657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Algorithm</a:t>
                      </a:r>
                    </a:p>
                  </a:txBody>
                  <a:tcPr marL="50800" marR="50800" marT="25400" marB="25400" anchor="ctr">
                    <a:solidFill>
                      <a:srgbClr val="6F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Formula</a:t>
                      </a:r>
                    </a:p>
                  </a:txBody>
                  <a:tcPr marL="50800" marR="50800" marT="25400" marB="25400" anchor="ctr">
                    <a:solidFill>
                      <a:srgbClr val="6F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What It Means</a:t>
                      </a:r>
                    </a:p>
                  </a:txBody>
                  <a:tcPr marL="50800" marR="50800" marT="25400" marB="25400" anchor="ctr">
                    <a:solidFill>
                      <a:srgbClr val="6F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50800" marR="50800" marT="25400" marB="25400" anchor="ctr">
                    <a:solidFill>
                      <a:srgbClr val="6F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BP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H = Bᵀ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dirty="0">
                          <a:solidFill>
                            <a:srgbClr val="222222"/>
                          </a:solidFill>
                          <a:latin typeface="Arial"/>
                        </a:rPr>
                        <a:t>Weights each mesh element by geometric distance from the measurement path</a:t>
                      </a:r>
                      <a:r>
                        <a:rPr lang="vi-VN" sz="1050" b="0" i="0" dirty="0">
                          <a:solidFill>
                            <a:srgbClr val="222222"/>
                          </a:solidFill>
                          <a:latin typeface="Arial"/>
                        </a:rPr>
                        <a:t>,</a:t>
                      </a:r>
                      <a:r>
                        <a:rPr sz="1050" b="0" i="0" dirty="0">
                          <a:solidFill>
                            <a:srgbClr val="222222"/>
                          </a:solidFill>
                          <a:latin typeface="Arial"/>
                        </a:rPr>
                        <a:t> no real sensitivity (J) used.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Rough, blurry δσ map. Fast, but not physically grounded.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JAC</a:t>
                      </a:r>
                    </a:p>
                  </a:txBody>
                  <a:tcPr marL="50800" marR="50800" marT="38100" marB="381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δσ = (JᵀJ+λR)⁻¹Jᵀ·Δv</a:t>
                      </a:r>
                    </a:p>
                  </a:txBody>
                  <a:tcPr marL="50800" marR="50800" marT="38100" marB="381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Uses real sensitivity J. Balances matching Δv against staying smooth (λR).</a:t>
                      </a:r>
                    </a:p>
                  </a:txBody>
                  <a:tcPr marL="50800" marR="50800" marT="38100" marB="381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dirty="0">
                          <a:solidFill>
                            <a:srgbClr val="222222"/>
                          </a:solidFill>
                          <a:latin typeface="Arial"/>
                        </a:rPr>
                        <a:t>Sharper, more accurate </a:t>
                      </a:r>
                      <a:r>
                        <a:rPr sz="1050" b="0" i="0" dirty="0" err="1">
                          <a:solidFill>
                            <a:srgbClr val="222222"/>
                          </a:solidFill>
                          <a:latin typeface="Arial"/>
                        </a:rPr>
                        <a:t>δσ</a:t>
                      </a:r>
                      <a:r>
                        <a:rPr sz="1050" b="0" i="0" dirty="0">
                          <a:solidFill>
                            <a:srgbClr val="222222"/>
                          </a:solidFill>
                          <a:latin typeface="Arial"/>
                        </a:rPr>
                        <a:t>. Slower; shape depends on the mesh.</a:t>
                      </a:r>
                    </a:p>
                  </a:txBody>
                  <a:tcPr marL="50800" marR="50800" marT="38100" marB="381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GREIT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H = W·Jᵀ·(JJᵀ+λR)⁻¹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Same sensitivity as JAC, reordered (JJᵀ), plus pre-trained grid weights W.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dirty="0">
                          <a:solidFill>
                            <a:srgbClr val="222222"/>
                          </a:solidFill>
                          <a:latin typeface="Arial"/>
                        </a:rPr>
                        <a:t>Smooth, standardized image on a pixel grid. Comparable across scans, but fixed in advance.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13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FC98F-8F2F-4FDE-D522-12618F0D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1DCCBC-D30C-C210-C308-1A4257C90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6" y="1003"/>
            <a:ext cx="8450263" cy="514350"/>
          </a:xfrm>
        </p:spPr>
        <p:txBody>
          <a:bodyPr/>
          <a:lstStyle/>
          <a:p>
            <a:r>
              <a:rPr lang="en-VN" dirty="0"/>
              <a:t>3. Active Sensing – Progress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19CEAE1C-7593-8169-7747-4BCE0301D8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AF20276-0DC3-B247-B3AE-8A6E2F85407E}" type="slidenum">
              <a:rPr lang="en-VN" smtClean="0"/>
              <a:t>35</a:t>
            </a:fld>
            <a:endParaRPr lang="en-VN"/>
          </a:p>
        </p:txBody>
      </p:sp>
      <p:pic>
        <p:nvPicPr>
          <p:cNvPr id="5" name="Picture 4" descr="A group of circles with numbers and lines&#10;&#10;AI-generated content may be incorrect.">
            <a:extLst>
              <a:ext uri="{FF2B5EF4-FFF2-40B4-BE49-F238E27FC236}">
                <a16:creationId xmlns:a16="http://schemas.microsoft.com/office/drawing/2014/main" id="{8132BABF-AA2C-E8C3-2F26-C306EB8EAD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664" y="659919"/>
            <a:ext cx="5510006" cy="439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422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Symbols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7744" y="658368"/>
          <a:ext cx="8677656" cy="3794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8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221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Symbol</a:t>
                      </a:r>
                    </a:p>
                  </a:txBody>
                  <a:tcPr marL="50800" marR="50800" marT="25400" marB="25400" anchor="ctr">
                    <a:solidFill>
                      <a:srgbClr val="6F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50800" marR="50800" marT="25400" marB="25400" anchor="ctr">
                    <a:solidFill>
                      <a:srgbClr val="6F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The region (domain) being imaged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∂Ω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The boundary of the domain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Conductivity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u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Electric potential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∇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Gradient operator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∇·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Divergence operator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∇u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Gradient of u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∂u/∂n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Rate of change of u across the boundary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g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Current injected at the boundary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∫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Integral of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Measurement vector (voltages)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ℝᴹ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Space of M real numbers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M (nM)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Number of measurements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f(Ω,σ)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Forward operator — predicts measurements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221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σ₀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Initial / reference conductivity guess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22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λ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Regularization parameter (smoothing strength)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Symbols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7744" y="658368"/>
          <a:ext cx="8677656" cy="397763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8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Symbol</a:t>
                      </a:r>
                    </a:p>
                  </a:txBody>
                  <a:tcPr marL="50800" marR="50800" marT="25400" marB="25400" anchor="ctr">
                    <a:solidFill>
                      <a:srgbClr val="6F26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50800" marR="50800" marT="25400" marB="25400" anchor="ctr">
                    <a:solidFill>
                      <a:srgbClr val="6F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‖x‖²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Squared norm — overall magnitude of a vector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J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Jacobian matrix (sensitivity)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nE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Number of mesh elements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σᵏ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Conductivity estimate at iteration k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σᵏ⁺¹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Updated conductivity estimate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Jᵀ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J transpose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JᵀJ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J transpose times J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JJᵀ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J times J transpose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(...)⁻¹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Matrix inverse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Identity matrix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Regularization matrix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δσ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Change in conductivity (unknown to solve for)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Δv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Difference in measurements between two frames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W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Grid-weighting matrix (GREIT only)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Smear matrix (BP only)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H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Reconstruction matrix</a:t>
                      </a:r>
                    </a:p>
                  </a:txBody>
                  <a:tcPr marL="50800" marR="50800" marT="25400" marB="25400" anchor="ctr">
                    <a:solidFill>
                      <a:srgbClr val="F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0996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Arial"/>
                        </a:rPr>
                        <a:t>Exponent controlling where noise concentrates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B31B1B"/>
      </a:accent1>
      <a:accent2>
        <a:srgbClr val="4D4F53"/>
      </a:accent2>
      <a:accent3>
        <a:srgbClr val="A2998B"/>
      </a:accent3>
      <a:accent4>
        <a:srgbClr val="EF9595"/>
      </a:accent4>
      <a:accent5>
        <a:srgbClr val="7D7364"/>
      </a:accent5>
      <a:accent6>
        <a:srgbClr val="A8B1C4"/>
      </a:accent6>
      <a:hlink>
        <a:srgbClr val="3B4558"/>
      </a:hlink>
      <a:folHlink>
        <a:srgbClr val="596784"/>
      </a:folHlink>
    </a:clrScheme>
    <a:fontScheme name="Custom 2">
      <a:majorFont>
        <a:latin typeface="Helvetica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99102808-967D-7C45-B952-F50DCD98AF33}" vid="{CF8696D2-C8CE-2B49-849F-4350B18504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d595b45-b704-43c3-be57-bb0e77264841">
      <Terms xmlns="http://schemas.microsoft.com/office/infopath/2007/PartnerControls"/>
    </lcf76f155ced4ddcb4097134ff3c332f>
    <Notes xmlns="0d595b45-b704-43c3-be57-bb0e77264841" xsi:nil="true"/>
    <TaxCatchAll xmlns="2abc551d-39a0-4a7c-9b4b-818b4828f7b9" xsi:nil="true"/>
    <Thumbnail xmlns="0d595b45-b704-43c3-be57-bb0e7726484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C5214C4B94FA4EB39B73217CE01A34" ma:contentTypeVersion="16" ma:contentTypeDescription="Create a new document." ma:contentTypeScope="" ma:versionID="f3bd505754e86156a8fe163e58d0c31b">
  <xsd:schema xmlns:xsd="http://www.w3.org/2001/XMLSchema" xmlns:xs="http://www.w3.org/2001/XMLSchema" xmlns:p="http://schemas.microsoft.com/office/2006/metadata/properties" xmlns:ns2="0d595b45-b704-43c3-be57-bb0e77264841" xmlns:ns3="2abc551d-39a0-4a7c-9b4b-818b4828f7b9" targetNamespace="http://schemas.microsoft.com/office/2006/metadata/properties" ma:root="true" ma:fieldsID="d4ff4d27ef69f33c86b2855aac77e155" ns2:_="" ns3:_="">
    <xsd:import namespace="0d595b45-b704-43c3-be57-bb0e77264841"/>
    <xsd:import namespace="2abc551d-39a0-4a7c-9b4b-818b4828f7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Notes" minOccurs="0"/>
                <xsd:element ref="ns2:Thumbnai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595b45-b704-43c3-be57-bb0e772648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2dd9a6-8483-4555-a8f4-00fbe5822b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Notes" ma:index="22" nillable="true" ma:displayName="Notes" ma:format="Dropdown" ma:internalName="Notes">
      <xsd:simpleType>
        <xsd:restriction base="dms:Text">
          <xsd:maxLength value="255"/>
        </xsd:restriction>
      </xsd:simpleType>
    </xsd:element>
    <xsd:element name="Thumbnail" ma:index="23" nillable="true" ma:displayName="Thumbnail" ma:format="Thumbnail" ma:internalName="Thumbnail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bc551d-39a0-4a7c-9b4b-818b4828f7b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615bc11-00f9-4c6f-83b1-a5188494ad0e}" ma:internalName="TaxCatchAll" ma:showField="CatchAllData" ma:web="2abc551d-39a0-4a7c-9b4b-818b4828f7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C769373-594B-497F-B29F-9AD96F02CA37}">
  <ds:schemaRefs>
    <ds:schemaRef ds:uri="http://schemas.microsoft.com/office/2006/metadata/properties"/>
    <ds:schemaRef ds:uri="http://schemas.microsoft.com/office/infopath/2007/PartnerControls"/>
    <ds:schemaRef ds:uri="0d595b45-b704-43c3-be57-bb0e77264841"/>
    <ds:schemaRef ds:uri="2abc551d-39a0-4a7c-9b4b-818b4828f7b9"/>
  </ds:schemaRefs>
</ds:datastoreItem>
</file>

<file path=customXml/itemProps2.xml><?xml version="1.0" encoding="utf-8"?>
<ds:datastoreItem xmlns:ds="http://schemas.openxmlformats.org/officeDocument/2006/customXml" ds:itemID="{1AC2AE2E-D004-455F-9D5E-7CBDF620B6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595b45-b704-43c3-be57-bb0e77264841"/>
    <ds:schemaRef ds:uri="2abc551d-39a0-4a7c-9b4b-818b4828f7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BDF0AD-F2A3-461C-AC8C-AF5A0E8760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12678</TotalTime>
  <Words>2307</Words>
  <Application>Microsoft Macintosh PowerPoint</Application>
  <PresentationFormat>On-screen Show (16:9)</PresentationFormat>
  <Paragraphs>629</Paragraphs>
  <Slides>37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Arial</vt:lpstr>
      <vt:lpstr>Calibri</vt:lpstr>
      <vt:lpstr>Georgia</vt:lpstr>
      <vt:lpstr>Helvetica</vt:lpstr>
      <vt:lpstr>Times</vt:lpstr>
      <vt:lpstr>Office Theme</vt:lpstr>
      <vt:lpstr>WEEKLY REPORT POST STROKE REHABILITATION SYSTEM</vt:lpstr>
      <vt:lpstr>Outline</vt:lpstr>
      <vt:lpstr>1. Quick Update</vt:lpstr>
      <vt:lpstr>2. Literature Review Paper – Background</vt:lpstr>
      <vt:lpstr>2. Literature Review Paper – Background</vt:lpstr>
      <vt:lpstr>2. Literature Review Paper – Background</vt:lpstr>
      <vt:lpstr>2. Literature Review Paper – Background</vt:lpstr>
      <vt:lpstr>2. Literature Review Paper – Progress</vt:lpstr>
      <vt:lpstr>2. Literature Review Paper – Progress</vt:lpstr>
      <vt:lpstr>2. Literature Review Paper – Progress</vt:lpstr>
      <vt:lpstr>2. Literature Review Paper – Progress</vt:lpstr>
      <vt:lpstr>2. Literature Review Paper – Progress</vt:lpstr>
      <vt:lpstr>2. Literature Review Paper – Progress</vt:lpstr>
      <vt:lpstr>2. Literature Review Paper – Progress</vt:lpstr>
      <vt:lpstr>2. Literature Review Paper – Progress</vt:lpstr>
      <vt:lpstr>2. Literature Review Paper – Future</vt:lpstr>
      <vt:lpstr>3. Active Sensing – Background</vt:lpstr>
      <vt:lpstr>3. Active Sensing – Background</vt:lpstr>
      <vt:lpstr>3. Active Sensing – Background</vt:lpstr>
      <vt:lpstr>3. Active Sensing – Background</vt:lpstr>
      <vt:lpstr>3. Active Sensing – Progress</vt:lpstr>
      <vt:lpstr>3. Active Sensing – Progress</vt:lpstr>
      <vt:lpstr>3. Active Sensing – Progress</vt:lpstr>
      <vt:lpstr>3. Active Sensing – Progress</vt:lpstr>
      <vt:lpstr>3. Active Sensing – Progress</vt:lpstr>
      <vt:lpstr>3. Active Sensing – Progress</vt:lpstr>
      <vt:lpstr>3. Active Sensing – Progress</vt:lpstr>
      <vt:lpstr>3. Active Sensing – Progress</vt:lpstr>
      <vt:lpstr>3. Active Sensing – Future</vt:lpstr>
      <vt:lpstr>References</vt:lpstr>
      <vt:lpstr>Thank you</vt:lpstr>
      <vt:lpstr>3. Active Sensing – Progress</vt:lpstr>
      <vt:lpstr>3. Active Sensing – Progress</vt:lpstr>
      <vt:lpstr>3. Active Sensing – Progress</vt:lpstr>
      <vt:lpstr>3. Active Sensing – Progress</vt:lpstr>
      <vt:lpstr>Symbols</vt:lpstr>
      <vt:lpstr>Symbols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Clive D. Howard</dc:creator>
  <cp:lastModifiedBy>Vu Ngoc Thanh Sang</cp:lastModifiedBy>
  <cp:revision>113</cp:revision>
  <dcterms:created xsi:type="dcterms:W3CDTF">2020-01-14T16:59:52Z</dcterms:created>
  <dcterms:modified xsi:type="dcterms:W3CDTF">2026-09-28T14:56:57Z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0x01010077C5214C4B94FA4EB39B73217CE01A34</vt:lpwstr>
  </property>
  <property fmtid="{D5CDD505-2E9C-101B-9397-08002B2CF9AE}" pid="3" name="MediaServiceImageTags">
    <vt:lpwstr/>
  </property>
</Properties>
</file>