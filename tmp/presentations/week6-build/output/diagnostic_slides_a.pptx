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A3DB1-8D61-05A0-89EA-1BBC4F0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4F693-6CB3-0336-82CA-07D3BC87E3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5F9AADA-B43F-6A4E-579C-AD9E9AB97D9B}"/>
              </a:ext>
            </a:extLst>
          </p:cNvPr>
          <p:cNvSpPr>
            <a:spLocks noGrp="1"/>
          </p:cNvSpPr>
          <p:nvPr>
            <p:ph type="sldNum" sz="quarter" idx="5"/>
          </p:nvPr>
        </p:nvSpPr>
        <p:spPr/>
        <p:txBody>
          <a:bodyPr/>
          <a:lstStyle/>
          <a:p>
            <a:fld id="{3153D443-CBAC-934A-8506-FB4DF260D863}" type="slidenum">
              <a:rPr lang="en-US" smtClean="0"/>
              <a:t>12</a:t>
            </a:fld>
            <a:endParaRPr lang="en-US"/>
          </a:p>
        </p:txBody>
      </p:sp>
      <p:sp>
        <p:nvSpPr>
          <p:cNvPr id="5" name="Footer Placeholder 4">
            <a:extLst>
              <a:ext uri="{FF2B5EF4-FFF2-40B4-BE49-F238E27FC236}">
                <a16:creationId xmlns:a16="http://schemas.microsoft.com/office/drawing/2014/main" id="{D0F40FD7-7443-752D-3E0C-3FAB0C0E951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4735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86FEF-5999-3ED7-2916-29ED54FA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4F23-77EA-E353-E01D-E9225BF568BF}"/>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B0A577B-BDAB-87D8-25DD-3B421A286C94}"/>
              </a:ext>
            </a:extLst>
          </p:cNvPr>
          <p:cNvSpPr>
            <a:spLocks noGrp="1"/>
          </p:cNvSpPr>
          <p:nvPr>
            <p:ph type="sldNum" sz="quarter" idx="5"/>
          </p:nvPr>
        </p:nvSpPr>
        <p:spPr/>
        <p:txBody>
          <a:bodyPr/>
          <a:lstStyle/>
          <a:p>
            <a:fld id="{3153D443-CBAC-934A-8506-FB4DF260D863}" type="slidenum">
              <a:rPr lang="en-US" smtClean="0"/>
              <a:t>13</a:t>
            </a:fld>
            <a:endParaRPr lang="en-US"/>
          </a:p>
        </p:txBody>
      </p:sp>
      <p:sp>
        <p:nvSpPr>
          <p:cNvPr id="5" name="Footer Placeholder 4">
            <a:extLst>
              <a:ext uri="{FF2B5EF4-FFF2-40B4-BE49-F238E27FC236}">
                <a16:creationId xmlns:a16="http://schemas.microsoft.com/office/drawing/2014/main" id="{2096FB5F-A70F-434D-DB21-0C10829E8D7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68206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9CD66-5A48-E321-01CB-92AA628A4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3FC66-1D6D-F460-851C-1688B2BC46CC}"/>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7A4DC14F-0CC2-C32C-1998-E7154D97E106}"/>
              </a:ext>
            </a:extLst>
          </p:cNvPr>
          <p:cNvSpPr>
            <a:spLocks noGrp="1"/>
          </p:cNvSpPr>
          <p:nvPr>
            <p:ph type="sldNum" sz="quarter" idx="5"/>
          </p:nvPr>
        </p:nvSpPr>
        <p:spPr/>
        <p:txBody>
          <a:bodyPr/>
          <a:lstStyle/>
          <a:p>
            <a:fld id="{3153D443-CBAC-934A-8506-FB4DF260D863}" type="slidenum">
              <a:rPr lang="en-US" smtClean="0"/>
              <a:t>14</a:t>
            </a:fld>
            <a:endParaRPr lang="en-US"/>
          </a:p>
        </p:txBody>
      </p:sp>
      <p:sp>
        <p:nvSpPr>
          <p:cNvPr id="5" name="Footer Placeholder 4">
            <a:extLst>
              <a:ext uri="{FF2B5EF4-FFF2-40B4-BE49-F238E27FC236}">
                <a16:creationId xmlns:a16="http://schemas.microsoft.com/office/drawing/2014/main" id="{C6B29E57-ECCE-9BB7-4205-B6193BB48A8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8548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9CD3D-B592-E1D3-566E-11360062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47A51-FB3F-6F05-2C73-48542B8CFD4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042BF3A5-D647-490A-BC4C-B1F31C191F7E}"/>
              </a:ext>
            </a:extLst>
          </p:cNvPr>
          <p:cNvSpPr>
            <a:spLocks noGrp="1"/>
          </p:cNvSpPr>
          <p:nvPr>
            <p:ph type="sldNum" sz="quarter" idx="5"/>
          </p:nvPr>
        </p:nvSpPr>
        <p:spPr/>
        <p:txBody>
          <a:bodyPr/>
          <a:lstStyle/>
          <a:p>
            <a:fld id="{3153D443-CBAC-934A-8506-FB4DF260D863}" type="slidenum">
              <a:rPr lang="en-US" smtClean="0"/>
              <a:t>15</a:t>
            </a:fld>
            <a:endParaRPr lang="en-US"/>
          </a:p>
        </p:txBody>
      </p:sp>
      <p:sp>
        <p:nvSpPr>
          <p:cNvPr id="5" name="Footer Placeholder 4">
            <a:extLst>
              <a:ext uri="{FF2B5EF4-FFF2-40B4-BE49-F238E27FC236}">
                <a16:creationId xmlns:a16="http://schemas.microsoft.com/office/drawing/2014/main" id="{B4CD71F3-E8FE-BFB2-871E-717F5AEC45C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332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AA980-18D7-9A9C-9E96-305215B2B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C8D70-5F33-CA86-462D-2FF6EC03AFA0}"/>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A376F44-B1BF-99A1-B68E-340341483BF3}"/>
              </a:ext>
            </a:extLst>
          </p:cNvPr>
          <p:cNvSpPr>
            <a:spLocks noGrp="1"/>
          </p:cNvSpPr>
          <p:nvPr>
            <p:ph type="sldNum" sz="quarter" idx="5"/>
          </p:nvPr>
        </p:nvSpPr>
        <p:spPr/>
        <p:txBody>
          <a:bodyPr/>
          <a:lstStyle/>
          <a:p>
            <a:fld id="{3153D443-CBAC-934A-8506-FB4DF260D863}" type="slidenum">
              <a:rPr lang="en-US" smtClean="0"/>
              <a:t>16</a:t>
            </a:fld>
            <a:endParaRPr lang="en-US"/>
          </a:p>
        </p:txBody>
      </p:sp>
      <p:sp>
        <p:nvSpPr>
          <p:cNvPr id="5" name="Footer Placeholder 4">
            <a:extLst>
              <a:ext uri="{FF2B5EF4-FFF2-40B4-BE49-F238E27FC236}">
                <a16:creationId xmlns:a16="http://schemas.microsoft.com/office/drawing/2014/main" id="{6BC3B0AF-3C53-BD54-F771-ED1B7C4F11B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0620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5301C-3F15-A133-1E2F-50A0C85E0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67AE7-9DDD-C3D2-4D71-D8B609946093}"/>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B803A04-B24F-A8A4-26E8-5DD4C29E9A64}"/>
              </a:ext>
            </a:extLst>
          </p:cNvPr>
          <p:cNvSpPr>
            <a:spLocks noGrp="1"/>
          </p:cNvSpPr>
          <p:nvPr>
            <p:ph type="sldNum" sz="quarter" idx="5"/>
          </p:nvPr>
        </p:nvSpPr>
        <p:spPr/>
        <p:txBody>
          <a:bodyPr/>
          <a:lstStyle/>
          <a:p>
            <a:fld id="{3153D443-CBAC-934A-8506-FB4DF260D863}" type="slidenum">
              <a:rPr lang="en-US" smtClean="0"/>
              <a:t>17</a:t>
            </a:fld>
            <a:endParaRPr lang="en-US"/>
          </a:p>
        </p:txBody>
      </p:sp>
      <p:sp>
        <p:nvSpPr>
          <p:cNvPr id="5" name="Footer Placeholder 4">
            <a:extLst>
              <a:ext uri="{FF2B5EF4-FFF2-40B4-BE49-F238E27FC236}">
                <a16:creationId xmlns:a16="http://schemas.microsoft.com/office/drawing/2014/main" id="{D25E495D-1DB1-7B98-13E9-3F9CD38C91C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4087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DF99E-D8D0-A866-F51B-7FCAD2FF8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5B559-3200-BBE1-E969-358AB13F7BCA}"/>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8ED0511-7969-5BD0-FF46-C45F22AFB4AE}"/>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xmlns:a16="http://schemas.microsoft.com/office/drawing/2014/main" id="{E7C5D727-220E-1120-62A3-226E6F677BB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E193CB9E-0E0E-9FB7-528C-83B39E1F81C9}"/>
            </a:ext>
          </a:extLst>
        </p:cNvPr>
        <p:cNvGrpSpPr/>
        <p:nvPr/>
      </p:nvGrpSpPr>
      <p:grpSpPr>
        <a:xfrm>
          <a:off x="0" y="0"/>
          <a:ext cx="0" cy="0"/>
          <a:chOff x="0" y="0"/>
          <a:chExt cx="0" cy="0"/>
        </a:xfrm>
      </p:grpSpPr>
      <p:sp>
        <p:nvSpPr>
          <p:cNvPr id="3" name="Title 2">
            <a:extLst>
              <a:ext uri="{FF2B5EF4-FFF2-40B4-BE49-F238E27FC236}">
                <a16:creationId id="{FA8922FA-C07F-ECF3-C153-65860D78D606}"/>
              </a:ext>
            </a:extLst>
          </p:cNvPr>
          <p:cNvSpPr>
            <a:spLocks noGrp="1"/>
          </p:cNvSpPr>
          <p:nvPr>
            <p:ph type="title"/>
          </p:nvPr>
        </p:nvSpPr>
        <p:spPr>
          <a:xfrm>
            <a:off x="236536" y="1003"/>
            <a:ext cx="8450263" cy="514350"/>
          </a:xfrm>
        </p:spPr>
        <p:txBody>
          <a:bodyPr/>
          <a:lstStyle/>
          <a:p>
            <a:r>
              <a:rPr lang="en-VN" dirty="0"/>
              <a:t>3. Active Sensing – Simulation Study</a:t>
            </a:r>
          </a:p>
        </p:txBody>
      </p:sp>
      <p:sp>
        <p:nvSpPr>
          <p:cNvPr id="22" name="Slide Number Placeholder 21">
            <a:extLst>
              <a:ext uri="{FF2B5EF4-FFF2-40B4-BE49-F238E27FC236}">
                <a16:creationId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id="{04C67D69-3E11-C8F8-36DA-B525BEEB7EC4}"/>
              </a:ext>
            </a:extLst>
          </p:cNvPr>
          <p:cNvSpPr>
            <a:spLocks noGrp="1"/>
          </p:cNvSpPr>
          <p:nvPr>
            <p:ph type="body" sz="quarter" idx="13"/>
          </p:nvPr>
        </p:nvSpPr>
        <p:spPr>
          <a:xfrm>
            <a:off x="762000" y="895350"/>
            <a:ext cx="3954463" cy="514350"/>
          </a:xfrm>
        </p:spPr>
        <p:txBody>
          <a:bodyPr/>
          <a:lstStyle/>
          <a:p>
            <a:r>
              <a:rPr lang="en-VN" b="0" dirty="0"/>
              <a:t>BP, JAC, and GREIT: a controlled comparison</a:t>
            </a:r>
          </a:p>
        </p:txBody>
      </p:sp>
    </p:spTree>
    <p:extLst>
      <p:ext uri="{BB962C8B-B14F-4D97-AF65-F5344CB8AC3E}">
        <p14:creationId val="2970587182"/>
      </p:ext>
    </p:extLst>
  </p:cSld>
  <p:clrMapOvr>
    <a:masterClrMapping/>
  </p:clrMapOvr>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4EDA699D-D61A-F809-72CE-DB0A5D31E74C}"/>
            </a:ext>
          </a:extLst>
        </p:cNvPr>
        <p:cNvGrpSpPr/>
        <p:nvPr/>
      </p:nvGrpSpPr>
      <p:grpSpPr>
        <a:xfrm>
          <a:off x="0" y="0"/>
          <a:ext cx="0" cy="0"/>
          <a:chOff x="0" y="0"/>
          <a:chExt cx="0" cy="0"/>
        </a:xfrm>
      </p:grpSpPr>
      <p:sp>
        <p:nvSpPr>
          <p:cNvPr id="3" name="Title 2">
            <a:extLst>
              <a:ext uri="{FF2B5EF4-FFF2-40B4-BE49-F238E27FC236}">
                <a16:creationId id="{36E24E60-7DEF-1662-F2FD-6017353AD766}"/>
              </a:ext>
            </a:extLst>
          </p:cNvPr>
          <p:cNvSpPr>
            <a:spLocks noGrp="1"/>
          </p:cNvSpPr>
          <p:nvPr>
            <p:ph type="title"/>
          </p:nvPr>
        </p:nvSpPr>
        <p:spPr>
          <a:xfrm>
            <a:off x="236536" y="1003"/>
            <a:ext cx="8450263" cy="514350"/>
          </a:xfrm>
        </p:spPr>
        <p:txBody>
          <a:bodyPr/>
          <a:lstStyle/>
          <a:p>
            <a:r>
              <a:rPr lang="en-VN" dirty="0"/>
              <a:t>Simulation Rationale</a:t>
            </a:r>
          </a:p>
        </p:txBody>
      </p:sp>
      <p:sp>
        <p:nvSpPr>
          <p:cNvPr id="22" name="Slide Number Placeholder 21">
            <a:extLst>
              <a:ext uri="{FF2B5EF4-FFF2-40B4-BE49-F238E27FC236}">
                <a16:creationId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23" name="Research Question"/>
          <p:cNvSpPr txBox="1"/>
          <p:nvPr/>
        </p:nvSpPr>
        <p:spPr>
          <a:xfrm>
            <a:off x="520000" y="720000"/>
            <a:ext cx="8100000" cy="500000"/>
          </a:xfrm>
          <a:prstGeom prst="rect">
            <a:avLst/>
          </a:prstGeom>
          <a:noFill/>
          <a:ln>
            <a:noFill/>
          </a:ln>
        </p:spPr>
        <p:txBody>
          <a:bodyPr wrap="square" anchor="ctr" lIns="50000" rIns="50000" tIns="50000" bIns="50000"/>
          <a:lstStyle/>
          <a:p>
            <a:pPr algn="c"/>
            <a:r>
              <a:rPr lang="en-US" sz="2200" b="1">
                <a:solidFill>
                  <a:srgbClr val="222222"/>
                </a:solidFill>
                <a:latin typeface="Arial"/>
              </a:rPr>
              <a:t>How do BP, JAC, and GREIT reconstruct the same known conductivity change?</a:t>
            </a:r>
          </a:p>
        </p:txBody>
      </p:sp>
      <p:sp>
        <p:nvSpPr>
          <p:cNvPr id="24" name="Process 1"/>
          <p:cNvSpPr/>
          <p:nvPr/>
        </p:nvSpPr>
        <p:spPr>
          <a:xfrm>
            <a:off x="47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Known conductivity map</a:t>
            </a:r>
          </a:p>
        </p:txBody>
      </p:sp>
      <p:sp>
        <p:nvSpPr>
          <p:cNvPr id="25" name="Caption 1"/>
          <p:cNvSpPr txBox="1"/>
          <p:nvPr/>
        </p:nvSpPr>
        <p:spPr>
          <a:xfrm>
            <a:off x="47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Ground truth</a:t>
            </a:r>
          </a:p>
        </p:txBody>
      </p:sp>
      <p:sp>
        <p:nvSpPr>
          <p:cNvPr id="26" name="Chevron 1"/>
          <p:cNvSpPr txBox="1"/>
          <p:nvPr/>
        </p:nvSpPr>
        <p:spPr>
          <a:xfrm>
            <a:off x="212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27" name="Process 2"/>
          <p:cNvSpPr/>
          <p:nvPr/>
        </p:nvSpPr>
        <p:spPr>
          <a:xfrm>
            <a:off x="254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Forward simulation</a:t>
            </a:r>
          </a:p>
        </p:txBody>
      </p:sp>
      <p:sp>
        <p:nvSpPr>
          <p:cNvPr id="28" name="Caption 2"/>
          <p:cNvSpPr txBox="1"/>
          <p:nvPr/>
        </p:nvSpPr>
        <p:spPr>
          <a:xfrm>
            <a:off x="254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Synthetic measurement</a:t>
            </a:r>
          </a:p>
        </p:txBody>
      </p:sp>
      <p:sp>
        <p:nvSpPr>
          <p:cNvPr id="29" name="Chevron 2"/>
          <p:cNvSpPr txBox="1"/>
          <p:nvPr/>
        </p:nvSpPr>
        <p:spPr>
          <a:xfrm>
            <a:off x="419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0" name="Process 3"/>
          <p:cNvSpPr/>
          <p:nvPr/>
        </p:nvSpPr>
        <p:spPr>
          <a:xfrm>
            <a:off x="461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208 voltage changes</a:t>
            </a:r>
          </a:p>
        </p:txBody>
      </p:sp>
      <p:sp>
        <p:nvSpPr>
          <p:cNvPr id="31" name="Caption 3"/>
          <p:cNvSpPr txBox="1"/>
          <p:nvPr/>
        </p:nvSpPr>
        <p:spPr>
          <a:xfrm>
            <a:off x="461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Shared input</a:t>
            </a:r>
          </a:p>
        </p:txBody>
      </p:sp>
      <p:sp>
        <p:nvSpPr>
          <p:cNvPr id="32" name="Chevron 3"/>
          <p:cNvSpPr txBox="1"/>
          <p:nvPr/>
        </p:nvSpPr>
        <p:spPr>
          <a:xfrm>
            <a:off x="626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3" name="Process 4"/>
          <p:cNvSpPr/>
          <p:nvPr/>
        </p:nvSpPr>
        <p:spPr>
          <a:xfrm>
            <a:off x="668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BP, JAC, GREIT</a:t>
            </a:r>
          </a:p>
        </p:txBody>
      </p:sp>
      <p:sp>
        <p:nvSpPr>
          <p:cNvPr id="34" name="Caption 4"/>
          <p:cNvSpPr txBox="1"/>
          <p:nvPr/>
        </p:nvSpPr>
        <p:spPr>
          <a:xfrm>
            <a:off x="668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Three estimates</a:t>
            </a:r>
          </a:p>
        </p:txBody>
      </p:sp>
      <p:sp>
        <p:nvSpPr>
          <p:cNvPr id="35" name="Rationale"/>
          <p:cNvSpPr txBox="1"/>
          <p:nvPr/>
        </p:nvSpPr>
        <p:spPr>
          <a:xfrm>
            <a:off x="900000" y="3300000"/>
            <a:ext cx="7300000" cy="820000"/>
          </a:xfrm>
          <a:prstGeom prst="rect">
            <a:avLst/>
          </a:prstGeom>
          <a:noFill/>
          <a:ln>
            <a:noFill/>
          </a:ln>
        </p:spPr>
        <p:txBody>
          <a:bodyPr wrap="square" anchor="ctr" lIns="50000" rIns="50000" tIns="50000" bIns="50000"/>
          <a:lstStyle/>
          <a:p>
            <a:pPr algn="c"/>
            <a:r>
              <a:rPr lang="en-US" sz="1850" b="0">
                <a:solidFill>
                  <a:srgbClr val="222222"/>
                </a:solidFill>
                <a:latin typeface="Arial"/>
              </a:rPr>
              <a:t>The simulation provides an answer key. Each algorithm receives the same data, so differences in the images come from the reconstruction method and its settings.</a:t>
            </a:r>
          </a:p>
        </p:txBody>
      </p:sp>
    </p:spTree>
    <p:extLst>
      <p:ext uri="{BB962C8B-B14F-4D97-AF65-F5344CB8AC3E}">
        <p14:creationId val="4123950179"/>
      </p:ext>
    </p:extLst>
  </p:cSld>
  <p:clrMapOvr>
    <a:masterClrMapping/>
  </p:clrMapOvr>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C6FBA0E8-52CB-7C72-BCFA-F18994AB0BD6}"/>
            </a:ext>
          </a:extLst>
        </p:cNvPr>
        <p:cNvGrpSpPr/>
        <p:nvPr/>
      </p:nvGrpSpPr>
      <p:grpSpPr>
        <a:xfrm>
          <a:off x="0" y="0"/>
          <a:ext cx="0" cy="0"/>
          <a:chOff x="0" y="0"/>
          <a:chExt cx="0" cy="0"/>
        </a:xfrm>
      </p:grpSpPr>
      <p:sp>
        <p:nvSpPr>
          <p:cNvPr id="3" name="Title 2">
            <a:extLst>
              <a:ext uri="{FF2B5EF4-FFF2-40B4-BE49-F238E27FC236}">
                <a16:creationId id="{C8EE2526-A65B-E736-4148-16246079DED1}"/>
              </a:ext>
            </a:extLst>
          </p:cNvPr>
          <p:cNvSpPr>
            <a:spLocks noGrp="1"/>
          </p:cNvSpPr>
          <p:nvPr>
            <p:ph type="title"/>
          </p:nvPr>
        </p:nvSpPr>
        <p:spPr>
          <a:xfrm>
            <a:off x="236536" y="1003"/>
            <a:ext cx="8450263" cy="514350"/>
          </a:xfrm>
        </p:spPr>
        <p:txBody>
          <a:bodyPr/>
          <a:lstStyle/>
          <a:p>
            <a:r>
              <a:rPr lang="en-VN" dirty="0"/>
              <a:t>Known Conductivity Map</a:t>
            </a:r>
          </a:p>
        </p:txBody>
      </p:sp>
      <p:sp>
        <p:nvSpPr>
          <p:cNvPr id="22" name="Slide Number Placeholder 21">
            <a:extLst>
              <a:ext uri="{FF2B5EF4-FFF2-40B4-BE49-F238E27FC236}">
                <a16:creationId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Ground-truth relative conductivity map used in the simulation">
            <a:extLst>
              <a:ext uri="{FF2B5EF4-FFF2-40B4-BE49-F238E27FC236}">
                <a16:creationId id="{1A8A55B7-27F8-A4DA-4254-7E6B7781E90C}"/>
              </a:ext>
            </a:extLst>
          </p:cNvPr>
          <p:cNvPicPr>
            <a:picLocks noChangeAspect="1"/>
          </p:cNvPicPr>
          <p:nvPr/>
        </p:nvPicPr>
        <p:blipFill>
          <a:blip r:embed="rId3">
            <a:extLst>
              <a:ext uri="{28A0092B-C50C-407E-A947-70E740481C1C}">
                <ns4:useLocalDpi val="0"/>
              </a:ext>
            </a:extLst>
          </a:blip>
          <a:stretch>
            <a:fillRect/>
          </a:stretch>
        </p:blipFill>
        <p:spPr>
          <a:xfrm>
            <a:off x="340000" y="690000"/>
            <a:ext cx="5100000" cy="3860000"/>
          </a:xfrm>
          <a:prstGeom prst="rect">
            <a:avLst/>
          </a:prstGeom>
        </p:spPr>
      </p:pic>
      <p:sp>
        <p:nvSpPr>
          <p:cNvPr id="23" name="Model Definition"/>
          <p:cNvSpPr txBox="1"/>
          <p:nvPr/>
        </p:nvSpPr>
        <p:spPr>
          <a:xfrm>
            <a:off x="5660000" y="820000"/>
            <a:ext cx="2900000" cy="430000"/>
          </a:xfrm>
          <a:prstGeom prst="rect">
            <a:avLst/>
          </a:prstGeom>
          <a:noFill/>
          <a:ln>
            <a:noFill/>
          </a:ln>
        </p:spPr>
        <p:txBody>
          <a:bodyPr wrap="square" anchor="t" lIns="50000" rIns="50000" tIns="50000" bIns="50000"/>
          <a:lstStyle/>
          <a:p>
            <a:pPr algn="l"/>
            <a:r>
              <a:rPr lang="en-US" sz="1950" b="1">
                <a:solidFill>
                  <a:srgbClr val="6F263D"/>
                </a:solidFill>
                <a:latin typeface="Arial"/>
              </a:rPr>
              <a:t>Model definition</a:t>
            </a:r>
          </a:p>
        </p:txBody>
      </p:sp>
      <p:sp>
        <p:nvSpPr>
          <p:cNvPr id="24" name="Model Values"/>
          <p:cNvSpPr txBox="1"/>
          <p:nvPr/>
        </p:nvSpPr>
        <p:spPr>
          <a:xfrm>
            <a:off x="5660000" y="1260000"/>
            <a:ext cx="2900000" cy="2100000"/>
          </a:xfrm>
          <a:prstGeom prst="rect">
            <a:avLst/>
          </a:prstGeom>
          <a:noFill/>
          <a:ln>
            <a:noFill/>
          </a:ln>
        </p:spPr>
        <p:txBody>
          <a:bodyPr wrap="square" anchor="t" lIns="50000" rIns="50000" tIns="50000" bIns="50000"/>
          <a:lstStyle/>
          <a:p>
            <a:pPr algn="l">
              <a:spcAft>
                <a:spcPts val="500"/>
              </a:spcAft>
            </a:pPr>
            <a:r>
              <a:rPr lang="en-US" sz="1700" b="1">
                <a:solidFill>
                  <a:srgbClr val="222222"/>
                </a:solidFill>
                <a:latin typeface="Arial"/>
              </a:rPr>
              <a:t>2D circular domain</a:t>
            </a:r>
          </a:p>
          <a:p>
            <a:pPr algn="l">
              <a:spcAft>
                <a:spcPts val="500"/>
              </a:spcAft>
            </a:pPr>
            <a:r>
              <a:rPr lang="en-US" sz="1700" b="0">
                <a:solidFill>
                  <a:srgbClr val="222222"/>
                </a:solidFill>
                <a:latin typeface="Arial"/>
              </a:rPr>
              <a:t>16 boundary electrodes</a:t>
            </a:r>
          </a:p>
          <a:p>
            <a:pPr algn="l">
              <a:spcAft>
                <a:spcPts val="500"/>
              </a:spcAft>
            </a:pPr>
            <a:r>
              <a:rPr lang="en-US" sz="1700" b="0">
                <a:solidFill>
                  <a:srgbClr val="222222"/>
                </a:solidFill>
                <a:latin typeface="Arial"/>
              </a:rPr>
              <a:t>Background σrel = 1</a:t>
            </a:r>
          </a:p>
          <a:p>
            <a:pPr algn="l">
              <a:spcAft>
                <a:spcPts val="500"/>
              </a:spcAft>
            </a:pPr>
            <a:r>
              <a:rPr lang="en-US" sz="1700" b="0">
                <a:solidFill>
                  <a:srgbClr val="222222"/>
                </a:solidFill>
                <a:latin typeface="Arial"/>
              </a:rPr>
              <a:t>Target radius = 0.12R</a:t>
            </a:r>
          </a:p>
          <a:p>
            <a:pPr algn="l"/>
            <a:r>
              <a:rPr lang="en-US" sz="1700" b="0">
                <a:solidFill>
                  <a:srgbClr val="222222"/>
                </a:solidFill>
                <a:latin typeface="Arial"/>
              </a:rPr>
              <a:t>Target ratios: 0.1×, 10×, 5×, 0.1×</a:t>
            </a:r>
          </a:p>
        </p:txBody>
      </p:sp>
      <p:sp>
        <p:nvSpPr>
          <p:cNvPr id="25" name="Normalization Note"/>
          <p:cNvSpPr txBox="1"/>
          <p:nvPr/>
        </p:nvSpPr>
        <p:spPr>
          <a:xfrm>
            <a:off x="5660000" y="3530000"/>
            <a:ext cx="2900000" cy="760000"/>
          </a:xfrm>
          <a:prstGeom prst="rect">
            <a:avLst/>
          </a:prstGeom>
          <a:noFill/>
          <a:ln>
            <a:noFill/>
          </a:ln>
        </p:spPr>
        <p:txBody>
          <a:bodyPr wrap="square" anchor="t" lIns="50000" rIns="50000" tIns="50000" bIns="50000"/>
          <a:lstStyle/>
          <a:p>
            <a:pPr algn="l"/>
            <a:r>
              <a:rPr lang="en-US" sz="1350" b="0">
                <a:solidFill>
                  <a:srgbClr val="555555"/>
                </a:solidFill>
                <a:latin typeface="Arial"/>
              </a:rPr>
              <a:t>The value 1 is a normalized reference. It does not identify the physical material or imply 1 S/m.</a:t>
            </a:r>
          </a:p>
        </p:txBody>
      </p:sp>
    </p:spTree>
    <p:extLst>
      <p:ext uri="{BB962C8B-B14F-4D97-AF65-F5344CB8AC3E}">
        <p14:creationId val="413705505"/>
      </p:ext>
    </p:extLst>
  </p:cSld>
  <p:clrMapOvr>
    <a:masterClrMapping/>
  </p:clrMapOvr>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9E020230-C86B-E0E4-0C75-A81ACE3A123C}"/>
            </a:ext>
          </a:extLst>
        </p:cNvPr>
        <p:cNvGrpSpPr/>
        <p:nvPr/>
      </p:nvGrpSpPr>
      <p:grpSpPr>
        <a:xfrm>
          <a:off x="0" y="0"/>
          <a:ext cx="0" cy="0"/>
          <a:chOff x="0" y="0"/>
          <a:chExt cx="0" cy="0"/>
        </a:xfrm>
      </p:grpSpPr>
      <p:sp>
        <p:nvSpPr>
          <p:cNvPr id="3" name="Title 2">
            <a:extLst>
              <a:ext uri="{FF2B5EF4-FFF2-40B4-BE49-F238E27FC236}">
                <a16:creationId id="{88C29FA5-08A1-6C64-4436-40FEEC567C4C}"/>
              </a:ext>
            </a:extLst>
          </p:cNvPr>
          <p:cNvSpPr>
            <a:spLocks noGrp="1"/>
          </p:cNvSpPr>
          <p:nvPr>
            <p:ph type="title"/>
          </p:nvPr>
        </p:nvSpPr>
        <p:spPr>
          <a:xfrm>
            <a:off x="236536" y="1003"/>
            <a:ext cx="8450263" cy="514350"/>
          </a:xfrm>
        </p:spPr>
        <p:txBody>
          <a:bodyPr/>
          <a:lstStyle/>
          <a:p>
            <a:r>
              <a:rPr lang="en-VN" dirty="0"/>
              <a:t>Finite-Element Representation</a:t>
            </a:r>
          </a:p>
        </p:txBody>
      </p:sp>
      <p:sp>
        <p:nvSpPr>
          <p:cNvPr id="22" name="Slide Number Placeholder 21">
            <a:extLst>
              <a:ext uri="{FF2B5EF4-FFF2-40B4-BE49-F238E27FC236}">
                <a16:creationId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pic>
        <p:nvPicPr>
          <p:cNvPr id="14" name="Picture 13" descr="Triangular finite-element mesh with 16 boundary electrodes">
            <a:extLst>
              <a:ext uri="{FF2B5EF4-FFF2-40B4-BE49-F238E27FC236}">
                <a16:creationId id="{2BE9A53B-095B-4636-CD00-27DFE64BC8B5}"/>
              </a:ext>
            </a:extLst>
          </p:cNvPr>
          <p:cNvPicPr>
            <a:picLocks noChangeAspect="1"/>
          </p:cNvPicPr>
          <p:nvPr/>
        </p:nvPicPr>
        <p:blipFill>
          <a:blip r:embed="rId3">
            <a:extLst>
              <a:ext uri="{28A0092B-C50C-407E-A947-70E740481C1C}">
                <ns4:useLocalDpi val="0"/>
              </a:ext>
            </a:extLst>
          </a:blip>
          <a:stretch>
            <a:fillRect/>
          </a:stretch>
        </p:blipFill>
        <p:spPr>
          <a:xfrm>
            <a:off x="360000" y="690000"/>
            <a:ext cx="5100000" cy="3860000"/>
          </a:xfrm>
          <a:prstGeom prst="rect">
            <a:avLst/>
          </a:prstGeom>
        </p:spPr>
      </p:pic>
      <p:sp>
        <p:nvSpPr>
          <p:cNvPr id="23" name="Mesh Numbers"/>
          <p:cNvSpPr txBox="1"/>
          <p:nvPr/>
        </p:nvSpPr>
        <p:spPr>
          <a:xfrm>
            <a:off x="5680000" y="900000"/>
            <a:ext cx="2850000" cy="2700000"/>
          </a:xfrm>
          <a:prstGeom prst="rect">
            <a:avLst/>
          </a:prstGeom>
          <a:noFill/>
          <a:ln>
            <a:noFill/>
          </a:ln>
        </p:spPr>
        <p:txBody>
          <a:bodyPr wrap="square" anchor="t" lIns="50000" rIns="50000" tIns="50000" bIns="50000"/>
          <a:lstStyle/>
          <a:p>
            <a:pPr algn="l">
              <a:spcAft>
                <a:spcPts val="250"/>
              </a:spcAft>
            </a:pPr>
            <a:r>
              <a:rPr lang="en-US" sz="2050" b="1">
                <a:solidFill>
                  <a:srgbClr val="6F263D"/>
                </a:solidFill>
                <a:latin typeface="Arial"/>
              </a:rPr>
              <a:t>583 nodes</a:t>
            </a:r>
          </a:p>
          <a:p>
            <a:pPr algn="l">
              <a:spcAft>
                <a:spcPts val="700"/>
              </a:spcAft>
            </a:pPr>
            <a:r>
              <a:rPr lang="en-US" sz="1450" b="0">
                <a:solidFill>
                  <a:srgbClr val="333333"/>
                </a:solidFill>
                <a:latin typeface="Arial"/>
              </a:rPr>
              <a:t>Calculation points for electric potential</a:t>
            </a:r>
          </a:p>
          <a:p>
            <a:pPr algn="l">
              <a:spcAft>
                <a:spcPts val="250"/>
              </a:spcAft>
            </a:pPr>
            <a:r>
              <a:rPr lang="en-US" sz="2050" b="1">
                <a:solidFill>
                  <a:srgbClr val="6F263D"/>
                </a:solidFill>
                <a:latin typeface="Arial"/>
              </a:rPr>
              <a:t>1083 elements</a:t>
            </a:r>
          </a:p>
          <a:p>
            <a:pPr algn="l">
              <a:spcAft>
                <a:spcPts val="700"/>
              </a:spcAft>
            </a:pPr>
            <a:r>
              <a:rPr lang="en-US" sz="1450" b="0">
                <a:solidFill>
                  <a:srgbClr val="333333"/>
                </a:solidFill>
                <a:latin typeface="Arial"/>
              </a:rPr>
              <a:t>Triangular regions that store conductivity</a:t>
            </a:r>
          </a:p>
          <a:p>
            <a:pPr algn="l">
              <a:spcAft>
                <a:spcPts val="250"/>
              </a:spcAft>
            </a:pPr>
            <a:r>
              <a:rPr lang="en-US" sz="2050" b="1">
                <a:solidFill>
                  <a:srgbClr val="6F263D"/>
                </a:solidFill>
                <a:latin typeface="Arial"/>
              </a:rPr>
              <a:t>16 electrodes</a:t>
            </a:r>
          </a:p>
          <a:p>
            <a:pPr algn="l"/>
            <a:r>
              <a:rPr lang="en-US" sz="1450" b="0">
                <a:solidFill>
                  <a:srgbClr val="333333"/>
                </a:solidFill>
                <a:latin typeface="Arial"/>
              </a:rPr>
              <a:t>Boundary locations for the measurement protocol</a:t>
            </a:r>
          </a:p>
        </p:txBody>
      </p:sp>
      <p:sp>
        <p:nvSpPr>
          <p:cNvPr id="24" name="Mesh Note"/>
          <p:cNvSpPr txBox="1"/>
          <p:nvPr/>
        </p:nvSpPr>
        <p:spPr>
          <a:xfrm>
            <a:off x="5680000" y="3820000"/>
            <a:ext cx="2850000" cy="500000"/>
          </a:xfrm>
          <a:prstGeom prst="rect">
            <a:avLst/>
          </a:prstGeom>
          <a:noFill/>
          <a:ln>
            <a:noFill/>
          </a:ln>
        </p:spPr>
        <p:txBody>
          <a:bodyPr wrap="square" anchor="t" lIns="50000" rIns="50000" tIns="50000" bIns="50000"/>
          <a:lstStyle/>
          <a:p>
            <a:pPr algn="l"/>
            <a:r>
              <a:rPr lang="en-US" sz="1250" b="0">
                <a:solidFill>
                  <a:srgbClr val="555555"/>
                </a:solidFill>
                <a:latin typeface="Arial"/>
              </a:rPr>
              <a:t>h0 = 0.08 controls the approximate triangle size. The mesher determines the final node and element counts.</a:t>
            </a:r>
          </a:p>
        </p:txBody>
      </p:sp>
    </p:spTree>
    <p:extLst>
      <p:ext uri="{BB962C8B-B14F-4D97-AF65-F5344CB8AC3E}">
        <p14:creationId val="2648165380"/>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834C8005-A567-CD0D-F02F-97BFEA088A1F}"/>
            </a:ext>
          </a:extLst>
        </p:cNvPr>
        <p:cNvGrpSpPr/>
        <p:nvPr/>
      </p:nvGrpSpPr>
      <p:grpSpPr>
        <a:xfrm>
          <a:off x="0" y="0"/>
          <a:ext cx="0" cy="0"/>
          <a:chOff x="0" y="0"/>
          <a:chExt cx="0" cy="0"/>
        </a:xfrm>
      </p:grpSpPr>
      <p:sp>
        <p:nvSpPr>
          <p:cNvPr id="3" name="Title 2">
            <a:extLst>
              <a:ext uri="{FF2B5EF4-FFF2-40B4-BE49-F238E27FC236}">
                <a16:creationId id="{F8F7C4A6-F9B5-4000-AFCB-6D6942B11C6C}"/>
              </a:ext>
            </a:extLst>
          </p:cNvPr>
          <p:cNvSpPr>
            <a:spLocks noGrp="1"/>
          </p:cNvSpPr>
          <p:nvPr>
            <p:ph type="title"/>
          </p:nvPr>
        </p:nvSpPr>
        <p:spPr>
          <a:xfrm>
            <a:off x="236536" y="1003"/>
            <a:ext cx="8450263" cy="514350"/>
          </a:xfrm>
        </p:spPr>
        <p:txBody>
          <a:bodyPr/>
          <a:lstStyle/>
          <a:p>
            <a:r>
              <a:rPr lang="en-VN" dirty="0"/>
              <a:t>Synthetic Boundary-Voltage Data</a:t>
            </a:r>
          </a:p>
        </p:txBody>
      </p:sp>
      <p:sp>
        <p:nvSpPr>
          <p:cNvPr id="22" name="Slide Number Placeholder 21">
            <a:extLst>
              <a:ext uri="{FF2B5EF4-FFF2-40B4-BE49-F238E27FC236}">
                <a16:creationId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pic>
        <p:nvPicPr>
          <p:cNvPr id="26" name="Picture 25" descr="Reference, target, and difference voltage vectors from the forward solver">
            <a:extLst>
              <a:ext uri="{FF2B5EF4-FFF2-40B4-BE49-F238E27FC236}">
                <a16:creationId id="{FB9EA964-AD71-1B16-7B47-4C5CA6BAB959}"/>
              </a:ext>
            </a:extLst>
          </p:cNvPr>
          <p:cNvPicPr>
            <a:picLocks noChangeAspect="1"/>
          </p:cNvPicPr>
          <p:nvPr/>
        </p:nvPicPr>
        <p:blipFill>
          <a:blip r:embed="rId3">
            <a:extLst>
              <a:ext uri="{28A0092B-C50C-407E-A947-70E740481C1C}">
                <ns4:useLocalDpi val="0"/>
              </a:ext>
            </a:extLst>
          </a:blip>
          <a:stretch>
            <a:fillRect/>
          </a:stretch>
        </p:blipFill>
        <p:spPr>
          <a:xfrm>
            <a:off x="330000" y="980000"/>
            <a:ext cx="6050000" cy="3000000"/>
          </a:xfrm>
          <a:prstGeom prst="rect">
            <a:avLst/>
          </a:prstGeom>
        </p:spPr>
      </p:pic>
      <p:sp>
        <p:nvSpPr>
          <p:cNvPr id="27" name="Frame Definitions"/>
          <p:cNvSpPr txBox="1"/>
          <p:nvPr/>
        </p:nvSpPr>
        <p:spPr>
          <a:xfrm>
            <a:off x="6580000" y="1050000"/>
            <a:ext cx="2050000" cy="2400000"/>
          </a:xfrm>
          <a:prstGeom prst="rect">
            <a:avLst/>
          </a:prstGeom>
          <a:noFill/>
          <a:ln>
            <a:noFill/>
          </a:ln>
        </p:spPr>
        <p:txBody>
          <a:bodyPr wrap="square" anchor="t" lIns="50000" rIns="50000" tIns="50000" bIns="50000"/>
          <a:lstStyle/>
          <a:p>
            <a:pPr algn="l">
              <a:spcAft>
                <a:spcPts val="150"/>
              </a:spcAft>
            </a:pPr>
            <a:r>
              <a:rPr lang="en-US" sz="2200" b="1">
                <a:solidFill>
                  <a:srgbClr val="6F263D"/>
                </a:solidFill>
                <a:latin typeface="Arial"/>
              </a:rPr>
              <a:t>v₀</a:t>
            </a:r>
          </a:p>
          <a:p>
            <a:pPr algn="l">
              <a:spcAft>
                <a:spcPts val="700"/>
              </a:spcAft>
            </a:pPr>
            <a:r>
              <a:rPr lang="en-US" sz="1450" b="0">
                <a:solidFill>
                  <a:srgbClr val="222222"/>
                </a:solidFill>
                <a:latin typeface="Arial"/>
              </a:rPr>
              <a:t>Reference frame</a:t>
            </a:r>
          </a:p>
          <a:p>
            <a:pPr algn="l">
              <a:spcAft>
                <a:spcPts val="150"/>
              </a:spcAft>
            </a:pPr>
            <a:r>
              <a:rPr lang="en-US" sz="2200" b="1">
                <a:solidFill>
                  <a:srgbClr val="6F263D"/>
                </a:solidFill>
                <a:latin typeface="Arial"/>
              </a:rPr>
              <a:t>v₁</a:t>
            </a:r>
          </a:p>
          <a:p>
            <a:pPr algn="l">
              <a:spcAft>
                <a:spcPts val="700"/>
              </a:spcAft>
            </a:pPr>
            <a:r>
              <a:rPr lang="en-US" sz="1450" b="0">
                <a:solidFill>
                  <a:srgbClr val="222222"/>
                </a:solidFill>
                <a:latin typeface="Arial"/>
              </a:rPr>
              <a:t>Target frame</a:t>
            </a:r>
          </a:p>
          <a:p>
            <a:pPr algn="l"/>
            <a:r>
              <a:rPr lang="en-US" sz="1900" b="1">
                <a:solidFill>
                  <a:srgbClr val="6F263D"/>
                </a:solidFill>
                <a:latin typeface="Arial"/>
              </a:rPr>
              <a:t>Δv = v₁ − v₀</a:t>
            </a:r>
          </a:p>
        </p:txBody>
      </p:sp>
      <p:sp>
        <p:nvSpPr>
          <p:cNvPr id="28" name="Measurement Count"/>
          <p:cNvSpPr txBox="1"/>
          <p:nvPr/>
        </p:nvSpPr>
        <p:spPr>
          <a:xfrm>
            <a:off x="6580000" y="3290000"/>
            <a:ext cx="2050000" cy="660000"/>
          </a:xfrm>
          <a:prstGeom prst="rect">
            <a:avLst/>
          </a:prstGeom>
          <a:noFill/>
          <a:ln>
            <a:noFill/>
          </a:ln>
        </p:spPr>
        <p:txBody>
          <a:bodyPr wrap="square" anchor="ctr" lIns="50000" rIns="50000" tIns="50000" bIns="50000"/>
          <a:lstStyle/>
          <a:p>
            <a:pPr algn="c"/>
            <a:r>
              <a:rPr lang="en-US" sz="1300" b="1">
                <a:solidFill>
                  <a:srgbClr val="222222"/>
                </a:solidFill>
                <a:latin typeface="Arial"/>
              </a:rPr>
              <a:t>16 drive pairs × 13 sense pairs = 208 voltage differences per frame</a:t>
            </a:r>
          </a:p>
        </p:txBody>
      </p:sp>
      <p:sp>
        <p:nvSpPr>
          <p:cNvPr id="29" name="Model Assumptions"/>
          <p:cNvSpPr txBox="1"/>
          <p:nvPr/>
        </p:nvSpPr>
        <p:spPr>
          <a:xfrm>
            <a:off x="480000" y="4140000"/>
            <a:ext cx="7900000" cy="330000"/>
          </a:xfrm>
          <a:prstGeom prst="rect">
            <a:avLst/>
          </a:prstGeom>
          <a:noFill/>
          <a:ln>
            <a:noFill/>
          </a:ln>
        </p:spPr>
        <p:txBody>
          <a:bodyPr wrap="square" anchor="ctr" lIns="50000" rIns="50000" tIns="50000" bIns="50000"/>
          <a:lstStyle/>
          <a:p>
            <a:pPr algn="c"/>
            <a:r>
              <a:rPr lang="en-US" sz="1150" b="0">
                <a:solidFill>
                  <a:srgbClr val="666666"/>
                </a:solidFill>
                <a:latin typeface="Arial"/>
              </a:rPr>
              <a:t>Forward-model data only: ideal 2D geometry, point electrodes, normalized current, and zero added noise</a:t>
            </a:r>
          </a:p>
        </p:txBody>
      </p:sp>
    </p:spTree>
    <p:extLst>
      <p:ext uri="{BB962C8B-B14F-4D97-AF65-F5344CB8AC3E}">
        <p14:creationId val="1496050139"/>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6DB0-D421-8112-4FF4-75E732B088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42BCB9-3176-D718-5491-F2401D6ACD5D}"/>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xmlns:a16="http://schemas.microsoft.com/office/drawing/2014/main" id="{E263CCC6-61EF-93F6-9C62-D70BA3167933}"/>
              </a:ext>
            </a:extLst>
          </p:cNvPr>
          <p:cNvGraphicFramePr>
            <a:graphicFrameLocks noGrp="1"/>
          </p:cNvGraphicFramePr>
          <p:nvPr>
            <p:extLst>
              <p:ext uri="{D42A27DB-BD31-4B8C-83A1-F6EECF244321}">
                <p14:modId xmlns:p14="http://schemas.microsoft.com/office/powerpoint/2010/main" val="3345414951"/>
              </p:ext>
            </p:extLst>
          </p:nvPr>
        </p:nvGraphicFramePr>
        <p:xfrm>
          <a:off x="237744" y="658368"/>
          <a:ext cx="8677656" cy="3657600"/>
        </p:xfrm>
        <a:graphic>
          <a:graphicData uri="http://schemas.openxmlformats.org/drawingml/2006/table">
            <a:tbl>
              <a:tblPr bandRow="1">
                <a:tableStyleId>{5C22544A-7EE6-4342-B048-85BDC9FD1C3A}</a:tableStyleId>
              </a:tblPr>
              <a:tblGrid>
                <a:gridCol w="9601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916936">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914400">
                <a:tc>
                  <a:txBody>
                    <a:bodyPr/>
                    <a:lstStyle/>
                    <a:p>
                      <a:r>
                        <a:rPr sz="1050" b="1" i="0">
                          <a:solidFill>
                            <a:srgbClr val="FFFFFF"/>
                          </a:solidFill>
                          <a:latin typeface="Arial"/>
                        </a:rPr>
                        <a:t>Algorithm</a:t>
                      </a:r>
                    </a:p>
                  </a:txBody>
                  <a:tcPr marL="50800" marR="50800" marT="25400" marB="25400" anchor="ctr">
                    <a:solidFill>
                      <a:srgbClr val="6F263D"/>
                    </a:solidFill>
                  </a:tcPr>
                </a:tc>
                <a:tc>
                  <a:txBody>
                    <a:bodyPr/>
                    <a:lstStyle/>
                    <a:p>
                      <a:r>
                        <a:rPr sz="1050" b="1" i="0">
                          <a:solidFill>
                            <a:srgbClr val="FFFFFF"/>
                          </a:solidFill>
                          <a:latin typeface="Arial"/>
                        </a:rPr>
                        <a:t>Formula</a:t>
                      </a:r>
                    </a:p>
                  </a:txBody>
                  <a:tcPr marL="50800" marR="50800" marT="25400" marB="25400" anchor="ctr">
                    <a:solidFill>
                      <a:srgbClr val="6F263D"/>
                    </a:solidFill>
                  </a:tcPr>
                </a:tc>
                <a:tc>
                  <a:txBody>
                    <a:bodyPr/>
                    <a:lstStyle/>
                    <a:p>
                      <a:r>
                        <a:rPr sz="1050" b="1" i="0">
                          <a:solidFill>
                            <a:srgbClr val="FFFFFF"/>
                          </a:solidFill>
                          <a:latin typeface="Arial"/>
                        </a:rPr>
                        <a:t>What It Means</a:t>
                      </a:r>
                    </a:p>
                  </a:txBody>
                  <a:tcPr marL="50800" marR="50800" marT="25400" marB="25400" anchor="ctr">
                    <a:solidFill>
                      <a:srgbClr val="6F263D"/>
                    </a:solidFill>
                  </a:tcPr>
                </a:tc>
                <a:tc>
                  <a:txBody>
                    <a:bodyPr/>
                    <a:lstStyle/>
                    <a:p>
                      <a:r>
                        <a:rPr sz="1050" b="1" i="0">
                          <a:solidFill>
                            <a:srgbClr val="FFFFFF"/>
                          </a:solidFill>
                          <a:latin typeface="Arial"/>
                        </a:rPr>
                        <a:t>Result</a:t>
                      </a:r>
                    </a:p>
                  </a:txBody>
                  <a:tcPr marL="50800" marR="50800" marT="25400" marB="25400" anchor="ctr">
                    <a:solidFill>
                      <a:srgbClr val="6F263D"/>
                    </a:solidFill>
                  </a:tcPr>
                </a:tc>
                <a:extLst>
                  <a:ext uri="{0D108BD9-81ED-4DB2-BD59-A6C34878D82A}">
                    <a16:rowId xmlns:a16="http://schemas.microsoft.com/office/drawing/2014/main" val="10000"/>
                  </a:ext>
                </a:extLst>
              </a:tr>
              <a:tr h="914400">
                <a:tc>
                  <a:txBody>
                    <a:bodyPr/>
                    <a:lstStyle/>
                    <a:p>
                      <a:r>
                        <a:rPr sz="1050" b="0" i="0">
                          <a:solidFill>
                            <a:srgbClr val="222222"/>
                          </a:solidFill>
                          <a:latin typeface="Arial"/>
                        </a:rPr>
                        <a:t>BP</a:t>
                      </a:r>
                    </a:p>
                  </a:txBody>
                  <a:tcPr marL="50800" marR="50800" marT="38100" marB="38100" anchor="ctr">
                    <a:solidFill>
                      <a:srgbClr val="FFFFFF"/>
                    </a:solidFill>
                  </a:tcPr>
                </a:tc>
                <a:tc>
                  <a:txBody>
                    <a:bodyPr/>
                    <a:lstStyle/>
                    <a:p>
                      <a:r>
                        <a:rPr sz="1050" b="0" i="0">
                          <a:solidFill>
                            <a:srgbClr val="222222"/>
                          </a:solidFill>
                          <a:latin typeface="Arial"/>
                        </a:rPr>
                        <a:t>H = Bᵀ</a:t>
                      </a:r>
                    </a:p>
                  </a:txBody>
                  <a:tcPr marL="50800" marR="50800" marT="38100" marB="38100" anchor="ctr">
                    <a:solidFill>
                      <a:srgbClr val="FFFFFF"/>
                    </a:solidFill>
                  </a:tcPr>
                </a:tc>
                <a:tc>
                  <a:txBody>
                    <a:bodyPr/>
                    <a:lstStyle/>
                    <a:p>
                      <a:r>
                        <a:rPr sz="1050" b="0" i="0" dirty="0">
                          <a:solidFill>
                            <a:srgbClr val="222222"/>
                          </a:solidFill>
                          <a:latin typeface="Arial"/>
                        </a:rPr>
                        <a:t>Weights each mesh element by geometric distance from the measurement path</a:t>
                      </a:r>
                      <a:r>
                        <a:rPr lang="vi-VN" sz="1050" b="0" i="0" dirty="0">
                          <a:solidFill>
                            <a:srgbClr val="222222"/>
                          </a:solidFill>
                          <a:latin typeface="Arial"/>
                        </a:rPr>
                        <a:t>,</a:t>
                      </a:r>
                      <a:r>
                        <a:rPr sz="1050" b="0" i="0" dirty="0">
                          <a:solidFill>
                            <a:srgbClr val="222222"/>
                          </a:solidFill>
                          <a:latin typeface="Arial"/>
                        </a:rPr>
                        <a:t> no real sensitivity (J) used.</a:t>
                      </a:r>
                    </a:p>
                  </a:txBody>
                  <a:tcPr marL="50800" marR="50800" marT="38100" marB="38100" anchor="ctr">
                    <a:solidFill>
                      <a:srgbClr val="FFFFFF"/>
                    </a:solidFill>
                  </a:tcPr>
                </a:tc>
                <a:tc>
                  <a:txBody>
                    <a:bodyPr/>
                    <a:lstStyle/>
                    <a:p>
                      <a:r>
                        <a:rPr sz="1050" b="0" i="0">
                          <a:solidFill>
                            <a:srgbClr val="222222"/>
                          </a:solidFill>
                          <a:latin typeface="Arial"/>
                        </a:rPr>
                        <a:t>Rough, blurry δσ map. Fast, but not physically grounded.</a:t>
                      </a:r>
                    </a:p>
                  </a:txBody>
                  <a:tcPr marL="50800" marR="50800" marT="38100" marB="38100" anchor="ctr">
                    <a:solidFill>
                      <a:srgbClr val="FFFFFF"/>
                    </a:solidFill>
                  </a:tcPr>
                </a:tc>
                <a:extLst>
                  <a:ext uri="{0D108BD9-81ED-4DB2-BD59-A6C34878D82A}">
                    <a16:rowId xmlns:a16="http://schemas.microsoft.com/office/drawing/2014/main" val="10001"/>
                  </a:ext>
                </a:extLst>
              </a:tr>
              <a:tr h="914400">
                <a:tc>
                  <a:txBody>
                    <a:bodyPr/>
                    <a:lstStyle/>
                    <a:p>
                      <a:r>
                        <a:rPr sz="1050" b="0" i="0">
                          <a:solidFill>
                            <a:srgbClr val="222222"/>
                          </a:solidFill>
                          <a:latin typeface="Arial"/>
                        </a:rPr>
                        <a:t>JAC</a:t>
                      </a:r>
                    </a:p>
                  </a:txBody>
                  <a:tcPr marL="50800" marR="50800" marT="38100" marB="38100" anchor="ctr">
                    <a:solidFill>
                      <a:srgbClr val="F5EFEC"/>
                    </a:solidFill>
                  </a:tcPr>
                </a:tc>
                <a:tc>
                  <a:txBody>
                    <a:bodyPr/>
                    <a:lstStyle/>
                    <a:p>
                      <a:r>
                        <a:rPr sz="1050" b="0" i="0">
                          <a:solidFill>
                            <a:srgbClr val="222222"/>
                          </a:solidFill>
                          <a:latin typeface="Arial"/>
                        </a:rPr>
                        <a:t>δσ = (JᵀJ+λR)⁻¹Jᵀ·Δv</a:t>
                      </a:r>
                    </a:p>
                  </a:txBody>
                  <a:tcPr marL="50800" marR="50800" marT="38100" marB="38100" anchor="ctr">
                    <a:solidFill>
                      <a:srgbClr val="F5EFEC"/>
                    </a:solidFill>
                  </a:tcPr>
                </a:tc>
                <a:tc>
                  <a:txBody>
                    <a:bodyPr/>
                    <a:lstStyle/>
                    <a:p>
                      <a:r>
                        <a:rPr sz="1050" b="0" i="0">
                          <a:solidFill>
                            <a:srgbClr val="222222"/>
                          </a:solidFill>
                          <a:latin typeface="Arial"/>
                        </a:rPr>
                        <a:t>Uses real sensitivity J. Balances matching Δv against staying smooth (λR).</a:t>
                      </a:r>
                    </a:p>
                  </a:txBody>
                  <a:tcPr marL="50800" marR="50800" marT="38100" marB="38100" anchor="ctr">
                    <a:solidFill>
                      <a:srgbClr val="F5EFEC"/>
                    </a:solidFill>
                  </a:tcPr>
                </a:tc>
                <a:tc>
                  <a:txBody>
                    <a:bodyPr/>
                    <a:lstStyle/>
                    <a:p>
                      <a:r>
                        <a:rPr sz="1050" b="0" i="0" dirty="0">
                          <a:solidFill>
                            <a:srgbClr val="222222"/>
                          </a:solidFill>
                          <a:latin typeface="Arial"/>
                        </a:rPr>
                        <a:t>Sharper, more accurate </a:t>
                      </a:r>
                      <a:r>
                        <a:rPr sz="1050" b="0" i="0" dirty="0" err="1">
                          <a:solidFill>
                            <a:srgbClr val="222222"/>
                          </a:solidFill>
                          <a:latin typeface="Arial"/>
                        </a:rPr>
                        <a:t>δσ</a:t>
                      </a:r>
                      <a:r>
                        <a:rPr sz="1050" b="0" i="0" dirty="0">
                          <a:solidFill>
                            <a:srgbClr val="222222"/>
                          </a:solidFill>
                          <a:latin typeface="Arial"/>
                        </a:rPr>
                        <a:t>. Slower; shape depends on the mesh.</a:t>
                      </a:r>
                    </a:p>
                  </a:txBody>
                  <a:tcPr marL="50800" marR="50800" marT="38100" marB="38100" anchor="ctr">
                    <a:solidFill>
                      <a:srgbClr val="F5EFEC"/>
                    </a:solidFill>
                  </a:tcPr>
                </a:tc>
                <a:extLst>
                  <a:ext uri="{0D108BD9-81ED-4DB2-BD59-A6C34878D82A}">
                    <a16:rowId xmlns:a16="http://schemas.microsoft.com/office/drawing/2014/main" val="10002"/>
                  </a:ext>
                </a:extLst>
              </a:tr>
              <a:tr h="914400">
                <a:tc>
                  <a:txBody>
                    <a:bodyPr/>
                    <a:lstStyle/>
                    <a:p>
                      <a:r>
                        <a:rPr sz="1050" b="0" i="0">
                          <a:solidFill>
                            <a:srgbClr val="222222"/>
                          </a:solidFill>
                          <a:latin typeface="Arial"/>
                        </a:rPr>
                        <a:t>GREIT</a:t>
                      </a:r>
                    </a:p>
                  </a:txBody>
                  <a:tcPr marL="50800" marR="50800" marT="38100" marB="38100" anchor="ctr">
                    <a:solidFill>
                      <a:srgbClr val="FFFFFF"/>
                    </a:solidFill>
                  </a:tcPr>
                </a:tc>
                <a:tc>
                  <a:txBody>
                    <a:bodyPr/>
                    <a:lstStyle/>
                    <a:p>
                      <a:r>
                        <a:rPr sz="1050" b="0" i="0">
                          <a:solidFill>
                            <a:srgbClr val="222222"/>
                          </a:solidFill>
                          <a:latin typeface="Arial"/>
                        </a:rPr>
                        <a:t>H = W·Jᵀ·(JJᵀ+λR)⁻¹</a:t>
                      </a:r>
                    </a:p>
                  </a:txBody>
                  <a:tcPr marL="50800" marR="50800" marT="38100" marB="38100" anchor="ctr">
                    <a:solidFill>
                      <a:srgbClr val="FFFFFF"/>
                    </a:solidFill>
                  </a:tcPr>
                </a:tc>
                <a:tc>
                  <a:txBody>
                    <a:bodyPr/>
                    <a:lstStyle/>
                    <a:p>
                      <a:r>
                        <a:rPr sz="1050" b="0" i="0">
                          <a:solidFill>
                            <a:srgbClr val="222222"/>
                          </a:solidFill>
                          <a:latin typeface="Arial"/>
                        </a:rPr>
                        <a:t>Same sensitivity as JAC, reordered (JJᵀ), plus pre-trained grid weights W.</a:t>
                      </a:r>
                    </a:p>
                  </a:txBody>
                  <a:tcPr marL="50800" marR="50800" marT="38100" marB="38100" anchor="ctr">
                    <a:solidFill>
                      <a:srgbClr val="FFFFFF"/>
                    </a:solidFill>
                  </a:tcPr>
                </a:tc>
                <a:tc>
                  <a:txBody>
                    <a:bodyPr/>
                    <a:lstStyle/>
                    <a:p>
                      <a:r>
                        <a:rPr sz="1050" b="0" i="0" dirty="0">
                          <a:solidFill>
                            <a:srgbClr val="222222"/>
                          </a:solidFill>
                          <a:latin typeface="Arial"/>
                        </a:rPr>
                        <a:t>Smooth, standardized image on a pixel grid. Comparable across scans, but fixed in advance.</a:t>
                      </a:r>
                    </a:p>
                  </a:txBody>
                  <a:tcPr marL="50800" marR="50800" marT="38100" marB="381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44134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C98F-8F2F-4FDE-D522-12618F0DF7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1DCCBC-D30C-C210-C308-1A4257C902D1}"/>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A group of circles with numbers and lines&#10;&#10;AI-generated content may be incorrect.">
            <a:extLst>
              <a:ext uri="{FF2B5EF4-FFF2-40B4-BE49-F238E27FC236}">
                <a16:creationId xmlns:a16="http://schemas.microsoft.com/office/drawing/2014/main" id="{8132BABF-AA2C-E8C3-2F26-C306EB8EA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664" y="659919"/>
            <a:ext cx="5510006" cy="4395265"/>
          </a:xfrm>
          <a:prstGeom prst="rect">
            <a:avLst/>
          </a:prstGeom>
        </p:spPr>
      </p:pic>
    </p:spTree>
    <p:extLst>
      <p:ext uri="{BB962C8B-B14F-4D97-AF65-F5344CB8AC3E}">
        <p14:creationId xmlns:p14="http://schemas.microsoft.com/office/powerpoint/2010/main" val="1635422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Symbols</a:t>
            </a:r>
          </a:p>
        </p:txBody>
      </p:sp>
      <p:graphicFrame>
        <p:nvGraphicFramePr>
          <p:cNvPr id="3" name="Table 2"/>
          <p:cNvGraphicFramePr>
            <a:graphicFrameLocks noGrp="1"/>
          </p:cNvGraphicFramePr>
          <p:nvPr/>
        </p:nvGraphicFramePr>
        <p:xfrm>
          <a:off x="237744" y="658368"/>
          <a:ext cx="8677656" cy="3794760"/>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6848856">
                  <a:extLst>
                    <a:ext uri="{9D8B030D-6E8A-4147-A177-3AD203B41FA5}">
                      <a16:colId xmlns:a16="http://schemas.microsoft.com/office/drawing/2014/main" val="20001"/>
                    </a:ext>
                  </a:extLst>
                </a:gridCol>
              </a:tblGrid>
              <a:tr h="223221">
                <a:tc>
                  <a:txBody>
                    <a:bodyPr/>
                    <a:lstStyle/>
                    <a:p>
                      <a:r>
                        <a:rPr sz="1100" b="1" i="0">
                          <a:solidFill>
                            <a:srgbClr val="FFFFFF"/>
                          </a:solidFill>
                          <a:latin typeface="Arial"/>
                        </a:rPr>
                        <a:t>Symbol</a:t>
                      </a:r>
                    </a:p>
                  </a:txBody>
                  <a:tcPr marL="50800" marR="50800" marT="25400" marB="25400" anchor="ctr">
                    <a:solidFill>
                      <a:srgbClr val="6F263D"/>
                    </a:solidFill>
                  </a:tcPr>
                </a:tc>
                <a:tc>
                  <a:txBody>
                    <a:bodyPr/>
                    <a:lstStyle/>
                    <a:p>
                      <a:r>
                        <a:rPr sz="1100" b="1" i="0">
                          <a:solidFill>
                            <a:srgbClr val="FFFFFF"/>
                          </a:solidFill>
                          <a:latin typeface="Arial"/>
                        </a:rPr>
                        <a:t>Meaning</a:t>
                      </a:r>
                    </a:p>
                  </a:txBody>
                  <a:tcPr marL="50800" marR="50800" marT="25400" marB="25400" anchor="ctr">
                    <a:solidFill>
                      <a:srgbClr val="6F263D"/>
                    </a:solidFill>
                  </a:tcPr>
                </a:tc>
                <a:extLst>
                  <a:ext uri="{0D108BD9-81ED-4DB2-BD59-A6C34878D82A}">
                    <a16:rowId xmlns:a16="http://schemas.microsoft.com/office/drawing/2014/main" val="10000"/>
                  </a:ext>
                </a:extLst>
              </a:tr>
              <a:tr h="223221">
                <a:tc>
                  <a:txBody>
                    <a:bodyPr/>
                    <a:lstStyle/>
                    <a:p>
                      <a:r>
                        <a:rPr sz="1100" b="0" i="0">
                          <a:solidFill>
                            <a:srgbClr val="222222"/>
                          </a:solidFill>
                          <a:latin typeface="Arial"/>
                        </a:rPr>
                        <a:t>Ω</a:t>
                      </a:r>
                    </a:p>
                  </a:txBody>
                  <a:tcPr marL="50800" marR="50800" marT="25400" marB="25400" anchor="ctr">
                    <a:solidFill>
                      <a:srgbClr val="FFFFFF"/>
                    </a:solidFill>
                  </a:tcPr>
                </a:tc>
                <a:tc>
                  <a:txBody>
                    <a:bodyPr/>
                    <a:lstStyle/>
                    <a:p>
                      <a:r>
                        <a:rPr sz="1100" b="0" i="0">
                          <a:solidFill>
                            <a:srgbClr val="222222"/>
                          </a:solidFill>
                          <a:latin typeface="Arial"/>
                        </a:rPr>
                        <a:t>The region (domain) being imaged</a:t>
                      </a:r>
                    </a:p>
                  </a:txBody>
                  <a:tcPr marL="50800" marR="50800" marT="25400" marB="25400" anchor="ctr">
                    <a:solidFill>
                      <a:srgbClr val="FFFFFF"/>
                    </a:solidFill>
                  </a:tcPr>
                </a:tc>
                <a:extLst>
                  <a:ext uri="{0D108BD9-81ED-4DB2-BD59-A6C34878D82A}">
                    <a16:rowId xmlns:a16="http://schemas.microsoft.com/office/drawing/2014/main" val="10001"/>
                  </a:ext>
                </a:extLst>
              </a:tr>
              <a:tr h="223221">
                <a:tc>
                  <a:txBody>
                    <a:bodyPr/>
                    <a:lstStyle/>
                    <a:p>
                      <a:r>
                        <a:rPr sz="1100" b="0" i="0">
                          <a:solidFill>
                            <a:srgbClr val="222222"/>
                          </a:solidFill>
                          <a:latin typeface="Arial"/>
                        </a:rPr>
                        <a:t>∂Ω</a:t>
                      </a:r>
                    </a:p>
                  </a:txBody>
                  <a:tcPr marL="50800" marR="50800" marT="25400" marB="25400" anchor="ctr">
                    <a:solidFill>
                      <a:srgbClr val="F5EFEC"/>
                    </a:solidFill>
                  </a:tcPr>
                </a:tc>
                <a:tc>
                  <a:txBody>
                    <a:bodyPr/>
                    <a:lstStyle/>
                    <a:p>
                      <a:r>
                        <a:rPr sz="1100" b="0" i="0">
                          <a:solidFill>
                            <a:srgbClr val="222222"/>
                          </a:solidFill>
                          <a:latin typeface="Arial"/>
                        </a:rPr>
                        <a:t>The boundary of the domain</a:t>
                      </a:r>
                    </a:p>
                  </a:txBody>
                  <a:tcPr marL="50800" marR="50800" marT="25400" marB="25400" anchor="ctr">
                    <a:solidFill>
                      <a:srgbClr val="F5EFEC"/>
                    </a:solidFill>
                  </a:tcPr>
                </a:tc>
                <a:extLst>
                  <a:ext uri="{0D108BD9-81ED-4DB2-BD59-A6C34878D82A}">
                    <a16:rowId xmlns:a16="http://schemas.microsoft.com/office/drawing/2014/main" val="10002"/>
                  </a:ext>
                </a:extLst>
              </a:tr>
              <a:tr h="223221">
                <a:tc>
                  <a:txBody>
                    <a:bodyPr/>
                    <a:lstStyle/>
                    <a:p>
                      <a:r>
                        <a:rPr sz="1100" b="0" i="0">
                          <a:solidFill>
                            <a:srgbClr val="222222"/>
                          </a:solidFill>
                          <a:latin typeface="Arial"/>
                        </a:rPr>
                        <a:t>σ</a:t>
                      </a:r>
                    </a:p>
                  </a:txBody>
                  <a:tcPr marL="50800" marR="50800" marT="25400" marB="25400" anchor="ctr">
                    <a:solidFill>
                      <a:srgbClr val="FFFFFF"/>
                    </a:solidFill>
                  </a:tcPr>
                </a:tc>
                <a:tc>
                  <a:txBody>
                    <a:bodyPr/>
                    <a:lstStyle/>
                    <a:p>
                      <a:r>
                        <a:rPr sz="1100" b="0" i="0">
                          <a:solidFill>
                            <a:srgbClr val="222222"/>
                          </a:solidFill>
                          <a:latin typeface="Arial"/>
                        </a:rPr>
                        <a:t>Conductivity</a:t>
                      </a:r>
                    </a:p>
                  </a:txBody>
                  <a:tcPr marL="50800" marR="50800" marT="25400" marB="25400" anchor="ctr">
                    <a:solidFill>
                      <a:srgbClr val="FFFFFF"/>
                    </a:solidFill>
                  </a:tcPr>
                </a:tc>
                <a:extLst>
                  <a:ext uri="{0D108BD9-81ED-4DB2-BD59-A6C34878D82A}">
                    <a16:rowId xmlns:a16="http://schemas.microsoft.com/office/drawing/2014/main" val="10003"/>
                  </a:ext>
                </a:extLst>
              </a:tr>
              <a:tr h="223221">
                <a:tc>
                  <a:txBody>
                    <a:bodyPr/>
                    <a:lstStyle/>
                    <a:p>
                      <a:r>
                        <a:rPr sz="1100" b="0" i="0">
                          <a:solidFill>
                            <a:srgbClr val="222222"/>
                          </a:solidFill>
                          <a:latin typeface="Arial"/>
                        </a:rPr>
                        <a:t>u</a:t>
                      </a:r>
                    </a:p>
                  </a:txBody>
                  <a:tcPr marL="50800" marR="50800" marT="25400" marB="25400" anchor="ctr">
                    <a:solidFill>
                      <a:srgbClr val="F5EFEC"/>
                    </a:solidFill>
                  </a:tcPr>
                </a:tc>
                <a:tc>
                  <a:txBody>
                    <a:bodyPr/>
                    <a:lstStyle/>
                    <a:p>
                      <a:r>
                        <a:rPr sz="1100" b="0" i="0">
                          <a:solidFill>
                            <a:srgbClr val="222222"/>
                          </a:solidFill>
                          <a:latin typeface="Arial"/>
                        </a:rPr>
                        <a:t>Electric potential</a:t>
                      </a:r>
                    </a:p>
                  </a:txBody>
                  <a:tcPr marL="50800" marR="50800" marT="25400" marB="25400" anchor="ctr">
                    <a:solidFill>
                      <a:srgbClr val="F5EFEC"/>
                    </a:solidFill>
                  </a:tcPr>
                </a:tc>
                <a:extLst>
                  <a:ext uri="{0D108BD9-81ED-4DB2-BD59-A6C34878D82A}">
                    <a16:rowId xmlns:a16="http://schemas.microsoft.com/office/drawing/2014/main" val="10004"/>
                  </a:ext>
                </a:extLst>
              </a:tr>
              <a:tr h="223221">
                <a:tc>
                  <a:txBody>
                    <a:bodyPr/>
                    <a:lstStyle/>
                    <a:p>
                      <a:r>
                        <a:rPr sz="1100" b="0" i="0">
                          <a:solidFill>
                            <a:srgbClr val="222222"/>
                          </a:solidFill>
                          <a:latin typeface="Arial"/>
                        </a:rPr>
                        <a:t>∇</a:t>
                      </a:r>
                    </a:p>
                  </a:txBody>
                  <a:tcPr marL="50800" marR="50800" marT="25400" marB="25400" anchor="ctr">
                    <a:solidFill>
                      <a:srgbClr val="FFFFFF"/>
                    </a:solidFill>
                  </a:tcPr>
                </a:tc>
                <a:tc>
                  <a:txBody>
                    <a:bodyPr/>
                    <a:lstStyle/>
                    <a:p>
                      <a:r>
                        <a:rPr sz="1100" b="0" i="0">
                          <a:solidFill>
                            <a:srgbClr val="222222"/>
                          </a:solidFill>
                          <a:latin typeface="Arial"/>
                        </a:rPr>
                        <a:t>Gradient operator</a:t>
                      </a:r>
                    </a:p>
                  </a:txBody>
                  <a:tcPr marL="50800" marR="50800" marT="25400" marB="25400" anchor="ctr">
                    <a:solidFill>
                      <a:srgbClr val="FFFFFF"/>
                    </a:solidFill>
                  </a:tcPr>
                </a:tc>
                <a:extLst>
                  <a:ext uri="{0D108BD9-81ED-4DB2-BD59-A6C34878D82A}">
                    <a16:rowId xmlns:a16="http://schemas.microsoft.com/office/drawing/2014/main" val="10005"/>
                  </a:ext>
                </a:extLst>
              </a:tr>
              <a:tr h="223221">
                <a:tc>
                  <a:txBody>
                    <a:bodyPr/>
                    <a:lstStyle/>
                    <a:p>
                      <a:r>
                        <a:rPr sz="1100" b="0" i="0">
                          <a:solidFill>
                            <a:srgbClr val="222222"/>
                          </a:solidFill>
                          <a:latin typeface="Arial"/>
                        </a:rPr>
                        <a:t>∇·</a:t>
                      </a:r>
                    </a:p>
                  </a:txBody>
                  <a:tcPr marL="50800" marR="50800" marT="25400" marB="25400" anchor="ctr">
                    <a:solidFill>
                      <a:srgbClr val="F5EFEC"/>
                    </a:solidFill>
                  </a:tcPr>
                </a:tc>
                <a:tc>
                  <a:txBody>
                    <a:bodyPr/>
                    <a:lstStyle/>
                    <a:p>
                      <a:r>
                        <a:rPr sz="1100" b="0" i="0">
                          <a:solidFill>
                            <a:srgbClr val="222222"/>
                          </a:solidFill>
                          <a:latin typeface="Arial"/>
                        </a:rPr>
                        <a:t>Divergence operator</a:t>
                      </a:r>
                    </a:p>
                  </a:txBody>
                  <a:tcPr marL="50800" marR="50800" marT="25400" marB="25400" anchor="ctr">
                    <a:solidFill>
                      <a:srgbClr val="F5EFEC"/>
                    </a:solidFill>
                  </a:tcPr>
                </a:tc>
                <a:extLst>
                  <a:ext uri="{0D108BD9-81ED-4DB2-BD59-A6C34878D82A}">
                    <a16:rowId xmlns:a16="http://schemas.microsoft.com/office/drawing/2014/main" val="10006"/>
                  </a:ext>
                </a:extLst>
              </a:tr>
              <a:tr h="223221">
                <a:tc>
                  <a:txBody>
                    <a:bodyPr/>
                    <a:lstStyle/>
                    <a:p>
                      <a:r>
                        <a:rPr sz="1100" b="0" i="0">
                          <a:solidFill>
                            <a:srgbClr val="222222"/>
                          </a:solidFill>
                          <a:latin typeface="Arial"/>
                        </a:rPr>
                        <a:t>∇u</a:t>
                      </a:r>
                    </a:p>
                  </a:txBody>
                  <a:tcPr marL="50800" marR="50800" marT="25400" marB="25400" anchor="ctr">
                    <a:solidFill>
                      <a:srgbClr val="FFFFFF"/>
                    </a:solidFill>
                  </a:tcPr>
                </a:tc>
                <a:tc>
                  <a:txBody>
                    <a:bodyPr/>
                    <a:lstStyle/>
                    <a:p>
                      <a:r>
                        <a:rPr sz="1100" b="0" i="0">
                          <a:solidFill>
                            <a:srgbClr val="222222"/>
                          </a:solidFill>
                          <a:latin typeface="Arial"/>
                        </a:rPr>
                        <a:t>Gradient of u</a:t>
                      </a:r>
                    </a:p>
                  </a:txBody>
                  <a:tcPr marL="50800" marR="50800" marT="25400" marB="25400" anchor="ctr">
                    <a:solidFill>
                      <a:srgbClr val="FFFFFF"/>
                    </a:solidFill>
                  </a:tcPr>
                </a:tc>
                <a:extLst>
                  <a:ext uri="{0D108BD9-81ED-4DB2-BD59-A6C34878D82A}">
                    <a16:rowId xmlns:a16="http://schemas.microsoft.com/office/drawing/2014/main" val="10007"/>
                  </a:ext>
                </a:extLst>
              </a:tr>
              <a:tr h="223221">
                <a:tc>
                  <a:txBody>
                    <a:bodyPr/>
                    <a:lstStyle/>
                    <a:p>
                      <a:r>
                        <a:rPr sz="1100" b="0" i="0">
                          <a:solidFill>
                            <a:srgbClr val="222222"/>
                          </a:solidFill>
                          <a:latin typeface="Arial"/>
                        </a:rPr>
                        <a:t>∂u/∂n</a:t>
                      </a:r>
                    </a:p>
                  </a:txBody>
                  <a:tcPr marL="50800" marR="50800" marT="25400" marB="25400" anchor="ctr">
                    <a:solidFill>
                      <a:srgbClr val="F5EFEC"/>
                    </a:solidFill>
                  </a:tcPr>
                </a:tc>
                <a:tc>
                  <a:txBody>
                    <a:bodyPr/>
                    <a:lstStyle/>
                    <a:p>
                      <a:r>
                        <a:rPr sz="1100" b="0" i="0">
                          <a:solidFill>
                            <a:srgbClr val="222222"/>
                          </a:solidFill>
                          <a:latin typeface="Arial"/>
                        </a:rPr>
                        <a:t>Rate of change of u across the boundary</a:t>
                      </a:r>
                    </a:p>
                  </a:txBody>
                  <a:tcPr marL="50800" marR="50800" marT="25400" marB="25400" anchor="ctr">
                    <a:solidFill>
                      <a:srgbClr val="F5EFEC"/>
                    </a:solidFill>
                  </a:tcPr>
                </a:tc>
                <a:extLst>
                  <a:ext uri="{0D108BD9-81ED-4DB2-BD59-A6C34878D82A}">
                    <a16:rowId xmlns:a16="http://schemas.microsoft.com/office/drawing/2014/main" val="10008"/>
                  </a:ext>
                </a:extLst>
              </a:tr>
              <a:tr h="223221">
                <a:tc>
                  <a:txBody>
                    <a:bodyPr/>
                    <a:lstStyle/>
                    <a:p>
                      <a:r>
                        <a:rPr sz="1100" b="0" i="0">
                          <a:solidFill>
                            <a:srgbClr val="222222"/>
                          </a:solidFill>
                          <a:latin typeface="Arial"/>
                        </a:rPr>
                        <a:t>g</a:t>
                      </a:r>
                    </a:p>
                  </a:txBody>
                  <a:tcPr marL="50800" marR="50800" marT="25400" marB="25400" anchor="ctr">
                    <a:solidFill>
                      <a:srgbClr val="FFFFFF"/>
                    </a:solidFill>
                  </a:tcPr>
                </a:tc>
                <a:tc>
                  <a:txBody>
                    <a:bodyPr/>
                    <a:lstStyle/>
                    <a:p>
                      <a:r>
                        <a:rPr sz="1100" b="0" i="0">
                          <a:solidFill>
                            <a:srgbClr val="222222"/>
                          </a:solidFill>
                          <a:latin typeface="Arial"/>
                        </a:rPr>
                        <a:t>Current injected at the boundary</a:t>
                      </a:r>
                    </a:p>
                  </a:txBody>
                  <a:tcPr marL="50800" marR="50800" marT="25400" marB="25400" anchor="ctr">
                    <a:solidFill>
                      <a:srgbClr val="FFFFFF"/>
                    </a:solidFill>
                  </a:tcPr>
                </a:tc>
                <a:extLst>
                  <a:ext uri="{0D108BD9-81ED-4DB2-BD59-A6C34878D82A}">
                    <a16:rowId xmlns:a16="http://schemas.microsoft.com/office/drawing/2014/main" val="10009"/>
                  </a:ext>
                </a:extLst>
              </a:tr>
              <a:tr h="223221">
                <a:tc>
                  <a:txBody>
                    <a:bodyPr/>
                    <a:lstStyle/>
                    <a:p>
                      <a:r>
                        <a:rPr sz="1100" b="0" i="0">
                          <a:solidFill>
                            <a:srgbClr val="222222"/>
                          </a:solidFill>
                          <a:latin typeface="Arial"/>
                        </a:rPr>
                        <a:t>∫</a:t>
                      </a:r>
                    </a:p>
                  </a:txBody>
                  <a:tcPr marL="50800" marR="50800" marT="25400" marB="25400" anchor="ctr">
                    <a:solidFill>
                      <a:srgbClr val="F5EFEC"/>
                    </a:solidFill>
                  </a:tcPr>
                </a:tc>
                <a:tc>
                  <a:txBody>
                    <a:bodyPr/>
                    <a:lstStyle/>
                    <a:p>
                      <a:r>
                        <a:rPr sz="1100" b="0" i="0">
                          <a:solidFill>
                            <a:srgbClr val="222222"/>
                          </a:solidFill>
                          <a:latin typeface="Arial"/>
                        </a:rPr>
                        <a:t>Integral of</a:t>
                      </a:r>
                    </a:p>
                  </a:txBody>
                  <a:tcPr marL="50800" marR="50800" marT="25400" marB="25400" anchor="ctr">
                    <a:solidFill>
                      <a:srgbClr val="F5EFEC"/>
                    </a:solidFill>
                  </a:tcPr>
                </a:tc>
                <a:extLst>
                  <a:ext uri="{0D108BD9-81ED-4DB2-BD59-A6C34878D82A}">
                    <a16:rowId xmlns:a16="http://schemas.microsoft.com/office/drawing/2014/main" val="10010"/>
                  </a:ext>
                </a:extLst>
              </a:tr>
              <a:tr h="223221">
                <a:tc>
                  <a:txBody>
                    <a:bodyPr/>
                    <a:lstStyle/>
                    <a:p>
                      <a:r>
                        <a:rPr sz="1100" b="0" i="0">
                          <a:solidFill>
                            <a:srgbClr val="222222"/>
                          </a:solidFill>
                          <a:latin typeface="Arial"/>
                        </a:rPr>
                        <a:t>v</a:t>
                      </a:r>
                    </a:p>
                  </a:txBody>
                  <a:tcPr marL="50800" marR="50800" marT="25400" marB="25400" anchor="ctr">
                    <a:solidFill>
                      <a:srgbClr val="FFFFFF"/>
                    </a:solidFill>
                  </a:tcPr>
                </a:tc>
                <a:tc>
                  <a:txBody>
                    <a:bodyPr/>
                    <a:lstStyle/>
                    <a:p>
                      <a:r>
                        <a:rPr sz="1100" b="0" i="0">
                          <a:solidFill>
                            <a:srgbClr val="222222"/>
                          </a:solidFill>
                          <a:latin typeface="Arial"/>
                        </a:rPr>
                        <a:t>Measurement vector (voltages)</a:t>
                      </a:r>
                    </a:p>
                  </a:txBody>
                  <a:tcPr marL="50800" marR="50800" marT="25400" marB="25400" anchor="ctr">
                    <a:solidFill>
                      <a:srgbClr val="FFFFFF"/>
                    </a:solidFill>
                  </a:tcPr>
                </a:tc>
                <a:extLst>
                  <a:ext uri="{0D108BD9-81ED-4DB2-BD59-A6C34878D82A}">
                    <a16:rowId xmlns:a16="http://schemas.microsoft.com/office/drawing/2014/main" val="10011"/>
                  </a:ext>
                </a:extLst>
              </a:tr>
              <a:tr h="223221">
                <a:tc>
                  <a:txBody>
                    <a:bodyPr/>
                    <a:lstStyle/>
                    <a:p>
                      <a:r>
                        <a:rPr sz="1100" b="0" i="0">
                          <a:solidFill>
                            <a:srgbClr val="222222"/>
                          </a:solidFill>
                          <a:latin typeface="Arial"/>
                        </a:rPr>
                        <a:t>ℝᴹ</a:t>
                      </a:r>
                    </a:p>
                  </a:txBody>
                  <a:tcPr marL="50800" marR="50800" marT="25400" marB="25400" anchor="ctr">
                    <a:solidFill>
                      <a:srgbClr val="F5EFEC"/>
                    </a:solidFill>
                  </a:tcPr>
                </a:tc>
                <a:tc>
                  <a:txBody>
                    <a:bodyPr/>
                    <a:lstStyle/>
                    <a:p>
                      <a:r>
                        <a:rPr sz="1100" b="0" i="0">
                          <a:solidFill>
                            <a:srgbClr val="222222"/>
                          </a:solidFill>
                          <a:latin typeface="Arial"/>
                        </a:rPr>
                        <a:t>Space of M real numbers</a:t>
                      </a:r>
                    </a:p>
                  </a:txBody>
                  <a:tcPr marL="50800" marR="50800" marT="25400" marB="25400" anchor="ctr">
                    <a:solidFill>
                      <a:srgbClr val="F5EFEC"/>
                    </a:solidFill>
                  </a:tcPr>
                </a:tc>
                <a:extLst>
                  <a:ext uri="{0D108BD9-81ED-4DB2-BD59-A6C34878D82A}">
                    <a16:rowId xmlns:a16="http://schemas.microsoft.com/office/drawing/2014/main" val="10012"/>
                  </a:ext>
                </a:extLst>
              </a:tr>
              <a:tr h="223221">
                <a:tc>
                  <a:txBody>
                    <a:bodyPr/>
                    <a:lstStyle/>
                    <a:p>
                      <a:r>
                        <a:rPr sz="1100" b="0" i="0">
                          <a:solidFill>
                            <a:srgbClr val="222222"/>
                          </a:solidFill>
                          <a:latin typeface="Arial"/>
                        </a:rPr>
                        <a:t>M (nM)</a:t>
                      </a:r>
                    </a:p>
                  </a:txBody>
                  <a:tcPr marL="50800" marR="50800" marT="25400" marB="25400" anchor="ctr">
                    <a:solidFill>
                      <a:srgbClr val="FFFFFF"/>
                    </a:solidFill>
                  </a:tcPr>
                </a:tc>
                <a:tc>
                  <a:txBody>
                    <a:bodyPr/>
                    <a:lstStyle/>
                    <a:p>
                      <a:r>
                        <a:rPr sz="1100" b="0" i="0">
                          <a:solidFill>
                            <a:srgbClr val="222222"/>
                          </a:solidFill>
                          <a:latin typeface="Arial"/>
                        </a:rPr>
                        <a:t>Number of measurements</a:t>
                      </a:r>
                    </a:p>
                  </a:txBody>
                  <a:tcPr marL="50800" marR="50800" marT="25400" marB="25400" anchor="ctr">
                    <a:solidFill>
                      <a:srgbClr val="FFFFFF"/>
                    </a:solidFill>
                  </a:tcPr>
                </a:tc>
                <a:extLst>
                  <a:ext uri="{0D108BD9-81ED-4DB2-BD59-A6C34878D82A}">
                    <a16:rowId xmlns:a16="http://schemas.microsoft.com/office/drawing/2014/main" val="10013"/>
                  </a:ext>
                </a:extLst>
              </a:tr>
              <a:tr h="223221">
                <a:tc>
                  <a:txBody>
                    <a:bodyPr/>
                    <a:lstStyle/>
                    <a:p>
                      <a:r>
                        <a:rPr sz="1100" b="0" i="0">
                          <a:solidFill>
                            <a:srgbClr val="222222"/>
                          </a:solidFill>
                          <a:latin typeface="Arial"/>
                        </a:rPr>
                        <a:t>f(Ω,σ)</a:t>
                      </a:r>
                    </a:p>
                  </a:txBody>
                  <a:tcPr marL="50800" marR="50800" marT="25400" marB="25400" anchor="ctr">
                    <a:solidFill>
                      <a:srgbClr val="F5EFEC"/>
                    </a:solidFill>
                  </a:tcPr>
                </a:tc>
                <a:tc>
                  <a:txBody>
                    <a:bodyPr/>
                    <a:lstStyle/>
                    <a:p>
                      <a:r>
                        <a:rPr sz="1100" b="0" i="0">
                          <a:solidFill>
                            <a:srgbClr val="222222"/>
                          </a:solidFill>
                          <a:latin typeface="Arial"/>
                        </a:rPr>
                        <a:t>Forward operator — predicts measurements</a:t>
                      </a:r>
                    </a:p>
                  </a:txBody>
                  <a:tcPr marL="50800" marR="50800" marT="25400" marB="25400" anchor="ctr">
                    <a:solidFill>
                      <a:srgbClr val="F5EFEC"/>
                    </a:solidFill>
                  </a:tcPr>
                </a:tc>
                <a:extLst>
                  <a:ext uri="{0D108BD9-81ED-4DB2-BD59-A6C34878D82A}">
                    <a16:rowId xmlns:a16="http://schemas.microsoft.com/office/drawing/2014/main" val="10014"/>
                  </a:ext>
                </a:extLst>
              </a:tr>
              <a:tr h="223221">
                <a:tc>
                  <a:txBody>
                    <a:bodyPr/>
                    <a:lstStyle/>
                    <a:p>
                      <a:r>
                        <a:rPr sz="1100" b="0" i="0">
                          <a:solidFill>
                            <a:srgbClr val="222222"/>
                          </a:solidFill>
                          <a:latin typeface="Arial"/>
                        </a:rPr>
                        <a:t>σ₀</a:t>
                      </a:r>
                    </a:p>
                  </a:txBody>
                  <a:tcPr marL="50800" marR="50800" marT="25400" marB="25400" anchor="ctr">
                    <a:solidFill>
                      <a:srgbClr val="FFFFFF"/>
                    </a:solidFill>
                  </a:tcPr>
                </a:tc>
                <a:tc>
                  <a:txBody>
                    <a:bodyPr/>
                    <a:lstStyle/>
                    <a:p>
                      <a:r>
                        <a:rPr sz="1100" b="0" i="0">
                          <a:solidFill>
                            <a:srgbClr val="222222"/>
                          </a:solidFill>
                          <a:latin typeface="Arial"/>
                        </a:rPr>
                        <a:t>Initial / reference conductivity guess</a:t>
                      </a:r>
                    </a:p>
                  </a:txBody>
                  <a:tcPr marL="50800" marR="50800" marT="25400" marB="25400" anchor="ctr">
                    <a:solidFill>
                      <a:srgbClr val="FFFFFF"/>
                    </a:solidFill>
                  </a:tcPr>
                </a:tc>
                <a:extLst>
                  <a:ext uri="{0D108BD9-81ED-4DB2-BD59-A6C34878D82A}">
                    <a16:rowId xmlns:a16="http://schemas.microsoft.com/office/drawing/2014/main" val="10015"/>
                  </a:ext>
                </a:extLst>
              </a:tr>
              <a:tr h="223224">
                <a:tc>
                  <a:txBody>
                    <a:bodyPr/>
                    <a:lstStyle/>
                    <a:p>
                      <a:r>
                        <a:rPr sz="1100" b="0" i="0">
                          <a:solidFill>
                            <a:srgbClr val="222222"/>
                          </a:solidFill>
                          <a:latin typeface="Arial"/>
                        </a:rPr>
                        <a:t>λ</a:t>
                      </a:r>
                    </a:p>
                  </a:txBody>
                  <a:tcPr marL="50800" marR="50800" marT="25400" marB="25400" anchor="ctr">
                    <a:solidFill>
                      <a:srgbClr val="F5EFEC"/>
                    </a:solidFill>
                  </a:tcPr>
                </a:tc>
                <a:tc>
                  <a:txBody>
                    <a:bodyPr/>
                    <a:lstStyle/>
                    <a:p>
                      <a:r>
                        <a:rPr sz="1100" b="0" i="0">
                          <a:solidFill>
                            <a:srgbClr val="222222"/>
                          </a:solidFill>
                          <a:latin typeface="Arial"/>
                        </a:rPr>
                        <a:t>Regularization parameter (smoothing strength)</a:t>
                      </a:r>
                    </a:p>
                  </a:txBody>
                  <a:tcPr marL="50800" marR="50800" marT="25400" marB="25400" anchor="ctr">
                    <a:solidFill>
                      <a:srgbClr val="F5EFEC"/>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Symbols</a:t>
            </a:r>
          </a:p>
        </p:txBody>
      </p:sp>
      <p:graphicFrame>
        <p:nvGraphicFramePr>
          <p:cNvPr id="3" name="Table 2"/>
          <p:cNvGraphicFramePr>
            <a:graphicFrameLocks noGrp="1"/>
          </p:cNvGraphicFramePr>
          <p:nvPr/>
        </p:nvGraphicFramePr>
        <p:xfrm>
          <a:off x="237744" y="658368"/>
          <a:ext cx="8677656" cy="3977639"/>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6848856">
                  <a:extLst>
                    <a:ext uri="{9D8B030D-6E8A-4147-A177-3AD203B41FA5}">
                      <a16:colId xmlns:a16="http://schemas.microsoft.com/office/drawing/2014/main" val="20001"/>
                    </a:ext>
                  </a:extLst>
                </a:gridCol>
              </a:tblGrid>
              <a:tr h="220979">
                <a:tc>
                  <a:txBody>
                    <a:bodyPr/>
                    <a:lstStyle/>
                    <a:p>
                      <a:r>
                        <a:rPr sz="1050" b="1" i="0">
                          <a:solidFill>
                            <a:srgbClr val="FFFFFF"/>
                          </a:solidFill>
                          <a:latin typeface="Arial"/>
                        </a:rPr>
                        <a:t>Symbol</a:t>
                      </a:r>
                    </a:p>
                  </a:txBody>
                  <a:tcPr marL="50800" marR="50800" marT="25400" marB="25400" anchor="ctr">
                    <a:solidFill>
                      <a:srgbClr val="6F263D"/>
                    </a:solidFill>
                  </a:tcPr>
                </a:tc>
                <a:tc>
                  <a:txBody>
                    <a:bodyPr/>
                    <a:lstStyle/>
                    <a:p>
                      <a:r>
                        <a:rPr sz="1050" b="1" i="0">
                          <a:solidFill>
                            <a:srgbClr val="FFFFFF"/>
                          </a:solidFill>
                          <a:latin typeface="Arial"/>
                        </a:rPr>
                        <a:t>Meaning</a:t>
                      </a:r>
                    </a:p>
                  </a:txBody>
                  <a:tcPr marL="50800" marR="50800" marT="25400" marB="25400" anchor="ctr">
                    <a:solidFill>
                      <a:srgbClr val="6F263D"/>
                    </a:solidFill>
                  </a:tcPr>
                </a:tc>
                <a:extLst>
                  <a:ext uri="{0D108BD9-81ED-4DB2-BD59-A6C34878D82A}">
                    <a16:rowId xmlns:a16="http://schemas.microsoft.com/office/drawing/2014/main" val="10000"/>
                  </a:ext>
                </a:extLst>
              </a:tr>
              <a:tr h="220979">
                <a:tc>
                  <a:txBody>
                    <a:bodyPr/>
                    <a:lstStyle/>
                    <a:p>
                      <a:r>
                        <a:rPr sz="1050" b="0" i="0">
                          <a:solidFill>
                            <a:srgbClr val="222222"/>
                          </a:solidFill>
                          <a:latin typeface="Arial"/>
                        </a:rPr>
                        <a:t>‖x‖²</a:t>
                      </a:r>
                    </a:p>
                  </a:txBody>
                  <a:tcPr marL="50800" marR="50800" marT="25400" marB="25400" anchor="ctr">
                    <a:solidFill>
                      <a:srgbClr val="FFFFFF"/>
                    </a:solidFill>
                  </a:tcPr>
                </a:tc>
                <a:tc>
                  <a:txBody>
                    <a:bodyPr/>
                    <a:lstStyle/>
                    <a:p>
                      <a:r>
                        <a:rPr sz="1050" b="0" i="0">
                          <a:solidFill>
                            <a:srgbClr val="222222"/>
                          </a:solidFill>
                          <a:latin typeface="Arial"/>
                        </a:rPr>
                        <a:t>Squared norm — overall magnitude of a vector</a:t>
                      </a:r>
                    </a:p>
                  </a:txBody>
                  <a:tcPr marL="50800" marR="50800" marT="25400" marB="25400" anchor="ctr">
                    <a:solidFill>
                      <a:srgbClr val="FFFFFF"/>
                    </a:solidFill>
                  </a:tcPr>
                </a:tc>
                <a:extLst>
                  <a:ext uri="{0D108BD9-81ED-4DB2-BD59-A6C34878D82A}">
                    <a16:rowId xmlns:a16="http://schemas.microsoft.com/office/drawing/2014/main" val="10001"/>
                  </a:ext>
                </a:extLst>
              </a:tr>
              <a:tr h="220979">
                <a:tc>
                  <a:txBody>
                    <a:bodyPr/>
                    <a:lstStyle/>
                    <a:p>
                      <a:r>
                        <a:rPr sz="1050" b="0" i="0">
                          <a:solidFill>
                            <a:srgbClr val="222222"/>
                          </a:solidFill>
                          <a:latin typeface="Arial"/>
                        </a:rPr>
                        <a:t>J</a:t>
                      </a:r>
                    </a:p>
                  </a:txBody>
                  <a:tcPr marL="50800" marR="50800" marT="25400" marB="25400" anchor="ctr">
                    <a:solidFill>
                      <a:srgbClr val="F5EFEC"/>
                    </a:solidFill>
                  </a:tcPr>
                </a:tc>
                <a:tc>
                  <a:txBody>
                    <a:bodyPr/>
                    <a:lstStyle/>
                    <a:p>
                      <a:r>
                        <a:rPr sz="1050" b="0" i="0">
                          <a:solidFill>
                            <a:srgbClr val="222222"/>
                          </a:solidFill>
                          <a:latin typeface="Arial"/>
                        </a:rPr>
                        <a:t>Jacobian matrix (sensitivity)</a:t>
                      </a:r>
                    </a:p>
                  </a:txBody>
                  <a:tcPr marL="50800" marR="50800" marT="25400" marB="25400" anchor="ctr">
                    <a:solidFill>
                      <a:srgbClr val="F5EFEC"/>
                    </a:solidFill>
                  </a:tcPr>
                </a:tc>
                <a:extLst>
                  <a:ext uri="{0D108BD9-81ED-4DB2-BD59-A6C34878D82A}">
                    <a16:rowId xmlns:a16="http://schemas.microsoft.com/office/drawing/2014/main" val="10002"/>
                  </a:ext>
                </a:extLst>
              </a:tr>
              <a:tr h="220979">
                <a:tc>
                  <a:txBody>
                    <a:bodyPr/>
                    <a:lstStyle/>
                    <a:p>
                      <a:r>
                        <a:rPr sz="1050" b="0" i="0">
                          <a:solidFill>
                            <a:srgbClr val="222222"/>
                          </a:solidFill>
                          <a:latin typeface="Arial"/>
                        </a:rPr>
                        <a:t>nE</a:t>
                      </a:r>
                    </a:p>
                  </a:txBody>
                  <a:tcPr marL="50800" marR="50800" marT="25400" marB="25400" anchor="ctr">
                    <a:solidFill>
                      <a:srgbClr val="FFFFFF"/>
                    </a:solidFill>
                  </a:tcPr>
                </a:tc>
                <a:tc>
                  <a:txBody>
                    <a:bodyPr/>
                    <a:lstStyle/>
                    <a:p>
                      <a:r>
                        <a:rPr sz="1050" b="0" i="0">
                          <a:solidFill>
                            <a:srgbClr val="222222"/>
                          </a:solidFill>
                          <a:latin typeface="Arial"/>
                        </a:rPr>
                        <a:t>Number of mesh elements</a:t>
                      </a:r>
                    </a:p>
                  </a:txBody>
                  <a:tcPr marL="50800" marR="50800" marT="25400" marB="25400" anchor="ctr">
                    <a:solidFill>
                      <a:srgbClr val="FFFFFF"/>
                    </a:solidFill>
                  </a:tcPr>
                </a:tc>
                <a:extLst>
                  <a:ext uri="{0D108BD9-81ED-4DB2-BD59-A6C34878D82A}">
                    <a16:rowId xmlns:a16="http://schemas.microsoft.com/office/drawing/2014/main" val="10003"/>
                  </a:ext>
                </a:extLst>
              </a:tr>
              <a:tr h="220979">
                <a:tc>
                  <a:txBody>
                    <a:bodyPr/>
                    <a:lstStyle/>
                    <a:p>
                      <a:r>
                        <a:rPr sz="1050" b="0" i="0">
                          <a:solidFill>
                            <a:srgbClr val="222222"/>
                          </a:solidFill>
                          <a:latin typeface="Arial"/>
                        </a:rPr>
                        <a:t>σᵏ</a:t>
                      </a:r>
                    </a:p>
                  </a:txBody>
                  <a:tcPr marL="50800" marR="50800" marT="25400" marB="25400" anchor="ctr">
                    <a:solidFill>
                      <a:srgbClr val="F5EFEC"/>
                    </a:solidFill>
                  </a:tcPr>
                </a:tc>
                <a:tc>
                  <a:txBody>
                    <a:bodyPr/>
                    <a:lstStyle/>
                    <a:p>
                      <a:r>
                        <a:rPr sz="1050" b="0" i="0">
                          <a:solidFill>
                            <a:srgbClr val="222222"/>
                          </a:solidFill>
                          <a:latin typeface="Arial"/>
                        </a:rPr>
                        <a:t>Conductivity estimate at iteration k</a:t>
                      </a:r>
                    </a:p>
                  </a:txBody>
                  <a:tcPr marL="50800" marR="50800" marT="25400" marB="25400" anchor="ctr">
                    <a:solidFill>
                      <a:srgbClr val="F5EFEC"/>
                    </a:solidFill>
                  </a:tcPr>
                </a:tc>
                <a:extLst>
                  <a:ext uri="{0D108BD9-81ED-4DB2-BD59-A6C34878D82A}">
                    <a16:rowId xmlns:a16="http://schemas.microsoft.com/office/drawing/2014/main" val="10004"/>
                  </a:ext>
                </a:extLst>
              </a:tr>
              <a:tr h="220979">
                <a:tc>
                  <a:txBody>
                    <a:bodyPr/>
                    <a:lstStyle/>
                    <a:p>
                      <a:r>
                        <a:rPr sz="1050" b="0" i="0">
                          <a:solidFill>
                            <a:srgbClr val="222222"/>
                          </a:solidFill>
                          <a:latin typeface="Arial"/>
                        </a:rPr>
                        <a:t>σᵏ⁺¹</a:t>
                      </a:r>
                    </a:p>
                  </a:txBody>
                  <a:tcPr marL="50800" marR="50800" marT="25400" marB="25400" anchor="ctr">
                    <a:solidFill>
                      <a:srgbClr val="FFFFFF"/>
                    </a:solidFill>
                  </a:tcPr>
                </a:tc>
                <a:tc>
                  <a:txBody>
                    <a:bodyPr/>
                    <a:lstStyle/>
                    <a:p>
                      <a:r>
                        <a:rPr sz="1050" b="0" i="0">
                          <a:solidFill>
                            <a:srgbClr val="222222"/>
                          </a:solidFill>
                          <a:latin typeface="Arial"/>
                        </a:rPr>
                        <a:t>Updated conductivity estimate</a:t>
                      </a:r>
                    </a:p>
                  </a:txBody>
                  <a:tcPr marL="50800" marR="50800" marT="25400" marB="25400" anchor="ctr">
                    <a:solidFill>
                      <a:srgbClr val="FFFFFF"/>
                    </a:solidFill>
                  </a:tcPr>
                </a:tc>
                <a:extLst>
                  <a:ext uri="{0D108BD9-81ED-4DB2-BD59-A6C34878D82A}">
                    <a16:rowId xmlns:a16="http://schemas.microsoft.com/office/drawing/2014/main" val="10005"/>
                  </a:ext>
                </a:extLst>
              </a:tr>
              <a:tr h="220979">
                <a:tc>
                  <a:txBody>
                    <a:bodyPr/>
                    <a:lstStyle/>
                    <a:p>
                      <a:r>
                        <a:rPr sz="1050" b="0" i="0">
                          <a:solidFill>
                            <a:srgbClr val="222222"/>
                          </a:solidFill>
                          <a:latin typeface="Arial"/>
                        </a:rPr>
                        <a:t>Jᵀ</a:t>
                      </a:r>
                    </a:p>
                  </a:txBody>
                  <a:tcPr marL="50800" marR="50800" marT="25400" marB="25400" anchor="ctr">
                    <a:solidFill>
                      <a:srgbClr val="F5EFEC"/>
                    </a:solidFill>
                  </a:tcPr>
                </a:tc>
                <a:tc>
                  <a:txBody>
                    <a:bodyPr/>
                    <a:lstStyle/>
                    <a:p>
                      <a:r>
                        <a:rPr sz="1050" b="0" i="0">
                          <a:solidFill>
                            <a:srgbClr val="222222"/>
                          </a:solidFill>
                          <a:latin typeface="Arial"/>
                        </a:rPr>
                        <a:t>J transpose</a:t>
                      </a:r>
                    </a:p>
                  </a:txBody>
                  <a:tcPr marL="50800" marR="50800" marT="25400" marB="25400" anchor="ctr">
                    <a:solidFill>
                      <a:srgbClr val="F5EFEC"/>
                    </a:solidFill>
                  </a:tcPr>
                </a:tc>
                <a:extLst>
                  <a:ext uri="{0D108BD9-81ED-4DB2-BD59-A6C34878D82A}">
                    <a16:rowId xmlns:a16="http://schemas.microsoft.com/office/drawing/2014/main" val="10006"/>
                  </a:ext>
                </a:extLst>
              </a:tr>
              <a:tr h="220979">
                <a:tc>
                  <a:txBody>
                    <a:bodyPr/>
                    <a:lstStyle/>
                    <a:p>
                      <a:r>
                        <a:rPr sz="1050" b="0" i="0">
                          <a:solidFill>
                            <a:srgbClr val="222222"/>
                          </a:solidFill>
                          <a:latin typeface="Arial"/>
                        </a:rPr>
                        <a:t>JᵀJ</a:t>
                      </a:r>
                    </a:p>
                  </a:txBody>
                  <a:tcPr marL="50800" marR="50800" marT="25400" marB="25400" anchor="ctr">
                    <a:solidFill>
                      <a:srgbClr val="FFFFFF"/>
                    </a:solidFill>
                  </a:tcPr>
                </a:tc>
                <a:tc>
                  <a:txBody>
                    <a:bodyPr/>
                    <a:lstStyle/>
                    <a:p>
                      <a:r>
                        <a:rPr sz="1050" b="0" i="0">
                          <a:solidFill>
                            <a:srgbClr val="222222"/>
                          </a:solidFill>
                          <a:latin typeface="Arial"/>
                        </a:rPr>
                        <a:t>J transpose times J</a:t>
                      </a:r>
                    </a:p>
                  </a:txBody>
                  <a:tcPr marL="50800" marR="50800" marT="25400" marB="25400" anchor="ctr">
                    <a:solidFill>
                      <a:srgbClr val="FFFFFF"/>
                    </a:solidFill>
                  </a:tcPr>
                </a:tc>
                <a:extLst>
                  <a:ext uri="{0D108BD9-81ED-4DB2-BD59-A6C34878D82A}">
                    <a16:rowId xmlns:a16="http://schemas.microsoft.com/office/drawing/2014/main" val="10007"/>
                  </a:ext>
                </a:extLst>
              </a:tr>
              <a:tr h="220979">
                <a:tc>
                  <a:txBody>
                    <a:bodyPr/>
                    <a:lstStyle/>
                    <a:p>
                      <a:r>
                        <a:rPr sz="1050" b="0" i="0">
                          <a:solidFill>
                            <a:srgbClr val="222222"/>
                          </a:solidFill>
                          <a:latin typeface="Arial"/>
                        </a:rPr>
                        <a:t>JJᵀ</a:t>
                      </a:r>
                    </a:p>
                  </a:txBody>
                  <a:tcPr marL="50800" marR="50800" marT="25400" marB="25400" anchor="ctr">
                    <a:solidFill>
                      <a:srgbClr val="F5EFEC"/>
                    </a:solidFill>
                  </a:tcPr>
                </a:tc>
                <a:tc>
                  <a:txBody>
                    <a:bodyPr/>
                    <a:lstStyle/>
                    <a:p>
                      <a:r>
                        <a:rPr sz="1050" b="0" i="0">
                          <a:solidFill>
                            <a:srgbClr val="222222"/>
                          </a:solidFill>
                          <a:latin typeface="Arial"/>
                        </a:rPr>
                        <a:t>J times J transpose</a:t>
                      </a:r>
                    </a:p>
                  </a:txBody>
                  <a:tcPr marL="50800" marR="50800" marT="25400" marB="25400" anchor="ctr">
                    <a:solidFill>
                      <a:srgbClr val="F5EFEC"/>
                    </a:solidFill>
                  </a:tcPr>
                </a:tc>
                <a:extLst>
                  <a:ext uri="{0D108BD9-81ED-4DB2-BD59-A6C34878D82A}">
                    <a16:rowId xmlns:a16="http://schemas.microsoft.com/office/drawing/2014/main" val="10008"/>
                  </a:ext>
                </a:extLst>
              </a:tr>
              <a:tr h="220979">
                <a:tc>
                  <a:txBody>
                    <a:bodyPr/>
                    <a:lstStyle/>
                    <a:p>
                      <a:r>
                        <a:rPr sz="1050" b="0" i="0">
                          <a:solidFill>
                            <a:srgbClr val="222222"/>
                          </a:solidFill>
                          <a:latin typeface="Arial"/>
                        </a:rPr>
                        <a:t>(...)⁻¹</a:t>
                      </a:r>
                    </a:p>
                  </a:txBody>
                  <a:tcPr marL="50800" marR="50800" marT="25400" marB="25400" anchor="ctr">
                    <a:solidFill>
                      <a:srgbClr val="FFFFFF"/>
                    </a:solidFill>
                  </a:tcPr>
                </a:tc>
                <a:tc>
                  <a:txBody>
                    <a:bodyPr/>
                    <a:lstStyle/>
                    <a:p>
                      <a:r>
                        <a:rPr sz="1050" b="0" i="0">
                          <a:solidFill>
                            <a:srgbClr val="222222"/>
                          </a:solidFill>
                          <a:latin typeface="Arial"/>
                        </a:rPr>
                        <a:t>Matrix inverse</a:t>
                      </a:r>
                    </a:p>
                  </a:txBody>
                  <a:tcPr marL="50800" marR="50800" marT="25400" marB="25400" anchor="ctr">
                    <a:solidFill>
                      <a:srgbClr val="FFFFFF"/>
                    </a:solidFill>
                  </a:tcPr>
                </a:tc>
                <a:extLst>
                  <a:ext uri="{0D108BD9-81ED-4DB2-BD59-A6C34878D82A}">
                    <a16:rowId xmlns:a16="http://schemas.microsoft.com/office/drawing/2014/main" val="10009"/>
                  </a:ext>
                </a:extLst>
              </a:tr>
              <a:tr h="220979">
                <a:tc>
                  <a:txBody>
                    <a:bodyPr/>
                    <a:lstStyle/>
                    <a:p>
                      <a:r>
                        <a:rPr sz="1050" b="0" i="0">
                          <a:solidFill>
                            <a:srgbClr val="222222"/>
                          </a:solidFill>
                          <a:latin typeface="Arial"/>
                        </a:rPr>
                        <a:t>I</a:t>
                      </a:r>
                    </a:p>
                  </a:txBody>
                  <a:tcPr marL="50800" marR="50800" marT="25400" marB="25400" anchor="ctr">
                    <a:solidFill>
                      <a:srgbClr val="F5EFEC"/>
                    </a:solidFill>
                  </a:tcPr>
                </a:tc>
                <a:tc>
                  <a:txBody>
                    <a:bodyPr/>
                    <a:lstStyle/>
                    <a:p>
                      <a:r>
                        <a:rPr sz="1050" b="0" i="0">
                          <a:solidFill>
                            <a:srgbClr val="222222"/>
                          </a:solidFill>
                          <a:latin typeface="Arial"/>
                        </a:rPr>
                        <a:t>Identity matrix</a:t>
                      </a:r>
                    </a:p>
                  </a:txBody>
                  <a:tcPr marL="50800" marR="50800" marT="25400" marB="25400" anchor="ctr">
                    <a:solidFill>
                      <a:srgbClr val="F5EFEC"/>
                    </a:solidFill>
                  </a:tcPr>
                </a:tc>
                <a:extLst>
                  <a:ext uri="{0D108BD9-81ED-4DB2-BD59-A6C34878D82A}">
                    <a16:rowId xmlns:a16="http://schemas.microsoft.com/office/drawing/2014/main" val="10010"/>
                  </a:ext>
                </a:extLst>
              </a:tr>
              <a:tr h="220979">
                <a:tc>
                  <a:txBody>
                    <a:bodyPr/>
                    <a:lstStyle/>
                    <a:p>
                      <a:r>
                        <a:rPr sz="1050" b="0" i="0">
                          <a:solidFill>
                            <a:srgbClr val="222222"/>
                          </a:solidFill>
                          <a:latin typeface="Arial"/>
                        </a:rPr>
                        <a:t>R</a:t>
                      </a:r>
                    </a:p>
                  </a:txBody>
                  <a:tcPr marL="50800" marR="50800" marT="25400" marB="25400" anchor="ctr">
                    <a:solidFill>
                      <a:srgbClr val="FFFFFF"/>
                    </a:solidFill>
                  </a:tcPr>
                </a:tc>
                <a:tc>
                  <a:txBody>
                    <a:bodyPr/>
                    <a:lstStyle/>
                    <a:p>
                      <a:r>
                        <a:rPr sz="1050" b="0" i="0">
                          <a:solidFill>
                            <a:srgbClr val="222222"/>
                          </a:solidFill>
                          <a:latin typeface="Arial"/>
                        </a:rPr>
                        <a:t>Regularization matrix</a:t>
                      </a:r>
                    </a:p>
                  </a:txBody>
                  <a:tcPr marL="50800" marR="50800" marT="25400" marB="25400" anchor="ctr">
                    <a:solidFill>
                      <a:srgbClr val="FFFFFF"/>
                    </a:solidFill>
                  </a:tcPr>
                </a:tc>
                <a:extLst>
                  <a:ext uri="{0D108BD9-81ED-4DB2-BD59-A6C34878D82A}">
                    <a16:rowId xmlns:a16="http://schemas.microsoft.com/office/drawing/2014/main" val="10011"/>
                  </a:ext>
                </a:extLst>
              </a:tr>
              <a:tr h="220979">
                <a:tc>
                  <a:txBody>
                    <a:bodyPr/>
                    <a:lstStyle/>
                    <a:p>
                      <a:r>
                        <a:rPr sz="1050" b="0" i="0">
                          <a:solidFill>
                            <a:srgbClr val="222222"/>
                          </a:solidFill>
                          <a:latin typeface="Arial"/>
                        </a:rPr>
                        <a:t>δσ</a:t>
                      </a:r>
                    </a:p>
                  </a:txBody>
                  <a:tcPr marL="50800" marR="50800" marT="25400" marB="25400" anchor="ctr">
                    <a:solidFill>
                      <a:srgbClr val="F5EFEC"/>
                    </a:solidFill>
                  </a:tcPr>
                </a:tc>
                <a:tc>
                  <a:txBody>
                    <a:bodyPr/>
                    <a:lstStyle/>
                    <a:p>
                      <a:r>
                        <a:rPr sz="1050" b="0" i="0">
                          <a:solidFill>
                            <a:srgbClr val="222222"/>
                          </a:solidFill>
                          <a:latin typeface="Arial"/>
                        </a:rPr>
                        <a:t>Change in conductivity (unknown to solve for)</a:t>
                      </a:r>
                    </a:p>
                  </a:txBody>
                  <a:tcPr marL="50800" marR="50800" marT="25400" marB="25400" anchor="ctr">
                    <a:solidFill>
                      <a:srgbClr val="F5EFEC"/>
                    </a:solidFill>
                  </a:tcPr>
                </a:tc>
                <a:extLst>
                  <a:ext uri="{0D108BD9-81ED-4DB2-BD59-A6C34878D82A}">
                    <a16:rowId xmlns:a16="http://schemas.microsoft.com/office/drawing/2014/main" val="10012"/>
                  </a:ext>
                </a:extLst>
              </a:tr>
              <a:tr h="220979">
                <a:tc>
                  <a:txBody>
                    <a:bodyPr/>
                    <a:lstStyle/>
                    <a:p>
                      <a:r>
                        <a:rPr sz="1050" b="0" i="0">
                          <a:solidFill>
                            <a:srgbClr val="222222"/>
                          </a:solidFill>
                          <a:latin typeface="Arial"/>
                        </a:rPr>
                        <a:t>Δv</a:t>
                      </a:r>
                    </a:p>
                  </a:txBody>
                  <a:tcPr marL="50800" marR="50800" marT="25400" marB="25400" anchor="ctr">
                    <a:solidFill>
                      <a:srgbClr val="FFFFFF"/>
                    </a:solidFill>
                  </a:tcPr>
                </a:tc>
                <a:tc>
                  <a:txBody>
                    <a:bodyPr/>
                    <a:lstStyle/>
                    <a:p>
                      <a:r>
                        <a:rPr sz="1050" b="0" i="0">
                          <a:solidFill>
                            <a:srgbClr val="222222"/>
                          </a:solidFill>
                          <a:latin typeface="Arial"/>
                        </a:rPr>
                        <a:t>Difference in measurements between two frames</a:t>
                      </a:r>
                    </a:p>
                  </a:txBody>
                  <a:tcPr marL="50800" marR="50800" marT="25400" marB="25400" anchor="ctr">
                    <a:solidFill>
                      <a:srgbClr val="FFFFFF"/>
                    </a:solidFill>
                  </a:tcPr>
                </a:tc>
                <a:extLst>
                  <a:ext uri="{0D108BD9-81ED-4DB2-BD59-A6C34878D82A}">
                    <a16:rowId xmlns:a16="http://schemas.microsoft.com/office/drawing/2014/main" val="10013"/>
                  </a:ext>
                </a:extLst>
              </a:tr>
              <a:tr h="220979">
                <a:tc>
                  <a:txBody>
                    <a:bodyPr/>
                    <a:lstStyle/>
                    <a:p>
                      <a:r>
                        <a:rPr sz="1050" b="0" i="0">
                          <a:solidFill>
                            <a:srgbClr val="222222"/>
                          </a:solidFill>
                          <a:latin typeface="Arial"/>
                        </a:rPr>
                        <a:t>W</a:t>
                      </a:r>
                    </a:p>
                  </a:txBody>
                  <a:tcPr marL="50800" marR="50800" marT="25400" marB="25400" anchor="ctr">
                    <a:solidFill>
                      <a:srgbClr val="F5EFEC"/>
                    </a:solidFill>
                  </a:tcPr>
                </a:tc>
                <a:tc>
                  <a:txBody>
                    <a:bodyPr/>
                    <a:lstStyle/>
                    <a:p>
                      <a:r>
                        <a:rPr sz="1050" b="0" i="0">
                          <a:solidFill>
                            <a:srgbClr val="222222"/>
                          </a:solidFill>
                          <a:latin typeface="Arial"/>
                        </a:rPr>
                        <a:t>Grid-weighting matrix (GREIT only)</a:t>
                      </a:r>
                    </a:p>
                  </a:txBody>
                  <a:tcPr marL="50800" marR="50800" marT="25400" marB="25400" anchor="ctr">
                    <a:solidFill>
                      <a:srgbClr val="F5EFEC"/>
                    </a:solidFill>
                  </a:tcPr>
                </a:tc>
                <a:extLst>
                  <a:ext uri="{0D108BD9-81ED-4DB2-BD59-A6C34878D82A}">
                    <a16:rowId xmlns:a16="http://schemas.microsoft.com/office/drawing/2014/main" val="10014"/>
                  </a:ext>
                </a:extLst>
              </a:tr>
              <a:tr h="220979">
                <a:tc>
                  <a:txBody>
                    <a:bodyPr/>
                    <a:lstStyle/>
                    <a:p>
                      <a:r>
                        <a:rPr sz="1050" b="0" i="0">
                          <a:solidFill>
                            <a:srgbClr val="222222"/>
                          </a:solidFill>
                          <a:latin typeface="Arial"/>
                        </a:rPr>
                        <a:t>B</a:t>
                      </a:r>
                    </a:p>
                  </a:txBody>
                  <a:tcPr marL="50800" marR="50800" marT="25400" marB="25400" anchor="ctr">
                    <a:solidFill>
                      <a:srgbClr val="FFFFFF"/>
                    </a:solidFill>
                  </a:tcPr>
                </a:tc>
                <a:tc>
                  <a:txBody>
                    <a:bodyPr/>
                    <a:lstStyle/>
                    <a:p>
                      <a:r>
                        <a:rPr sz="1050" b="0" i="0">
                          <a:solidFill>
                            <a:srgbClr val="222222"/>
                          </a:solidFill>
                          <a:latin typeface="Arial"/>
                        </a:rPr>
                        <a:t>Smear matrix (BP only)</a:t>
                      </a:r>
                    </a:p>
                  </a:txBody>
                  <a:tcPr marL="50800" marR="50800" marT="25400" marB="25400" anchor="ctr">
                    <a:solidFill>
                      <a:srgbClr val="FFFFFF"/>
                    </a:solidFill>
                  </a:tcPr>
                </a:tc>
                <a:extLst>
                  <a:ext uri="{0D108BD9-81ED-4DB2-BD59-A6C34878D82A}">
                    <a16:rowId xmlns:a16="http://schemas.microsoft.com/office/drawing/2014/main" val="10015"/>
                  </a:ext>
                </a:extLst>
              </a:tr>
              <a:tr h="220979">
                <a:tc>
                  <a:txBody>
                    <a:bodyPr/>
                    <a:lstStyle/>
                    <a:p>
                      <a:r>
                        <a:rPr sz="1050" b="0" i="0">
                          <a:solidFill>
                            <a:srgbClr val="222222"/>
                          </a:solidFill>
                          <a:latin typeface="Arial"/>
                        </a:rPr>
                        <a:t>H</a:t>
                      </a:r>
                    </a:p>
                  </a:txBody>
                  <a:tcPr marL="50800" marR="50800" marT="25400" marB="25400" anchor="ctr">
                    <a:solidFill>
                      <a:srgbClr val="F5EFEC"/>
                    </a:solidFill>
                  </a:tcPr>
                </a:tc>
                <a:tc>
                  <a:txBody>
                    <a:bodyPr/>
                    <a:lstStyle/>
                    <a:p>
                      <a:r>
                        <a:rPr sz="1050" b="0" i="0">
                          <a:solidFill>
                            <a:srgbClr val="222222"/>
                          </a:solidFill>
                          <a:latin typeface="Arial"/>
                        </a:rPr>
                        <a:t>Reconstruction matrix</a:t>
                      </a:r>
                    </a:p>
                  </a:txBody>
                  <a:tcPr marL="50800" marR="50800" marT="25400" marB="25400" anchor="ctr">
                    <a:solidFill>
                      <a:srgbClr val="F5EFEC"/>
                    </a:solidFill>
                  </a:tcPr>
                </a:tc>
                <a:extLst>
                  <a:ext uri="{0D108BD9-81ED-4DB2-BD59-A6C34878D82A}">
                    <a16:rowId xmlns:a16="http://schemas.microsoft.com/office/drawing/2014/main" val="10016"/>
                  </a:ext>
                </a:extLst>
              </a:tr>
              <a:tr h="220996">
                <a:tc>
                  <a:txBody>
                    <a:bodyPr/>
                    <a:lstStyle/>
                    <a:p>
                      <a:r>
                        <a:rPr sz="1050" b="0" i="0">
                          <a:solidFill>
                            <a:srgbClr val="222222"/>
                          </a:solidFill>
                          <a:latin typeface="Arial"/>
                        </a:rPr>
                        <a:t>p</a:t>
                      </a:r>
                    </a:p>
                  </a:txBody>
                  <a:tcPr marL="50800" marR="50800" marT="25400" marB="25400" anchor="ctr">
                    <a:solidFill>
                      <a:srgbClr val="FFFFFF"/>
                    </a:solidFill>
                  </a:tcPr>
                </a:tc>
                <a:tc>
                  <a:txBody>
                    <a:bodyPr/>
                    <a:lstStyle/>
                    <a:p>
                      <a:r>
                        <a:rPr sz="1050" b="0" i="0">
                          <a:solidFill>
                            <a:srgbClr val="222222"/>
                          </a:solidFill>
                          <a:latin typeface="Arial"/>
                        </a:rPr>
                        <a:t>Exponent controlling where noise concentrates</a:t>
                      </a:r>
                    </a:p>
                  </a:txBody>
                  <a:tcPr marL="50800" marR="50800" marT="25400" marB="25400" anchor="ctr">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xmlns:a16="http://schemas.microsoft.com/office/drawing/2014/main" id="{A7D6B480-0E61-5AE1-43D8-6AA8B93502E5}"/>
              </a:ext>
            </a:extLst>
          </p:cNvPr>
          <p:cNvSpPr>
            <a:spLocks noGrp="1"/>
          </p:cNvSpPr>
          <p:nvPr>
            <p:ph type="body" sz="quarter" idx="13"/>
          </p:nvPr>
        </p:nvSpPr>
        <p:spPr/>
        <p:txBody>
          <a:bodyPr/>
          <a:lstStyle/>
          <a:p>
            <a:pPr>
              <a:buNone/>
            </a:pPr>
            <a:r>
              <a:rPr lang="en-US" sz="1500" b="0" i="1" dirty="0"/>
              <a:t>[1] </a:t>
            </a:r>
            <a:r>
              <a:rPr lang="en-US" sz="1500" b="0" i="1" dirty="0">
                <a:solidFill>
                  <a:srgbClr val="303030"/>
                </a:solidFill>
                <a:latin typeface="Arial"/>
              </a:rPr>
              <a:t> </a:t>
            </a:r>
            <a:r>
              <a:rPr lang="en-US" sz="1500" b="0" i="1" dirty="0" err="1">
                <a:solidFill>
                  <a:srgbClr val="303030"/>
                </a:solidFill>
                <a:latin typeface="Arial"/>
              </a:rPr>
              <a:t>Benyuan</a:t>
            </a:r>
            <a:r>
              <a:rPr lang="en-US" sz="1500" b="0" i="1" dirty="0">
                <a:solidFill>
                  <a:srgbClr val="303030"/>
                </a:solidFill>
                <a:latin typeface="Arial"/>
              </a:rPr>
              <a:t> Liu, "</a:t>
            </a:r>
            <a:r>
              <a:rPr lang="en-US" sz="1600" b="0" i="1" dirty="0" err="1">
                <a:effectLst/>
                <a:latin typeface="Helvetica" pitchFamily="2" charset="0"/>
              </a:rPr>
              <a:t>pyEIT</a:t>
            </a:r>
            <a:r>
              <a:rPr lang="en-US" sz="1600" b="0" i="1" dirty="0">
                <a:effectLst/>
                <a:latin typeface="Helvetica" pitchFamily="2" charset="0"/>
              </a:rPr>
              <a:t>: A python based framework for Electrical Impedance</a:t>
            </a:r>
          </a:p>
          <a:p>
            <a:r>
              <a:rPr lang="en-US" sz="1600" b="0" i="1" dirty="0">
                <a:effectLst/>
                <a:latin typeface="Helvetica" pitchFamily="2" charset="0"/>
              </a:rPr>
              <a:t>Tomography</a:t>
            </a:r>
            <a:r>
              <a:rPr lang="en-US" sz="1500" b="0" i="1" dirty="0">
                <a:solidFill>
                  <a:srgbClr val="303030"/>
                </a:solidFill>
                <a:latin typeface="Arial"/>
              </a:rPr>
              <a:t>"</a:t>
            </a:r>
          </a:p>
        </p:txBody>
      </p:sp>
      <p:sp>
        <p:nvSpPr>
          <p:cNvPr id="5" name="Slide Number Placeholder 4">
            <a:extLst>
              <a:ext uri="{FF2B5EF4-FFF2-40B4-BE49-F238E27FC236}">
                <a16:creationId xmlns:a16="http://schemas.microsoft.com/office/drawing/2014/main"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xmlns:p14="http://schemas.microsoft.com/office/powerpoint/2010/main" val="380987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